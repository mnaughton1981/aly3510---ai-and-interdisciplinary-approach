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56"/>
  </p:notesMasterIdLst>
  <p:handoutMasterIdLst>
    <p:handoutMasterId r:id="rId57"/>
  </p:handoutMasterIdLst>
  <p:sldIdLst>
    <p:sldId id="491" r:id="rId2"/>
    <p:sldId id="982" r:id="rId3"/>
    <p:sldId id="492" r:id="rId4"/>
    <p:sldId id="1148" r:id="rId5"/>
    <p:sldId id="1094" r:id="rId6"/>
    <p:sldId id="1133" r:id="rId7"/>
    <p:sldId id="1144" r:id="rId8"/>
    <p:sldId id="1135" r:id="rId9"/>
    <p:sldId id="1067" r:id="rId10"/>
    <p:sldId id="1097" r:id="rId11"/>
    <p:sldId id="1136" r:id="rId12"/>
    <p:sldId id="1099" r:id="rId13"/>
    <p:sldId id="1098" r:id="rId14"/>
    <p:sldId id="723" r:id="rId15"/>
    <p:sldId id="1100" r:id="rId16"/>
    <p:sldId id="773" r:id="rId17"/>
    <p:sldId id="1151" r:id="rId18"/>
    <p:sldId id="715" r:id="rId19"/>
    <p:sldId id="722" r:id="rId20"/>
    <p:sldId id="1154" r:id="rId21"/>
    <p:sldId id="1103" r:id="rId22"/>
    <p:sldId id="716" r:id="rId23"/>
    <p:sldId id="1129" r:id="rId24"/>
    <p:sldId id="1104" r:id="rId25"/>
    <p:sldId id="1080" r:id="rId26"/>
    <p:sldId id="1137" r:id="rId27"/>
    <p:sldId id="1075" r:id="rId28"/>
    <p:sldId id="1138" r:id="rId29"/>
    <p:sldId id="1077" r:id="rId30"/>
    <p:sldId id="1147" r:id="rId31"/>
    <p:sldId id="1111" r:id="rId32"/>
    <p:sldId id="1130" r:id="rId33"/>
    <p:sldId id="1112" r:id="rId34"/>
    <p:sldId id="1085" r:id="rId35"/>
    <p:sldId id="1126" r:id="rId36"/>
    <p:sldId id="1113" r:id="rId37"/>
    <p:sldId id="1149" r:id="rId38"/>
    <p:sldId id="1139" r:id="rId39"/>
    <p:sldId id="1131" r:id="rId40"/>
    <p:sldId id="1114" r:id="rId41"/>
    <p:sldId id="1141" r:id="rId42"/>
    <p:sldId id="1121" r:id="rId43"/>
    <p:sldId id="1092" r:id="rId44"/>
    <p:sldId id="1056" r:id="rId45"/>
    <p:sldId id="1123" r:id="rId46"/>
    <p:sldId id="1074" r:id="rId47"/>
    <p:sldId id="1124" r:id="rId48"/>
    <p:sldId id="1091" r:id="rId49"/>
    <p:sldId id="1086" r:id="rId50"/>
    <p:sldId id="734" r:id="rId51"/>
    <p:sldId id="1089" r:id="rId52"/>
    <p:sldId id="708" r:id="rId53"/>
    <p:sldId id="733" r:id="rId54"/>
    <p:sldId id="732" r:id="rId55"/>
  </p:sldIdLst>
  <p:sldSz cx="12192000" cy="6858000"/>
  <p:notesSz cx="6858000" cy="9144000"/>
  <p:custDataLst>
    <p:tags r:id="rId5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piro, Vladimir" initials="SV" lastIdx="1" clrIdx="0">
    <p:extLst>
      <p:ext uri="{19B8F6BF-5375-455C-9EA6-DF929625EA0E}">
        <p15:presenceInfo xmlns:p15="http://schemas.microsoft.com/office/powerpoint/2012/main" userId="S::vladisha@northeastern.edu::487b986e-9dea-4ba8-b33e-8d9a67ec1e6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BF6744-C6E3-498B-A176-A210A053E297}" v="20" dt="2026-10-26T18:39:46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32" y="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20C3D-B18F-408C-AB7E-3E832705066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A81ED-B271-4688-BA18-CA7E4726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1956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DE9AC-4BE4-4D3A-A0A7-E4076EE786F7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3AF66-ACA7-4F65-9AFB-6946E0F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94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23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/>
              <a:t>. 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44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282B-7C0A-D71F-4E24-603021C2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DDA26-0FB9-03C9-25F7-15C38F26D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5229B-95C7-0F3E-11C9-F01B55A3A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565656"/>
                </a:solidFill>
                <a:effectLst/>
                <a:latin typeface="Palatino ET W02"/>
              </a:rPr>
              <a:t>There are nine anchor boxes (three scales, three aspect ratios) at each grid point. For the example image, an inner green box and an outer blue box have passed the </a:t>
            </a:r>
            <a:r>
              <a:rPr lang="en-US" b="0" i="0" dirty="0" err="1">
                <a:solidFill>
                  <a:srgbClr val="565656"/>
                </a:solidFill>
                <a:effectLst/>
                <a:latin typeface="Palatino ET W02"/>
              </a:rPr>
              <a:t>objectness</a:t>
            </a:r>
            <a:r>
              <a:rPr lang="en-US" b="0" i="0" dirty="0">
                <a:solidFill>
                  <a:srgbClr val="565656"/>
                </a:solidFill>
                <a:effectLst/>
                <a:latin typeface="Palatino ET W02"/>
              </a:rPr>
              <a:t> test. The second network is a feature stack that computes a representation of the image suitable for classification. The boxes with highest </a:t>
            </a:r>
            <a:r>
              <a:rPr lang="en-US" b="0" i="0" dirty="0" err="1">
                <a:solidFill>
                  <a:srgbClr val="565656"/>
                </a:solidFill>
                <a:effectLst/>
                <a:latin typeface="Palatino ET W02"/>
              </a:rPr>
              <a:t>objectness</a:t>
            </a:r>
            <a:r>
              <a:rPr lang="en-US" b="0" i="0" dirty="0">
                <a:solidFill>
                  <a:srgbClr val="565656"/>
                </a:solidFill>
                <a:effectLst/>
                <a:latin typeface="Palatino ET W02"/>
              </a:rPr>
              <a:t> score are cut from the feature map, standardized in size with ROI pooling, and passed to a classifier. The blue box has a higher score than the green box and overlaps it, so the green box is rejected by non-maximum suppression. Finally, bounding box regression the blue box so that it fits the . 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BC907-57E1-B9D1-9C9B-97155BB3355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EFFB0-14CD-23A0-4A79-A0E277493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78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74DD4-A5F5-51D3-EDBC-B5420765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5311C-0AD4-9BF2-6D80-D4C9A7D7A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F95E1-C675-8AB7-D037-A50C53F13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>
                <a:solidFill>
                  <a:srgbClr val="565656"/>
                </a:solidFill>
                <a:effectLst/>
                <a:latin typeface="Palatino ET W02"/>
              </a:rPr>
              <a:t>There are nine anchor boxes (three scales, three aspect ratios) at each grid point. For the example image, an inner green box and an outer blue box have passed the </a:t>
            </a:r>
            <a:r>
              <a:rPr lang="en-US" b="0" i="0" err="1">
                <a:solidFill>
                  <a:srgbClr val="565656"/>
                </a:solidFill>
                <a:effectLst/>
                <a:latin typeface="Palatino ET W02"/>
              </a:rPr>
              <a:t>objectness</a:t>
            </a:r>
            <a:r>
              <a:rPr lang="en-US" b="0" i="0">
                <a:solidFill>
                  <a:srgbClr val="565656"/>
                </a:solidFill>
                <a:effectLst/>
                <a:latin typeface="Palatino ET W02"/>
              </a:rPr>
              <a:t> test. The second network is a feature stack that computes a representation of the image suitable for classification. The boxes with highest </a:t>
            </a:r>
            <a:r>
              <a:rPr lang="en-US" b="0" i="0" err="1">
                <a:solidFill>
                  <a:srgbClr val="565656"/>
                </a:solidFill>
                <a:effectLst/>
                <a:latin typeface="Palatino ET W02"/>
              </a:rPr>
              <a:t>objectness</a:t>
            </a:r>
            <a:r>
              <a:rPr lang="en-US" b="0" i="0">
                <a:solidFill>
                  <a:srgbClr val="565656"/>
                </a:solidFill>
                <a:effectLst/>
                <a:latin typeface="Palatino ET W02"/>
              </a:rPr>
              <a:t> score are cut from the feature map, standardized in size with ROI pooling, and passed to a classifier. The blue box has a higher score than the green box and overlaps it, so the green box is rejected by non-maximum suppression. Finally, bounding box regression the blue box so that it fits the . 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2C065-4962-39DC-E62B-7FFB3B0924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0FAC2-6E58-D0F6-3EBC-7C2D8D614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45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82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60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28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01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70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22641-19EF-76A5-16C4-0225298AA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2E7A5-B5BF-69C3-5D8E-D03D34EB3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9F2E9-06E2-E31C-38F7-057E23D3F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AF9BA-7CA9-9F5F-6930-8FAA0573E2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085EF-BB79-05C5-3A1A-182E72F10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88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745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BB299-86C0-DD4F-3093-C18546A8A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2D373-937D-F712-01D7-D78B51EAB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270BB-DB20-F92D-AB67-E82CC4E09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7691E-7455-0D13-4C25-F6408AB5CF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DC9DF-9A9D-7377-8778-F21831DDC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91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3891-F14F-2863-A6C4-E945CF64D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43F10-9B45-371E-B291-95C87575C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1BBF2-B6B0-A66F-0AF2-2AD59EA02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31D02-8114-E3C0-F47B-D6D423CE0C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08123-D7C7-1874-18A9-BDFA96729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43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39A9D-D99D-C898-B6DE-E0905589E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F90E1-4D93-E2E7-8FBB-E23DFDC48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B4BF83-B91E-838A-1ECF-3DE3BD965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83C7F-FEBE-99F2-3D00-8B1FDF2FD8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347AF-A942-C41A-B48E-B3DB370FD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371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BF8D1-AB22-0533-FF56-B0482099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6B964-B405-5358-04BC-B8CB4D648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B6870-48AA-356E-1959-A9E17525C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B08E9-A21F-2F85-8B20-654EA7CB92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0DFBF-C4CE-F3F4-083A-4285F5DCB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98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04DF-B725-521A-29BF-97B10FD73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44751-DFE6-4A38-76B6-82D43D42C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12CBE-3A07-1F45-AEA1-F03F8BD27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FD570-66A4-F6EC-95D6-52AF88EAB5C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31DC4-FCB4-E7C6-05A9-2A6B9E6B4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245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BFD13-E517-D17E-67B3-4C20D3461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AE2AB-3778-EF59-FB0A-7DC70FFD6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285ED-F803-C170-11D8-266C50DCB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17C18-05F2-7C92-CBFE-F0C60AD6B3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7604A7-9F38-6EFD-4445-EC7CEBD0B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351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0C1B6-835B-49B0-C57F-7B4A10C9B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B10B6-CB88-A3D4-079B-842F084D1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59B73-9C2C-33A9-5D17-21E4B7DAD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96483-F16B-C715-B08E-27C97FF17E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8419C-D1E9-BB97-066F-F1C5D82B5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040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4D9D4-7E71-3CE0-FF9E-8DD3536AE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B867A-E000-B094-964E-14FAC1BE8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76734-B67D-9628-58C7-3C2883BD1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B0C31D-5C8B-BC6F-4727-E4FAFF4968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FA0C0-6D4A-43BE-4807-11AD95C12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995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5A67E-F99E-5DC7-0F41-BA323A7D7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1E12F-385C-DCBE-FFB7-73B5A1CC8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4D77D-C06F-EF1F-1610-B5F081419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44E1C-3DA6-7C8B-1264-3A368EB9A9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93DF7-0CB6-B649-E946-F9C419CED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35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0E2C2-E430-7AF0-DD8B-5F403513A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6CF05-AFD8-34DB-F518-DA2A60002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40DAD-15FF-5ADB-58C7-EB6D7D150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E54B5-E959-C229-4C0D-D4DE6DD98E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5265E-C00D-6CAC-CBF5-5E20A249B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631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027BD-5940-AD5F-C635-692A1E6A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3E382-D8C3-EEDA-76C0-07A49A21F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A3B443-AB7A-7D11-5078-D77A8B820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614C3-C938-26CB-11A0-890A97246A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18341-E74A-122C-037F-24EC4996D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41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E2C85-4C55-5564-34A4-528F3B07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8DDA6-E009-3D20-16B2-B9EDFDF3D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4A029-9702-4BB5-1719-01F500E4B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A94B2-07AF-3BC2-7947-1BA14560BE7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01DBB6-B2AF-C204-CF1E-7F874B288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067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0E35-6756-D51D-6E55-F645F74F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076B2-AF77-8AC9-6A83-475D05332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2CE493-838B-D926-8D72-37B9FE5B4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5C402E-87AD-D0D7-CBE3-6AE6F8B4C1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D784E-8E5E-916E-354F-5967BD763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029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D394-1D9C-D47B-C31C-99ED784B9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B538D-521A-EE2B-250A-1EE1F1C24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116AE-C89E-7E8F-3749-921FF0DAB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A8266-ADB4-5D39-81B1-4550FC778B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3A806-82EB-010E-EB07-B0AB34012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265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3A779-9556-A340-8437-7B37F57E4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9AC6C-A54A-7430-9139-14612CAEA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9B556-BD46-199D-E01A-5701FEABE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0D5F7-E63D-212F-5044-24AF3B074E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F7A26-D4AC-1A6B-A48C-3F293E1FE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760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10939-9141-0E3F-13A9-CC5D7637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05059-5C77-9B1B-C79D-40933F53B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2B545-4654-DFE2-CB61-8245F7B56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00BFA-24AF-B5CE-DD30-F4A0FCC1C9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4E3FF-2AC9-00A7-2B3C-2D104546C7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050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Examples of Industrial applications in the next lecture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639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E836F-8F1D-0FC1-77D0-D9D18A07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8ACC8-3C00-216F-9344-06FD784EE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F2B82-8755-6AA5-CD8C-5562E3ED7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5A3AE-1F16-70D2-815B-8162D211D0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E760B-7E80-5BB5-B077-F214C522D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640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 navigation within the sphere using the YouTube widget or by dragging the screen with mouse. Notice stitches and other artifacts of forming a 360-view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88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038"/>
            <a:ext cx="103632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516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>
                <a:latin typeface="+mn-lt"/>
              </a:defRPr>
            </a:lvl1pPr>
            <a:lvl2pPr>
              <a:defRPr sz="1800">
                <a:latin typeface="+mn-lt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64DE79-268F-4C1A-8933-263129D2AF90}" type="datetimeFigureOut"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10/28/2026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7F1C229D-64BF-A8B7-9727-11D23A2A8E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4" y="159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7F1C229D-64BF-A8B7-9727-11D23A2A8E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4" y="159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192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7F1C229D-64BF-A8B7-9727-11D23A2A8E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4" y="159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7F1C229D-64BF-A8B7-9727-11D23A2A8E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4" y="159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045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8"/>
            <a:ext cx="11277600" cy="2852737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1277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6956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8"/>
            <a:ext cx="11277600" cy="2852737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1277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35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486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25"/>
            <a:ext cx="5486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34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1277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1163"/>
            <a:ext cx="5486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505075"/>
            <a:ext cx="54864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681163"/>
            <a:ext cx="5486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05075"/>
            <a:ext cx="54864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0928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2600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8180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878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5257800" cy="16002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0" y="987425"/>
            <a:ext cx="5791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525780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832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5257800" cy="16002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600" y="987425"/>
            <a:ext cx="5791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525780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9587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7358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365125"/>
            <a:ext cx="27432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65125"/>
            <a:ext cx="83820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463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3"/>
          <p:cNvSpPr/>
          <p:nvPr/>
        </p:nvSpPr>
        <p:spPr>
          <a:xfrm>
            <a:off x="0" y="-1"/>
            <a:ext cx="12192000" cy="365762"/>
          </a:xfrm>
          <a:prstGeom prst="rect">
            <a:avLst/>
          </a:prstGeom>
          <a:solidFill>
            <a:srgbClr val="8D8787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65457"/>
            <a:ext cx="11277600" cy="5292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5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5E2AFD1-71DA-B7E7-169D-75C1475315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</p:nvPr>
        </p:nvGraphicFramePr>
        <p:xfrm>
          <a:off x="2384" y="159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47" imgH="348" progId="TCLayout.ActiveDocument.1">
                  <p:embed/>
                </p:oleObj>
              </mc:Choice>
              <mc:Fallback>
                <p:oleObj name="think-cell Slide" r:id="rId17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5E2AFD1-71DA-B7E7-169D-75C1475315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84" y="159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7290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CB2026"/>
          </a:solidFill>
          <a:latin typeface="Baskerville SemiBold" charset="0"/>
          <a:ea typeface="Baskerville SemiBold" charset="0"/>
          <a:cs typeface="Baskerville SemiBold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None/>
        <a:tabLst/>
        <a:defRPr sz="20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20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8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wVE8SFMSBJ0?feature=oembe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cycT1Jwsns?feature=oembed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5jKnxEyrbU?feature=oembed" TargetMode="External"/><Relationship Id="rId4" Type="http://schemas.openxmlformats.org/officeDocument/2006/relationships/image" Target="../media/image3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Ssnf5tqXnA?feature=oembed" TargetMode="External"/><Relationship Id="rId4" Type="http://schemas.openxmlformats.org/officeDocument/2006/relationships/image" Target="../media/image3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lXF3CX0o2Y?feature=oembed" TargetMode="External"/><Relationship Id="rId4" Type="http://schemas.openxmlformats.org/officeDocument/2006/relationships/image" Target="../media/image32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TbaLWroPYbo?feature=oembed" TargetMode="External"/><Relationship Id="rId4" Type="http://schemas.openxmlformats.org/officeDocument/2006/relationships/image" Target="../media/image36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e9ASH8IBJ2U?feature=oembed" TargetMode="External"/><Relationship Id="rId4" Type="http://schemas.openxmlformats.org/officeDocument/2006/relationships/image" Target="../media/image49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iGoe7Rebo3k?feature=oembed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BJbwaqekvpo?feature=oembed" TargetMode="External"/><Relationship Id="rId4" Type="http://schemas.openxmlformats.org/officeDocument/2006/relationships/image" Target="../media/image52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eWYf2YVUsR4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69" y="2582864"/>
            <a:ext cx="11277600" cy="2852737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ALY 3510  ·  Fall 2026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Lecture 7: 	 Computer Vision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5ABA4C-E777-EAF8-004D-93689845C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machines to see and understand images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CC18A-3487-4805-8621-103847D1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 descr="A wireframe of a brain&#10;&#10;AI-generated content may be incorrect.">
            <a:extLst>
              <a:ext uri="{FF2B5EF4-FFF2-40B4-BE49-F238E27FC236}">
                <a16:creationId xmlns:a16="http://schemas.microsoft.com/office/drawing/2014/main" id="{B39B9A75-B8ED-DB47-7F56-EFA9ABE442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6"/>
          <a:stretch/>
        </p:blipFill>
        <p:spPr>
          <a:xfrm>
            <a:off x="8620673" y="768350"/>
            <a:ext cx="2680320" cy="258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8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3DFD5-71A9-5AE1-0348-55ABB823D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6858-47C0-CB22-D0A7-01B29AA7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Pre-Lecture Video: What is Computer Vision?  (7:33)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D274C-FC61-0FD6-047E-700381BC0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8586F4-68D2-562C-45BB-035B5CFA79F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4124325" y="3189288"/>
            <a:ext cx="8067675" cy="4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B8418F-4B9B-C01A-3637-DBBC96022900}"/>
              </a:ext>
            </a:extLst>
          </p:cNvPr>
          <p:cNvSpPr txBox="1"/>
          <p:nvPr/>
        </p:nvSpPr>
        <p:spPr>
          <a:xfrm>
            <a:off x="469929" y="661177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https://www.youtube.com/watch?v=wVE8SFMSBJ0</a:t>
            </a:r>
          </a:p>
        </p:txBody>
      </p:sp>
      <p:pic>
        <p:nvPicPr>
          <p:cNvPr id="3" name="Online Media 2" title="What is Computer Vision? | Introduction">
            <a:hlinkClick r:id="" action="ppaction://media"/>
            <a:extLst>
              <a:ext uri="{FF2B5EF4-FFF2-40B4-BE49-F238E27FC236}">
                <a16:creationId xmlns:a16="http://schemas.microsoft.com/office/drawing/2014/main" id="{E37B6962-1C91-1189-CBFA-EF38B079838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07184" y="1153816"/>
            <a:ext cx="9569761" cy="540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2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r>
              <a:rPr lang="en-US" dirty="0"/>
              <a:t>Pre-lecture video</a:t>
            </a:r>
          </a:p>
          <a:p>
            <a:endParaRPr lang="en-US" dirty="0"/>
          </a:p>
          <a:p>
            <a:r>
              <a:rPr lang="en-US" dirty="0"/>
              <a:t>Lecture: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What is Computer Vision?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Image Acquisition &amp; 3D Understanding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From Pixels to Understanding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Core Vision Tasks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Video, Motion &amp; Advanced Topics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Real-World Impact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Summary</a:t>
            </a:r>
          </a:p>
          <a:p>
            <a:endParaRPr lang="en-US" dirty="0"/>
          </a:p>
          <a:p>
            <a:r>
              <a:rPr lang="en-US" dirty="0"/>
              <a:t>BREAK (during the lecture)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3763E-048D-4786-B5D9-61C7C10D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EF4C0E-91FA-4D94-8941-E22F3A83D5F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7" name="Picture 6" descr="A wireframe of a brain&#10;&#10;AI-generated content may be incorrect.">
            <a:extLst>
              <a:ext uri="{FF2B5EF4-FFF2-40B4-BE49-F238E27FC236}">
                <a16:creationId xmlns:a16="http://schemas.microsoft.com/office/drawing/2014/main" id="{7D8B7C62-1320-382B-665C-ED055D5CD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6"/>
          <a:stretch/>
        </p:blipFill>
        <p:spPr>
          <a:xfrm>
            <a:off x="7947169" y="1011460"/>
            <a:ext cx="3432748" cy="331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1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What is Computer Vision (CV)?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A4B0B-DD81-6EAC-44D5-4E6669913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627" y="1347428"/>
            <a:ext cx="11514855" cy="5292545"/>
          </a:xfrm>
        </p:spPr>
        <p:txBody>
          <a:bodyPr/>
          <a:lstStyle/>
          <a:p>
            <a:r>
              <a:rPr lang="en-US" dirty="0"/>
              <a:t>CV enables machines to understand visual information — images, video, and real-time sensor data.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F229B-58D3-46E8-BAE7-E7FD1207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8" name="Picture 4" descr="Expand the Possibilities of Computer Vision with AI">
            <a:extLst>
              <a:ext uri="{FF2B5EF4-FFF2-40B4-BE49-F238E27FC236}">
                <a16:creationId xmlns:a16="http://schemas.microsoft.com/office/drawing/2014/main" id="{8B51EB87-885D-5ABA-63C6-FAC7BBB30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305" y="5927807"/>
            <a:ext cx="1036482" cy="689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ustom Speech Recognition: Create a personalized AI bot to identify  whatever you say - IBM Developer">
            <a:extLst>
              <a:ext uri="{FF2B5EF4-FFF2-40B4-BE49-F238E27FC236}">
                <a16:creationId xmlns:a16="http://schemas.microsoft.com/office/drawing/2014/main" id="{5948C037-316D-272A-07C3-B285716B4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760" y="5927807"/>
            <a:ext cx="1116910" cy="62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1A13E96D-DFE3-67CD-7A8E-92BD0FAEAD96}"/>
              </a:ext>
            </a:extLst>
          </p:cNvPr>
          <p:cNvGrpSpPr/>
          <p:nvPr/>
        </p:nvGrpSpPr>
        <p:grpSpPr>
          <a:xfrm>
            <a:off x="601082" y="2112153"/>
            <a:ext cx="10908792" cy="3703320"/>
            <a:chOff x="640080" y="1691640"/>
            <a:chExt cx="10908792" cy="3703320"/>
          </a:xfrm>
        </p:grpSpPr>
        <p:sp>
          <p:nvSpPr>
            <p:cNvPr id="29" name="Shape 2">
              <a:extLst>
                <a:ext uri="{FF2B5EF4-FFF2-40B4-BE49-F238E27FC236}">
                  <a16:creationId xmlns:a16="http://schemas.microsoft.com/office/drawing/2014/main" id="{55320CCA-1824-FB9B-788E-E0D197A6D0A2}"/>
                </a:ext>
              </a:extLst>
            </p:cNvPr>
            <p:cNvSpPr/>
            <p:nvPr/>
          </p:nvSpPr>
          <p:spPr>
            <a:xfrm>
              <a:off x="640080" y="1691640"/>
              <a:ext cx="5193792" cy="2377440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0" name="Shape 3">
              <a:extLst>
                <a:ext uri="{FF2B5EF4-FFF2-40B4-BE49-F238E27FC236}">
                  <a16:creationId xmlns:a16="http://schemas.microsoft.com/office/drawing/2014/main" id="{89828261-D07F-9973-5FED-ECE76C130A3C}"/>
                </a:ext>
              </a:extLst>
            </p:cNvPr>
            <p:cNvSpPr/>
            <p:nvPr/>
          </p:nvSpPr>
          <p:spPr>
            <a:xfrm>
              <a:off x="640080" y="169164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1" name="Text 4">
              <a:extLst>
                <a:ext uri="{FF2B5EF4-FFF2-40B4-BE49-F238E27FC236}">
                  <a16:creationId xmlns:a16="http://schemas.microsoft.com/office/drawing/2014/main" id="{8A3B3CD6-A784-E7C8-7054-37FCD518B483}"/>
                </a:ext>
              </a:extLst>
            </p:cNvPr>
            <p:cNvSpPr txBox="1"/>
            <p:nvPr/>
          </p:nvSpPr>
          <p:spPr>
            <a:xfrm>
              <a:off x="822960" y="169164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Human vision</a:t>
              </a:r>
              <a:endParaRPr lang="en-US" sz="2000" dirty="0"/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EA9B456A-2F78-C81C-BD5E-4BD66698E237}"/>
                </a:ext>
              </a:extLst>
            </p:cNvPr>
            <p:cNvSpPr txBox="1"/>
            <p:nvPr/>
          </p:nvSpPr>
          <p:spPr>
            <a:xfrm>
              <a:off x="960120" y="2606040"/>
              <a:ext cx="4599432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Instant recognition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Context and emotion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Effortless — but hard to introspect</a:t>
              </a:r>
              <a:endParaRPr lang="en-US" dirty="0"/>
            </a:p>
          </p:txBody>
        </p:sp>
        <p:sp>
          <p:nvSpPr>
            <p:cNvPr id="33" name="Shape 6">
              <a:extLst>
                <a:ext uri="{FF2B5EF4-FFF2-40B4-BE49-F238E27FC236}">
                  <a16:creationId xmlns:a16="http://schemas.microsoft.com/office/drawing/2014/main" id="{7686AA67-61F3-AA52-FE4F-3DEB95ECDB3A}"/>
                </a:ext>
              </a:extLst>
            </p:cNvPr>
            <p:cNvSpPr/>
            <p:nvPr/>
          </p:nvSpPr>
          <p:spPr>
            <a:xfrm>
              <a:off x="6355080" y="1691640"/>
              <a:ext cx="5193792" cy="2377440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" name="Shape 7">
              <a:extLst>
                <a:ext uri="{FF2B5EF4-FFF2-40B4-BE49-F238E27FC236}">
                  <a16:creationId xmlns:a16="http://schemas.microsoft.com/office/drawing/2014/main" id="{83D69D05-A8A3-CD7D-8015-D054FD63B8BB}"/>
                </a:ext>
              </a:extLst>
            </p:cNvPr>
            <p:cNvSpPr/>
            <p:nvPr/>
          </p:nvSpPr>
          <p:spPr>
            <a:xfrm>
              <a:off x="6355080" y="169164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5" name="Text 8">
              <a:extLst>
                <a:ext uri="{FF2B5EF4-FFF2-40B4-BE49-F238E27FC236}">
                  <a16:creationId xmlns:a16="http://schemas.microsoft.com/office/drawing/2014/main" id="{E3BD48AE-F03B-ABA9-1ED9-A8E8D6924D6C}"/>
                </a:ext>
              </a:extLst>
            </p:cNvPr>
            <p:cNvSpPr txBox="1"/>
            <p:nvPr/>
          </p:nvSpPr>
          <p:spPr>
            <a:xfrm>
              <a:off x="6537960" y="169164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Computer vision</a:t>
              </a:r>
              <a:endParaRPr lang="en-US" sz="2000" dirty="0"/>
            </a:p>
          </p:txBody>
        </p:sp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208BB2F4-A781-F18A-30B1-F05A7CAE787F}"/>
                </a:ext>
              </a:extLst>
            </p:cNvPr>
            <p:cNvSpPr txBox="1"/>
            <p:nvPr/>
          </p:nvSpPr>
          <p:spPr>
            <a:xfrm>
              <a:off x="6675120" y="2606040"/>
              <a:ext cx="4599432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Pixel arrays → patterns → meaning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Needs explicit models &amp; data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Scales to millions of images</a:t>
              </a:r>
              <a:endParaRPr lang="en-US" dirty="0"/>
            </a:p>
          </p:txBody>
        </p:sp>
        <p:sp>
          <p:nvSpPr>
            <p:cNvPr id="37" name="Shape 10">
              <a:extLst>
                <a:ext uri="{FF2B5EF4-FFF2-40B4-BE49-F238E27FC236}">
                  <a16:creationId xmlns:a16="http://schemas.microsoft.com/office/drawing/2014/main" id="{A07A4639-7FD7-A84D-4B9E-EEE7BFD95FD2}"/>
                </a:ext>
              </a:extLst>
            </p:cNvPr>
            <p:cNvSpPr/>
            <p:nvPr/>
          </p:nvSpPr>
          <p:spPr>
            <a:xfrm>
              <a:off x="640080" y="4343400"/>
              <a:ext cx="10881360" cy="1051560"/>
            </a:xfrm>
            <a:prstGeom prst="roundRect">
              <a:avLst>
                <a:gd name="adj" fmla="val 6957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8" name="Text 11">
              <a:extLst>
                <a:ext uri="{FF2B5EF4-FFF2-40B4-BE49-F238E27FC236}">
                  <a16:creationId xmlns:a16="http://schemas.microsoft.com/office/drawing/2014/main" id="{605DDBA4-9C6B-2812-36F6-1C22D5B96413}"/>
                </a:ext>
              </a:extLst>
            </p:cNvPr>
            <p:cNvSpPr txBox="1"/>
            <p:nvPr/>
          </p:nvSpPr>
          <p:spPr>
            <a:xfrm>
              <a:off x="914400" y="4389120"/>
              <a:ext cx="1033272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Vision dominates human perception: 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~10 Mb/s of visual bandwidth to the brain</a:t>
              </a:r>
              <a:r>
                <a:rPr lang="en-US" b="1" baseline="30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vs. ~39 b/s for speech</a:t>
              </a:r>
              <a:r>
                <a:rPr lang="en-US" b="1" baseline="30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— roughly 250,000× more information.</a:t>
              </a:r>
              <a:endParaRPr lang="en-US" dirty="0"/>
            </a:p>
          </p:txBody>
        </p:sp>
      </p:grpSp>
      <p:sp>
        <p:nvSpPr>
          <p:cNvPr id="40" name="Footnote Sources"/>
          <p:cNvSpPr txBox="1"/>
          <p:nvPr/>
        </p:nvSpPr>
        <p:spPr>
          <a:xfrm>
            <a:off x="9194748" y="6480240"/>
            <a:ext cx="3066627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</a:rPr>
              <a:t>1 Koch et al., Current Biology, 2006 (doi:10.1016/j.cub.2006.05.056)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</a:rPr>
              <a:t>2 Coupé et al., Science Advances, 2019 (doi:10.1126/sciadv.aaw2594)</a:t>
            </a:r>
          </a:p>
        </p:txBody>
      </p:sp>
    </p:spTree>
    <p:extLst>
      <p:ext uri="{BB962C8B-B14F-4D97-AF65-F5344CB8AC3E}">
        <p14:creationId xmlns:p14="http://schemas.microsoft.com/office/powerpoint/2010/main" val="1905145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C333E-7B3C-1102-21CA-124B7FDC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775B3-0D67-A296-A410-0958A043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Capture Images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B5EA6-EE9F-ADFD-AC06-ECE6C308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636EBF-BCE8-9250-5FBA-24A70FDB4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573" y="3593389"/>
            <a:ext cx="4585847" cy="30667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5767F57-8F2F-9D64-089C-5E5F2265756B}"/>
              </a:ext>
            </a:extLst>
          </p:cNvPr>
          <p:cNvGrpSpPr/>
          <p:nvPr/>
        </p:nvGrpSpPr>
        <p:grpSpPr>
          <a:xfrm>
            <a:off x="640079" y="1420130"/>
            <a:ext cx="11427873" cy="2054590"/>
            <a:chOff x="640080" y="1420130"/>
            <a:chExt cx="10908792" cy="2054590"/>
          </a:xfrm>
        </p:grpSpPr>
        <p:sp>
          <p:nvSpPr>
            <p:cNvPr id="12" name="Shape 1">
              <a:extLst>
                <a:ext uri="{FF2B5EF4-FFF2-40B4-BE49-F238E27FC236}">
                  <a16:creationId xmlns:a16="http://schemas.microsoft.com/office/drawing/2014/main" id="{9986EB47-DE5B-80D8-2332-325B6F1E3E25}"/>
                </a:ext>
              </a:extLst>
            </p:cNvPr>
            <p:cNvSpPr/>
            <p:nvPr/>
          </p:nvSpPr>
          <p:spPr>
            <a:xfrm>
              <a:off x="640080" y="1463040"/>
              <a:ext cx="5193792" cy="2011680"/>
            </a:xfrm>
            <a:prstGeom prst="roundRect">
              <a:avLst>
                <a:gd name="adj" fmla="val 4545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3" name="Shape 2">
              <a:extLst>
                <a:ext uri="{FF2B5EF4-FFF2-40B4-BE49-F238E27FC236}">
                  <a16:creationId xmlns:a16="http://schemas.microsoft.com/office/drawing/2014/main" id="{673E3881-252E-3AC1-E15D-512402D7F7A9}"/>
                </a:ext>
              </a:extLst>
            </p:cNvPr>
            <p:cNvSpPr/>
            <p:nvPr/>
          </p:nvSpPr>
          <p:spPr>
            <a:xfrm>
              <a:off x="640080" y="146304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C6A6D7C7-52DF-48CA-9ED3-A19E988CDC8F}"/>
                </a:ext>
              </a:extLst>
            </p:cNvPr>
            <p:cNvSpPr txBox="1"/>
            <p:nvPr/>
          </p:nvSpPr>
          <p:spPr>
            <a:xfrm>
              <a:off x="680865" y="142013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Active sensing</a:t>
              </a:r>
              <a:endParaRPr lang="en-US" sz="2400" dirty="0"/>
            </a:p>
          </p:txBody>
        </p:sp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D57F01DA-A5DA-DED3-7F6C-0C05E0FE95A5}"/>
                </a:ext>
              </a:extLst>
            </p:cNvPr>
            <p:cNvSpPr txBox="1"/>
            <p:nvPr/>
          </p:nvSpPr>
          <p:spPr>
            <a:xfrm>
              <a:off x="960119" y="2377440"/>
              <a:ext cx="4752732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Emits energy and measures reflection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LiDAR, structured light, time-of-flight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Enables depth &amp; low-light perception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endParaRPr lang="en-US" sz="2000" dirty="0"/>
            </a:p>
          </p:txBody>
        </p:sp>
        <p:sp>
          <p:nvSpPr>
            <p:cNvPr id="16" name="Shape 5">
              <a:extLst>
                <a:ext uri="{FF2B5EF4-FFF2-40B4-BE49-F238E27FC236}">
                  <a16:creationId xmlns:a16="http://schemas.microsoft.com/office/drawing/2014/main" id="{C92E6231-14CD-1362-E908-58E71CC638C4}"/>
                </a:ext>
              </a:extLst>
            </p:cNvPr>
            <p:cNvSpPr/>
            <p:nvPr/>
          </p:nvSpPr>
          <p:spPr>
            <a:xfrm>
              <a:off x="6355080" y="1463040"/>
              <a:ext cx="5193792" cy="2011680"/>
            </a:xfrm>
            <a:prstGeom prst="roundRect">
              <a:avLst>
                <a:gd name="adj" fmla="val 4545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7" name="Shape 6">
              <a:extLst>
                <a:ext uri="{FF2B5EF4-FFF2-40B4-BE49-F238E27FC236}">
                  <a16:creationId xmlns:a16="http://schemas.microsoft.com/office/drawing/2014/main" id="{34365F3B-CD76-D80C-7C17-E4C74394460E}"/>
                </a:ext>
              </a:extLst>
            </p:cNvPr>
            <p:cNvSpPr/>
            <p:nvPr/>
          </p:nvSpPr>
          <p:spPr>
            <a:xfrm>
              <a:off x="6355080" y="146304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C5F2D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EE3D5471-3AC1-D218-BD10-9354373E16E3}"/>
                </a:ext>
              </a:extLst>
            </p:cNvPr>
            <p:cNvSpPr txBox="1"/>
            <p:nvPr/>
          </p:nvSpPr>
          <p:spPr>
            <a:xfrm>
              <a:off x="6537960" y="146304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Passive sensing</a:t>
              </a:r>
              <a:endParaRPr lang="en-US" sz="2400" dirty="0"/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CC338ED4-F1E9-962B-05B4-7289712BFABC}"/>
                </a:ext>
              </a:extLst>
            </p:cNvPr>
            <p:cNvSpPr txBox="1"/>
            <p:nvPr/>
          </p:nvSpPr>
          <p:spPr>
            <a:xfrm>
              <a:off x="6675120" y="2377440"/>
              <a:ext cx="4599432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endParaRPr lang="en-US" sz="20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A91A2BE-0968-9083-9C32-4E318A92A8D0}"/>
              </a:ext>
            </a:extLst>
          </p:cNvPr>
          <p:cNvSpPr txBox="1"/>
          <p:nvPr/>
        </p:nvSpPr>
        <p:spPr>
          <a:xfrm>
            <a:off x="6776442" y="2313229"/>
            <a:ext cx="610870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ambient light reflected by objects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cameras, thermal imaging, human vision</a:t>
            </a:r>
          </a:p>
        </p:txBody>
      </p:sp>
    </p:spTree>
    <p:extLst>
      <p:ext uri="{BB962C8B-B14F-4D97-AF65-F5344CB8AC3E}">
        <p14:creationId xmlns:p14="http://schemas.microsoft.com/office/powerpoint/2010/main" val="2618803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E11B8-3940-AFBC-85E7-33E9213DA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92C5-2E8E-9237-D010-2BB4FA2F2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Understand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87EE2-C15B-9AEE-45DB-DA0D668FD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three pillars of computer vision: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D0731-3939-250A-8A1D-6FE3489A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77A0AE-489A-CF49-824A-B5F1FDDD9842}"/>
              </a:ext>
            </a:extLst>
          </p:cNvPr>
          <p:cNvGrpSpPr/>
          <p:nvPr/>
        </p:nvGrpSpPr>
        <p:grpSpPr>
          <a:xfrm>
            <a:off x="560335" y="2293443"/>
            <a:ext cx="11089797" cy="2041490"/>
            <a:chOff x="640080" y="4069080"/>
            <a:chExt cx="10872216" cy="1737360"/>
          </a:xfrm>
        </p:grpSpPr>
        <p:sp>
          <p:nvSpPr>
            <p:cNvPr id="6" name="Shape 10">
              <a:extLst>
                <a:ext uri="{FF2B5EF4-FFF2-40B4-BE49-F238E27FC236}">
                  <a16:creationId xmlns:a16="http://schemas.microsoft.com/office/drawing/2014/main" id="{F8630096-A470-3CA1-2E76-B3D4FFE1F9D5}"/>
                </a:ext>
              </a:extLst>
            </p:cNvPr>
            <p:cNvSpPr/>
            <p:nvPr/>
          </p:nvSpPr>
          <p:spPr>
            <a:xfrm>
              <a:off x="640080" y="4069080"/>
              <a:ext cx="3703320" cy="1737360"/>
            </a:xfrm>
            <a:prstGeom prst="roundRect">
              <a:avLst>
                <a:gd name="adj" fmla="val 4737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68F06540-7CDE-7EB1-4FFD-EDE3F1F12384}"/>
                </a:ext>
              </a:extLst>
            </p:cNvPr>
            <p:cNvSpPr txBox="1"/>
            <p:nvPr/>
          </p:nvSpPr>
          <p:spPr>
            <a:xfrm>
              <a:off x="868680" y="420624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F3C7E"/>
                  </a:solidFill>
                  <a:ea typeface="Calibri" pitchFamily="34" charset="-122"/>
                  <a:cs typeface="Calibri" pitchFamily="34" charset="-120"/>
                </a:rPr>
                <a:t>Features</a:t>
              </a:r>
              <a:endParaRPr lang="en-US" sz="2000" dirty="0"/>
            </a:p>
          </p:txBody>
        </p:sp>
        <p:sp>
          <p:nvSpPr>
            <p:cNvPr id="9" name="Text 12">
              <a:extLst>
                <a:ext uri="{FF2B5EF4-FFF2-40B4-BE49-F238E27FC236}">
                  <a16:creationId xmlns:a16="http://schemas.microsoft.com/office/drawing/2014/main" id="{81AAE1CA-362E-C4AD-DF7E-B0F6CC41CF9B}"/>
                </a:ext>
              </a:extLst>
            </p:cNvPr>
            <p:cNvSpPr txBox="1"/>
            <p:nvPr/>
          </p:nvSpPr>
          <p:spPr>
            <a:xfrm>
              <a:off x="868680" y="4690872"/>
              <a:ext cx="32461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ea typeface="Calibri" pitchFamily="34" charset="-122"/>
                  <a:cs typeface="Calibri" pitchFamily="34" charset="-120"/>
                </a:rPr>
                <a:t>Find distinctive patterns — edges, corners, textures, learned embeddings.</a:t>
              </a:r>
              <a:endParaRPr lang="en-US" sz="2000" dirty="0"/>
            </a:p>
          </p:txBody>
        </p:sp>
        <p:sp>
          <p:nvSpPr>
            <p:cNvPr id="10" name="Shape 13">
              <a:extLst>
                <a:ext uri="{FF2B5EF4-FFF2-40B4-BE49-F238E27FC236}">
                  <a16:creationId xmlns:a16="http://schemas.microsoft.com/office/drawing/2014/main" id="{533D883C-F420-B03F-D8FE-033A4CA077A5}"/>
                </a:ext>
              </a:extLst>
            </p:cNvPr>
            <p:cNvSpPr/>
            <p:nvPr/>
          </p:nvSpPr>
          <p:spPr>
            <a:xfrm>
              <a:off x="4224528" y="4069080"/>
              <a:ext cx="3703320" cy="1737360"/>
            </a:xfrm>
            <a:prstGeom prst="roundRect">
              <a:avLst>
                <a:gd name="adj" fmla="val 4737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0" name="Text 14">
              <a:extLst>
                <a:ext uri="{FF2B5EF4-FFF2-40B4-BE49-F238E27FC236}">
                  <a16:creationId xmlns:a16="http://schemas.microsoft.com/office/drawing/2014/main" id="{45BE3CF7-0309-9629-FF50-AB71BDC5C686}"/>
                </a:ext>
              </a:extLst>
            </p:cNvPr>
            <p:cNvSpPr txBox="1"/>
            <p:nvPr/>
          </p:nvSpPr>
          <p:spPr>
            <a:xfrm>
              <a:off x="4453128" y="420624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C5F2D"/>
                  </a:solidFill>
                  <a:ea typeface="Calibri" pitchFamily="34" charset="-122"/>
                  <a:cs typeface="Calibri" pitchFamily="34" charset="-120"/>
                </a:rPr>
                <a:t>Reconstruction</a:t>
              </a:r>
              <a:endParaRPr lang="en-US" sz="2000" dirty="0"/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09640297-3263-B827-EB4E-55AC0B6554B3}"/>
                </a:ext>
              </a:extLst>
            </p:cNvPr>
            <p:cNvSpPr txBox="1"/>
            <p:nvPr/>
          </p:nvSpPr>
          <p:spPr>
            <a:xfrm>
              <a:off x="4453128" y="4690872"/>
              <a:ext cx="32461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ea typeface="Calibri" pitchFamily="34" charset="-122"/>
                  <a:cs typeface="Calibri" pitchFamily="34" charset="-120"/>
                </a:rPr>
                <a:t>Recover 3D structure — depth, surfaces, point clouds.</a:t>
              </a:r>
              <a:endParaRPr lang="en-US" sz="2000" dirty="0"/>
            </a:p>
          </p:txBody>
        </p:sp>
        <p:sp>
          <p:nvSpPr>
            <p:cNvPr id="22" name="Shape 16">
              <a:extLst>
                <a:ext uri="{FF2B5EF4-FFF2-40B4-BE49-F238E27FC236}">
                  <a16:creationId xmlns:a16="http://schemas.microsoft.com/office/drawing/2014/main" id="{EF80DDB3-E31F-559A-818F-25D7F714E5CB}"/>
                </a:ext>
              </a:extLst>
            </p:cNvPr>
            <p:cNvSpPr/>
            <p:nvPr/>
          </p:nvSpPr>
          <p:spPr>
            <a:xfrm>
              <a:off x="7808976" y="4069080"/>
              <a:ext cx="3703320" cy="1737360"/>
            </a:xfrm>
            <a:prstGeom prst="roundRect">
              <a:avLst>
                <a:gd name="adj" fmla="val 4737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1961B024-D202-65FB-8387-A7F594659B27}"/>
                </a:ext>
              </a:extLst>
            </p:cNvPr>
            <p:cNvSpPr txBox="1"/>
            <p:nvPr/>
          </p:nvSpPr>
          <p:spPr>
            <a:xfrm>
              <a:off x="8037576" y="420624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ea typeface="Calibri" pitchFamily="34" charset="-122"/>
                  <a:cs typeface="Calibri" pitchFamily="34" charset="-120"/>
                </a:rPr>
                <a:t>Recognition</a:t>
              </a:r>
              <a:endParaRPr lang="en-US" sz="2000" dirty="0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99346F3E-8700-4596-8A84-A0D853E32FB8}"/>
                </a:ext>
              </a:extLst>
            </p:cNvPr>
            <p:cNvSpPr txBox="1"/>
            <p:nvPr/>
          </p:nvSpPr>
          <p:spPr>
            <a:xfrm>
              <a:off x="8037576" y="4690872"/>
              <a:ext cx="32461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ea typeface="Calibri" pitchFamily="34" charset="-122"/>
                  <a:cs typeface="Calibri" pitchFamily="34" charset="-120"/>
                </a:rPr>
                <a:t>Understand meaning — detect, classify, describe scenes.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1463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7685A-CB58-824A-CFEA-DF17CCAD4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A213-EE45-758C-F4AB-324BD272E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History of Computer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2CB39-65E4-8906-C546-5A29777D5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6395" y="3581400"/>
            <a:ext cx="4618404" cy="2603500"/>
          </a:xfrm>
        </p:spPr>
        <p:txBody>
          <a:bodyPr anchor="ctr" anchorCtr="0"/>
          <a:lstStyle/>
          <a:p>
            <a:r>
              <a:rPr lang="en-US" dirty="0"/>
              <a:t>2012 was the turning point: </a:t>
            </a:r>
            <a:r>
              <a:rPr lang="en-US" dirty="0" err="1"/>
              <a:t>AlexNet’s</a:t>
            </a:r>
            <a:r>
              <a:rPr lang="en-US" dirty="0"/>
              <a:t> ImageNet win moved the field from hand-crafted features to learned ones.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62E30-64B3-D45E-453D-74975C2E4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CC16188B-FF2D-AD56-0265-275B87032597}"/>
              </a:ext>
            </a:extLst>
          </p:cNvPr>
          <p:cNvGraphicFramePr>
            <a:graphicFrameLocks noGrp="1"/>
          </p:cNvGraphicFramePr>
          <p:nvPr/>
        </p:nvGraphicFramePr>
        <p:xfrm>
          <a:off x="533754" y="1376065"/>
          <a:ext cx="10881360" cy="1905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1960s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research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detection, pattern recognition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vision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Marr’s vision theory, Canny edges, LeNet (1989)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+ classical ML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SIFT, SURF, HOG + SVMs, Viola–Jones faces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2012+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 on ImageNet → the deep-learning revolution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3" name="Picture 2">
            <a:extLst>
              <a:ext uri="{FF2B5EF4-FFF2-40B4-BE49-F238E27FC236}">
                <a16:creationId xmlns:a16="http://schemas.microsoft.com/office/drawing/2014/main" id="{023AA896-9092-CE33-5A7E-D57FDABBC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581400"/>
            <a:ext cx="6278195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5159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BE610-220D-8E7A-38C8-339AB93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C642-032B-B0F5-9EBF-AB1DDEF82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Computers See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5A87E-4961-7C0B-AC5C-F6118C1C3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37866"/>
            <a:ext cx="11277600" cy="529254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digital image is just numbers — a grid of pixel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RGB color model: each pixel = Red, Green, Blue (each 0–255).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1080p image = 1920 × 1080 × 3 ≈ 6.2 million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CV transforms these raw pixel values into meaningful understanding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65493-C7F7-7630-D574-9CC4FB98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2" descr="Convolution on RGB images - Hands-On Java Deep Learning for Computer Vision">
            <a:extLst>
              <a:ext uri="{FF2B5EF4-FFF2-40B4-BE49-F238E27FC236}">
                <a16:creationId xmlns:a16="http://schemas.microsoft.com/office/drawing/2014/main" id="{6252929F-F735-A813-12B1-71C615CB9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" t="15795" r="918" b="2827"/>
          <a:stretch>
            <a:fillRect/>
          </a:stretch>
        </p:blipFill>
        <p:spPr bwMode="auto">
          <a:xfrm>
            <a:off x="2768826" y="3238536"/>
            <a:ext cx="6875955" cy="3353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2583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31D81-BBC4-48DC-FEA4-A2B5F7144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EA1691-C4F8-9D19-6B63-76030FBB2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Image Acquisition &amp; 3D Understanding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873256-AE6E-59F8-11D4-A4A477DA5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pixels to depth and geometry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C461D-5D4E-99E5-F1F6-66652166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6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0A58B-F85D-E443-8755-F4602F7FF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AAD3-8066-17DB-39BD-A305CF71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Modalities: Many Ways to See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91FFE-1118-2E68-7E41-9FD2CDE4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1C11B3CC-64E3-F884-E745-E9C898808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038169"/>
              </p:ext>
            </p:extLst>
          </p:nvPr>
        </p:nvGraphicFramePr>
        <p:xfrm>
          <a:off x="533755" y="1514075"/>
          <a:ext cx="11057112" cy="3599792"/>
        </p:xfrm>
        <a:graphic>
          <a:graphicData uri="http://schemas.openxmlformats.org/drawingml/2006/table">
            <a:tbl>
              <a:tblPr/>
              <a:tblGrid>
                <a:gridCol w="2694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3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captures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(2D)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light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Everyday photos, video, surveillance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Infrared / thermal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signatures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 vision, security, wildlife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through objects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Medical, security screening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sensors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Per-pixel distance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Robotics, AR/VR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 / MRI (3D)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Cross-sectional volumes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Non-invasive diagnosis, surgery planning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 line scan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at a time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inspection, satellite imaging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256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DA78-E5D3-1D67-3E94-7FA91764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24CB-9D4C-1D0F-745A-7F9E4FBF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/>
              <a:t>Image Modalities: 1D Line Scan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0E02FB-5316-B00A-A4DF-0CA09260F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single row of pixels captures an image as the object moves past the sensor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49B7B-9990-A78A-0EE8-D2ACDED7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4097" name="Group 4096">
            <a:extLst>
              <a:ext uri="{FF2B5EF4-FFF2-40B4-BE49-F238E27FC236}">
                <a16:creationId xmlns:a16="http://schemas.microsoft.com/office/drawing/2014/main" id="{AED8A0DF-B662-82CC-6791-38240E37985F}"/>
              </a:ext>
            </a:extLst>
          </p:cNvPr>
          <p:cNvGrpSpPr/>
          <p:nvPr/>
        </p:nvGrpSpPr>
        <p:grpSpPr>
          <a:xfrm>
            <a:off x="8658836" y="2326919"/>
            <a:ext cx="2896916" cy="3769620"/>
            <a:chOff x="5093940" y="846981"/>
            <a:chExt cx="3669060" cy="3769620"/>
          </a:xfrm>
        </p:grpSpPr>
        <p:pic>
          <p:nvPicPr>
            <p:cNvPr id="4099" name="Image 1" descr="/tmp/rasterized-gradient-3847932f.png">
              <a:extLst>
                <a:ext uri="{FF2B5EF4-FFF2-40B4-BE49-F238E27FC236}">
                  <a16:creationId xmlns:a16="http://schemas.microsoft.com/office/drawing/2014/main" id="{73DB1A47-83F3-C035-1555-1A2FE63F1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93940" y="846981"/>
              <a:ext cx="3669060" cy="510480"/>
            </a:xfrm>
            <a:prstGeom prst="rect">
              <a:avLst/>
            </a:prstGeom>
          </p:spPr>
        </p:pic>
        <p:sp>
          <p:nvSpPr>
            <p:cNvPr id="4100" name="Text 4">
              <a:extLst>
                <a:ext uri="{FF2B5EF4-FFF2-40B4-BE49-F238E27FC236}">
                  <a16:creationId xmlns:a16="http://schemas.microsoft.com/office/drawing/2014/main" id="{4BDE6A3A-8809-D0B3-01C4-A0094FE580DE}"/>
                </a:ext>
              </a:extLst>
            </p:cNvPr>
            <p:cNvSpPr/>
            <p:nvPr/>
          </p:nvSpPr>
          <p:spPr>
            <a:xfrm>
              <a:off x="5193267" y="942231"/>
              <a:ext cx="3470407" cy="319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520"/>
                </a:lnSpc>
              </a:pPr>
              <a:r>
                <a:rPr lang="en-US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Line Scan Cameras</a:t>
              </a:r>
              <a:endParaRPr lang="en-US" dirty="0"/>
            </a:p>
          </p:txBody>
        </p:sp>
        <p:sp>
          <p:nvSpPr>
            <p:cNvPr id="4101" name="Text 5">
              <a:extLst>
                <a:ext uri="{FF2B5EF4-FFF2-40B4-BE49-F238E27FC236}">
                  <a16:creationId xmlns:a16="http://schemas.microsoft.com/office/drawing/2014/main" id="{303DDB9C-78BA-5196-EE2D-6EEDDBD48394}"/>
                </a:ext>
              </a:extLst>
            </p:cNvPr>
            <p:cNvSpPr/>
            <p:nvPr/>
          </p:nvSpPr>
          <p:spPr>
            <a:xfrm>
              <a:off x="5093940" y="1452711"/>
              <a:ext cx="3669060" cy="1455390"/>
            </a:xfrm>
            <a:prstGeom prst="roundRect">
              <a:avLst>
                <a:gd name="adj" fmla="val 3927"/>
              </a:avLst>
            </a:prstGeom>
            <a:solidFill>
              <a:srgbClr val="F5F7FA"/>
            </a:solidFill>
            <a:ln/>
          </p:spPr>
          <p:txBody>
            <a:bodyPr wrap="square" rtlCol="0" anchor="ctr"/>
            <a:lstStyle/>
            <a:p>
              <a:endParaRPr lang="en-US"/>
            </a:p>
          </p:txBody>
        </p:sp>
        <p:sp>
          <p:nvSpPr>
            <p:cNvPr id="4102" name="Text 6">
              <a:extLst>
                <a:ext uri="{FF2B5EF4-FFF2-40B4-BE49-F238E27FC236}">
                  <a16:creationId xmlns:a16="http://schemas.microsoft.com/office/drawing/2014/main" id="{48E4961C-0DA4-E69A-5B0A-5129BFC32C60}"/>
                </a:ext>
              </a:extLst>
            </p:cNvPr>
            <p:cNvSpPr/>
            <p:nvPr/>
          </p:nvSpPr>
          <p:spPr>
            <a:xfrm>
              <a:off x="5227290" y="1567011"/>
              <a:ext cx="3470407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310"/>
                </a:lnSpc>
                <a:spcAft>
                  <a:spcPts val="450"/>
                </a:spcAft>
              </a:pPr>
              <a:r>
                <a:rPr lang="en-US" sz="2000" dirty="0">
                  <a:solidFill>
                    <a:srgbClr val="0066B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Advantages:</a:t>
              </a:r>
              <a:endParaRPr lang="en-US" sz="2000" dirty="0"/>
            </a:p>
          </p:txBody>
        </p:sp>
        <p:sp>
          <p:nvSpPr>
            <p:cNvPr id="4103" name="Text 7">
              <a:extLst>
                <a:ext uri="{FF2B5EF4-FFF2-40B4-BE49-F238E27FC236}">
                  <a16:creationId xmlns:a16="http://schemas.microsoft.com/office/drawing/2014/main" id="{CF1F317A-1D32-B1DF-00F7-5080EF495A86}"/>
                </a:ext>
              </a:extLst>
            </p:cNvPr>
            <p:cNvSpPr/>
            <p:nvPr/>
          </p:nvSpPr>
          <p:spPr>
            <a:xfrm>
              <a:off x="5227290" y="1917502"/>
              <a:ext cx="3402360" cy="876300"/>
            </a:xfrm>
            <a:prstGeom prst="rect">
              <a:avLst/>
            </a:prstGeom>
            <a:noFill/>
            <a:ln/>
          </p:spPr>
          <p:txBody>
            <a:bodyPr wrap="square" lIns="104775" tIns="0" rIns="0" bIns="0" rtlCol="0" anchor="t"/>
            <a:lstStyle/>
            <a:p>
              <a:pPr marL="285750" indent="-285750">
                <a:lnSpc>
                  <a:spcPts val="21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5A6A7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Very high resolution</a:t>
              </a:r>
              <a:endParaRPr lang="en-US" dirty="0"/>
            </a:p>
            <a:p>
              <a:pPr marL="285750" indent="-285750">
                <a:lnSpc>
                  <a:spcPts val="21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5A6A7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Continuous imaging</a:t>
              </a:r>
              <a:endParaRPr lang="en-US" dirty="0"/>
            </a:p>
            <a:p>
              <a:pPr marL="285750" indent="-285750">
                <a:lnSpc>
                  <a:spcPts val="21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5A6A7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 motion blur</a:t>
              </a:r>
              <a:endParaRPr lang="en-US" dirty="0"/>
            </a:p>
          </p:txBody>
        </p:sp>
        <p:sp>
          <p:nvSpPr>
            <p:cNvPr id="4104" name="Text 8">
              <a:extLst>
                <a:ext uri="{FF2B5EF4-FFF2-40B4-BE49-F238E27FC236}">
                  <a16:creationId xmlns:a16="http://schemas.microsoft.com/office/drawing/2014/main" id="{DCD566E5-850C-3CAE-E735-9C4F1551DC08}"/>
                </a:ext>
              </a:extLst>
            </p:cNvPr>
            <p:cNvSpPr/>
            <p:nvPr/>
          </p:nvSpPr>
          <p:spPr>
            <a:xfrm>
              <a:off x="5093940" y="3003352"/>
              <a:ext cx="3669060" cy="1613249"/>
            </a:xfrm>
            <a:prstGeom prst="roundRect">
              <a:avLst>
                <a:gd name="adj" fmla="val 4993"/>
              </a:avLst>
            </a:prstGeom>
            <a:solidFill>
              <a:srgbClr val="E8F4FC"/>
            </a:solidFill>
            <a:ln/>
          </p:spPr>
          <p:txBody>
            <a:bodyPr wrap="square" rtlCol="0" anchor="ctr"/>
            <a:lstStyle/>
            <a:p>
              <a:endParaRPr lang="en-US"/>
            </a:p>
          </p:txBody>
        </p:sp>
        <p:sp>
          <p:nvSpPr>
            <p:cNvPr id="4105" name="Text 9">
              <a:extLst>
                <a:ext uri="{FF2B5EF4-FFF2-40B4-BE49-F238E27FC236}">
                  <a16:creationId xmlns:a16="http://schemas.microsoft.com/office/drawing/2014/main" id="{B2C75355-573F-DFB0-2DAA-4FE1CF88F0C0}"/>
                </a:ext>
              </a:extLst>
            </p:cNvPr>
            <p:cNvSpPr/>
            <p:nvPr/>
          </p:nvSpPr>
          <p:spPr>
            <a:xfrm>
              <a:off x="5227290" y="3117652"/>
              <a:ext cx="3470407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310"/>
                </a:lnSpc>
                <a:spcAft>
                  <a:spcPts val="450"/>
                </a:spcAft>
              </a:pPr>
              <a:r>
                <a:rPr lang="en-US" sz="2000" dirty="0">
                  <a:solidFill>
                    <a:srgbClr val="0066B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Applications:</a:t>
              </a:r>
              <a:endParaRPr lang="en-US" sz="2000" dirty="0"/>
            </a:p>
          </p:txBody>
        </p:sp>
        <p:sp>
          <p:nvSpPr>
            <p:cNvPr id="4106" name="Text 10">
              <a:extLst>
                <a:ext uri="{FF2B5EF4-FFF2-40B4-BE49-F238E27FC236}">
                  <a16:creationId xmlns:a16="http://schemas.microsoft.com/office/drawing/2014/main" id="{7321E2EF-0E8A-DA9B-F299-3FC9A4DB588A}"/>
                </a:ext>
              </a:extLst>
            </p:cNvPr>
            <p:cNvSpPr/>
            <p:nvPr/>
          </p:nvSpPr>
          <p:spPr>
            <a:xfrm>
              <a:off x="5227290" y="3468142"/>
              <a:ext cx="3470407" cy="5655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</a:pPr>
              <a:r>
                <a:rPr lang="en-US" dirty="0">
                  <a:solidFill>
                    <a:srgbClr val="5A6A7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Factory inspection, document scanning, satellite </a:t>
              </a:r>
              <a:r>
                <a:rPr lang="en-US" sz="1650" dirty="0">
                  <a:solidFill>
                    <a:srgbClr val="5A6A7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imagery</a:t>
              </a:r>
              <a:endParaRPr lang="en-US" sz="1650" dirty="0"/>
            </a:p>
          </p:txBody>
        </p:sp>
      </p:grpSp>
      <p:pic>
        <p:nvPicPr>
          <p:cNvPr id="4109" name="Picture 6" descr="Line scan camera basics">
            <a:extLst>
              <a:ext uri="{FF2B5EF4-FFF2-40B4-BE49-F238E27FC236}">
                <a16:creationId xmlns:a16="http://schemas.microsoft.com/office/drawing/2014/main" id="{5936B318-7CAA-7C33-39C3-3E6033907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0" t="5701" r="3698" b="4100"/>
          <a:stretch>
            <a:fillRect/>
          </a:stretch>
        </p:blipFill>
        <p:spPr bwMode="auto">
          <a:xfrm>
            <a:off x="543113" y="2326919"/>
            <a:ext cx="7401873" cy="37696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8912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1914B-C3EC-93A1-D439-FB9CB280F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E1E44-2302-5B8D-569B-AE16CEA3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Image Modalities: 2D Sensors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0419-BB01-0753-8BC2-6DE844A5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890BF0F-1D07-0A93-950A-D30195294642}"/>
              </a:ext>
            </a:extLst>
          </p:cNvPr>
          <p:cNvGrpSpPr/>
          <p:nvPr/>
        </p:nvGrpSpPr>
        <p:grpSpPr>
          <a:xfrm>
            <a:off x="631083" y="1487120"/>
            <a:ext cx="10705784" cy="3292576"/>
            <a:chOff x="371904" y="1110704"/>
            <a:chExt cx="8391096" cy="2843093"/>
          </a:xfrm>
        </p:grpSpPr>
        <p:pic>
          <p:nvPicPr>
            <p:cNvPr id="5" name="Image 0" descr="/tmp/rasterized-gradient-ad145ed2.png">
              <a:extLst>
                <a:ext uri="{FF2B5EF4-FFF2-40B4-BE49-F238E27FC236}">
                  <a16:creationId xmlns:a16="http://schemas.microsoft.com/office/drawing/2014/main" id="{F586FE2F-7D9F-715F-2827-10BDE6A8A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" y="1110704"/>
              <a:ext cx="2009775" cy="510480"/>
            </a:xfrm>
            <a:prstGeom prst="rect">
              <a:avLst/>
            </a:prstGeom>
          </p:spPr>
        </p:pic>
        <p:sp>
          <p:nvSpPr>
            <p:cNvPr id="6" name="Text 1">
              <a:extLst>
                <a:ext uri="{FF2B5EF4-FFF2-40B4-BE49-F238E27FC236}">
                  <a16:creationId xmlns:a16="http://schemas.microsoft.com/office/drawing/2014/main" id="{99037C7D-A2A9-89CC-0794-DC844FBDAD4A}"/>
                </a:ext>
              </a:extLst>
            </p:cNvPr>
            <p:cNvSpPr/>
            <p:nvPr/>
          </p:nvSpPr>
          <p:spPr>
            <a:xfrm>
              <a:off x="438626" y="1205954"/>
              <a:ext cx="1894523" cy="319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RGB</a:t>
              </a:r>
              <a:endParaRPr lang="en-US" sz="2000" b="1" dirty="0"/>
            </a:p>
          </p:txBody>
        </p:sp>
        <p:pic>
          <p:nvPicPr>
            <p:cNvPr id="38" name="Image 1" descr="/tmp/rasterized-gradient-2e02a6dc.png">
              <a:extLst>
                <a:ext uri="{FF2B5EF4-FFF2-40B4-BE49-F238E27FC236}">
                  <a16:creationId xmlns:a16="http://schemas.microsoft.com/office/drawing/2014/main" id="{F3E26674-D319-DCAF-F9EB-F3EEF6153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5075" y="1110704"/>
              <a:ext cx="2009775" cy="510480"/>
            </a:xfrm>
            <a:prstGeom prst="rect">
              <a:avLst/>
            </a:prstGeom>
          </p:spPr>
        </p:pic>
        <p:sp>
          <p:nvSpPr>
            <p:cNvPr id="39" name="Text 2">
              <a:extLst>
                <a:ext uri="{FF2B5EF4-FFF2-40B4-BE49-F238E27FC236}">
                  <a16:creationId xmlns:a16="http://schemas.microsoft.com/office/drawing/2014/main" id="{C686C108-E8BD-BBBD-4D0C-699177A2D30C}"/>
                </a:ext>
              </a:extLst>
            </p:cNvPr>
            <p:cNvSpPr/>
            <p:nvPr/>
          </p:nvSpPr>
          <p:spPr>
            <a:xfrm>
              <a:off x="2562701" y="1205954"/>
              <a:ext cx="1894523" cy="319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Infrared</a:t>
              </a:r>
              <a:endParaRPr lang="en-US" sz="2000" b="1" dirty="0"/>
            </a:p>
          </p:txBody>
        </p:sp>
        <p:pic>
          <p:nvPicPr>
            <p:cNvPr id="40" name="Image 2" descr="/tmp/rasterized-gradient-fa45b0e2.png">
              <a:extLst>
                <a:ext uri="{FF2B5EF4-FFF2-40B4-BE49-F238E27FC236}">
                  <a16:creationId xmlns:a16="http://schemas.microsoft.com/office/drawing/2014/main" id="{D16CEEA2-1D98-3CE1-46B9-C4EDB0687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29150" y="1110704"/>
              <a:ext cx="2009775" cy="510480"/>
            </a:xfrm>
            <a:prstGeom prst="rect">
              <a:avLst/>
            </a:prstGeom>
          </p:spPr>
        </p:pic>
        <p:sp>
          <p:nvSpPr>
            <p:cNvPr id="41" name="Text 3">
              <a:extLst>
                <a:ext uri="{FF2B5EF4-FFF2-40B4-BE49-F238E27FC236}">
                  <a16:creationId xmlns:a16="http://schemas.microsoft.com/office/drawing/2014/main" id="{E7BB9134-F650-FEF2-4F01-7D95D884DC9A}"/>
                </a:ext>
              </a:extLst>
            </p:cNvPr>
            <p:cNvSpPr/>
            <p:nvPr/>
          </p:nvSpPr>
          <p:spPr>
            <a:xfrm>
              <a:off x="4686776" y="1205954"/>
              <a:ext cx="1894523" cy="319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X-Ray</a:t>
              </a:r>
              <a:endParaRPr lang="en-US" sz="2000" b="1" dirty="0"/>
            </a:p>
          </p:txBody>
        </p:sp>
        <p:pic>
          <p:nvPicPr>
            <p:cNvPr id="42" name="Image 3" descr="/tmp/rasterized-gradient-22063bdc.png">
              <a:extLst>
                <a:ext uri="{FF2B5EF4-FFF2-40B4-BE49-F238E27FC236}">
                  <a16:creationId xmlns:a16="http://schemas.microsoft.com/office/drawing/2014/main" id="{6D4EFBEE-65F4-6087-2D8D-2F9726EC0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53225" y="1110704"/>
              <a:ext cx="2009775" cy="510480"/>
            </a:xfrm>
            <a:prstGeom prst="rect">
              <a:avLst/>
            </a:prstGeom>
          </p:spPr>
        </p:pic>
        <p:sp>
          <p:nvSpPr>
            <p:cNvPr id="43" name="Text 4">
              <a:extLst>
                <a:ext uri="{FF2B5EF4-FFF2-40B4-BE49-F238E27FC236}">
                  <a16:creationId xmlns:a16="http://schemas.microsoft.com/office/drawing/2014/main" id="{25B5CC92-44A2-E588-A21E-BCFAD549EC05}"/>
                </a:ext>
              </a:extLst>
            </p:cNvPr>
            <p:cNvSpPr/>
            <p:nvPr/>
          </p:nvSpPr>
          <p:spPr>
            <a:xfrm>
              <a:off x="6810851" y="1205954"/>
              <a:ext cx="1894523" cy="319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Depth (2.5D)</a:t>
              </a:r>
              <a:endParaRPr lang="en-US" sz="2000" b="1" dirty="0"/>
            </a:p>
          </p:txBody>
        </p:sp>
        <p:sp>
          <p:nvSpPr>
            <p:cNvPr id="44" name="Text 5">
              <a:extLst>
                <a:ext uri="{FF2B5EF4-FFF2-40B4-BE49-F238E27FC236}">
                  <a16:creationId xmlns:a16="http://schemas.microsoft.com/office/drawing/2014/main" id="{D88CAED3-1A62-535E-DE46-26B78D60829F}"/>
                </a:ext>
              </a:extLst>
            </p:cNvPr>
            <p:cNvSpPr/>
            <p:nvPr/>
          </p:nvSpPr>
          <p:spPr>
            <a:xfrm>
              <a:off x="381000" y="1773585"/>
              <a:ext cx="2009775" cy="1123801"/>
            </a:xfrm>
            <a:prstGeom prst="rect">
              <a:avLst/>
            </a:prstGeom>
            <a:solidFill>
              <a:srgbClr val="F5F7FA"/>
            </a:solidFill>
            <a:ln/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45" name="Text 6">
              <a:extLst>
                <a:ext uri="{FF2B5EF4-FFF2-40B4-BE49-F238E27FC236}">
                  <a16:creationId xmlns:a16="http://schemas.microsoft.com/office/drawing/2014/main" id="{3D665446-E85D-5238-5A5B-32EEF4C84442}"/>
                </a:ext>
              </a:extLst>
            </p:cNvPr>
            <p:cNvSpPr/>
            <p:nvPr/>
          </p:nvSpPr>
          <p:spPr>
            <a:xfrm>
              <a:off x="476250" y="1887885"/>
              <a:ext cx="1855661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310"/>
                </a:lnSpc>
                <a:spcAft>
                  <a:spcPts val="450"/>
                </a:spcAft>
              </a:pPr>
              <a:r>
                <a:rPr lang="en-US" dirty="0">
                  <a:solidFill>
                    <a:srgbClr val="0066B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Visible Light</a:t>
              </a:r>
              <a:endParaRPr lang="en-US" dirty="0"/>
            </a:p>
          </p:txBody>
        </p:sp>
        <p:sp>
          <p:nvSpPr>
            <p:cNvPr id="46" name="Text 7">
              <a:extLst>
                <a:ext uri="{FF2B5EF4-FFF2-40B4-BE49-F238E27FC236}">
                  <a16:creationId xmlns:a16="http://schemas.microsoft.com/office/drawing/2014/main" id="{5D023408-9801-3CA7-12C4-0FAF36140F07}"/>
                </a:ext>
              </a:extLst>
            </p:cNvPr>
            <p:cNvSpPr/>
            <p:nvPr/>
          </p:nvSpPr>
          <p:spPr>
            <a:xfrm>
              <a:off x="476250" y="2238375"/>
              <a:ext cx="1855661" cy="5447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145"/>
                </a:lnSpc>
              </a:pPr>
              <a:r>
                <a:rPr lang="en-US" dirty="0">
                  <a:solidFill>
                    <a:srgbClr val="5A6A7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Standard cameras, human-like vision</a:t>
              </a:r>
              <a:endParaRPr lang="en-US" dirty="0"/>
            </a:p>
          </p:txBody>
        </p:sp>
        <p:sp>
          <p:nvSpPr>
            <p:cNvPr id="47" name="Text 8">
              <a:extLst>
                <a:ext uri="{FF2B5EF4-FFF2-40B4-BE49-F238E27FC236}">
                  <a16:creationId xmlns:a16="http://schemas.microsoft.com/office/drawing/2014/main" id="{CAAF5690-0030-1476-A105-10855C2BC327}"/>
                </a:ext>
              </a:extLst>
            </p:cNvPr>
            <p:cNvSpPr/>
            <p:nvPr/>
          </p:nvSpPr>
          <p:spPr>
            <a:xfrm>
              <a:off x="2505075" y="1773585"/>
              <a:ext cx="2009775" cy="1123801"/>
            </a:xfrm>
            <a:prstGeom prst="rect">
              <a:avLst/>
            </a:prstGeom>
            <a:solidFill>
              <a:srgbClr val="E8F4FC"/>
            </a:solidFill>
            <a:ln/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48" name="Text 9">
              <a:extLst>
                <a:ext uri="{FF2B5EF4-FFF2-40B4-BE49-F238E27FC236}">
                  <a16:creationId xmlns:a16="http://schemas.microsoft.com/office/drawing/2014/main" id="{66E6935F-79A2-2998-0758-A476FB853ED3}"/>
                </a:ext>
              </a:extLst>
            </p:cNvPr>
            <p:cNvSpPr/>
            <p:nvPr/>
          </p:nvSpPr>
          <p:spPr>
            <a:xfrm>
              <a:off x="2600325" y="1887885"/>
              <a:ext cx="1855661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310"/>
                </a:lnSpc>
                <a:spcAft>
                  <a:spcPts val="450"/>
                </a:spcAft>
              </a:pPr>
              <a:r>
                <a:rPr lang="en-US" dirty="0">
                  <a:solidFill>
                    <a:srgbClr val="0066B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Thermal</a:t>
              </a:r>
              <a:endParaRPr lang="en-US" dirty="0"/>
            </a:p>
          </p:txBody>
        </p:sp>
        <p:sp>
          <p:nvSpPr>
            <p:cNvPr id="49" name="Text 10">
              <a:extLst>
                <a:ext uri="{FF2B5EF4-FFF2-40B4-BE49-F238E27FC236}">
                  <a16:creationId xmlns:a16="http://schemas.microsoft.com/office/drawing/2014/main" id="{8B328C5E-8AB4-161D-730A-DCAEDAB083EE}"/>
                </a:ext>
              </a:extLst>
            </p:cNvPr>
            <p:cNvSpPr/>
            <p:nvPr/>
          </p:nvSpPr>
          <p:spPr>
            <a:xfrm>
              <a:off x="2600325" y="2238375"/>
              <a:ext cx="1855661" cy="5447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145"/>
                </a:lnSpc>
              </a:pPr>
              <a:r>
                <a:rPr lang="en-US" dirty="0">
                  <a:solidFill>
                    <a:srgbClr val="5A6A7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Heat signatures, night vision</a:t>
              </a:r>
              <a:endParaRPr lang="en-US" dirty="0"/>
            </a:p>
          </p:txBody>
        </p:sp>
        <p:sp>
          <p:nvSpPr>
            <p:cNvPr id="50" name="Text 11">
              <a:extLst>
                <a:ext uri="{FF2B5EF4-FFF2-40B4-BE49-F238E27FC236}">
                  <a16:creationId xmlns:a16="http://schemas.microsoft.com/office/drawing/2014/main" id="{02FDE9BB-9994-2F51-EC63-B0F59F0D7205}"/>
                </a:ext>
              </a:extLst>
            </p:cNvPr>
            <p:cNvSpPr/>
            <p:nvPr/>
          </p:nvSpPr>
          <p:spPr>
            <a:xfrm>
              <a:off x="4629150" y="1773585"/>
              <a:ext cx="2009775" cy="1123801"/>
            </a:xfrm>
            <a:prstGeom prst="rect">
              <a:avLst/>
            </a:prstGeom>
            <a:solidFill>
              <a:srgbClr val="F5F7FA"/>
            </a:solidFill>
            <a:ln/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51" name="Text 12">
              <a:extLst>
                <a:ext uri="{FF2B5EF4-FFF2-40B4-BE49-F238E27FC236}">
                  <a16:creationId xmlns:a16="http://schemas.microsoft.com/office/drawing/2014/main" id="{87816CFD-EB05-EF0A-D38C-974B2BA4902A}"/>
                </a:ext>
              </a:extLst>
            </p:cNvPr>
            <p:cNvSpPr/>
            <p:nvPr/>
          </p:nvSpPr>
          <p:spPr>
            <a:xfrm>
              <a:off x="4724400" y="1887885"/>
              <a:ext cx="1855661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310"/>
                </a:lnSpc>
                <a:spcAft>
                  <a:spcPts val="450"/>
                </a:spcAft>
              </a:pPr>
              <a:r>
                <a:rPr lang="en-US" dirty="0">
                  <a:solidFill>
                    <a:srgbClr val="0066B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Medical</a:t>
              </a:r>
              <a:endParaRPr lang="en-US" dirty="0"/>
            </a:p>
          </p:txBody>
        </p:sp>
        <p:sp>
          <p:nvSpPr>
            <p:cNvPr id="52" name="Text 13">
              <a:extLst>
                <a:ext uri="{FF2B5EF4-FFF2-40B4-BE49-F238E27FC236}">
                  <a16:creationId xmlns:a16="http://schemas.microsoft.com/office/drawing/2014/main" id="{0E90B100-8813-8083-DBDD-AE946B1D365D}"/>
                </a:ext>
              </a:extLst>
            </p:cNvPr>
            <p:cNvSpPr/>
            <p:nvPr/>
          </p:nvSpPr>
          <p:spPr>
            <a:xfrm>
              <a:off x="4724400" y="2238375"/>
              <a:ext cx="1855661" cy="5447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145"/>
                </a:lnSpc>
              </a:pPr>
              <a:r>
                <a:rPr lang="en-US" dirty="0">
                  <a:solidFill>
                    <a:srgbClr val="5A6A7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See through objects, bones</a:t>
              </a:r>
              <a:endParaRPr lang="en-US" dirty="0"/>
            </a:p>
          </p:txBody>
        </p:sp>
        <p:sp>
          <p:nvSpPr>
            <p:cNvPr id="53" name="Text 14">
              <a:extLst>
                <a:ext uri="{FF2B5EF4-FFF2-40B4-BE49-F238E27FC236}">
                  <a16:creationId xmlns:a16="http://schemas.microsoft.com/office/drawing/2014/main" id="{6212A0A8-5271-D6DF-9042-B15FCF921551}"/>
                </a:ext>
              </a:extLst>
            </p:cNvPr>
            <p:cNvSpPr/>
            <p:nvPr/>
          </p:nvSpPr>
          <p:spPr>
            <a:xfrm>
              <a:off x="6753225" y="1773585"/>
              <a:ext cx="2009775" cy="1123801"/>
            </a:xfrm>
            <a:prstGeom prst="rect">
              <a:avLst/>
            </a:prstGeom>
            <a:solidFill>
              <a:srgbClr val="E8F4FC"/>
            </a:solidFill>
            <a:ln/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54" name="Text 15">
              <a:extLst>
                <a:ext uri="{FF2B5EF4-FFF2-40B4-BE49-F238E27FC236}">
                  <a16:creationId xmlns:a16="http://schemas.microsoft.com/office/drawing/2014/main" id="{0712D79A-7B3B-1FD1-BBB5-5886BBC429EC}"/>
                </a:ext>
              </a:extLst>
            </p:cNvPr>
            <p:cNvSpPr/>
            <p:nvPr/>
          </p:nvSpPr>
          <p:spPr>
            <a:xfrm>
              <a:off x="6848475" y="1887885"/>
              <a:ext cx="1855661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310"/>
                </a:lnSpc>
                <a:spcAft>
                  <a:spcPts val="450"/>
                </a:spcAft>
              </a:pPr>
              <a:r>
                <a:rPr lang="en-US" dirty="0">
                  <a:solidFill>
                    <a:srgbClr val="0066B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Distance</a:t>
              </a:r>
              <a:endParaRPr lang="en-US" dirty="0"/>
            </a:p>
          </p:txBody>
        </p:sp>
        <p:sp>
          <p:nvSpPr>
            <p:cNvPr id="55" name="Text 16">
              <a:extLst>
                <a:ext uri="{FF2B5EF4-FFF2-40B4-BE49-F238E27FC236}">
                  <a16:creationId xmlns:a16="http://schemas.microsoft.com/office/drawing/2014/main" id="{1E98F5C4-2744-198E-6870-2AEA9FBD91E0}"/>
                </a:ext>
              </a:extLst>
            </p:cNvPr>
            <p:cNvSpPr/>
            <p:nvPr/>
          </p:nvSpPr>
          <p:spPr>
            <a:xfrm>
              <a:off x="6848475" y="2238375"/>
              <a:ext cx="1855661" cy="5447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145"/>
                </a:lnSpc>
              </a:pPr>
              <a:r>
                <a:rPr lang="en-US" dirty="0">
                  <a:solidFill>
                    <a:srgbClr val="5A6A7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Per-pixel depth values</a:t>
              </a:r>
              <a:endParaRPr lang="en-US" dirty="0"/>
            </a:p>
          </p:txBody>
        </p:sp>
        <p:sp>
          <p:nvSpPr>
            <p:cNvPr id="56" name="Text 17">
              <a:extLst>
                <a:ext uri="{FF2B5EF4-FFF2-40B4-BE49-F238E27FC236}">
                  <a16:creationId xmlns:a16="http://schemas.microsoft.com/office/drawing/2014/main" id="{CA0C3EA5-8095-68BB-D290-97F4802F9D29}"/>
                </a:ext>
              </a:extLst>
            </p:cNvPr>
            <p:cNvSpPr/>
            <p:nvPr/>
          </p:nvSpPr>
          <p:spPr>
            <a:xfrm>
              <a:off x="381000" y="3125986"/>
              <a:ext cx="2009775" cy="758130"/>
            </a:xfrm>
            <a:prstGeom prst="roundRect">
              <a:avLst>
                <a:gd name="adj" fmla="val 7538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57" name="Text 18">
              <a:extLst>
                <a:ext uri="{FF2B5EF4-FFF2-40B4-BE49-F238E27FC236}">
                  <a16:creationId xmlns:a16="http://schemas.microsoft.com/office/drawing/2014/main" id="{DF8F70F6-5468-B215-064A-FAEE43D3FD28}"/>
                </a:ext>
              </a:extLst>
            </p:cNvPr>
            <p:cNvSpPr/>
            <p:nvPr/>
          </p:nvSpPr>
          <p:spPr>
            <a:xfrm>
              <a:off x="371904" y="3367117"/>
              <a:ext cx="2027966" cy="586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10"/>
                </a:lnSpc>
              </a:pPr>
              <a:r>
                <a:rPr lang="en-US" dirty="0">
                  <a:solidFill>
                    <a:srgbClr val="5A6A7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Photos, video, surveillance</a:t>
              </a:r>
              <a:endParaRPr lang="en-US" dirty="0"/>
            </a:p>
          </p:txBody>
        </p:sp>
        <p:sp>
          <p:nvSpPr>
            <p:cNvPr id="58" name="Text 19">
              <a:extLst>
                <a:ext uri="{FF2B5EF4-FFF2-40B4-BE49-F238E27FC236}">
                  <a16:creationId xmlns:a16="http://schemas.microsoft.com/office/drawing/2014/main" id="{451FF4F1-971B-748E-A73A-57BAF2285112}"/>
                </a:ext>
              </a:extLst>
            </p:cNvPr>
            <p:cNvSpPr/>
            <p:nvPr/>
          </p:nvSpPr>
          <p:spPr>
            <a:xfrm>
              <a:off x="2523267" y="3273609"/>
              <a:ext cx="2009775" cy="464790"/>
            </a:xfrm>
            <a:prstGeom prst="roundRect">
              <a:avLst>
                <a:gd name="adj" fmla="val 12296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59" name="Text 20">
              <a:extLst>
                <a:ext uri="{FF2B5EF4-FFF2-40B4-BE49-F238E27FC236}">
                  <a16:creationId xmlns:a16="http://schemas.microsoft.com/office/drawing/2014/main" id="{1A451C15-F864-B2D7-B9F6-AA248B94EEAB}"/>
                </a:ext>
              </a:extLst>
            </p:cNvPr>
            <p:cNvSpPr/>
            <p:nvPr/>
          </p:nvSpPr>
          <p:spPr>
            <a:xfrm>
              <a:off x="2591848" y="3358307"/>
              <a:ext cx="1836230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10"/>
                </a:lnSpc>
              </a:pPr>
              <a:r>
                <a:rPr lang="en-US" dirty="0">
                  <a:solidFill>
                    <a:srgbClr val="5A6A7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Security, wildlife</a:t>
              </a:r>
              <a:endParaRPr lang="en-US" dirty="0"/>
            </a:p>
          </p:txBody>
        </p:sp>
        <p:sp>
          <p:nvSpPr>
            <p:cNvPr id="60" name="Text 21">
              <a:extLst>
                <a:ext uri="{FF2B5EF4-FFF2-40B4-BE49-F238E27FC236}">
                  <a16:creationId xmlns:a16="http://schemas.microsoft.com/office/drawing/2014/main" id="{11723C02-26B9-33AC-6358-F8C059FE6155}"/>
                </a:ext>
              </a:extLst>
            </p:cNvPr>
            <p:cNvSpPr/>
            <p:nvPr/>
          </p:nvSpPr>
          <p:spPr>
            <a:xfrm>
              <a:off x="4629150" y="3125986"/>
              <a:ext cx="2009775" cy="758130"/>
            </a:xfrm>
            <a:prstGeom prst="roundRect">
              <a:avLst>
                <a:gd name="adj" fmla="val 7538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61" name="Text 22">
              <a:extLst>
                <a:ext uri="{FF2B5EF4-FFF2-40B4-BE49-F238E27FC236}">
                  <a16:creationId xmlns:a16="http://schemas.microsoft.com/office/drawing/2014/main" id="{7AA1D515-862A-EEE9-9BC2-167B380C98EE}"/>
                </a:ext>
              </a:extLst>
            </p:cNvPr>
            <p:cNvSpPr/>
            <p:nvPr/>
          </p:nvSpPr>
          <p:spPr>
            <a:xfrm>
              <a:off x="4601623" y="3331682"/>
              <a:ext cx="1950530" cy="4667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10"/>
                </a:lnSpc>
              </a:pPr>
              <a:r>
                <a:rPr lang="en-US" dirty="0">
                  <a:solidFill>
                    <a:srgbClr val="5A6A7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Healthcare, security</a:t>
              </a:r>
              <a:endParaRPr lang="en-US" dirty="0"/>
            </a:p>
          </p:txBody>
        </p:sp>
        <p:sp>
          <p:nvSpPr>
            <p:cNvPr id="62" name="Text 23">
              <a:extLst>
                <a:ext uri="{FF2B5EF4-FFF2-40B4-BE49-F238E27FC236}">
                  <a16:creationId xmlns:a16="http://schemas.microsoft.com/office/drawing/2014/main" id="{E88060D2-2267-4A4A-C5A3-47219AF2FE05}"/>
                </a:ext>
              </a:extLst>
            </p:cNvPr>
            <p:cNvSpPr/>
            <p:nvPr/>
          </p:nvSpPr>
          <p:spPr>
            <a:xfrm>
              <a:off x="6753225" y="3272582"/>
              <a:ext cx="2009775" cy="464790"/>
            </a:xfrm>
            <a:prstGeom prst="roundRect">
              <a:avLst>
                <a:gd name="adj" fmla="val 12296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63" name="Text 24">
              <a:extLst>
                <a:ext uri="{FF2B5EF4-FFF2-40B4-BE49-F238E27FC236}">
                  <a16:creationId xmlns:a16="http://schemas.microsoft.com/office/drawing/2014/main" id="{27040BD2-745D-1C42-F448-BD28E4D122F8}"/>
                </a:ext>
              </a:extLst>
            </p:cNvPr>
            <p:cNvSpPr/>
            <p:nvPr/>
          </p:nvSpPr>
          <p:spPr>
            <a:xfrm>
              <a:off x="6839998" y="3358307"/>
              <a:ext cx="1836230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10"/>
                </a:lnSpc>
              </a:pPr>
              <a:r>
                <a:rPr lang="en-US" dirty="0">
                  <a:solidFill>
                    <a:srgbClr val="5A6A7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Robotics, AR/VR</a:t>
              </a:r>
              <a:endParaRPr lang="en-US" dirty="0"/>
            </a:p>
          </p:txBody>
        </p:sp>
      </p:grpSp>
      <p:pic>
        <p:nvPicPr>
          <p:cNvPr id="7" name="Picture 2" descr="NUOS Home Automation launches IR touchless thermal scanner for COVID-19  safety - Express Healthcare">
            <a:extLst>
              <a:ext uri="{FF2B5EF4-FFF2-40B4-BE49-F238E27FC236}">
                <a16:creationId xmlns:a16="http://schemas.microsoft.com/office/drawing/2014/main" id="{33D20A29-B2FF-D057-CB7B-BF07B710E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639" y="4924542"/>
            <a:ext cx="2114274" cy="983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gital X-ray - Imaging Healthcare Specialists">
            <a:extLst>
              <a:ext uri="{FF2B5EF4-FFF2-40B4-BE49-F238E27FC236}">
                <a16:creationId xmlns:a16="http://schemas.microsoft.com/office/drawing/2014/main" id="{AF79B22F-42D2-614E-79C1-5C8EA3627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501" y="4806871"/>
            <a:ext cx="1218671" cy="1218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al-image and its depth-map in Ballet sequence | Download Scientific  Diagram">
            <a:extLst>
              <a:ext uri="{FF2B5EF4-FFF2-40B4-BE49-F238E27FC236}">
                <a16:creationId xmlns:a16="http://schemas.microsoft.com/office/drawing/2014/main" id="{30851611-7169-D001-73A4-5DDD0C2A3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099" y="4963570"/>
            <a:ext cx="2761786" cy="110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Under surveillance: satellites, cameras, and phones track us | National  Geographic">
            <a:extLst>
              <a:ext uri="{FF2B5EF4-FFF2-40B4-BE49-F238E27FC236}">
                <a16:creationId xmlns:a16="http://schemas.microsoft.com/office/drawing/2014/main" id="{D1B6D43A-3DD3-8C94-774C-66094ED70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09" y="4806871"/>
            <a:ext cx="2096359" cy="117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867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1965A-50EF-DD09-8DFE-5D833A14D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87C92-2B4A-37FD-C2E6-B9E936886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Image Modalities: 3D Imaging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E1BCB-F70A-1361-22B7-0175FB63F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45779F5-E45C-CDCC-497E-707A1777769D}"/>
              </a:ext>
            </a:extLst>
          </p:cNvPr>
          <p:cNvGrpSpPr/>
          <p:nvPr/>
        </p:nvGrpSpPr>
        <p:grpSpPr>
          <a:xfrm>
            <a:off x="597194" y="1254004"/>
            <a:ext cx="11277599" cy="3605088"/>
            <a:chOff x="381000" y="999381"/>
            <a:chExt cx="8382000" cy="2996208"/>
          </a:xfrm>
        </p:grpSpPr>
        <p:pic>
          <p:nvPicPr>
            <p:cNvPr id="8" name="Image 0" descr="/tmp/rasterized-gradient-d2c3b305.png">
              <a:extLst>
                <a:ext uri="{FF2B5EF4-FFF2-40B4-BE49-F238E27FC236}">
                  <a16:creationId xmlns:a16="http://schemas.microsoft.com/office/drawing/2014/main" id="{9C43B3D0-5653-A4C0-6DBE-701134518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" y="999381"/>
              <a:ext cx="4095750" cy="537121"/>
            </a:xfrm>
            <a:prstGeom prst="rect">
              <a:avLst/>
            </a:prstGeom>
          </p:spPr>
        </p:pic>
        <p:sp>
          <p:nvSpPr>
            <p:cNvPr id="9" name="Text 1">
              <a:extLst>
                <a:ext uri="{FF2B5EF4-FFF2-40B4-BE49-F238E27FC236}">
                  <a16:creationId xmlns:a16="http://schemas.microsoft.com/office/drawing/2014/main" id="{82398E13-8134-4A96-F683-A1632E83114C}"/>
                </a:ext>
              </a:extLst>
            </p:cNvPr>
            <p:cNvSpPr/>
            <p:nvPr/>
          </p:nvSpPr>
          <p:spPr>
            <a:xfrm>
              <a:off x="476060" y="1094631"/>
              <a:ext cx="3905631" cy="3466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730"/>
                </a:lnSpc>
              </a:pPr>
              <a:r>
                <a:rPr lang="en-US" sz="2000" b="1" dirty="0">
                  <a:solidFill>
                    <a:srgbClr val="FFFFFF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CT Scan</a:t>
              </a:r>
              <a:endParaRPr lang="en-US" sz="2000" b="1" dirty="0"/>
            </a:p>
          </p:txBody>
        </p:sp>
        <p:sp>
          <p:nvSpPr>
            <p:cNvPr id="10" name="Text 2">
              <a:extLst>
                <a:ext uri="{FF2B5EF4-FFF2-40B4-BE49-F238E27FC236}">
                  <a16:creationId xmlns:a16="http://schemas.microsoft.com/office/drawing/2014/main" id="{3DC31052-8EF4-B54D-E264-9E7A064E8C00}"/>
                </a:ext>
              </a:extLst>
            </p:cNvPr>
            <p:cNvSpPr/>
            <p:nvPr/>
          </p:nvSpPr>
          <p:spPr>
            <a:xfrm>
              <a:off x="381000" y="1612702"/>
              <a:ext cx="4095750" cy="1807666"/>
            </a:xfrm>
            <a:prstGeom prst="rect">
              <a:avLst/>
            </a:prstGeom>
            <a:solidFill>
              <a:srgbClr val="F5F7FA"/>
            </a:solidFill>
            <a:ln/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7B571FDA-AD2D-B0F1-3F7F-F371F5A78838}"/>
                </a:ext>
              </a:extLst>
            </p:cNvPr>
            <p:cNvSpPr/>
            <p:nvPr/>
          </p:nvSpPr>
          <p:spPr>
            <a:xfrm>
              <a:off x="514350" y="1727002"/>
              <a:ext cx="3905631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310"/>
                </a:lnSpc>
                <a:spcAft>
                  <a:spcPts val="450"/>
                </a:spcAft>
              </a:pPr>
              <a:r>
                <a:rPr lang="en-US" dirty="0">
                  <a:solidFill>
                    <a:srgbClr val="0066B3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Computed Tomography</a:t>
              </a:r>
              <a:endParaRPr lang="en-US" dirty="0"/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A47A4E84-A189-A09A-7082-267B8CF09045}"/>
                </a:ext>
              </a:extLst>
            </p:cNvPr>
            <p:cNvSpPr/>
            <p:nvPr/>
          </p:nvSpPr>
          <p:spPr>
            <a:xfrm>
              <a:off x="514349" y="2077492"/>
              <a:ext cx="4095749" cy="2723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145"/>
                </a:lnSpc>
                <a:spcAft>
                  <a:spcPts val="750"/>
                </a:spcAft>
              </a:pPr>
              <a:r>
                <a:rPr lang="en-US" dirty="0">
                  <a:solidFill>
                    <a:srgbClr val="5A6A7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X-ray slices combined into a 3D volume</a:t>
              </a:r>
              <a:endParaRPr lang="en-US" dirty="0"/>
            </a:p>
          </p:txBody>
        </p:sp>
        <p:sp>
          <p:nvSpPr>
            <p:cNvPr id="13" name="Shape 5">
              <a:extLst>
                <a:ext uri="{FF2B5EF4-FFF2-40B4-BE49-F238E27FC236}">
                  <a16:creationId xmlns:a16="http://schemas.microsoft.com/office/drawing/2014/main" id="{14CAD396-868A-C1EF-0F68-C6301E306698}"/>
                </a:ext>
              </a:extLst>
            </p:cNvPr>
            <p:cNvSpPr/>
            <p:nvPr/>
          </p:nvSpPr>
          <p:spPr>
            <a:xfrm>
              <a:off x="514350" y="2449860"/>
              <a:ext cx="3829050" cy="0"/>
            </a:xfrm>
            <a:prstGeom prst="line">
              <a:avLst/>
            </a:prstGeom>
            <a:noFill/>
            <a:ln w="9525">
              <a:solidFill>
                <a:srgbClr val="D0D8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454C389C-C1D9-5833-F406-A148D299DA3D}"/>
                </a:ext>
              </a:extLst>
            </p:cNvPr>
            <p:cNvSpPr/>
            <p:nvPr/>
          </p:nvSpPr>
          <p:spPr>
            <a:xfrm>
              <a:off x="514350" y="2549872"/>
              <a:ext cx="3905631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310"/>
                </a:lnSpc>
                <a:spcAft>
                  <a:spcPts val="300"/>
                </a:spcAft>
              </a:pPr>
              <a:r>
                <a:rPr lang="en-US" dirty="0">
                  <a:solidFill>
                    <a:srgbClr val="0066B3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Best For:</a:t>
              </a:r>
              <a:endParaRPr lang="en-US" dirty="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7B2FF955-9F88-B01C-6F93-7A0686D0C0A7}"/>
                </a:ext>
              </a:extLst>
            </p:cNvPr>
            <p:cNvSpPr/>
            <p:nvPr/>
          </p:nvSpPr>
          <p:spPr>
            <a:xfrm>
              <a:off x="514350" y="2881313"/>
              <a:ext cx="3905631" cy="2723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145"/>
                </a:lnSpc>
              </a:pPr>
              <a:r>
                <a:rPr lang="en-US" dirty="0">
                  <a:solidFill>
                    <a:srgbClr val="5A6A7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Bones, lungs, tumors, internal bleeding, airport screening</a:t>
              </a:r>
              <a:endParaRPr lang="en-US" dirty="0"/>
            </a:p>
          </p:txBody>
        </p:sp>
        <p:pic>
          <p:nvPicPr>
            <p:cNvPr id="16" name="Image 1" descr="/tmp/rasterized-gradient-db4d7add.png">
              <a:extLst>
                <a:ext uri="{FF2B5EF4-FFF2-40B4-BE49-F238E27FC236}">
                  <a16:creationId xmlns:a16="http://schemas.microsoft.com/office/drawing/2014/main" id="{7210BA85-A205-76D2-57DF-4B2722F17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67250" y="999381"/>
              <a:ext cx="4095750" cy="537121"/>
            </a:xfrm>
            <a:prstGeom prst="rect">
              <a:avLst/>
            </a:prstGeom>
          </p:spPr>
        </p:pic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9EC30539-A182-5806-95C7-AE26D0259527}"/>
                </a:ext>
              </a:extLst>
            </p:cNvPr>
            <p:cNvSpPr/>
            <p:nvPr/>
          </p:nvSpPr>
          <p:spPr>
            <a:xfrm>
              <a:off x="4762310" y="1094631"/>
              <a:ext cx="3905631" cy="3466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730"/>
                </a:lnSpc>
              </a:pPr>
              <a:r>
                <a:rPr lang="en-US" sz="2000" b="1" dirty="0">
                  <a:solidFill>
                    <a:srgbClr val="FFFFFF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MRI Scan</a:t>
              </a:r>
              <a:endParaRPr lang="en-US" sz="2000" b="1" dirty="0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0AA008DB-AE67-80C8-2AD3-BF88A21CF650}"/>
                </a:ext>
              </a:extLst>
            </p:cNvPr>
            <p:cNvSpPr/>
            <p:nvPr/>
          </p:nvSpPr>
          <p:spPr>
            <a:xfrm>
              <a:off x="4667250" y="1612701"/>
              <a:ext cx="4095750" cy="1788616"/>
            </a:xfrm>
            <a:prstGeom prst="rect">
              <a:avLst/>
            </a:prstGeom>
            <a:solidFill>
              <a:srgbClr val="E8F4FC"/>
            </a:solidFill>
            <a:ln/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4EC13E59-A95C-61C5-57D4-1FF4E705BA72}"/>
                </a:ext>
              </a:extLst>
            </p:cNvPr>
            <p:cNvSpPr/>
            <p:nvPr/>
          </p:nvSpPr>
          <p:spPr>
            <a:xfrm>
              <a:off x="4800600" y="1727002"/>
              <a:ext cx="3905631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310"/>
                </a:lnSpc>
                <a:spcAft>
                  <a:spcPts val="450"/>
                </a:spcAft>
              </a:pPr>
              <a:r>
                <a:rPr lang="en-US" dirty="0">
                  <a:solidFill>
                    <a:srgbClr val="0066B3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Magnetic Resonance</a:t>
              </a:r>
              <a:endParaRPr lang="en-US" dirty="0"/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76439463-AD3C-BD79-DABE-5A8875EE7359}"/>
                </a:ext>
              </a:extLst>
            </p:cNvPr>
            <p:cNvSpPr/>
            <p:nvPr/>
          </p:nvSpPr>
          <p:spPr>
            <a:xfrm>
              <a:off x="4800600" y="2077492"/>
              <a:ext cx="3905631" cy="2723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145"/>
                </a:lnSpc>
                <a:spcAft>
                  <a:spcPts val="750"/>
                </a:spcAft>
              </a:pPr>
              <a:r>
                <a:rPr lang="en-US" dirty="0">
                  <a:solidFill>
                    <a:srgbClr val="5A6A7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Radio waves and magnetic fields</a:t>
              </a:r>
              <a:endParaRPr lang="en-US" dirty="0"/>
            </a:p>
          </p:txBody>
        </p:sp>
        <p:sp>
          <p:nvSpPr>
            <p:cNvPr id="21" name="Shape 12">
              <a:extLst>
                <a:ext uri="{FF2B5EF4-FFF2-40B4-BE49-F238E27FC236}">
                  <a16:creationId xmlns:a16="http://schemas.microsoft.com/office/drawing/2014/main" id="{BD927C0A-3FF0-04A3-872B-74F0BD6043E5}"/>
                </a:ext>
              </a:extLst>
            </p:cNvPr>
            <p:cNvSpPr/>
            <p:nvPr/>
          </p:nvSpPr>
          <p:spPr>
            <a:xfrm>
              <a:off x="4800600" y="2449860"/>
              <a:ext cx="3829050" cy="0"/>
            </a:xfrm>
            <a:prstGeom prst="line">
              <a:avLst/>
            </a:prstGeom>
            <a:noFill/>
            <a:ln w="9525">
              <a:solidFill>
                <a:srgbClr val="B8D4E8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7D826BF6-C81D-39E4-EBF8-91D783818165}"/>
                </a:ext>
              </a:extLst>
            </p:cNvPr>
            <p:cNvSpPr/>
            <p:nvPr/>
          </p:nvSpPr>
          <p:spPr>
            <a:xfrm>
              <a:off x="4800600" y="2549872"/>
              <a:ext cx="3905631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310"/>
                </a:lnSpc>
                <a:spcAft>
                  <a:spcPts val="300"/>
                </a:spcAft>
              </a:pPr>
              <a:r>
                <a:rPr lang="en-US" dirty="0">
                  <a:solidFill>
                    <a:srgbClr val="0066B3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Best For:</a:t>
              </a:r>
              <a:endParaRPr lang="en-US" dirty="0"/>
            </a:p>
          </p:txBody>
        </p:sp>
        <p:sp>
          <p:nvSpPr>
            <p:cNvPr id="23" name="Text 14">
              <a:extLst>
                <a:ext uri="{FF2B5EF4-FFF2-40B4-BE49-F238E27FC236}">
                  <a16:creationId xmlns:a16="http://schemas.microsoft.com/office/drawing/2014/main" id="{BEC45863-8C89-92AD-2816-1B588FF150B0}"/>
                </a:ext>
              </a:extLst>
            </p:cNvPr>
            <p:cNvSpPr/>
            <p:nvPr/>
          </p:nvSpPr>
          <p:spPr>
            <a:xfrm>
              <a:off x="4800600" y="2881313"/>
              <a:ext cx="3905631" cy="2723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145"/>
                </a:lnSpc>
              </a:pPr>
              <a:r>
                <a:rPr lang="en-US" dirty="0">
                  <a:solidFill>
                    <a:srgbClr val="5A6A7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Soft tissue, brain, spinal cord, joints</a:t>
              </a:r>
              <a:endParaRPr lang="en-US" dirty="0"/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0AB7B5D9-A864-4073-74A4-A08B4E50CF29}"/>
                </a:ext>
              </a:extLst>
            </p:cNvPr>
            <p:cNvSpPr/>
            <p:nvPr/>
          </p:nvSpPr>
          <p:spPr>
            <a:xfrm>
              <a:off x="381000" y="3515618"/>
              <a:ext cx="8382000" cy="479971"/>
            </a:xfrm>
            <a:prstGeom prst="roundRect">
              <a:avLst>
                <a:gd name="adj" fmla="val 11907"/>
              </a:avLst>
            </a:prstGeom>
            <a:solidFill>
              <a:srgbClr val="FFFFFF"/>
            </a:solidFill>
            <a:ln w="19050">
              <a:solidFill>
                <a:srgbClr val="0066B3"/>
              </a:solidFill>
            </a:ln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25" name="Text 16">
              <a:extLst>
                <a:ext uri="{FF2B5EF4-FFF2-40B4-BE49-F238E27FC236}">
                  <a16:creationId xmlns:a16="http://schemas.microsoft.com/office/drawing/2014/main" id="{A53D342E-072F-5FDD-BE29-0C953A1BD0CE}"/>
                </a:ext>
              </a:extLst>
            </p:cNvPr>
            <p:cNvSpPr/>
            <p:nvPr/>
          </p:nvSpPr>
          <p:spPr>
            <a:xfrm>
              <a:off x="472059" y="3629918"/>
              <a:ext cx="8199882" cy="251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980"/>
                </a:lnSpc>
              </a:pPr>
              <a:r>
                <a:rPr lang="en-US" sz="2000" dirty="0">
                  <a:solidFill>
                    <a:srgbClr val="0066B3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3D medical imaging</a:t>
              </a:r>
              <a:r>
                <a:rPr lang="en-US" sz="2000" dirty="0">
                  <a:solidFill>
                    <a:srgbClr val="1A1A1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enables non-invasive diagnosis and surgical planning</a:t>
              </a:r>
              <a:endParaRPr lang="en-US" sz="2000" dirty="0"/>
            </a:p>
          </p:txBody>
        </p:sp>
      </p:grpSp>
      <p:pic>
        <p:nvPicPr>
          <p:cNvPr id="26" name="Picture 6" descr="The Ultimate Guide To The TSA-CBT Tests | Free practice tests, questions  and answers">
            <a:extLst>
              <a:ext uri="{FF2B5EF4-FFF2-40B4-BE49-F238E27FC236}">
                <a16:creationId xmlns:a16="http://schemas.microsoft.com/office/drawing/2014/main" id="{C0725796-EA8B-4020-86A0-FA83630032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4" t="8928" r="13514" b="6794"/>
          <a:stretch/>
        </p:blipFill>
        <p:spPr bwMode="auto">
          <a:xfrm>
            <a:off x="1242634" y="4936767"/>
            <a:ext cx="2366726" cy="183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MRI Scan - Magnetic Resonance Imaging - Medicai">
            <a:extLst>
              <a:ext uri="{FF2B5EF4-FFF2-40B4-BE49-F238E27FC236}">
                <a16:creationId xmlns:a16="http://schemas.microsoft.com/office/drawing/2014/main" id="{06E9A2AA-59F6-CF00-6214-671CF8F9F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270" y="4936767"/>
            <a:ext cx="2934629" cy="183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1109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/>
              <a:t>Camera Models: The Pinhole Camera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D06B681-AF4A-3481-1D95-6B1849EE5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5080"/>
            <a:ext cx="11277600" cy="529254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The simplest camera:</a:t>
            </a:r>
            <a:r>
              <a:rPr lang="en-US" dirty="0"/>
              <a:t>	light passes through a single point to form an inverted image.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No distortion, infinite depth of field, mathematically simple.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Key parameters: 	</a:t>
            </a:r>
            <a:r>
              <a:rPr lang="en-US" dirty="0"/>
              <a:t>focal length, principal point, image dimensions.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Why it matters: 	</a:t>
            </a:r>
            <a:r>
              <a:rPr lang="en-US" dirty="0"/>
              <a:t>the foundation for camera calibration, 3D reconstruction, and perspective.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3A780-F924-4EE8-B9EE-76CB732C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F8BC21-B94B-432D-9BE0-83195F1A6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09" y="3383281"/>
            <a:ext cx="7810651" cy="31664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9214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99B8D-66D6-1BE1-C67C-BED51A745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C3C5C-473D-894A-9284-CE0CA2376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Depth Cues: Stereo, Motion &amp; Structured Light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DE8F4F-C2DB-5D6A-DE2D-BD1E86242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59" y="1200330"/>
            <a:ext cx="11604523" cy="529254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Stereo vision: 	</a:t>
            </a:r>
            <a:r>
              <a:rPr lang="en-US" dirty="0"/>
              <a:t>two cameras; the disparity between views reveals depth (like human eyes).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Structure from motion: </a:t>
            </a:r>
            <a:r>
              <a:rPr lang="en-US" dirty="0"/>
              <a:t>reconstruct 3D from many photos taken from different viewpoints.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Single-view cues: </a:t>
            </a:r>
            <a:r>
              <a:rPr lang="en-US" dirty="0"/>
              <a:t>	focus, texture gradient, shading hint at depth from one image.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Structured light: </a:t>
            </a:r>
            <a:r>
              <a:rPr lang="en-US" dirty="0"/>
              <a:t>	project a known pattern; measure its deformation to compute depth.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disparity: nearer objects shift more between the two views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7710-5E77-39D2-C13A-6DDD1577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C56AC00-0E11-B2F0-32E9-D4CBE424A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164" y="2952447"/>
            <a:ext cx="5177970" cy="34063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8675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BREAK: How Computer Vision Works (7:07)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2D712-8665-8050-7D43-388A43875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14" y="1200150"/>
            <a:ext cx="11277600" cy="52927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Watch for: Core CV pipeline, feature  extraction, and real-world applications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C17B61-D02C-4C0E-BEB5-FC910564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Online Media 4" title="How Computer Vision Works">
            <a:hlinkClick r:id="" action="ppaction://media"/>
            <a:extLst>
              <a:ext uri="{FF2B5EF4-FFF2-40B4-BE49-F238E27FC236}">
                <a16:creationId xmlns:a16="http://schemas.microsoft.com/office/drawing/2014/main" id="{C9DBC646-848B-1FA6-587A-C70CAB818CC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93979" y="1651553"/>
            <a:ext cx="8735074" cy="493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7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D985C-8033-2880-4912-A321DBA5B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275CB-B096-E8F6-27FD-6FF70909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Single-View Depth Cues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F4363-8D4D-2A04-2740-B6DF0126D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4513AA-52BE-599C-8753-3F45DEF1F1A6}"/>
              </a:ext>
            </a:extLst>
          </p:cNvPr>
          <p:cNvGrpSpPr/>
          <p:nvPr/>
        </p:nvGrpSpPr>
        <p:grpSpPr>
          <a:xfrm>
            <a:off x="598800" y="1464974"/>
            <a:ext cx="10780400" cy="2796927"/>
            <a:chOff x="381000" y="1070372"/>
            <a:chExt cx="8410956" cy="2796927"/>
          </a:xfrm>
        </p:grpSpPr>
        <p:sp>
          <p:nvSpPr>
            <p:cNvPr id="5" name="Banner"/>
            <p:cNvSpPr/>
            <p:nvPr/>
          </p:nvSpPr>
          <p:spPr>
            <a:xfrm>
              <a:off x="381000" y="1070372"/>
              <a:ext cx="8382000" cy="441871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1">
              <a:extLst>
                <a:ext uri="{FF2B5EF4-FFF2-40B4-BE49-F238E27FC236}">
                  <a16:creationId xmlns:a16="http://schemas.microsoft.com/office/drawing/2014/main" id="{29390E25-DB27-1AB7-B548-E0481B6D5B43}"/>
                </a:ext>
              </a:extLst>
            </p:cNvPr>
            <p:cNvSpPr/>
            <p:nvPr/>
          </p:nvSpPr>
          <p:spPr>
            <a:xfrm>
              <a:off x="514350" y="1165622"/>
              <a:ext cx="8277606" cy="251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980"/>
                </a:lnSpc>
              </a:pPr>
              <a:r>
                <a:rPr lang="en-US" b="1" dirty="0">
                  <a:solidFill>
                    <a:srgbClr val="FFFFFF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Inferring depth from a single image using visual cues — no stereo pair required</a:t>
              </a:r>
              <a:endParaRPr lang="en-US" dirty="0">
                <a:latin typeface="Helvetica Neue Light"/>
              </a:endParaRPr>
            </a:p>
          </p:txBody>
        </p:sp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8EC80109-CCA2-0AFB-021A-D8F96DDBA355}"/>
                </a:ext>
              </a:extLst>
            </p:cNvPr>
            <p:cNvSpPr/>
            <p:nvPr/>
          </p:nvSpPr>
          <p:spPr>
            <a:xfrm>
              <a:off x="381000" y="1740843"/>
              <a:ext cx="2717750" cy="474315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</a:ln>
          </p:spPr>
          <p:txBody>
            <a:bodyPr wrap="square" rtlCol="0" anchor="ctr"/>
            <a:lstStyle/>
            <a:p>
              <a:endParaRPr lang="en-US"/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BCB6072F-F834-F5A5-C234-90A68DF7B7F6}"/>
                </a:ext>
              </a:extLst>
            </p:cNvPr>
            <p:cNvSpPr/>
            <p:nvPr/>
          </p:nvSpPr>
          <p:spPr>
            <a:xfrm>
              <a:off x="381000" y="1740843"/>
              <a:ext cx="2717750" cy="460027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Depth from Focus</a:t>
              </a:r>
              <a:endParaRPr lang="en-US" sz="1650" dirty="0"/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33A43F04-CC4C-7334-2191-A71584881BC3}"/>
                </a:ext>
              </a:extLst>
            </p:cNvPr>
            <p:cNvSpPr/>
            <p:nvPr/>
          </p:nvSpPr>
          <p:spPr>
            <a:xfrm>
              <a:off x="381000" y="2253258"/>
              <a:ext cx="2717750" cy="1000720"/>
            </a:xfrm>
            <a:prstGeom prst="rect">
              <a:avLst/>
            </a:prstGeom>
            <a:solidFill>
              <a:srgbClr val="F1F4F9"/>
            </a:solidFill>
            <a:ln>
              <a:noFill/>
            </a:ln>
          </p:spPr>
          <p:txBody>
            <a:bodyPr wrap="square" rtlCol="0" anchor="ctr"/>
            <a:lstStyle/>
            <a:p>
              <a:endParaRPr lang="en-US"/>
            </a:p>
          </p:txBody>
        </p:sp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B354BCEF-7F4B-670E-E8F4-3B4A9D49458C}"/>
                </a:ext>
              </a:extLst>
            </p:cNvPr>
            <p:cNvSpPr/>
            <p:nvPr/>
          </p:nvSpPr>
          <p:spPr>
            <a:xfrm>
              <a:off x="476250" y="2329458"/>
              <a:ext cx="2577795" cy="848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</a:pPr>
              <a:r>
                <a:rPr lang="en-US" sz="1650" dirty="0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</a:rPr>
                <a:t>Sharp regions are in focus; blur indicates distance from focal plane</a:t>
              </a:r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B340CB0F-F5CE-6495-019F-144C9CDA7F32}"/>
                </a:ext>
              </a:extLst>
            </p:cNvPr>
            <p:cNvSpPr/>
            <p:nvPr/>
          </p:nvSpPr>
          <p:spPr>
            <a:xfrm>
              <a:off x="3213050" y="1740843"/>
              <a:ext cx="2717750" cy="474315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</a:ln>
          </p:spPr>
          <p:txBody>
            <a:bodyPr wrap="square" rtlCol="0" anchor="ctr"/>
            <a:lstStyle/>
            <a:p>
              <a:endParaRPr lang="en-US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2BB343AF-263B-B549-3280-DB02F662E02F}"/>
                </a:ext>
              </a:extLst>
            </p:cNvPr>
            <p:cNvSpPr/>
            <p:nvPr/>
          </p:nvSpPr>
          <p:spPr>
            <a:xfrm>
              <a:off x="3213050" y="1740843"/>
              <a:ext cx="2717750" cy="460027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Shape from Texture</a:t>
              </a:r>
              <a:endParaRPr lang="en-US" sz="1650" dirty="0"/>
            </a:p>
          </p:txBody>
        </p:sp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1D24545C-077D-E870-1053-9950A8FBC9D4}"/>
                </a:ext>
              </a:extLst>
            </p:cNvPr>
            <p:cNvSpPr/>
            <p:nvPr/>
          </p:nvSpPr>
          <p:spPr>
            <a:xfrm>
              <a:off x="3213050" y="2253258"/>
              <a:ext cx="2717750" cy="1000720"/>
            </a:xfrm>
            <a:prstGeom prst="rect">
              <a:avLst/>
            </a:prstGeom>
            <a:solidFill>
              <a:srgbClr val="F1F4F9"/>
            </a:solidFill>
            <a:ln>
              <a:noFill/>
            </a:ln>
          </p:spPr>
          <p:txBody>
            <a:bodyPr wrap="square" rtlCol="0" anchor="ctr"/>
            <a:lstStyle/>
            <a:p>
              <a:endParaRPr lang="en-US"/>
            </a:p>
          </p:txBody>
        </p: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25B07773-41F0-F02A-27FD-AF7F7AC42C5D}"/>
                </a:ext>
              </a:extLst>
            </p:cNvPr>
            <p:cNvSpPr/>
            <p:nvPr/>
          </p:nvSpPr>
          <p:spPr>
            <a:xfrm>
              <a:off x="3308300" y="2329458"/>
              <a:ext cx="2577795" cy="848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</a:pPr>
              <a:r>
                <a:rPr lang="en-US" sz="1650" dirty="0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</a:rPr>
                <a:t>Texture density changes with surface orientation and distance</a:t>
              </a:r>
            </a:p>
          </p:txBody>
        </p:sp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31370AD5-0A15-5369-C2E5-7425D5613721}"/>
                </a:ext>
              </a:extLst>
            </p:cNvPr>
            <p:cNvSpPr/>
            <p:nvPr/>
          </p:nvSpPr>
          <p:spPr>
            <a:xfrm>
              <a:off x="6045101" y="1740843"/>
              <a:ext cx="2717750" cy="474315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</a:ln>
          </p:spPr>
          <p:txBody>
            <a:bodyPr wrap="square" rtlCol="0" anchor="ctr"/>
            <a:lstStyle/>
            <a:p>
              <a:endParaRPr lang="en-US"/>
            </a:p>
          </p:txBody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5D5BC42C-E1DB-E6AC-78E7-E08C3228C697}"/>
                </a:ext>
              </a:extLst>
            </p:cNvPr>
            <p:cNvSpPr/>
            <p:nvPr/>
          </p:nvSpPr>
          <p:spPr>
            <a:xfrm>
              <a:off x="6045101" y="1740843"/>
              <a:ext cx="2717750" cy="460027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Shape from Shading</a:t>
              </a:r>
              <a:endParaRPr lang="en-US" sz="1650" dirty="0"/>
            </a:p>
          </p:txBody>
        </p: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C087AD41-005B-F980-EF3A-E2B38A074376}"/>
                </a:ext>
              </a:extLst>
            </p:cNvPr>
            <p:cNvSpPr/>
            <p:nvPr/>
          </p:nvSpPr>
          <p:spPr>
            <a:xfrm>
              <a:off x="6045101" y="2253258"/>
              <a:ext cx="2717750" cy="1000720"/>
            </a:xfrm>
            <a:prstGeom prst="rect">
              <a:avLst/>
            </a:prstGeom>
            <a:solidFill>
              <a:srgbClr val="F1F4F9"/>
            </a:solidFill>
            <a:ln>
              <a:noFill/>
            </a:ln>
          </p:spPr>
          <p:txBody>
            <a:bodyPr wrap="square" rtlCol="0" anchor="ctr"/>
            <a:lstStyle/>
            <a:p>
              <a:endParaRPr lang="en-US"/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D05160F1-49E8-A19B-321B-41FB8382C344}"/>
                </a:ext>
              </a:extLst>
            </p:cNvPr>
            <p:cNvSpPr/>
            <p:nvPr/>
          </p:nvSpPr>
          <p:spPr>
            <a:xfrm>
              <a:off x="6140351" y="2329458"/>
              <a:ext cx="2577795" cy="848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</a:pPr>
              <a:r>
                <a:rPr lang="en-US" sz="1650" dirty="0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Light and shadow patterns reveal surface curvature and orientation</a:t>
              </a:r>
              <a:endParaRPr lang="en-US" sz="1650" dirty="0">
                <a:latin typeface="Helvetica Neue Light"/>
              </a:endParaRPr>
            </a:p>
          </p:txBody>
        </p:sp>
        <p:sp>
          <p:nvSpPr>
            <p:cNvPr id="22" name="Text 17">
              <a:extLst>
                <a:ext uri="{FF2B5EF4-FFF2-40B4-BE49-F238E27FC236}">
                  <a16:creationId xmlns:a16="http://schemas.microsoft.com/office/drawing/2014/main" id="{4F93C14B-0014-2709-95DC-859FBEFBD299}"/>
                </a:ext>
              </a:extLst>
            </p:cNvPr>
            <p:cNvSpPr/>
            <p:nvPr/>
          </p:nvSpPr>
          <p:spPr>
            <a:xfrm>
              <a:off x="381000" y="3463528"/>
              <a:ext cx="8382000" cy="403771"/>
            </a:xfrm>
            <a:prstGeom prst="rect">
              <a:avLst/>
            </a:prstGeom>
            <a:solidFill>
              <a:srgbClr val="2F3C7E"/>
            </a:solidFill>
            <a:ln>
              <a:noFill/>
            </a:ln>
          </p:spPr>
          <p:txBody>
            <a:bodyPr wrap="square" rtlCol="0" anchor="ctr"/>
            <a:lstStyle/>
            <a:p>
              <a:endParaRPr lang="en-US"/>
            </a:p>
          </p:txBody>
        </p:sp>
        <p:sp>
          <p:nvSpPr>
            <p:cNvPr id="24" name="Text 19">
              <a:extLst>
                <a:ext uri="{FF2B5EF4-FFF2-40B4-BE49-F238E27FC236}">
                  <a16:creationId xmlns:a16="http://schemas.microsoft.com/office/drawing/2014/main" id="{153211C1-17DC-522B-4AA0-10F6DED512D6}"/>
                </a:ext>
              </a:extLst>
            </p:cNvPr>
            <p:cNvSpPr/>
            <p:nvPr/>
          </p:nvSpPr>
          <p:spPr>
            <a:xfrm>
              <a:off x="552450" y="3539728"/>
              <a:ext cx="8238744" cy="251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980"/>
                </a:lnSpc>
              </a:pPr>
              <a:r>
                <a:rPr lang="en-US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Deep learning</a:t>
              </a:r>
              <a:r>
                <a:rPr lang="en-US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now combines these cues to predict depth from single images</a:t>
              </a:r>
              <a:endParaRPr lang="en-US" dirty="0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413F4124-13B2-4B1B-E5CA-34CEB5D63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531298"/>
            <a:ext cx="3970788" cy="22335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Picture 2" descr="Computer Vision Chapter 9 : Texture - ppt download">
            <a:extLst>
              <a:ext uri="{FF2B5EF4-FFF2-40B4-BE49-F238E27FC236}">
                <a16:creationId xmlns:a16="http://schemas.microsoft.com/office/drawing/2014/main" id="{A3C5FC8B-137E-514B-56D8-15090B952A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7" t="32222" r="9167" b="14444"/>
          <a:stretch/>
        </p:blipFill>
        <p:spPr bwMode="auto">
          <a:xfrm>
            <a:off x="4823698" y="4546757"/>
            <a:ext cx="2888332" cy="14593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39AA172-7CF2-3CC3-03F2-060244494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848" y="4531298"/>
            <a:ext cx="2957513" cy="104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5211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/>
              <a:t>Scene Understanding: 3D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B6C9-F977-47F9-A532-97FA6661B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5618"/>
            <a:ext cx="11277600" cy="5292545"/>
          </a:xfrm>
        </p:spPr>
        <p:txBody>
          <a:bodyPr>
            <a:normAutofit/>
          </a:bodyPr>
          <a:lstStyle/>
          <a:p>
            <a:r>
              <a:rPr lang="en-US" dirty="0"/>
              <a:t>Structure from motion, photogrammetry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9C8E6-D8AA-4AF3-8AEE-F9DC410A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F8AAA-B5EF-42C2-AAAF-538CF25E01D3}"/>
              </a:ext>
            </a:extLst>
          </p:cNvPr>
          <p:cNvSpPr txBox="1"/>
          <p:nvPr/>
        </p:nvSpPr>
        <p:spPr>
          <a:xfrm>
            <a:off x="457200" y="6565053"/>
            <a:ext cx="55201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https://www.sculpteo.com/en/3d-learning-hub/3d-printing-software/photogrammetry-software/</a:t>
            </a:r>
          </a:p>
        </p:txBody>
      </p:sp>
      <p:pic>
        <p:nvPicPr>
          <p:cNvPr id="7170" name="Picture 2" descr="photogrammetry">
            <a:extLst>
              <a:ext uri="{FF2B5EF4-FFF2-40B4-BE49-F238E27FC236}">
                <a16:creationId xmlns:a16="http://schemas.microsoft.com/office/drawing/2014/main" id="{ADFAD4E4-BD72-45CA-A153-A7E305B73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12" y="1988636"/>
            <a:ext cx="8694089" cy="431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551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3D Reconstruction: (1:47)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B6C9-F977-47F9-A532-97FA6661B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6065"/>
            <a:ext cx="11277600" cy="5292545"/>
          </a:xfrm>
        </p:spPr>
        <p:txBody>
          <a:bodyPr>
            <a:normAutofit/>
          </a:bodyPr>
          <a:lstStyle/>
          <a:p>
            <a:r>
              <a:rPr lang="en-US" dirty="0"/>
              <a:t>Structure from motion: dentistry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3E513-5228-4D89-ADE9-14ED083B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275B6-51C1-3701-4F6E-B2CBA9F0FE98}"/>
              </a:ext>
            </a:extLst>
          </p:cNvPr>
          <p:cNvSpPr txBox="1"/>
          <p:nvPr/>
        </p:nvSpPr>
        <p:spPr>
          <a:xfrm>
            <a:off x="506171" y="6543997"/>
            <a:ext cx="609698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https://www.youtube.com/watch?v=C5jKnxEyrbU</a:t>
            </a:r>
          </a:p>
        </p:txBody>
      </p:sp>
      <p:pic>
        <p:nvPicPr>
          <p:cNvPr id="8" name="Online Media 7" title="SEE 3Shape TRIOS 3 WIRELESS INSANE SPEED IN ACTION">
            <a:hlinkClick r:id="" action="ppaction://media"/>
            <a:extLst>
              <a:ext uri="{FF2B5EF4-FFF2-40B4-BE49-F238E27FC236}">
                <a16:creationId xmlns:a16="http://schemas.microsoft.com/office/drawing/2014/main" id="{7F65B02B-2944-A1F8-13D5-84B0F726AA7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06171" y="1987846"/>
            <a:ext cx="7973478" cy="45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0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Light 3D Scanning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4B56D-8F5F-4BAC-B9D5-42094EC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06CB164-A53F-8597-9E98-771508720885}"/>
              </a:ext>
            </a:extLst>
          </p:cNvPr>
          <p:cNvGrpSpPr/>
          <p:nvPr/>
        </p:nvGrpSpPr>
        <p:grpSpPr>
          <a:xfrm>
            <a:off x="457200" y="1376065"/>
            <a:ext cx="11600121" cy="4926440"/>
            <a:chOff x="381000" y="782985"/>
            <a:chExt cx="8410956" cy="3371701"/>
          </a:xfrm>
        </p:grpSpPr>
        <p:sp>
          <p:nvSpPr>
            <p:cNvPr id="9" name="Banner"/>
            <p:cNvSpPr/>
            <p:nvPr/>
          </p:nvSpPr>
          <p:spPr>
            <a:xfrm>
              <a:off x="381000" y="782985"/>
              <a:ext cx="8382000" cy="575219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>
              <a:noFill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0" name="Text 1">
              <a:extLst>
                <a:ext uri="{FF2B5EF4-FFF2-40B4-BE49-F238E27FC236}">
                  <a16:creationId xmlns:a16="http://schemas.microsoft.com/office/drawing/2014/main" id="{703899A1-64D3-49B1-BD31-F14540DBCB52}"/>
                </a:ext>
              </a:extLst>
            </p:cNvPr>
            <p:cNvSpPr/>
            <p:nvPr/>
          </p:nvSpPr>
          <p:spPr>
            <a:xfrm>
              <a:off x="514350" y="949897"/>
              <a:ext cx="8277606" cy="251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400" b="1" dirty="0">
                  <a:solidFill>
                    <a:srgbClr val="FFFFFF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Project known light patterns onto a scene and measure deformation to calculate </a:t>
              </a:r>
              <a:r>
                <a:rPr lang="en-US" sz="2000" b="1" dirty="0">
                  <a:solidFill>
                    <a:srgbClr val="FFFFFF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depth</a:t>
              </a:r>
              <a:endParaRPr lang="en-US" sz="2400" dirty="0">
                <a:latin typeface="Helvetica Neue Light"/>
              </a:endParaRPr>
            </a:p>
          </p:txBody>
        </p:sp>
        <p:sp>
          <p:nvSpPr>
            <p:cNvPr id="11" name="Text 2">
              <a:extLst>
                <a:ext uri="{FF2B5EF4-FFF2-40B4-BE49-F238E27FC236}">
                  <a16:creationId xmlns:a16="http://schemas.microsoft.com/office/drawing/2014/main" id="{13F356C4-6243-968F-8A6D-DF6B02159067}"/>
                </a:ext>
              </a:extLst>
            </p:cNvPr>
            <p:cNvSpPr/>
            <p:nvPr/>
          </p:nvSpPr>
          <p:spPr>
            <a:xfrm>
              <a:off x="381000" y="1510604"/>
              <a:ext cx="4102100" cy="1289398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</a:ln>
          </p:spPr>
          <p:txBody>
            <a:bodyPr wrap="square" rtlCol="0" anchor="ctr"/>
            <a:lstStyle/>
            <a:p>
              <a:endParaRPr lang="en-US" sz="2800"/>
            </a:p>
          </p:txBody>
        </p: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B11860AE-B7E1-73A2-81A0-F12ED50B9EBF}"/>
                </a:ext>
              </a:extLst>
            </p:cNvPr>
            <p:cNvSpPr/>
            <p:nvPr/>
          </p:nvSpPr>
          <p:spPr>
            <a:xfrm>
              <a:off x="381000" y="1510604"/>
              <a:ext cx="4102100" cy="36830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ts val="2310"/>
                </a:lnSpc>
                <a:spcAft>
                  <a:spcPts val="300"/>
                </a:spcAft>
              </a:pPr>
              <a:r>
                <a:rPr lang="en-US" sz="20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How It Works</a:t>
              </a:r>
              <a:endParaRPr lang="en-US" sz="2000" dirty="0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2BDD93BE-00EB-D94F-0B6F-09C12563D0FB}"/>
                </a:ext>
              </a:extLst>
            </p:cNvPr>
            <p:cNvSpPr/>
            <p:nvPr/>
          </p:nvSpPr>
          <p:spPr>
            <a:xfrm>
              <a:off x="482600" y="1980504"/>
              <a:ext cx="3898900" cy="768698"/>
            </a:xfrm>
            <a:prstGeom prst="rect">
              <a:avLst/>
            </a:prstGeom>
            <a:noFill/>
            <a:ln/>
          </p:spPr>
          <p:txBody>
            <a:bodyPr wrap="square" lIns="95250" tIns="0" rIns="0" bIns="0" rtlCol="0" anchor="t"/>
            <a:lstStyle/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Projector emits pattern</a:t>
              </a:r>
              <a:endParaRPr lang="en-US" dirty="0"/>
            </a:p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Camera observes distortion</a:t>
              </a:r>
              <a:endParaRPr lang="en-US" dirty="0"/>
            </a:p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Triangulation gets depth</a:t>
              </a:r>
              <a:endParaRPr lang="en-US" dirty="0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D59509C6-6EA2-5EAD-8F6B-512EA07309D9}"/>
                </a:ext>
              </a:extLst>
            </p:cNvPr>
            <p:cNvSpPr/>
            <p:nvPr/>
          </p:nvSpPr>
          <p:spPr>
            <a:xfrm>
              <a:off x="381000" y="2977802"/>
              <a:ext cx="4102100" cy="1289398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</a:ln>
          </p:spPr>
          <p:txBody>
            <a:bodyPr wrap="square" rtlCol="0" anchor="ctr"/>
            <a:lstStyle/>
            <a:p>
              <a:endParaRPr lang="en-US" sz="2800"/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B6D6FDA4-C9C5-FA24-FE9A-4EE152738B65}"/>
                </a:ext>
              </a:extLst>
            </p:cNvPr>
            <p:cNvSpPr/>
            <p:nvPr/>
          </p:nvSpPr>
          <p:spPr>
            <a:xfrm>
              <a:off x="381000" y="2977802"/>
              <a:ext cx="4102100" cy="36830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ts val="2310"/>
                </a:lnSpc>
                <a:spcAft>
                  <a:spcPts val="300"/>
                </a:spcAft>
              </a:pPr>
              <a:r>
                <a:rPr lang="en-US" sz="20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Pattern Types</a:t>
              </a:r>
              <a:endParaRPr lang="en-US" sz="2000" dirty="0"/>
            </a:p>
          </p:txBody>
        </p:sp>
        <p:sp>
          <p:nvSpPr>
            <p:cNvPr id="16" name="Text 7">
              <a:extLst>
                <a:ext uri="{FF2B5EF4-FFF2-40B4-BE49-F238E27FC236}">
                  <a16:creationId xmlns:a16="http://schemas.microsoft.com/office/drawing/2014/main" id="{509CFC7C-F69C-382A-5525-C73CFF8B9688}"/>
                </a:ext>
              </a:extLst>
            </p:cNvPr>
            <p:cNvSpPr/>
            <p:nvPr/>
          </p:nvSpPr>
          <p:spPr>
            <a:xfrm>
              <a:off x="482600" y="3447702"/>
              <a:ext cx="3898900" cy="768698"/>
            </a:xfrm>
            <a:prstGeom prst="rect">
              <a:avLst/>
            </a:prstGeom>
            <a:noFill/>
            <a:ln/>
          </p:spPr>
          <p:txBody>
            <a:bodyPr wrap="square" lIns="95250" tIns="0" rIns="0" bIns="0" rtlCol="0" anchor="t"/>
            <a:lstStyle/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Stripe patterns</a:t>
              </a:r>
              <a:endParaRPr lang="en-US" dirty="0"/>
            </a:p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Grid patterns</a:t>
              </a:r>
              <a:endParaRPr lang="en-US" dirty="0"/>
            </a:p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Dot patterns (Kinect)</a:t>
              </a:r>
              <a:endParaRPr lang="en-US" dirty="0"/>
            </a:p>
          </p:txBody>
        </p:sp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FDE65114-11A6-C786-85D9-D3DDE2FC2116}"/>
                </a:ext>
              </a:extLst>
            </p:cNvPr>
            <p:cNvSpPr/>
            <p:nvPr/>
          </p:nvSpPr>
          <p:spPr>
            <a:xfrm>
              <a:off x="4660900" y="1510604"/>
              <a:ext cx="4102100" cy="1289398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</a:ln>
          </p:spPr>
          <p:txBody>
            <a:bodyPr wrap="square" rtlCol="0" anchor="ctr"/>
            <a:lstStyle/>
            <a:p>
              <a:endParaRPr lang="en-US" sz="2800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9246F211-3082-9C63-30B4-BEB0B5A3D55E}"/>
                </a:ext>
              </a:extLst>
            </p:cNvPr>
            <p:cNvSpPr/>
            <p:nvPr/>
          </p:nvSpPr>
          <p:spPr>
            <a:xfrm>
              <a:off x="4660900" y="1510604"/>
              <a:ext cx="4102100" cy="36830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ts val="2310"/>
                </a:lnSpc>
                <a:spcAft>
                  <a:spcPts val="300"/>
                </a:spcAft>
              </a:pPr>
              <a:r>
                <a:rPr lang="en-US" sz="20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Advantages</a:t>
              </a:r>
              <a:endParaRPr lang="en-US" sz="2000" dirty="0"/>
            </a:p>
          </p:txBody>
        </p:sp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C5572EE1-72E1-7DA3-2694-706050B92E50}"/>
                </a:ext>
              </a:extLst>
            </p:cNvPr>
            <p:cNvSpPr/>
            <p:nvPr/>
          </p:nvSpPr>
          <p:spPr>
            <a:xfrm>
              <a:off x="4762500" y="1980504"/>
              <a:ext cx="3898900" cy="768698"/>
            </a:xfrm>
            <a:prstGeom prst="rect">
              <a:avLst/>
            </a:prstGeom>
            <a:noFill/>
            <a:ln/>
          </p:spPr>
          <p:txBody>
            <a:bodyPr wrap="square" lIns="95250" tIns="0" rIns="0" bIns="0" rtlCol="0" anchor="t"/>
            <a:lstStyle/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High accuracy</a:t>
              </a:r>
              <a:endParaRPr lang="en-US" dirty="0"/>
            </a:p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Dense depth maps</a:t>
              </a:r>
              <a:endParaRPr lang="en-US" dirty="0"/>
            </a:p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Works on texture-less surfaces</a:t>
              </a:r>
              <a:endParaRPr lang="en-US" dirty="0"/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1AD4951D-028F-DEB3-C224-41FEB7903E89}"/>
                </a:ext>
              </a:extLst>
            </p:cNvPr>
            <p:cNvSpPr/>
            <p:nvPr/>
          </p:nvSpPr>
          <p:spPr>
            <a:xfrm>
              <a:off x="4660900" y="2977802"/>
              <a:ext cx="4102100" cy="1289398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</a:ln>
          </p:spPr>
          <p:txBody>
            <a:bodyPr wrap="square" rtlCol="0" anchor="ctr"/>
            <a:lstStyle/>
            <a:p>
              <a:endParaRPr lang="en-US" sz="2800"/>
            </a:p>
          </p:txBody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4D24187F-D368-197A-3D3F-122245727DA9}"/>
                </a:ext>
              </a:extLst>
            </p:cNvPr>
            <p:cNvSpPr/>
            <p:nvPr/>
          </p:nvSpPr>
          <p:spPr>
            <a:xfrm>
              <a:off x="4660900" y="2977802"/>
              <a:ext cx="4102100" cy="36830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ts val="2310"/>
                </a:lnSpc>
                <a:spcAft>
                  <a:spcPts val="300"/>
                </a:spcAft>
              </a:pPr>
              <a:r>
                <a:rPr lang="en-US" sz="20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Applications</a:t>
              </a:r>
              <a:endParaRPr lang="en-US" sz="2000" dirty="0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B9F13959-EA0B-12C3-34F5-08DE94B8DFF6}"/>
                </a:ext>
              </a:extLst>
            </p:cNvPr>
            <p:cNvSpPr/>
            <p:nvPr/>
          </p:nvSpPr>
          <p:spPr>
            <a:xfrm>
              <a:off x="4762500" y="3447702"/>
              <a:ext cx="3898900" cy="768698"/>
            </a:xfrm>
            <a:prstGeom prst="rect">
              <a:avLst/>
            </a:prstGeom>
            <a:noFill/>
            <a:ln/>
          </p:spPr>
          <p:txBody>
            <a:bodyPr wrap="square" lIns="95250" tIns="0" rIns="0" bIns="0" rtlCol="0" anchor="t"/>
            <a:lstStyle/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Face ID / face authentication</a:t>
              </a:r>
              <a:endParaRPr lang="en-US" dirty="0"/>
            </a:p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Industrial inspection</a:t>
              </a:r>
              <a:endParaRPr lang="en-US" dirty="0"/>
            </a:p>
            <a:p>
              <a:pPr marL="285750" indent="-285750"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Gaming (Xbox Kinect)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15522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/>
              <a:t>3D Reconstruction - Structured Light (2:08)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B6C9-F977-47F9-A532-97FA6661B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1238"/>
            <a:ext cx="11277600" cy="5292725"/>
          </a:xfrm>
        </p:spPr>
        <p:txBody>
          <a:bodyPr>
            <a:normAutofit/>
          </a:bodyPr>
          <a:lstStyle/>
          <a:p>
            <a:r>
              <a:rPr lang="en-US" dirty="0"/>
              <a:t>Active projection – structured light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4B56D-8F5F-4BAC-B9D5-42094EC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Online Media 4" title="Structured Light">
            <a:hlinkClick r:id="" action="ppaction://media"/>
            <a:extLst>
              <a:ext uri="{FF2B5EF4-FFF2-40B4-BE49-F238E27FC236}">
                <a16:creationId xmlns:a16="http://schemas.microsoft.com/office/drawing/2014/main" id="{EEEE7290-C7FA-4A20-8CFC-513BE330002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57200" y="1729859"/>
            <a:ext cx="8361246" cy="4724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1ADF42-15BA-5D74-F5E5-2BCE4FA2D624}"/>
              </a:ext>
            </a:extLst>
          </p:cNvPr>
          <p:cNvSpPr txBox="1"/>
          <p:nvPr/>
        </p:nvSpPr>
        <p:spPr>
          <a:xfrm>
            <a:off x="457200" y="6567839"/>
            <a:ext cx="60950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https://www.youtube.com/watch?v=mSsnf5tqXnA</a:t>
            </a:r>
          </a:p>
        </p:txBody>
      </p:sp>
    </p:spTree>
    <p:extLst>
      <p:ext uri="{BB962C8B-B14F-4D97-AF65-F5344CB8AC3E}">
        <p14:creationId xmlns:p14="http://schemas.microsoft.com/office/powerpoint/2010/main" val="630270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3D Reconstruction: Point Cloud (3:30)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B6C9-F977-47F9-A532-97FA6661B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6065"/>
            <a:ext cx="11277600" cy="5292545"/>
          </a:xfrm>
        </p:spPr>
        <p:txBody>
          <a:bodyPr>
            <a:normAutofit/>
          </a:bodyPr>
          <a:lstStyle/>
          <a:p>
            <a:r>
              <a:rPr lang="en-US" dirty="0"/>
              <a:t>Watch for: How laser scanning create dense 3D point clouds in real-time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94A60-F1EB-4F26-B1E4-BB3EA7A9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4" name="Online Media 3" title="3 reasons you should be using point clouds">
            <a:hlinkClick r:id="" action="ppaction://media"/>
            <a:extLst>
              <a:ext uri="{FF2B5EF4-FFF2-40B4-BE49-F238E27FC236}">
                <a16:creationId xmlns:a16="http://schemas.microsoft.com/office/drawing/2014/main" id="{06BFDADD-FBC0-4715-BA21-76406B28BE6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45701" y="1827480"/>
            <a:ext cx="8257329" cy="46653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9E351B-4E58-C5E5-B5A4-B5B6F148E54A}"/>
              </a:ext>
            </a:extLst>
          </p:cNvPr>
          <p:cNvSpPr txBox="1"/>
          <p:nvPr/>
        </p:nvSpPr>
        <p:spPr>
          <a:xfrm>
            <a:off x="457200" y="6571814"/>
            <a:ext cx="60949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https://www.youtube.com/watch?v=dlXF3CX0o2Y</a:t>
            </a:r>
          </a:p>
        </p:txBody>
      </p:sp>
    </p:spTree>
    <p:extLst>
      <p:ext uri="{BB962C8B-B14F-4D97-AF65-F5344CB8AC3E}">
        <p14:creationId xmlns:p14="http://schemas.microsoft.com/office/powerpoint/2010/main" val="368043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84578-BBC8-3DA6-7D39-FE190A92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81E323-413C-F639-D2D0-8A9455A97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From Pixels to Understanding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588E4B-113E-91D4-76B7-8F715CDA8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deep learning transformed vision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20AEA-3801-E175-DD29-67671EAE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98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FE053-33AA-8492-15EC-B679F656C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FA45-A19B-0A02-2E83-351C39C7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Traditional ML → Deep Learning (CNNs)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5B511B-49DF-5560-5C0A-1737B4832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4205"/>
            <a:ext cx="11277600" cy="529254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CNNs (introduced in Lecture 4) automatically learn a hierarchy of visual features — the architecture that revolutionized vision. Traditional methods still help in constrained settings.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F833F-69A6-4EBC-92D8-B02DAE17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86C5A85-4A24-CD96-81C6-CBD5DB2F34F8}"/>
              </a:ext>
            </a:extLst>
          </p:cNvPr>
          <p:cNvGrpSpPr/>
          <p:nvPr/>
        </p:nvGrpSpPr>
        <p:grpSpPr>
          <a:xfrm>
            <a:off x="457200" y="2606040"/>
            <a:ext cx="10908792" cy="2651760"/>
            <a:chOff x="640080" y="1600200"/>
            <a:chExt cx="10908792" cy="2651760"/>
          </a:xfrm>
        </p:grpSpPr>
        <p:sp>
          <p:nvSpPr>
            <p:cNvPr id="12" name="Shape 1">
              <a:extLst>
                <a:ext uri="{FF2B5EF4-FFF2-40B4-BE49-F238E27FC236}">
                  <a16:creationId xmlns:a16="http://schemas.microsoft.com/office/drawing/2014/main" id="{94BC1DE9-03E1-8024-152C-6230561AED56}"/>
                </a:ext>
              </a:extLst>
            </p:cNvPr>
            <p:cNvSpPr/>
            <p:nvPr/>
          </p:nvSpPr>
          <p:spPr>
            <a:xfrm>
              <a:off x="640080" y="1600200"/>
              <a:ext cx="5193792" cy="2651760"/>
            </a:xfrm>
            <a:prstGeom prst="roundRect">
              <a:avLst>
                <a:gd name="adj" fmla="val 3448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3" name="Shape 2">
              <a:extLst>
                <a:ext uri="{FF2B5EF4-FFF2-40B4-BE49-F238E27FC236}">
                  <a16:creationId xmlns:a16="http://schemas.microsoft.com/office/drawing/2014/main" id="{9C4D76FA-1A30-1F5C-3889-B278A0B4F7DD}"/>
                </a:ext>
              </a:extLst>
            </p:cNvPr>
            <p:cNvSpPr/>
            <p:nvPr/>
          </p:nvSpPr>
          <p:spPr>
            <a:xfrm>
              <a:off x="640080" y="16002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2524D143-BEA2-739D-8235-99D9A8BEB65A}"/>
                </a:ext>
              </a:extLst>
            </p:cNvPr>
            <p:cNvSpPr txBox="1"/>
            <p:nvPr/>
          </p:nvSpPr>
          <p:spPr>
            <a:xfrm>
              <a:off x="822960" y="16002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Traditional ML</a:t>
              </a:r>
              <a:endParaRPr lang="en-US" sz="2400" dirty="0"/>
            </a:p>
          </p:txBody>
        </p:sp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497E7F3E-E3D8-B670-AD88-2512FDDED4B0}"/>
                </a:ext>
              </a:extLst>
            </p:cNvPr>
            <p:cNvSpPr txBox="1"/>
            <p:nvPr/>
          </p:nvSpPr>
          <p:spPr>
            <a:xfrm>
              <a:off x="960120" y="2514600"/>
              <a:ext cx="4599432" cy="160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Hand-crafted features + a classifier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Needs domain expertise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Interpretable; works with less data</a:t>
              </a:r>
              <a:endParaRPr lang="en-US" sz="2000" dirty="0"/>
            </a:p>
          </p:txBody>
        </p:sp>
        <p:sp>
          <p:nvSpPr>
            <p:cNvPr id="16" name="Shape 5">
              <a:extLst>
                <a:ext uri="{FF2B5EF4-FFF2-40B4-BE49-F238E27FC236}">
                  <a16:creationId xmlns:a16="http://schemas.microsoft.com/office/drawing/2014/main" id="{4CA4818A-B405-74BF-4674-0F609035115D}"/>
                </a:ext>
              </a:extLst>
            </p:cNvPr>
            <p:cNvSpPr/>
            <p:nvPr/>
          </p:nvSpPr>
          <p:spPr>
            <a:xfrm>
              <a:off x="6355080" y="1600200"/>
              <a:ext cx="5193792" cy="2651760"/>
            </a:xfrm>
            <a:prstGeom prst="roundRect">
              <a:avLst>
                <a:gd name="adj" fmla="val 3448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7" name="Shape 6">
              <a:extLst>
                <a:ext uri="{FF2B5EF4-FFF2-40B4-BE49-F238E27FC236}">
                  <a16:creationId xmlns:a16="http://schemas.microsoft.com/office/drawing/2014/main" id="{C0BBE61C-C6F7-51FE-6131-BEC65DFDB60B}"/>
                </a:ext>
              </a:extLst>
            </p:cNvPr>
            <p:cNvSpPr/>
            <p:nvPr/>
          </p:nvSpPr>
          <p:spPr>
            <a:xfrm>
              <a:off x="6355080" y="16002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17EF5E5D-139A-8292-4C39-8F4F2F75A67D}"/>
                </a:ext>
              </a:extLst>
            </p:cNvPr>
            <p:cNvSpPr txBox="1"/>
            <p:nvPr/>
          </p:nvSpPr>
          <p:spPr>
            <a:xfrm>
              <a:off x="6537960" y="16002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Deep learning (CNNs)</a:t>
              </a:r>
              <a:endParaRPr lang="en-US" sz="2400" dirty="0"/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4A81B320-14BE-FDBE-64D9-29BBA343E132}"/>
                </a:ext>
              </a:extLst>
            </p:cNvPr>
            <p:cNvSpPr txBox="1"/>
            <p:nvPr/>
          </p:nvSpPr>
          <p:spPr>
            <a:xfrm>
              <a:off x="6675120" y="2514600"/>
              <a:ext cx="4599432" cy="160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Learns features end-to-end from data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Early layers: edges → deep layers: objects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Higher accuracy; needs large datasets</a:t>
              </a:r>
              <a:endParaRPr lang="en-US" sz="20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A96CFDB-DCCD-182A-5668-0F5372834A5B}"/>
              </a:ext>
            </a:extLst>
          </p:cNvPr>
          <p:cNvSpPr txBox="1"/>
          <p:nvPr/>
        </p:nvSpPr>
        <p:spPr>
          <a:xfrm>
            <a:off x="640080" y="5784985"/>
            <a:ext cx="11277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/>
              <a:t>Features build up in a hierarchy: </a:t>
            </a:r>
          </a:p>
          <a:p>
            <a:r>
              <a:rPr lang="en-US" sz="2000" i="1" dirty="0"/>
              <a:t>		low-level (edges, corners) → mid-level (shapes, parts) → high-level (objects, scenes).</a:t>
            </a:r>
          </a:p>
        </p:txBody>
      </p:sp>
    </p:spTree>
    <p:extLst>
      <p:ext uri="{BB962C8B-B14F-4D97-AF65-F5344CB8AC3E}">
        <p14:creationId xmlns:p14="http://schemas.microsoft.com/office/powerpoint/2010/main" val="3488391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E036C-416A-B0B2-4C14-1ECE5EFA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9C3D-8092-6AF8-BD5E-AAFC99FA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/>
              <a:t>Machine Learning Powers Modern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30773-3F1E-40E7-B8C1-BABD1FD9D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063"/>
            <a:ext cx="11277600" cy="5292725"/>
          </a:xfrm>
        </p:spPr>
        <p:txBody>
          <a:bodyPr>
            <a:normAutofit/>
          </a:bodyPr>
          <a:lstStyle/>
          <a:p>
            <a:r>
              <a:rPr lang="en-US" dirty="0"/>
              <a:t>From Hand-Crafted Rules to Learning from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38B6A-EC72-EBD3-4448-C6399CE4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7BC28-E7E3-8DB0-432D-F9A6E015DBB0}"/>
              </a:ext>
            </a:extLst>
          </p:cNvPr>
          <p:cNvSpPr txBox="1"/>
          <p:nvPr/>
        </p:nvSpPr>
        <p:spPr>
          <a:xfrm>
            <a:off x="380793" y="6604761"/>
            <a:ext cx="437335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chemeClr val="bg1">
                    <a:lumMod val="65000"/>
                  </a:schemeClr>
                </a:solidFill>
              </a:rPr>
              <a:t>https://images.app.goo.gl/1CUiqojQiVfQeEd29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DB2EA7-EA55-C231-1B78-3D7E36937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58"/>
          <a:stretch>
            <a:fillRect/>
          </a:stretch>
        </p:blipFill>
        <p:spPr>
          <a:xfrm>
            <a:off x="1421531" y="1922724"/>
            <a:ext cx="6441246" cy="47895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9267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41FB6-C779-3E57-50C9-AA159F4E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912934-B446-31AA-E2AD-69C21750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Core Vision Tasks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69C752-BD80-D92E-66C6-09F05B0AF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Classify, detect, segment, track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72409-D8BB-0981-482A-1AD7A32B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32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Computer Vision Tasks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8C5CBB-23D4-2EB7-2B0F-402F37D9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11881884" cy="529254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4B56D-8F5F-4BAC-B9D5-42094EC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3BF891-300F-237C-D83D-3D2EAFE80F14}"/>
              </a:ext>
            </a:extLst>
          </p:cNvPr>
          <p:cNvGrpSpPr/>
          <p:nvPr/>
        </p:nvGrpSpPr>
        <p:grpSpPr>
          <a:xfrm>
            <a:off x="539070" y="1488306"/>
            <a:ext cx="10872216" cy="3221918"/>
            <a:chOff x="640080" y="1737360"/>
            <a:chExt cx="10872216" cy="4096512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6C16B25A-2BC5-6134-501C-79CFC1305533}"/>
                </a:ext>
              </a:extLst>
            </p:cNvPr>
            <p:cNvSpPr/>
            <p:nvPr/>
          </p:nvSpPr>
          <p:spPr>
            <a:xfrm>
              <a:off x="640080" y="1737360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" name="Text 2">
              <a:extLst>
                <a:ext uri="{FF2B5EF4-FFF2-40B4-BE49-F238E27FC236}">
                  <a16:creationId xmlns:a16="http://schemas.microsoft.com/office/drawing/2014/main" id="{945E66B1-C9D2-8B14-928B-C98EB8C4397F}"/>
                </a:ext>
              </a:extLst>
            </p:cNvPr>
            <p:cNvSpPr txBox="1"/>
            <p:nvPr/>
          </p:nvSpPr>
          <p:spPr>
            <a:xfrm>
              <a:off x="868680" y="187452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F3C7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Classification</a:t>
              </a:r>
              <a:endParaRPr lang="en-US" sz="2000" dirty="0"/>
            </a:p>
          </p:txBody>
        </p:sp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4821846B-6F11-805D-CD47-52BB52946E4E}"/>
                </a:ext>
              </a:extLst>
            </p:cNvPr>
            <p:cNvSpPr txBox="1"/>
            <p:nvPr/>
          </p:nvSpPr>
          <p:spPr>
            <a:xfrm>
              <a:off x="868680" y="2359152"/>
              <a:ext cx="32461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is in the image?</a:t>
              </a:r>
              <a:endParaRPr lang="en-US" sz="2000" dirty="0"/>
            </a:p>
          </p:txBody>
        </p:sp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86E66CC1-AE37-F444-DE63-ED8DADB51027}"/>
                </a:ext>
              </a:extLst>
            </p:cNvPr>
            <p:cNvSpPr/>
            <p:nvPr/>
          </p:nvSpPr>
          <p:spPr>
            <a:xfrm>
              <a:off x="4224528" y="1737360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7C446A9E-6A23-1155-D280-63C280222302}"/>
                </a:ext>
              </a:extLst>
            </p:cNvPr>
            <p:cNvSpPr txBox="1"/>
            <p:nvPr/>
          </p:nvSpPr>
          <p:spPr>
            <a:xfrm>
              <a:off x="4453128" y="187452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Detection</a:t>
              </a:r>
              <a:endParaRPr lang="en-US" sz="2000" dirty="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4DA3F17A-4AFC-C154-2B69-6084BD2C356A}"/>
                </a:ext>
              </a:extLst>
            </p:cNvPr>
            <p:cNvSpPr txBox="1"/>
            <p:nvPr/>
          </p:nvSpPr>
          <p:spPr>
            <a:xfrm>
              <a:off x="4453128" y="2359152"/>
              <a:ext cx="32461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objects, and where?</a:t>
              </a:r>
              <a:endParaRPr lang="en-US" sz="2000" dirty="0"/>
            </a:p>
          </p:txBody>
        </p:sp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A714DFA3-C9ED-E04D-60F6-760908613534}"/>
                </a:ext>
              </a:extLst>
            </p:cNvPr>
            <p:cNvSpPr/>
            <p:nvPr/>
          </p:nvSpPr>
          <p:spPr>
            <a:xfrm>
              <a:off x="7808976" y="1737360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D4EAAF90-1AF6-3F6A-37F0-344AB58A9D62}"/>
                </a:ext>
              </a:extLst>
            </p:cNvPr>
            <p:cNvSpPr txBox="1"/>
            <p:nvPr/>
          </p:nvSpPr>
          <p:spPr>
            <a:xfrm>
              <a:off x="8037576" y="187452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Segmentation</a:t>
              </a:r>
              <a:endParaRPr lang="en-US" sz="2000" dirty="0"/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D5451BF2-4C3F-DCA5-AA38-2801F99B0670}"/>
                </a:ext>
              </a:extLst>
            </p:cNvPr>
            <p:cNvSpPr txBox="1"/>
            <p:nvPr/>
          </p:nvSpPr>
          <p:spPr>
            <a:xfrm>
              <a:off x="8037576" y="2359152"/>
              <a:ext cx="32461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Label every pixel</a:t>
              </a:r>
              <a:endParaRPr lang="en-US" sz="2000" dirty="0"/>
            </a:p>
          </p:txBody>
        </p:sp>
        <p:sp>
          <p:nvSpPr>
            <p:cNvPr id="42" name="Shape 10">
              <a:extLst>
                <a:ext uri="{FF2B5EF4-FFF2-40B4-BE49-F238E27FC236}">
                  <a16:creationId xmlns:a16="http://schemas.microsoft.com/office/drawing/2014/main" id="{07944B6B-C0E4-F029-5B16-63C7F588090A}"/>
                </a:ext>
              </a:extLst>
            </p:cNvPr>
            <p:cNvSpPr/>
            <p:nvPr/>
          </p:nvSpPr>
          <p:spPr>
            <a:xfrm>
              <a:off x="640080" y="3867912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3" name="Text 11">
              <a:extLst>
                <a:ext uri="{FF2B5EF4-FFF2-40B4-BE49-F238E27FC236}">
                  <a16:creationId xmlns:a16="http://schemas.microsoft.com/office/drawing/2014/main" id="{8D34B77D-4A5E-B27E-0CE4-15E5D3725C5F}"/>
                </a:ext>
              </a:extLst>
            </p:cNvPr>
            <p:cNvSpPr txBox="1"/>
            <p:nvPr/>
          </p:nvSpPr>
          <p:spPr>
            <a:xfrm>
              <a:off x="868680" y="4005072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86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Tracking</a:t>
              </a:r>
              <a:endParaRPr lang="en-US" sz="2000" dirty="0"/>
            </a:p>
          </p:txBody>
        </p:sp>
        <p:sp>
          <p:nvSpPr>
            <p:cNvPr id="44" name="Text 12">
              <a:extLst>
                <a:ext uri="{FF2B5EF4-FFF2-40B4-BE49-F238E27FC236}">
                  <a16:creationId xmlns:a16="http://schemas.microsoft.com/office/drawing/2014/main" id="{2BBCCB3B-4200-12D0-F229-71FCC3F74845}"/>
                </a:ext>
              </a:extLst>
            </p:cNvPr>
            <p:cNvSpPr txBox="1"/>
            <p:nvPr/>
          </p:nvSpPr>
          <p:spPr>
            <a:xfrm>
              <a:off x="868680" y="4489704"/>
              <a:ext cx="32461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Follow objects over time</a:t>
              </a:r>
              <a:endParaRPr lang="en-US" sz="2000" dirty="0"/>
            </a:p>
          </p:txBody>
        </p:sp>
        <p:sp>
          <p:nvSpPr>
            <p:cNvPr id="45" name="Shape 13">
              <a:extLst>
                <a:ext uri="{FF2B5EF4-FFF2-40B4-BE49-F238E27FC236}">
                  <a16:creationId xmlns:a16="http://schemas.microsoft.com/office/drawing/2014/main" id="{8A0EADAB-78E4-F4B4-B0FD-2A60C95BF1CA}"/>
                </a:ext>
              </a:extLst>
            </p:cNvPr>
            <p:cNvSpPr/>
            <p:nvPr/>
          </p:nvSpPr>
          <p:spPr>
            <a:xfrm>
              <a:off x="4224528" y="3867912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6" name="Text 14">
              <a:extLst>
                <a:ext uri="{FF2B5EF4-FFF2-40B4-BE49-F238E27FC236}">
                  <a16:creationId xmlns:a16="http://schemas.microsoft.com/office/drawing/2014/main" id="{D43031AE-A082-F512-463E-3B0065097652}"/>
                </a:ext>
              </a:extLst>
            </p:cNvPr>
            <p:cNvSpPr txBox="1"/>
            <p:nvPr/>
          </p:nvSpPr>
          <p:spPr>
            <a:xfrm>
              <a:off x="4453128" y="4005072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6D2E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Recognition</a:t>
              </a:r>
              <a:endParaRPr lang="en-US" sz="2000" dirty="0"/>
            </a:p>
          </p:txBody>
        </p: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52A725F3-D389-B4A9-12C1-317C971F710D}"/>
                </a:ext>
              </a:extLst>
            </p:cNvPr>
            <p:cNvSpPr txBox="1"/>
            <p:nvPr/>
          </p:nvSpPr>
          <p:spPr>
            <a:xfrm>
              <a:off x="4453128" y="4489704"/>
              <a:ext cx="32461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Identify specific instances</a:t>
              </a:r>
              <a:endParaRPr lang="en-US" sz="2000" dirty="0"/>
            </a:p>
          </p:txBody>
        </p:sp>
        <p:sp>
          <p:nvSpPr>
            <p:cNvPr id="48" name="Shape 16">
              <a:extLst>
                <a:ext uri="{FF2B5EF4-FFF2-40B4-BE49-F238E27FC236}">
                  <a16:creationId xmlns:a16="http://schemas.microsoft.com/office/drawing/2014/main" id="{0EDD98E2-3FF2-7510-AC5B-C2DC9E8C798C}"/>
                </a:ext>
              </a:extLst>
            </p:cNvPr>
            <p:cNvSpPr/>
            <p:nvPr/>
          </p:nvSpPr>
          <p:spPr>
            <a:xfrm>
              <a:off x="7808976" y="3867912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41657060-3324-C7F4-D0F8-14F1C88B2C14}"/>
                </a:ext>
              </a:extLst>
            </p:cNvPr>
            <p:cNvSpPr txBox="1"/>
            <p:nvPr/>
          </p:nvSpPr>
          <p:spPr>
            <a:xfrm>
              <a:off x="8037576" y="4005072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F3C7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Generation</a:t>
              </a:r>
              <a:endParaRPr lang="en-US" sz="20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A9EBE372-2A08-6629-4789-892FC8BDB87D}"/>
                </a:ext>
              </a:extLst>
            </p:cNvPr>
            <p:cNvSpPr txBox="1"/>
            <p:nvPr/>
          </p:nvSpPr>
          <p:spPr>
            <a:xfrm>
              <a:off x="8037576" y="4489704"/>
              <a:ext cx="32461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Create new images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25907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A118D-0786-ECB9-957D-E01F0E19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1A35-6664-0433-A84F-6FA14560E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5129"/>
            <a:ext cx="11438467" cy="646331"/>
          </a:xfrm>
        </p:spPr>
        <p:txBody>
          <a:bodyPr/>
          <a:lstStyle/>
          <a:p>
            <a:r>
              <a:rPr lang="en-US" dirty="0"/>
              <a:t>Classification → Localization → Detection → Segmentation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925EE4-1AD6-DF69-A652-EF5C676C8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Increasing complexity — from “what” to “what, where, and exactly which pixels.”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11DE6-ABC7-D0CD-F23D-BB46EC0D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92B39C78-4158-C24B-2220-7ED52FAEB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914731"/>
              </p:ext>
            </p:extLst>
          </p:nvPr>
        </p:nvGraphicFramePr>
        <p:xfrm>
          <a:off x="570968" y="1269527"/>
          <a:ext cx="10881360" cy="233491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9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9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it?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class label for the whole image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9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+ where?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object: class label + bounding box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9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instances?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objects: multiple labels + boxes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9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pixels?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class for every pixel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8" name="Picture 37" descr="The four types of computer vision problems: classification (with an image of a cat), classification+localization (with an image of a cat with a bounding box around the cat), object detection (with an image of two cats and a bowl, with bounding boxes around each object), and semantic segmentation (with an image of two cats and a bowl, with a non-bounding box but very close outline detecting each object).">
            <a:extLst>
              <a:ext uri="{FF2B5EF4-FFF2-40B4-BE49-F238E27FC236}">
                <a16:creationId xmlns:a16="http://schemas.microsoft.com/office/drawing/2014/main" id="{5F26023C-DC61-C763-0845-601555CE9E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" r="4933" b="4549"/>
          <a:stretch>
            <a:fillRect/>
          </a:stretch>
        </p:blipFill>
        <p:spPr bwMode="auto">
          <a:xfrm>
            <a:off x="2205024" y="3674710"/>
            <a:ext cx="6881679" cy="25759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594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50292-960A-B6D1-3B9B-EFC04E36F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EB66B-50FD-11A2-BDA4-AEDDBA62F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Segmentation: Types &amp; Architectures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923660-DB87-4149-4616-FAEB88F4B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Key architectures: U-Net (semantic, works with limited data) · Mask R-CNN (instance segmentation). </a:t>
            </a:r>
          </a:p>
          <a:p>
            <a:r>
              <a:rPr lang="en-US" i="1" dirty="0"/>
              <a:t>Uses: 		medical imaging, autonomous driving.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67E4B-966A-FC7C-2841-98098A15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7C2FD-F7D8-8413-ED14-194951D493B2}"/>
              </a:ext>
            </a:extLst>
          </p:cNvPr>
          <p:cNvSpPr txBox="1"/>
          <p:nvPr/>
        </p:nvSpPr>
        <p:spPr>
          <a:xfrm>
            <a:off x="6398821" y="6676904"/>
            <a:ext cx="437335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>
                <a:solidFill>
                  <a:schemeClr val="bg1">
                    <a:lumMod val="65000"/>
                  </a:schemeClr>
                </a:solidFill>
              </a:rPr>
              <a:t>https://medium.com/@asmat.pucit/what-is-computer-vision-and-its-applications-in-real-world-e822ddf12cf0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9F5FC48-9447-AB91-5572-5BF14AC43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315" y="1222309"/>
            <a:ext cx="4801963" cy="407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2869D404-8F9F-26B3-A1C1-B37BD941D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185056"/>
              </p:ext>
            </p:extLst>
          </p:nvPr>
        </p:nvGraphicFramePr>
        <p:xfrm>
          <a:off x="640079" y="1691640"/>
          <a:ext cx="6393357" cy="2811246"/>
        </p:xfrm>
        <a:graphic>
          <a:graphicData uri="http://schemas.openxmlformats.org/drawingml/2006/table">
            <a:tbl>
              <a:tblPr/>
              <a:tblGrid>
                <a:gridCol w="159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6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each pixel by category (car, road, sky)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6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individual objects of the same 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6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Panoptic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combined — full scene understanding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320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42D4-9BE1-34EC-6183-E6BC64F8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AD1B-EA91-25B9-A6CD-FFDEF3345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 Detection Architectures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3E009B-7CC9-5E8F-1DD1-14B966EA5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222870"/>
            <a:ext cx="10953750" cy="148272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DETR (2020) brought the transformer idea from NLP into object detection;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The Vision Transformer (ViT) did the same for image classification that year.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Later DETR variants (Deformable DETR, DINO‑DETR, RT‑DETR) made it faster and more accurate.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43140-58A4-35E3-58BC-F9134CAEB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44768CB1-7887-9046-8591-1C1A0136B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952140"/>
              </p:ext>
            </p:extLst>
          </p:nvPr>
        </p:nvGraphicFramePr>
        <p:xfrm>
          <a:off x="457200" y="1555361"/>
          <a:ext cx="11400313" cy="2986093"/>
        </p:xfrm>
        <a:graphic>
          <a:graphicData uri="http://schemas.openxmlformats.org/drawingml/2006/table">
            <a:tbl>
              <a:tblPr/>
              <a:tblGrid>
                <a:gridCol w="3871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7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1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9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81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(R-CNN, Faster R-CNN)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 regions, then classify each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accuracy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2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One-stage (YOLO, SSD, RetinaNet)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all objects in a single pass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— real-time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7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(DETR)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End-to-end; no anchors, no NMS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Simpler pipeline; global reasoning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997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6B8FC-B51F-D7C3-F152-DEB8E82B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46DD5-DC24-00FA-AB3B-535D30CD9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/>
              <a:t>Transformer-Based Detection (Video 1:36)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A1CBB-3E2F-A1ED-78BF-30583927D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3" name="Online Media 2" title="DETRs Beat YOLOs on Real-time Object Detection (RT-DETR)">
            <a:hlinkClick r:id="" action="ppaction://media"/>
            <a:extLst>
              <a:ext uri="{FF2B5EF4-FFF2-40B4-BE49-F238E27FC236}">
                <a16:creationId xmlns:a16="http://schemas.microsoft.com/office/drawing/2014/main" id="{0BF9C3A5-92F5-0E37-C82A-7AC0F860A89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46814" y="1376363"/>
            <a:ext cx="8886579" cy="50203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6188201-D21A-B56E-72A8-8320AD8EEA58}"/>
              </a:ext>
            </a:extLst>
          </p:cNvPr>
          <p:cNvSpPr txBox="1"/>
          <p:nvPr/>
        </p:nvSpPr>
        <p:spPr>
          <a:xfrm>
            <a:off x="545805" y="6588048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</a:rPr>
              <a:t>https://www.youtube.com/watch?v=TbaLWroPYbo</a:t>
            </a:r>
          </a:p>
        </p:txBody>
      </p:sp>
    </p:spTree>
    <p:extLst>
      <p:ext uri="{BB962C8B-B14F-4D97-AF65-F5344CB8AC3E}">
        <p14:creationId xmlns:p14="http://schemas.microsoft.com/office/powerpoint/2010/main" val="142497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FD1F6-7BFC-9EAF-B617-AEBF01B14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046AA10-6D75-D2F5-3D7C-64089DED0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Video, Motion &amp; Advanced Topics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6DB044-DC5A-3D93-1301-4B9A62450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Beyond single images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4BEF3-3E42-FCBB-F3B3-5465D65E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269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C0109-89D7-9DBC-CD20-D6C10BE06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340C-58F5-2FF0-D723-E7B6C2952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Tracking &amp; Motion Analysis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2DF3DFC-06C8-F4E2-4BE4-BCCEF46CD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231" y="1564931"/>
            <a:ext cx="11277600" cy="529254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Applications: autonomous driving, sports analytics, surveillance, robotics.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108B6-3C34-1100-2950-7701ED17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57A21F5-A2B7-2C1F-B2E8-DD2ED3E90850}"/>
              </a:ext>
            </a:extLst>
          </p:cNvPr>
          <p:cNvGrpSpPr/>
          <p:nvPr/>
        </p:nvGrpSpPr>
        <p:grpSpPr>
          <a:xfrm>
            <a:off x="640080" y="1600200"/>
            <a:ext cx="11395562" cy="3108960"/>
            <a:chOff x="640080" y="1600200"/>
            <a:chExt cx="10908792" cy="3108960"/>
          </a:xfrm>
        </p:grpSpPr>
        <p:sp>
          <p:nvSpPr>
            <p:cNvPr id="22" name="Shape 1">
              <a:extLst>
                <a:ext uri="{FF2B5EF4-FFF2-40B4-BE49-F238E27FC236}">
                  <a16:creationId xmlns:a16="http://schemas.microsoft.com/office/drawing/2014/main" id="{5A1B25C1-408E-6A3A-272C-2DE0DACB9BCA}"/>
                </a:ext>
              </a:extLst>
            </p:cNvPr>
            <p:cNvSpPr/>
            <p:nvPr/>
          </p:nvSpPr>
          <p:spPr>
            <a:xfrm>
              <a:off x="640080" y="1600200"/>
              <a:ext cx="5193792" cy="3108960"/>
            </a:xfrm>
            <a:prstGeom prst="roundRect">
              <a:avLst>
                <a:gd name="adj" fmla="val 2941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45457D58-4C17-D629-B846-FEED5CF4619D}"/>
                </a:ext>
              </a:extLst>
            </p:cNvPr>
            <p:cNvSpPr/>
            <p:nvPr/>
          </p:nvSpPr>
          <p:spPr>
            <a:xfrm>
              <a:off x="640080" y="16002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4" name="Text 3">
              <a:extLst>
                <a:ext uri="{FF2B5EF4-FFF2-40B4-BE49-F238E27FC236}">
                  <a16:creationId xmlns:a16="http://schemas.microsoft.com/office/drawing/2014/main" id="{B150DB26-4A55-B766-D20B-D8BE9902A00C}"/>
                </a:ext>
              </a:extLst>
            </p:cNvPr>
            <p:cNvSpPr txBox="1"/>
            <p:nvPr/>
          </p:nvSpPr>
          <p:spPr>
            <a:xfrm>
              <a:off x="822960" y="16002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Object tracking</a:t>
              </a:r>
              <a:endParaRPr lang="en-US" sz="2400" dirty="0"/>
            </a:p>
          </p:txBody>
        </p:sp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C7855CFA-16C7-61A1-C6B8-C15CA4785F6E}"/>
                </a:ext>
              </a:extLst>
            </p:cNvPr>
            <p:cNvSpPr txBox="1"/>
            <p:nvPr/>
          </p:nvSpPr>
          <p:spPr>
            <a:xfrm>
              <a:off x="960120" y="2514600"/>
              <a:ext cx="4828031" cy="2057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Follow objects across frames, keeping identity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Single-object vs. multi-object (MOT)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Handle occlusion, re-identification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Optical flow estimates pixel movement</a:t>
              </a:r>
              <a:endParaRPr lang="en-US" sz="2000" dirty="0"/>
            </a:p>
          </p:txBody>
        </p:sp>
        <p:sp>
          <p:nvSpPr>
            <p:cNvPr id="26" name="Shape 5">
              <a:extLst>
                <a:ext uri="{FF2B5EF4-FFF2-40B4-BE49-F238E27FC236}">
                  <a16:creationId xmlns:a16="http://schemas.microsoft.com/office/drawing/2014/main" id="{C383AFD0-C88C-A6CF-D889-B95BE5540D95}"/>
                </a:ext>
              </a:extLst>
            </p:cNvPr>
            <p:cNvSpPr/>
            <p:nvPr/>
          </p:nvSpPr>
          <p:spPr>
            <a:xfrm>
              <a:off x="6355080" y="1600200"/>
              <a:ext cx="5193792" cy="3108960"/>
            </a:xfrm>
            <a:prstGeom prst="roundRect">
              <a:avLst>
                <a:gd name="adj" fmla="val 2941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7" name="Shape 6">
              <a:extLst>
                <a:ext uri="{FF2B5EF4-FFF2-40B4-BE49-F238E27FC236}">
                  <a16:creationId xmlns:a16="http://schemas.microsoft.com/office/drawing/2014/main" id="{092A24B4-35F2-7D44-9481-F353F7575618}"/>
                </a:ext>
              </a:extLst>
            </p:cNvPr>
            <p:cNvSpPr/>
            <p:nvPr/>
          </p:nvSpPr>
          <p:spPr>
            <a:xfrm>
              <a:off x="6355080" y="16002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1DAE2A6C-2E77-7279-2018-F791DC7C92BE}"/>
                </a:ext>
              </a:extLst>
            </p:cNvPr>
            <p:cNvSpPr txBox="1"/>
            <p:nvPr/>
          </p:nvSpPr>
          <p:spPr>
            <a:xfrm>
              <a:off x="6537960" y="16002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Video understanding</a:t>
              </a:r>
              <a:endParaRPr lang="en-US" sz="2400" dirty="0"/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D95BB347-6E82-ACA0-8B71-81FAA61F6780}"/>
                </a:ext>
              </a:extLst>
            </p:cNvPr>
            <p:cNvSpPr txBox="1"/>
            <p:nvPr/>
          </p:nvSpPr>
          <p:spPr>
            <a:xfrm>
              <a:off x="6675120" y="2514600"/>
              <a:ext cx="4599432" cy="2057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Motion detection (background subtraction)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Video tagging &amp; captioning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Models: VideoBERT, CLIP4Caption, Vid2Seq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7526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368F7-4ABA-5557-EDCF-51B1C717F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8CF2B-EBB3-7D54-5C21-2E287B47C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/>
              <a:t>Object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DFE39-655A-AB84-CD93-700F01891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384"/>
            <a:ext cx="11414051" cy="5292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Object tracking is a crucial application widely used in computer vision. It refers to the automatic recognition and tracing of objects across video frames.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7BC29-AFCB-8BFA-E0D2-CF309E79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A578E-5A50-F8AE-7F78-34D1554F6CB9}"/>
              </a:ext>
            </a:extLst>
          </p:cNvPr>
          <p:cNvSpPr txBox="1"/>
          <p:nvPr/>
        </p:nvSpPr>
        <p:spPr>
          <a:xfrm>
            <a:off x="382055" y="6604084"/>
            <a:ext cx="5070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https://www.comet.com/site/blog/an-introduction-to-object-tracking-in-computer-vision/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5017F5E-B485-29D1-8956-3F6CBA68A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92" y="2084915"/>
            <a:ext cx="7836367" cy="4407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5027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0A8D-0E76-4AE8-D29C-A00766A4F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3F21-E82C-C395-0698-5E2518B7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/>
              <a:t>Motion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87A1B-384A-ADE3-1C41-77B8F380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35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D739C5-0E5E-48CC-154F-39E13002FFD9}"/>
              </a:ext>
            </a:extLst>
          </p:cNvPr>
          <p:cNvGrpSpPr/>
          <p:nvPr/>
        </p:nvGrpSpPr>
        <p:grpSpPr>
          <a:xfrm>
            <a:off x="545804" y="1298688"/>
            <a:ext cx="8933121" cy="2763540"/>
            <a:chOff x="457200" y="995660"/>
            <a:chExt cx="8235696" cy="2984451"/>
          </a:xfrm>
        </p:grpSpPr>
        <p:pic>
          <p:nvPicPr>
            <p:cNvPr id="19" name="Image 0" descr="/tmp/rasterized-gradient-469920f9.png">
              <a:extLst>
                <a:ext uri="{FF2B5EF4-FFF2-40B4-BE49-F238E27FC236}">
                  <a16:creationId xmlns:a16="http://schemas.microsoft.com/office/drawing/2014/main" id="{3F7B1E97-B5EF-9F64-9582-1FB54C17C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995660"/>
              <a:ext cx="8229600" cy="365671"/>
            </a:xfrm>
            <a:prstGeom prst="rect">
              <a:avLst/>
            </a:prstGeom>
          </p:spPr>
        </p:pic>
        <p:sp>
          <p:nvSpPr>
            <p:cNvPr id="20" name="Text 1">
              <a:extLst>
                <a:ext uri="{FF2B5EF4-FFF2-40B4-BE49-F238E27FC236}">
                  <a16:creationId xmlns:a16="http://schemas.microsoft.com/office/drawing/2014/main" id="{9907A801-C863-A1A4-552B-F73402182DF2}"/>
                </a:ext>
              </a:extLst>
            </p:cNvPr>
            <p:cNvSpPr/>
            <p:nvPr/>
          </p:nvSpPr>
          <p:spPr>
            <a:xfrm>
              <a:off x="609600" y="1052810"/>
              <a:ext cx="8083296" cy="251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980"/>
                </a:lnSpc>
              </a:pPr>
              <a:r>
                <a:rPr lang="en-US" sz="2000" b="1" dirty="0">
                  <a:solidFill>
                    <a:srgbClr val="FFFFFF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Identifying and tracking movement across video frames</a:t>
              </a:r>
              <a:endParaRPr lang="en-US" sz="2000" b="1" dirty="0"/>
            </a:p>
          </p:txBody>
        </p:sp>
        <p:sp>
          <p:nvSpPr>
            <p:cNvPr id="21" name="Text 2">
              <a:extLst>
                <a:ext uri="{FF2B5EF4-FFF2-40B4-BE49-F238E27FC236}">
                  <a16:creationId xmlns:a16="http://schemas.microsoft.com/office/drawing/2014/main" id="{1723F763-182E-EB33-4F6A-7D8532C7829B}"/>
                </a:ext>
              </a:extLst>
            </p:cNvPr>
            <p:cNvSpPr/>
            <p:nvPr/>
          </p:nvSpPr>
          <p:spPr>
            <a:xfrm>
              <a:off x="457200" y="1551831"/>
              <a:ext cx="4057650" cy="407640"/>
            </a:xfrm>
            <a:prstGeom prst="roundRect">
              <a:avLst>
                <a:gd name="adj" fmla="val 14020"/>
              </a:avLst>
            </a:prstGeom>
            <a:solidFill>
              <a:srgbClr val="0066B3"/>
            </a:solidFill>
            <a:ln/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22" name="Text 3">
              <a:extLst>
                <a:ext uri="{FF2B5EF4-FFF2-40B4-BE49-F238E27FC236}">
                  <a16:creationId xmlns:a16="http://schemas.microsoft.com/office/drawing/2014/main" id="{0B4E5B29-B3DA-E214-801F-3EC89EC7D1AB}"/>
                </a:ext>
              </a:extLst>
            </p:cNvPr>
            <p:cNvSpPr/>
            <p:nvPr/>
          </p:nvSpPr>
          <p:spPr>
            <a:xfrm>
              <a:off x="533210" y="1608981"/>
              <a:ext cx="3905631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10"/>
                </a:lnSpc>
              </a:pPr>
              <a:r>
                <a:rPr lang="en-US" sz="2000" b="1" dirty="0">
                  <a:solidFill>
                    <a:srgbClr val="FFFFFF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Techniques</a:t>
              </a:r>
              <a:endParaRPr lang="en-US" sz="2000" b="1" dirty="0"/>
            </a:p>
          </p:txBody>
        </p:sp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1D9BBAFC-F6C5-03FA-0075-B038BEE59DA6}"/>
                </a:ext>
              </a:extLst>
            </p:cNvPr>
            <p:cNvSpPr/>
            <p:nvPr/>
          </p:nvSpPr>
          <p:spPr>
            <a:xfrm>
              <a:off x="457200" y="1997571"/>
              <a:ext cx="4057650" cy="1426369"/>
            </a:xfrm>
            <a:prstGeom prst="roundRect">
              <a:avLst>
                <a:gd name="adj" fmla="val 4007"/>
              </a:avLst>
            </a:prstGeom>
            <a:solidFill>
              <a:srgbClr val="F5F7FA"/>
            </a:solidFill>
            <a:ln/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24" name="Text 5">
              <a:extLst>
                <a:ext uri="{FF2B5EF4-FFF2-40B4-BE49-F238E27FC236}">
                  <a16:creationId xmlns:a16="http://schemas.microsoft.com/office/drawing/2014/main" id="{FE928F81-8BB1-9CF8-2991-037B388CB711}"/>
                </a:ext>
              </a:extLst>
            </p:cNvPr>
            <p:cNvSpPr/>
            <p:nvPr/>
          </p:nvSpPr>
          <p:spPr>
            <a:xfrm>
              <a:off x="571500" y="2073771"/>
              <a:ext cx="3905631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  <a:spcAft>
                  <a:spcPts val="375"/>
                </a:spcAft>
              </a:pPr>
              <a:r>
                <a:rPr lang="en-US" dirty="0">
                  <a:solidFill>
                    <a:srgbClr val="5A6A7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Frame differencing</a:t>
              </a:r>
              <a:endParaRPr lang="en-US" dirty="0"/>
            </a:p>
          </p:txBody>
        </p:sp>
        <p:sp>
          <p:nvSpPr>
            <p:cNvPr id="25" name="Text 6">
              <a:extLst>
                <a:ext uri="{FF2B5EF4-FFF2-40B4-BE49-F238E27FC236}">
                  <a16:creationId xmlns:a16="http://schemas.microsoft.com/office/drawing/2014/main" id="{BE55FBC4-1B3F-0FCD-0E38-AB5C39FDCDB9}"/>
                </a:ext>
              </a:extLst>
            </p:cNvPr>
            <p:cNvSpPr/>
            <p:nvPr/>
          </p:nvSpPr>
          <p:spPr>
            <a:xfrm>
              <a:off x="571500" y="2404170"/>
              <a:ext cx="3905631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  <a:spcAft>
                  <a:spcPts val="375"/>
                </a:spcAft>
              </a:pPr>
              <a:r>
                <a:rPr lang="en-US" dirty="0">
                  <a:solidFill>
                    <a:srgbClr val="5A6A7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Background subtraction</a:t>
              </a:r>
              <a:endParaRPr lang="en-US" dirty="0"/>
            </a:p>
          </p:txBody>
        </p: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ADC902C6-67C7-66B0-A78D-FA5BE65AED05}"/>
                </a:ext>
              </a:extLst>
            </p:cNvPr>
            <p:cNvSpPr/>
            <p:nvPr/>
          </p:nvSpPr>
          <p:spPr>
            <a:xfrm>
              <a:off x="571500" y="2734568"/>
              <a:ext cx="3905631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  <a:spcAft>
                  <a:spcPts val="375"/>
                </a:spcAft>
              </a:pPr>
              <a:r>
                <a:rPr lang="en-US" dirty="0">
                  <a:solidFill>
                    <a:srgbClr val="5A6A7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Optical flow</a:t>
              </a:r>
              <a:endParaRPr lang="en-US" dirty="0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1A5FE5A0-C267-F95C-0CD4-0738F354EA18}"/>
                </a:ext>
              </a:extLst>
            </p:cNvPr>
            <p:cNvSpPr/>
            <p:nvPr/>
          </p:nvSpPr>
          <p:spPr>
            <a:xfrm>
              <a:off x="571500" y="3064966"/>
              <a:ext cx="3905631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</a:pPr>
              <a:r>
                <a:rPr lang="en-US" dirty="0">
                  <a:solidFill>
                    <a:srgbClr val="5A6A7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Deep learning methods</a:t>
              </a:r>
              <a:endParaRPr lang="en-US" dirty="0"/>
            </a:p>
          </p:txBody>
        </p:sp>
        <p:sp>
          <p:nvSpPr>
            <p:cNvPr id="28" name="Text 9">
              <a:extLst>
                <a:ext uri="{FF2B5EF4-FFF2-40B4-BE49-F238E27FC236}">
                  <a16:creationId xmlns:a16="http://schemas.microsoft.com/office/drawing/2014/main" id="{36E8F4BF-5C4F-F81B-5A36-8FF4538300F3}"/>
                </a:ext>
              </a:extLst>
            </p:cNvPr>
            <p:cNvSpPr/>
            <p:nvPr/>
          </p:nvSpPr>
          <p:spPr>
            <a:xfrm>
              <a:off x="4629150" y="1551831"/>
              <a:ext cx="4057650" cy="407640"/>
            </a:xfrm>
            <a:prstGeom prst="roundRect">
              <a:avLst>
                <a:gd name="adj" fmla="val 14020"/>
              </a:avLst>
            </a:prstGeom>
            <a:solidFill>
              <a:srgbClr val="0066B3"/>
            </a:solidFill>
            <a:ln/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A1A2469E-C40E-25B7-1A8A-975A8A31089E}"/>
                </a:ext>
              </a:extLst>
            </p:cNvPr>
            <p:cNvSpPr/>
            <p:nvPr/>
          </p:nvSpPr>
          <p:spPr>
            <a:xfrm>
              <a:off x="4705160" y="1608981"/>
              <a:ext cx="3905631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10"/>
                </a:lnSpc>
              </a:pPr>
              <a:r>
                <a:rPr lang="en-US" sz="2000" b="1" dirty="0">
                  <a:solidFill>
                    <a:srgbClr val="FFFFFF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Applications</a:t>
              </a:r>
              <a:endParaRPr lang="en-US" sz="2000" b="1" dirty="0"/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5E7086B2-4791-39C2-8E8C-6F175358CEBE}"/>
                </a:ext>
              </a:extLst>
            </p:cNvPr>
            <p:cNvSpPr/>
            <p:nvPr/>
          </p:nvSpPr>
          <p:spPr>
            <a:xfrm>
              <a:off x="4629150" y="1997571"/>
              <a:ext cx="4057650" cy="1426369"/>
            </a:xfrm>
            <a:prstGeom prst="roundRect">
              <a:avLst>
                <a:gd name="adj" fmla="val 4007"/>
              </a:avLst>
            </a:prstGeom>
            <a:solidFill>
              <a:srgbClr val="E8F4FC"/>
            </a:solidFill>
            <a:ln/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31" name="Text 12">
              <a:extLst>
                <a:ext uri="{FF2B5EF4-FFF2-40B4-BE49-F238E27FC236}">
                  <a16:creationId xmlns:a16="http://schemas.microsoft.com/office/drawing/2014/main" id="{3E8E70D0-C8A3-3CF7-7958-0B76708A0BEC}"/>
                </a:ext>
              </a:extLst>
            </p:cNvPr>
            <p:cNvSpPr/>
            <p:nvPr/>
          </p:nvSpPr>
          <p:spPr>
            <a:xfrm>
              <a:off x="4743450" y="2073771"/>
              <a:ext cx="3905631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  <a:spcAft>
                  <a:spcPts val="375"/>
                </a:spcAft>
              </a:pPr>
              <a:r>
                <a:rPr lang="en-US" dirty="0">
                  <a:solidFill>
                    <a:srgbClr val="5A6A7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Security surveillance</a:t>
              </a:r>
              <a:endParaRPr lang="en-US" dirty="0"/>
            </a:p>
          </p:txBody>
        </p:sp>
        <p:sp>
          <p:nvSpPr>
            <p:cNvPr id="32" name="Text 13">
              <a:extLst>
                <a:ext uri="{FF2B5EF4-FFF2-40B4-BE49-F238E27FC236}">
                  <a16:creationId xmlns:a16="http://schemas.microsoft.com/office/drawing/2014/main" id="{76428A40-9D0F-915E-63F3-064F0FE08507}"/>
                </a:ext>
              </a:extLst>
            </p:cNvPr>
            <p:cNvSpPr/>
            <p:nvPr/>
          </p:nvSpPr>
          <p:spPr>
            <a:xfrm>
              <a:off x="4743450" y="2404170"/>
              <a:ext cx="3905631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  <a:spcAft>
                  <a:spcPts val="375"/>
                </a:spcAft>
              </a:pPr>
              <a:r>
                <a:rPr lang="en-US" dirty="0">
                  <a:solidFill>
                    <a:srgbClr val="5A6A7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Traffic monitoring</a:t>
              </a:r>
              <a:endParaRPr lang="en-US" dirty="0"/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3883B945-D414-87F1-2383-83D78D7A7558}"/>
                </a:ext>
              </a:extLst>
            </p:cNvPr>
            <p:cNvSpPr/>
            <p:nvPr/>
          </p:nvSpPr>
          <p:spPr>
            <a:xfrm>
              <a:off x="4743450" y="2734568"/>
              <a:ext cx="3905631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  <a:spcAft>
                  <a:spcPts val="375"/>
                </a:spcAft>
              </a:pPr>
              <a:r>
                <a:rPr lang="en-US" dirty="0">
                  <a:solidFill>
                    <a:srgbClr val="5A6A7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Sports analytics</a:t>
              </a:r>
              <a:endParaRPr lang="en-US" dirty="0"/>
            </a:p>
          </p:txBody>
        </p:sp>
        <p:sp>
          <p:nvSpPr>
            <p:cNvPr id="34" name="Text 15">
              <a:extLst>
                <a:ext uri="{FF2B5EF4-FFF2-40B4-BE49-F238E27FC236}">
                  <a16:creationId xmlns:a16="http://schemas.microsoft.com/office/drawing/2014/main" id="{A8C146F4-708D-3828-ACFC-28E1E3106BE2}"/>
                </a:ext>
              </a:extLst>
            </p:cNvPr>
            <p:cNvSpPr/>
            <p:nvPr/>
          </p:nvSpPr>
          <p:spPr>
            <a:xfrm>
              <a:off x="4743450" y="3064966"/>
              <a:ext cx="3905631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</a:pPr>
              <a:r>
                <a:rPr lang="en-US" dirty="0">
                  <a:solidFill>
                    <a:srgbClr val="5A6A7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Autonomous vehicles</a:t>
              </a:r>
              <a:endParaRPr lang="en-US" dirty="0"/>
            </a:p>
          </p:txBody>
        </p:sp>
        <p:sp>
          <p:nvSpPr>
            <p:cNvPr id="35" name="Text 16">
              <a:extLst>
                <a:ext uri="{FF2B5EF4-FFF2-40B4-BE49-F238E27FC236}">
                  <a16:creationId xmlns:a16="http://schemas.microsoft.com/office/drawing/2014/main" id="{9AB82955-BF32-CB25-3195-C1C0D4D034AE}"/>
                </a:ext>
              </a:extLst>
            </p:cNvPr>
            <p:cNvSpPr/>
            <p:nvPr/>
          </p:nvSpPr>
          <p:spPr>
            <a:xfrm>
              <a:off x="457200" y="3614440"/>
              <a:ext cx="8229600" cy="365671"/>
            </a:xfrm>
            <a:prstGeom prst="roundRect">
              <a:avLst>
                <a:gd name="adj" fmla="val 15629"/>
              </a:avLst>
            </a:prstGeom>
            <a:solidFill>
              <a:srgbClr val="F5F7FA"/>
            </a:solidFill>
            <a:ln/>
          </p:spPr>
          <p:txBody>
            <a:bodyPr wrap="square" rtlCol="0" anchor="ctr"/>
            <a:lstStyle/>
            <a:p>
              <a:endParaRPr lang="en-US" sz="2000"/>
            </a:p>
          </p:txBody>
        </p:sp>
        <p:sp>
          <p:nvSpPr>
            <p:cNvPr id="46" name="Shape 17">
              <a:extLst>
                <a:ext uri="{FF2B5EF4-FFF2-40B4-BE49-F238E27FC236}">
                  <a16:creationId xmlns:a16="http://schemas.microsoft.com/office/drawing/2014/main" id="{CCD24885-F209-5B4F-5DFE-6009A8113C63}"/>
                </a:ext>
              </a:extLst>
            </p:cNvPr>
            <p:cNvSpPr/>
            <p:nvPr/>
          </p:nvSpPr>
          <p:spPr>
            <a:xfrm>
              <a:off x="476250" y="3614440"/>
              <a:ext cx="0" cy="365671"/>
            </a:xfrm>
            <a:prstGeom prst="line">
              <a:avLst/>
            </a:prstGeom>
            <a:noFill/>
            <a:ln w="38100">
              <a:solidFill>
                <a:srgbClr val="0066B3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7" name="Text 18">
              <a:extLst>
                <a:ext uri="{FF2B5EF4-FFF2-40B4-BE49-F238E27FC236}">
                  <a16:creationId xmlns:a16="http://schemas.microsoft.com/office/drawing/2014/main" id="{84DAB022-059A-2FCD-9991-18A772F2FFA9}"/>
                </a:ext>
              </a:extLst>
            </p:cNvPr>
            <p:cNvSpPr/>
            <p:nvPr/>
          </p:nvSpPr>
          <p:spPr>
            <a:xfrm>
              <a:off x="647700" y="3671590"/>
              <a:ext cx="8044434" cy="251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980"/>
                </a:lnSpc>
              </a:pPr>
              <a:r>
                <a:rPr lang="en-US" b="1" dirty="0">
                  <a:solidFill>
                    <a:srgbClr val="0066B3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Key concept:</a:t>
              </a:r>
              <a:r>
                <a:rPr lang="en-US" b="1" dirty="0">
                  <a:solidFill>
                    <a:srgbClr val="1A1A1A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Optical flow estimates pixel movement between consecutive frames</a:t>
              </a:r>
              <a:endParaRPr lang="en-US" b="1" dirty="0"/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A057A621-6962-25BB-C673-47721054B7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75" t="16955" r="4238" b="37355"/>
          <a:stretch>
            <a:fillRect/>
          </a:stretch>
        </p:blipFill>
        <p:spPr>
          <a:xfrm>
            <a:off x="1624101" y="4164255"/>
            <a:ext cx="5908244" cy="26937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77105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0E824-9A23-190C-81BB-885A0D20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7BDC-3163-45A7-D88C-7F0CE078B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Pose Estimation &amp; Face Recognition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7C1EAEC-0A72-6C64-3629-68668CF21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411" y="1334102"/>
            <a:ext cx="11277600" cy="529254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Pose estimation:	detect body </a:t>
            </a:r>
            <a:r>
              <a:rPr lang="en-US" b="1" dirty="0" err="1"/>
              <a:t>keypoints</a:t>
            </a:r>
            <a:r>
              <a:rPr lang="en-US" b="1" dirty="0"/>
              <a:t> to understand human movement.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Uses: 		</a:t>
            </a:r>
            <a:r>
              <a:rPr lang="en-US" dirty="0"/>
              <a:t>fitness, sign-language recognition, animation/motion capture.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Models: 		</a:t>
            </a:r>
            <a:r>
              <a:rPr lang="en-US" dirty="0" err="1"/>
              <a:t>OpenPose</a:t>
            </a:r>
            <a:r>
              <a:rPr lang="en-US" dirty="0"/>
              <a:t>, </a:t>
            </a:r>
            <a:r>
              <a:rPr lang="en-US" dirty="0" err="1"/>
              <a:t>MediaPipe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Face recognition — detect → align → extract embedding → match against a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Verification (is this the same person?) vs. identification (who is this?).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		</a:t>
            </a:r>
            <a:r>
              <a:rPr lang="en-US" i="1" dirty="0"/>
              <a:t>Face-recognition pipeline (</a:t>
            </a:r>
            <a:r>
              <a:rPr lang="en-US" i="1" dirty="0" err="1"/>
              <a:t>frontalize</a:t>
            </a:r>
            <a:r>
              <a:rPr lang="en-US" i="1" dirty="0"/>
              <a:t> → convolutions → embedding).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F8455-5952-0403-4BCC-9EA22DEE9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0FBB4-1A47-8F8A-21FB-6EB18D35A77F}"/>
              </a:ext>
            </a:extLst>
          </p:cNvPr>
          <p:cNvSpPr txBox="1"/>
          <p:nvPr/>
        </p:nvSpPr>
        <p:spPr>
          <a:xfrm>
            <a:off x="553095" y="6626647"/>
            <a:ext cx="81167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https://www.researchgate.net/publication/357898559_Knock_Knock_Who%27s_There_Facial_Recognition_using_CNN-based_Classifiers/figures?lo=1</a:t>
            </a:r>
          </a:p>
        </p:txBody>
      </p:sp>
      <p:pic>
        <p:nvPicPr>
          <p:cNvPr id="5" name="Picture 6" descr="DeepFace full architecture">
            <a:extLst>
              <a:ext uri="{FF2B5EF4-FFF2-40B4-BE49-F238E27FC236}">
                <a16:creationId xmlns:a16="http://schemas.microsoft.com/office/drawing/2014/main" id="{B90D9611-D2F6-F43C-C0D7-21265B1D1B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3" t="11210" r="5000"/>
          <a:stretch>
            <a:fillRect/>
          </a:stretch>
        </p:blipFill>
        <p:spPr bwMode="auto">
          <a:xfrm>
            <a:off x="553095" y="3429000"/>
            <a:ext cx="11133177" cy="2557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978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FDB1C-308B-7779-02C5-040EDAD1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59BD6-7342-5062-816E-46A20D72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D6A37-2C6D-C949-CE34-008633ED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37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3D36799-3E6A-B8BB-A620-78AFF9CE8FD5}"/>
              </a:ext>
            </a:extLst>
          </p:cNvPr>
          <p:cNvGrpSpPr/>
          <p:nvPr/>
        </p:nvGrpSpPr>
        <p:grpSpPr>
          <a:xfrm>
            <a:off x="587555" y="1376362"/>
            <a:ext cx="10704222" cy="2823497"/>
            <a:chOff x="457200" y="1083171"/>
            <a:chExt cx="8235696" cy="2809578"/>
          </a:xfrm>
        </p:grpSpPr>
        <p:sp>
          <p:nvSpPr>
            <p:cNvPr id="19" name="Banner"/>
            <p:cNvSpPr/>
            <p:nvPr/>
          </p:nvSpPr>
          <p:spPr>
            <a:xfrm>
              <a:off x="457200" y="1083171"/>
              <a:ext cx="8229600" cy="365671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>
              <a:noFill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0" name="Text 1">
              <a:extLst>
                <a:ext uri="{FF2B5EF4-FFF2-40B4-BE49-F238E27FC236}">
                  <a16:creationId xmlns:a16="http://schemas.microsoft.com/office/drawing/2014/main" id="{9AA82BA9-78E0-F8C4-1853-F55E8E2EADC8}"/>
                </a:ext>
              </a:extLst>
            </p:cNvPr>
            <p:cNvSpPr/>
            <p:nvPr/>
          </p:nvSpPr>
          <p:spPr>
            <a:xfrm>
              <a:off x="609600" y="1140321"/>
              <a:ext cx="8083296" cy="251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98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Standardized measures to assess model performance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21" name="Text 2">
              <a:extLst>
                <a:ext uri="{FF2B5EF4-FFF2-40B4-BE49-F238E27FC236}">
                  <a16:creationId xmlns:a16="http://schemas.microsoft.com/office/drawing/2014/main" id="{AC4B54B3-5AFD-05F4-4829-07502682A14D}"/>
                </a:ext>
              </a:extLst>
            </p:cNvPr>
            <p:cNvSpPr/>
            <p:nvPr/>
          </p:nvSpPr>
          <p:spPr>
            <a:xfrm>
              <a:off x="457200" y="1639342"/>
              <a:ext cx="2667000" cy="407640"/>
            </a:xfrm>
            <a:prstGeom prst="roundRect">
              <a:avLst>
                <a:gd name="adj" fmla="val 14020"/>
              </a:avLst>
            </a:prstGeom>
            <a:solidFill>
              <a:srgbClr val="2F3C7E"/>
            </a:solidFill>
            <a:ln>
              <a:noFill/>
            </a:ln>
          </p:spPr>
          <p:txBody>
            <a:bodyPr wrap="square" rtlCol="0" anchor="ctr"/>
            <a:lstStyle/>
            <a:p>
              <a:endParaRPr lang="en-US" sz="2000">
                <a:latin typeface="Helvetica Neue Light"/>
              </a:endParaRPr>
            </a:p>
          </p:txBody>
        </p:sp>
        <p:sp>
          <p:nvSpPr>
            <p:cNvPr id="22" name="Text 3">
              <a:extLst>
                <a:ext uri="{FF2B5EF4-FFF2-40B4-BE49-F238E27FC236}">
                  <a16:creationId xmlns:a16="http://schemas.microsoft.com/office/drawing/2014/main" id="{99A56532-594C-97D9-C10C-950A6D18EF5A}"/>
                </a:ext>
              </a:extLst>
            </p:cNvPr>
            <p:cNvSpPr/>
            <p:nvPr/>
          </p:nvSpPr>
          <p:spPr>
            <a:xfrm>
              <a:off x="547116" y="1696492"/>
              <a:ext cx="2487168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1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Classification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4C5E9D05-5EF0-26C3-EF20-26CFD19D672E}"/>
                </a:ext>
              </a:extLst>
            </p:cNvPr>
            <p:cNvSpPr/>
            <p:nvPr/>
          </p:nvSpPr>
          <p:spPr>
            <a:xfrm>
              <a:off x="457200" y="2085082"/>
              <a:ext cx="2667000" cy="1251496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</a:ln>
          </p:spPr>
          <p:txBody>
            <a:bodyPr wrap="square" rtlCol="0" anchor="ctr"/>
            <a:lstStyle/>
            <a:p>
              <a:endParaRPr lang="en-US" sz="2000">
                <a:latin typeface="Helvetica Neue Light"/>
              </a:endParaRPr>
            </a:p>
          </p:txBody>
        </p:sp>
        <p:sp>
          <p:nvSpPr>
            <p:cNvPr id="24" name="Text 5">
              <a:extLst>
                <a:ext uri="{FF2B5EF4-FFF2-40B4-BE49-F238E27FC236}">
                  <a16:creationId xmlns:a16="http://schemas.microsoft.com/office/drawing/2014/main" id="{73B6DEC6-8657-D5CD-2B58-8F3E3DD13E51}"/>
                </a:ext>
              </a:extLst>
            </p:cNvPr>
            <p:cNvSpPr/>
            <p:nvPr/>
          </p:nvSpPr>
          <p:spPr>
            <a:xfrm>
              <a:off x="571500" y="2161282"/>
              <a:ext cx="2438400" cy="1099096"/>
            </a:xfrm>
            <a:prstGeom prst="rect">
              <a:avLst/>
            </a:prstGeom>
            <a:noFill/>
            <a:ln/>
          </p:spPr>
          <p:txBody>
            <a:bodyPr wrap="square" lIns="114300" tIns="0" rIns="0" bIns="0" rtlCol="0" anchor="t"/>
            <a:lstStyle/>
            <a:p>
              <a:pPr marL="285750" indent="-285750">
                <a:lnSpc>
                  <a:spcPts val="2310"/>
                </a:lnSpc>
                <a:spcAft>
                  <a:spcPts val="375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Accuracy</a:t>
              </a:r>
              <a:endParaRPr lang="en-US" dirty="0">
                <a:latin typeface="Helvetica Neue Light"/>
              </a:endParaRPr>
            </a:p>
            <a:p>
              <a:pPr marL="285750" indent="-285750">
                <a:lnSpc>
                  <a:spcPts val="2310"/>
                </a:lnSpc>
                <a:spcAft>
                  <a:spcPts val="375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Precision / Recall</a:t>
              </a:r>
              <a:endParaRPr lang="en-US" dirty="0">
                <a:latin typeface="Helvetica Neue Light"/>
              </a:endParaRPr>
            </a:p>
            <a:p>
              <a:pPr marL="285750" indent="-285750">
                <a:lnSpc>
                  <a:spcPts val="2310"/>
                </a:lnSpc>
                <a:spcAft>
                  <a:spcPts val="375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F1 Score</a:t>
              </a:r>
              <a:endParaRPr lang="en-US" dirty="0">
                <a:latin typeface="Helvetica Neue Light"/>
              </a:endParaRPr>
            </a:p>
          </p:txBody>
        </p:sp>
        <p:sp>
          <p:nvSpPr>
            <p:cNvPr id="25" name="Text 6">
              <a:extLst>
                <a:ext uri="{FF2B5EF4-FFF2-40B4-BE49-F238E27FC236}">
                  <a16:creationId xmlns:a16="http://schemas.microsoft.com/office/drawing/2014/main" id="{22783B59-6F51-DA17-ECD6-33D3446467BE}"/>
                </a:ext>
              </a:extLst>
            </p:cNvPr>
            <p:cNvSpPr/>
            <p:nvPr/>
          </p:nvSpPr>
          <p:spPr>
            <a:xfrm>
              <a:off x="3238500" y="1639342"/>
              <a:ext cx="2667000" cy="407640"/>
            </a:xfrm>
            <a:prstGeom prst="roundRect">
              <a:avLst>
                <a:gd name="adj" fmla="val 14020"/>
              </a:avLst>
            </a:prstGeom>
            <a:solidFill>
              <a:srgbClr val="2F3C7E"/>
            </a:solidFill>
            <a:ln>
              <a:noFill/>
            </a:ln>
          </p:spPr>
          <p:txBody>
            <a:bodyPr wrap="square" rtlCol="0" anchor="ctr"/>
            <a:lstStyle/>
            <a:p>
              <a:endParaRPr lang="en-US" sz="2000">
                <a:latin typeface="Helvetica Neue Light"/>
              </a:endParaRPr>
            </a:p>
          </p:txBody>
        </p: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E7AF2D47-A30D-3A88-6B82-14E5516468A2}"/>
                </a:ext>
              </a:extLst>
            </p:cNvPr>
            <p:cNvSpPr/>
            <p:nvPr/>
          </p:nvSpPr>
          <p:spPr>
            <a:xfrm>
              <a:off x="3328416" y="1696492"/>
              <a:ext cx="2487168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1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Detection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C8F4E49-E80A-3F04-9E01-AE90ABF5FFED}"/>
                </a:ext>
              </a:extLst>
            </p:cNvPr>
            <p:cNvSpPr/>
            <p:nvPr/>
          </p:nvSpPr>
          <p:spPr>
            <a:xfrm>
              <a:off x="3238500" y="2085082"/>
              <a:ext cx="2667000" cy="1251496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</a:ln>
          </p:spPr>
          <p:txBody>
            <a:bodyPr wrap="square" rtlCol="0" anchor="ctr"/>
            <a:lstStyle/>
            <a:p>
              <a:endParaRPr lang="en-US" sz="2000">
                <a:latin typeface="Helvetica Neue Light"/>
              </a:endParaRPr>
            </a:p>
          </p:txBody>
        </p:sp>
        <p:sp>
          <p:nvSpPr>
            <p:cNvPr id="28" name="Text 9">
              <a:extLst>
                <a:ext uri="{FF2B5EF4-FFF2-40B4-BE49-F238E27FC236}">
                  <a16:creationId xmlns:a16="http://schemas.microsoft.com/office/drawing/2014/main" id="{82A6DC17-4EDC-54EB-58B5-AE49B97650A7}"/>
                </a:ext>
              </a:extLst>
            </p:cNvPr>
            <p:cNvSpPr/>
            <p:nvPr/>
          </p:nvSpPr>
          <p:spPr>
            <a:xfrm>
              <a:off x="3352800" y="2161282"/>
              <a:ext cx="2438400" cy="1099096"/>
            </a:xfrm>
            <a:prstGeom prst="rect">
              <a:avLst/>
            </a:prstGeom>
            <a:noFill/>
            <a:ln/>
          </p:spPr>
          <p:txBody>
            <a:bodyPr wrap="square" lIns="114300" tIns="0" rIns="0" bIns="0" rtlCol="0" anchor="t"/>
            <a:lstStyle/>
            <a:p>
              <a:pPr marL="285750" indent="-285750">
                <a:lnSpc>
                  <a:spcPts val="2310"/>
                </a:lnSpc>
                <a:spcAft>
                  <a:spcPts val="375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IoU</a:t>
              </a:r>
              <a:endParaRPr lang="en-US" dirty="0">
                <a:latin typeface="Helvetica Neue Light"/>
              </a:endParaRPr>
            </a:p>
            <a:p>
              <a:pPr marL="285750" indent="-285750">
                <a:lnSpc>
                  <a:spcPts val="2310"/>
                </a:lnSpc>
                <a:spcAft>
                  <a:spcPts val="375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mAP</a:t>
              </a:r>
              <a:endParaRPr lang="en-US" dirty="0">
                <a:latin typeface="Helvetica Neue Light"/>
              </a:endParaRPr>
            </a:p>
            <a:p>
              <a:pPr marL="285750" indent="-285750">
                <a:lnSpc>
                  <a:spcPts val="2310"/>
                </a:lnSpc>
                <a:spcAft>
                  <a:spcPts val="375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AP@50, AP@75</a:t>
              </a:r>
              <a:endParaRPr lang="en-US" dirty="0">
                <a:latin typeface="Helvetica Neue Light"/>
              </a:endParaRPr>
            </a:p>
          </p:txBody>
        </p:sp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B9772151-F08F-EA8E-863C-47FE54582437}"/>
                </a:ext>
              </a:extLst>
            </p:cNvPr>
            <p:cNvSpPr/>
            <p:nvPr/>
          </p:nvSpPr>
          <p:spPr>
            <a:xfrm>
              <a:off x="6019800" y="1639342"/>
              <a:ext cx="2667000" cy="407640"/>
            </a:xfrm>
            <a:prstGeom prst="roundRect">
              <a:avLst>
                <a:gd name="adj" fmla="val 14020"/>
              </a:avLst>
            </a:prstGeom>
            <a:solidFill>
              <a:srgbClr val="2F3C7E"/>
            </a:solidFill>
            <a:ln>
              <a:noFill/>
            </a:ln>
          </p:spPr>
          <p:txBody>
            <a:bodyPr wrap="square" rtlCol="0" anchor="ctr"/>
            <a:lstStyle/>
            <a:p>
              <a:endParaRPr lang="en-US" sz="2000">
                <a:latin typeface="Helvetica Neue Light"/>
              </a:endParaRPr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0E150D87-5A08-556E-6EE6-A53088BB6D85}"/>
                </a:ext>
              </a:extLst>
            </p:cNvPr>
            <p:cNvSpPr/>
            <p:nvPr/>
          </p:nvSpPr>
          <p:spPr>
            <a:xfrm>
              <a:off x="6109716" y="1696492"/>
              <a:ext cx="2487168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1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Segmentation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31" name="Text 12">
              <a:extLst>
                <a:ext uri="{FF2B5EF4-FFF2-40B4-BE49-F238E27FC236}">
                  <a16:creationId xmlns:a16="http://schemas.microsoft.com/office/drawing/2014/main" id="{CC7694F5-DB18-EFAA-CC8E-EEC37A812513}"/>
                </a:ext>
              </a:extLst>
            </p:cNvPr>
            <p:cNvSpPr/>
            <p:nvPr/>
          </p:nvSpPr>
          <p:spPr>
            <a:xfrm>
              <a:off x="6019800" y="2085082"/>
              <a:ext cx="2667000" cy="1251496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</a:ln>
          </p:spPr>
          <p:txBody>
            <a:bodyPr wrap="square" rtlCol="0" anchor="ctr"/>
            <a:lstStyle/>
            <a:p>
              <a:endParaRPr lang="en-US" sz="2000">
                <a:latin typeface="Helvetica Neue Light"/>
              </a:endParaRPr>
            </a:p>
          </p:txBody>
        </p:sp>
        <p:sp>
          <p:nvSpPr>
            <p:cNvPr id="32" name="Text 13">
              <a:extLst>
                <a:ext uri="{FF2B5EF4-FFF2-40B4-BE49-F238E27FC236}">
                  <a16:creationId xmlns:a16="http://schemas.microsoft.com/office/drawing/2014/main" id="{2D04BA93-5B65-BE10-E6D4-72ED54B55999}"/>
                </a:ext>
              </a:extLst>
            </p:cNvPr>
            <p:cNvSpPr/>
            <p:nvPr/>
          </p:nvSpPr>
          <p:spPr>
            <a:xfrm>
              <a:off x="6134100" y="2161282"/>
              <a:ext cx="2438400" cy="1099096"/>
            </a:xfrm>
            <a:prstGeom prst="rect">
              <a:avLst/>
            </a:prstGeom>
            <a:noFill/>
            <a:ln/>
          </p:spPr>
          <p:txBody>
            <a:bodyPr wrap="square" lIns="114300" tIns="0" rIns="0" bIns="0" rtlCol="0" anchor="t"/>
            <a:lstStyle/>
            <a:p>
              <a:pPr marL="285750" indent="-285750">
                <a:lnSpc>
                  <a:spcPts val="2310"/>
                </a:lnSpc>
                <a:spcAft>
                  <a:spcPts val="375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Pixel Accuracy</a:t>
              </a:r>
              <a:endParaRPr lang="en-US" dirty="0">
                <a:latin typeface="Helvetica Neue Light"/>
              </a:endParaRPr>
            </a:p>
            <a:p>
              <a:pPr marL="285750" indent="-285750">
                <a:lnSpc>
                  <a:spcPts val="2310"/>
                </a:lnSpc>
                <a:spcAft>
                  <a:spcPts val="375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Mean </a:t>
              </a:r>
              <a:r>
                <a:rPr lang="en-US" dirty="0" err="1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IoU</a:t>
              </a:r>
              <a:r>
                <a:rPr lang="en-US" dirty="0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 (</a:t>
              </a:r>
              <a:r>
                <a:rPr lang="en-US" dirty="0" err="1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mIoU</a:t>
              </a:r>
              <a:r>
                <a:rPr lang="en-US" dirty="0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dirty="0">
                <a:latin typeface="Helvetica Neue Light"/>
              </a:endParaRPr>
            </a:p>
            <a:p>
              <a:pPr marL="285750" indent="-285750">
                <a:lnSpc>
                  <a:spcPts val="2310"/>
                </a:lnSpc>
                <a:spcAft>
                  <a:spcPts val="375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Dice Coefficient</a:t>
              </a:r>
              <a:endParaRPr lang="en-US" dirty="0">
                <a:latin typeface="Helvetica Neue Light"/>
              </a:endParaRPr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E1731AD6-B873-4977-8CBE-71CCBAC668CE}"/>
                </a:ext>
              </a:extLst>
            </p:cNvPr>
            <p:cNvSpPr/>
            <p:nvPr/>
          </p:nvSpPr>
          <p:spPr>
            <a:xfrm>
              <a:off x="457200" y="3527078"/>
              <a:ext cx="8229600" cy="365671"/>
            </a:xfrm>
            <a:prstGeom prst="roundRect">
              <a:avLst>
                <a:gd name="adj" fmla="val 15629"/>
              </a:avLst>
            </a:prstGeom>
            <a:solidFill>
              <a:srgbClr val="2F3C7E"/>
            </a:solidFill>
            <a:ln>
              <a:noFill/>
            </a:ln>
          </p:spPr>
          <p:txBody>
            <a:bodyPr wrap="square" rtlCol="0" anchor="ctr"/>
            <a:lstStyle/>
            <a:p>
              <a:endParaRPr lang="en-US" sz="2000">
                <a:latin typeface="Helvetica Neue Light"/>
              </a:endParaRPr>
            </a:p>
          </p:txBody>
        </p:sp>
        <p:sp>
          <p:nvSpPr>
            <p:cNvPr id="35" name="Text 16">
              <a:extLst>
                <a:ext uri="{FF2B5EF4-FFF2-40B4-BE49-F238E27FC236}">
                  <a16:creationId xmlns:a16="http://schemas.microsoft.com/office/drawing/2014/main" id="{968F711A-899A-D349-8EC3-DE3CC1372B5C}"/>
                </a:ext>
              </a:extLst>
            </p:cNvPr>
            <p:cNvSpPr/>
            <p:nvPr/>
          </p:nvSpPr>
          <p:spPr>
            <a:xfrm>
              <a:off x="647700" y="3584228"/>
              <a:ext cx="8044434" cy="251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980"/>
                </a:lnSpc>
              </a:pPr>
              <a:r>
                <a:rPr lang="en-US" b="1" dirty="0">
                  <a:solidFill>
                    <a:srgbClr val="FFFFFF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Key:</a:t>
              </a:r>
              <a:r>
                <a:rPr lang="en-US" dirty="0">
                  <a:solidFill>
                    <a:srgbClr val="FFFFFF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dirty="0" err="1">
                  <a:solidFill>
                    <a:srgbClr val="FFFFFF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IoU</a:t>
              </a:r>
              <a:r>
                <a:rPr lang="en-US" dirty="0">
                  <a:solidFill>
                    <a:srgbClr val="FFFFFF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 = Intersection over Union; </a:t>
              </a:r>
              <a:r>
                <a:rPr lang="en-US" dirty="0" err="1">
                  <a:solidFill>
                    <a:srgbClr val="FFFFFF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mAP</a:t>
              </a:r>
              <a:r>
                <a:rPr lang="en-US" dirty="0">
                  <a:solidFill>
                    <a:srgbClr val="FFFFFF"/>
                  </a:solidFill>
                  <a:latin typeface="Calibri"/>
                  <a:ea typeface="Calibri" panose="020F0502020204030204" pitchFamily="34" charset="0"/>
                  <a:cs typeface="Calibri" panose="020F0502020204030204" pitchFamily="34" charset="0"/>
                </a:rPr>
                <a:t> = mean Average Precision</a:t>
              </a:r>
              <a:endParaRPr lang="en-US" dirty="0">
                <a:latin typeface="Helvetica Neue Light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583EDEC3-2EFD-54F2-ADE7-D3C1102E23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" t="10897" r="4933" b="10778"/>
          <a:stretch>
            <a:fillRect/>
          </a:stretch>
        </p:blipFill>
        <p:spPr>
          <a:xfrm>
            <a:off x="1366205" y="4376045"/>
            <a:ext cx="5487135" cy="2451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3067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9F0DC-6CFC-30B0-E750-6BB92A309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64C87-C585-AD95-F3B0-BE79767CF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Image Generation &amp; Vision-Language Models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4C211F-7BEC-F283-7B0B-76DF554E8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i="1" dirty="0"/>
              <a:t>These build on the generative and multimodal ideas from Lectures 4 &amp; 6 — here applied to vision.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785C1-90FB-2386-15F9-FCD923BFC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38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F6C8D0E-77E2-18FE-207E-9DD0699C22FD}"/>
              </a:ext>
            </a:extLst>
          </p:cNvPr>
          <p:cNvGrpSpPr/>
          <p:nvPr/>
        </p:nvGrpSpPr>
        <p:grpSpPr>
          <a:xfrm>
            <a:off x="640080" y="1600200"/>
            <a:ext cx="10908792" cy="3108960"/>
            <a:chOff x="640080" y="1600200"/>
            <a:chExt cx="10908792" cy="3108960"/>
          </a:xfrm>
        </p:grpSpPr>
        <p:sp>
          <p:nvSpPr>
            <p:cNvPr id="7" name="Shape 1">
              <a:extLst>
                <a:ext uri="{FF2B5EF4-FFF2-40B4-BE49-F238E27FC236}">
                  <a16:creationId xmlns:a16="http://schemas.microsoft.com/office/drawing/2014/main" id="{B508E25C-8DEC-6DDB-CF28-AC5BAED5FCC2}"/>
                </a:ext>
              </a:extLst>
            </p:cNvPr>
            <p:cNvSpPr/>
            <p:nvPr/>
          </p:nvSpPr>
          <p:spPr>
            <a:xfrm>
              <a:off x="640080" y="1600200"/>
              <a:ext cx="5193792" cy="3108960"/>
            </a:xfrm>
            <a:prstGeom prst="roundRect">
              <a:avLst>
                <a:gd name="adj" fmla="val 2941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586A084E-3143-DA51-CE61-B48DFC567829}"/>
                </a:ext>
              </a:extLst>
            </p:cNvPr>
            <p:cNvSpPr/>
            <p:nvPr/>
          </p:nvSpPr>
          <p:spPr>
            <a:xfrm>
              <a:off x="640080" y="16002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" name="Text 3">
              <a:extLst>
                <a:ext uri="{FF2B5EF4-FFF2-40B4-BE49-F238E27FC236}">
                  <a16:creationId xmlns:a16="http://schemas.microsoft.com/office/drawing/2014/main" id="{067D8C69-B7F0-92AA-BDEE-D905AC30389A}"/>
                </a:ext>
              </a:extLst>
            </p:cNvPr>
            <p:cNvSpPr txBox="1"/>
            <p:nvPr/>
          </p:nvSpPr>
          <p:spPr>
            <a:xfrm>
              <a:off x="822960" y="16002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 generation</a:t>
              </a:r>
              <a:endParaRPr lang="en-US" sz="2400" dirty="0"/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4E3EBBBC-F8B1-F542-F303-C417826CBCC1}"/>
                </a:ext>
              </a:extLst>
            </p:cNvPr>
            <p:cNvSpPr txBox="1"/>
            <p:nvPr/>
          </p:nvSpPr>
          <p:spPr>
            <a:xfrm>
              <a:off x="960120" y="2514600"/>
              <a:ext cx="4599432" cy="2057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GANs — generator vs. discriminator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Diffusion — denoise random noise into images (state of the art)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Examples: GPT Image (ChatGPT), Nano Banana (Gemini), FLUX.2, Midjourney, Stable Diffusion</a:t>
              </a:r>
              <a:endParaRPr lang="en-US" sz="2000" dirty="0"/>
            </a:p>
          </p:txBody>
        </p:sp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A6076966-E407-66A6-6D3C-9A0861E24858}"/>
                </a:ext>
              </a:extLst>
            </p:cNvPr>
            <p:cNvSpPr/>
            <p:nvPr/>
          </p:nvSpPr>
          <p:spPr>
            <a:xfrm>
              <a:off x="6355080" y="1600200"/>
              <a:ext cx="5193792" cy="3108960"/>
            </a:xfrm>
            <a:prstGeom prst="roundRect">
              <a:avLst>
                <a:gd name="adj" fmla="val 2941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69484770-F777-8510-D11A-E8872AC5630D}"/>
                </a:ext>
              </a:extLst>
            </p:cNvPr>
            <p:cNvSpPr/>
            <p:nvPr/>
          </p:nvSpPr>
          <p:spPr>
            <a:xfrm>
              <a:off x="6355080" y="16002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C9983960-5A2D-2772-FAEC-80B6C18DD439}"/>
                </a:ext>
              </a:extLst>
            </p:cNvPr>
            <p:cNvSpPr txBox="1"/>
            <p:nvPr/>
          </p:nvSpPr>
          <p:spPr>
            <a:xfrm>
              <a:off x="6537960" y="16002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Vision-language models</a:t>
              </a:r>
              <a:endParaRPr lang="en-US" sz="2400" dirty="0"/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94275FEB-10BA-7B70-1DA5-7AFC5B0E319C}"/>
                </a:ext>
              </a:extLst>
            </p:cNvPr>
            <p:cNvSpPr txBox="1"/>
            <p:nvPr/>
          </p:nvSpPr>
          <p:spPr>
            <a:xfrm>
              <a:off x="6675120" y="2514600"/>
              <a:ext cx="4599432" cy="2057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Understand images AND text together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CLIP — align image &amp; text embeddings (zero-shot)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Research: CLIP, BLIP, </a:t>
              </a:r>
              <a:r>
                <a:rPr lang="en-US" sz="2000" dirty="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LLaVA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· Frontier: GPT-5, Gemini 3, Claude · Open: Qwen3-VL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376436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2F4AC-BC27-F190-E970-265DA496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206223-E518-5D51-988A-F51AA26E3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Real-World Impact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9040E62-6779-3EAC-40C2-223C0772D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Where computer vision is used today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BDD40-A6EA-E92E-32A2-A402FB13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999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0116D-6FC8-2955-C2EB-76AD85549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569D4-1A70-18A7-1967-FEF7672B7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Computer Vision Across Industries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54A68-1530-76D1-002C-D2567B0E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F68CE5E-C391-0390-9283-6815F0AD2DA7}"/>
              </a:ext>
            </a:extLst>
          </p:cNvPr>
          <p:cNvGrpSpPr/>
          <p:nvPr/>
        </p:nvGrpSpPr>
        <p:grpSpPr>
          <a:xfrm>
            <a:off x="416795" y="1540657"/>
            <a:ext cx="11277599" cy="4096512"/>
            <a:chOff x="640080" y="1508760"/>
            <a:chExt cx="10872216" cy="4096512"/>
          </a:xfrm>
        </p:grpSpPr>
        <p:sp>
          <p:nvSpPr>
            <p:cNvPr id="21" name="Shape 1">
              <a:extLst>
                <a:ext uri="{FF2B5EF4-FFF2-40B4-BE49-F238E27FC236}">
                  <a16:creationId xmlns:a16="http://schemas.microsoft.com/office/drawing/2014/main" id="{77C032B9-5F2A-A20A-A146-F66F4DB48DF8}"/>
                </a:ext>
              </a:extLst>
            </p:cNvPr>
            <p:cNvSpPr/>
            <p:nvPr/>
          </p:nvSpPr>
          <p:spPr>
            <a:xfrm>
              <a:off x="640080" y="1508760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2" name="Text 2">
              <a:extLst>
                <a:ext uri="{FF2B5EF4-FFF2-40B4-BE49-F238E27FC236}">
                  <a16:creationId xmlns:a16="http://schemas.microsoft.com/office/drawing/2014/main" id="{2A41EF2E-2F9F-273A-65D9-93CA2C0F6930}"/>
                </a:ext>
              </a:extLst>
            </p:cNvPr>
            <p:cNvSpPr txBox="1"/>
            <p:nvPr/>
          </p:nvSpPr>
          <p:spPr>
            <a:xfrm>
              <a:off x="868680" y="164592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F3C7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Autonomous vehicles</a:t>
              </a:r>
              <a:endParaRPr lang="en-US" sz="2000" dirty="0"/>
            </a:p>
          </p:txBody>
        </p:sp>
        <p:sp>
          <p:nvSpPr>
            <p:cNvPr id="23" name="Text 3">
              <a:extLst>
                <a:ext uri="{FF2B5EF4-FFF2-40B4-BE49-F238E27FC236}">
                  <a16:creationId xmlns:a16="http://schemas.microsoft.com/office/drawing/2014/main" id="{71C1CFF9-A498-2E9C-240C-18ECB829EA44}"/>
                </a:ext>
              </a:extLst>
            </p:cNvPr>
            <p:cNvSpPr txBox="1"/>
            <p:nvPr/>
          </p:nvSpPr>
          <p:spPr>
            <a:xfrm>
              <a:off x="868680" y="2130552"/>
              <a:ext cx="32461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Lane detection, object tracking, scene understanding.</a:t>
              </a:r>
              <a:endParaRPr lang="en-US" sz="2000" dirty="0"/>
            </a:p>
          </p:txBody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AE0B9492-07AC-7432-3FB5-79BB0AE9CF73}"/>
                </a:ext>
              </a:extLst>
            </p:cNvPr>
            <p:cNvSpPr/>
            <p:nvPr/>
          </p:nvSpPr>
          <p:spPr>
            <a:xfrm>
              <a:off x="4224528" y="1508760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CFC3F22A-867B-8EC2-8C02-9AC0CB7EACFA}"/>
                </a:ext>
              </a:extLst>
            </p:cNvPr>
            <p:cNvSpPr txBox="1"/>
            <p:nvPr/>
          </p:nvSpPr>
          <p:spPr>
            <a:xfrm>
              <a:off x="4453128" y="164592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Medical imaging</a:t>
              </a:r>
              <a:endParaRPr lang="en-US" sz="2000" dirty="0"/>
            </a:p>
          </p:txBody>
        </p:sp>
        <p:sp>
          <p:nvSpPr>
            <p:cNvPr id="26" name="Text 6">
              <a:extLst>
                <a:ext uri="{FF2B5EF4-FFF2-40B4-BE49-F238E27FC236}">
                  <a16:creationId xmlns:a16="http://schemas.microsoft.com/office/drawing/2014/main" id="{644E0DB7-8782-3C0D-FDF2-39F5A04210A8}"/>
                </a:ext>
              </a:extLst>
            </p:cNvPr>
            <p:cNvSpPr txBox="1"/>
            <p:nvPr/>
          </p:nvSpPr>
          <p:spPr>
            <a:xfrm>
              <a:off x="4453128" y="2130552"/>
              <a:ext cx="32461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Tumor detection, X-ray &amp; pathology analysis.</a:t>
              </a:r>
              <a:endParaRPr lang="en-US" sz="2000" dirty="0"/>
            </a:p>
          </p:txBody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3A327874-8B6B-5696-4FF4-E0C722A04F97}"/>
                </a:ext>
              </a:extLst>
            </p:cNvPr>
            <p:cNvSpPr/>
            <p:nvPr/>
          </p:nvSpPr>
          <p:spPr>
            <a:xfrm>
              <a:off x="7808976" y="1508760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" name="Text 8">
              <a:extLst>
                <a:ext uri="{FF2B5EF4-FFF2-40B4-BE49-F238E27FC236}">
                  <a16:creationId xmlns:a16="http://schemas.microsoft.com/office/drawing/2014/main" id="{9D7BD4B9-2F99-C333-3CF1-2B290CC3E021}"/>
                </a:ext>
              </a:extLst>
            </p:cNvPr>
            <p:cNvSpPr txBox="1"/>
            <p:nvPr/>
          </p:nvSpPr>
          <p:spPr>
            <a:xfrm>
              <a:off x="8037576" y="164592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Industrial</a:t>
              </a:r>
              <a:endParaRPr lang="en-US" sz="2000" dirty="0"/>
            </a:p>
          </p:txBody>
        </p:sp>
        <p:sp>
          <p:nvSpPr>
            <p:cNvPr id="29" name="Text 9">
              <a:extLst>
                <a:ext uri="{FF2B5EF4-FFF2-40B4-BE49-F238E27FC236}">
                  <a16:creationId xmlns:a16="http://schemas.microsoft.com/office/drawing/2014/main" id="{496FD9E6-E6C3-3897-C0A7-5BE804FF9D10}"/>
                </a:ext>
              </a:extLst>
            </p:cNvPr>
            <p:cNvSpPr txBox="1"/>
            <p:nvPr/>
          </p:nvSpPr>
          <p:spPr>
            <a:xfrm>
              <a:off x="8037576" y="2130552"/>
              <a:ext cx="32461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Defect inspection, quality control, robotics.</a:t>
              </a:r>
              <a:endParaRPr lang="en-US" sz="2000" dirty="0"/>
            </a:p>
          </p:txBody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3670EDC0-C4BF-5C45-4A07-BB02DAB78B67}"/>
                </a:ext>
              </a:extLst>
            </p:cNvPr>
            <p:cNvSpPr/>
            <p:nvPr/>
          </p:nvSpPr>
          <p:spPr>
            <a:xfrm>
              <a:off x="640080" y="3639312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EBFC0858-A63D-593B-932A-69DA109F4A11}"/>
                </a:ext>
              </a:extLst>
            </p:cNvPr>
            <p:cNvSpPr txBox="1"/>
            <p:nvPr/>
          </p:nvSpPr>
          <p:spPr>
            <a:xfrm>
              <a:off x="868680" y="3776472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86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Retail</a:t>
              </a:r>
              <a:endParaRPr lang="en-US" sz="2000" dirty="0"/>
            </a:p>
          </p:txBody>
        </p:sp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7266E5C6-D22A-6D8F-D888-7BF6DE581E91}"/>
                </a:ext>
              </a:extLst>
            </p:cNvPr>
            <p:cNvSpPr txBox="1"/>
            <p:nvPr/>
          </p:nvSpPr>
          <p:spPr>
            <a:xfrm>
              <a:off x="868680" y="4261104"/>
              <a:ext cx="32461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Cashier-less checkout, inventory, analytics (Amazon Go).</a:t>
              </a:r>
              <a:endParaRPr lang="en-US" sz="2000" dirty="0"/>
            </a:p>
          </p:txBody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66C38C46-9C81-A5D0-824F-59F301E43F71}"/>
                </a:ext>
              </a:extLst>
            </p:cNvPr>
            <p:cNvSpPr/>
            <p:nvPr/>
          </p:nvSpPr>
          <p:spPr>
            <a:xfrm>
              <a:off x="4224528" y="3639312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D9AFA0F1-0AF3-0C95-04A3-9EF69FA6727A}"/>
                </a:ext>
              </a:extLst>
            </p:cNvPr>
            <p:cNvSpPr txBox="1"/>
            <p:nvPr/>
          </p:nvSpPr>
          <p:spPr>
            <a:xfrm>
              <a:off x="4453128" y="3776472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6D2E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 / VR</a:t>
              </a:r>
              <a:endParaRPr lang="en-US" sz="2000" dirty="0"/>
            </a:p>
          </p:txBody>
        </p:sp>
        <p:sp>
          <p:nvSpPr>
            <p:cNvPr id="35" name="Text 15">
              <a:extLst>
                <a:ext uri="{FF2B5EF4-FFF2-40B4-BE49-F238E27FC236}">
                  <a16:creationId xmlns:a16="http://schemas.microsoft.com/office/drawing/2014/main" id="{6A0331D1-FCA1-69CE-7906-D69D7DF803B7}"/>
                </a:ext>
              </a:extLst>
            </p:cNvPr>
            <p:cNvSpPr txBox="1"/>
            <p:nvPr/>
          </p:nvSpPr>
          <p:spPr>
            <a:xfrm>
              <a:off x="4453128" y="4261104"/>
              <a:ext cx="32461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Overlay digital content; SLAM, hand &amp; eye tracking.</a:t>
              </a:r>
              <a:endParaRPr lang="en-US" sz="2000" dirty="0"/>
            </a:p>
          </p:txBody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B098516B-E66A-711A-15EE-B89B53B7EDD2}"/>
                </a:ext>
              </a:extLst>
            </p:cNvPr>
            <p:cNvSpPr/>
            <p:nvPr/>
          </p:nvSpPr>
          <p:spPr>
            <a:xfrm>
              <a:off x="7808976" y="3639312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7" name="Text 17">
              <a:extLst>
                <a:ext uri="{FF2B5EF4-FFF2-40B4-BE49-F238E27FC236}">
                  <a16:creationId xmlns:a16="http://schemas.microsoft.com/office/drawing/2014/main" id="{B0A4BCDF-F7DD-BF17-F127-AF6B4F61C4BB}"/>
                </a:ext>
              </a:extLst>
            </p:cNvPr>
            <p:cNvSpPr txBox="1"/>
            <p:nvPr/>
          </p:nvSpPr>
          <p:spPr>
            <a:xfrm>
              <a:off x="8037576" y="3776472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F3C7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Security &amp; more</a:t>
              </a:r>
              <a:endParaRPr lang="en-US" sz="2000" dirty="0"/>
            </a:p>
          </p:txBody>
        </p:sp>
        <p:sp>
          <p:nvSpPr>
            <p:cNvPr id="38" name="Text 18">
              <a:extLst>
                <a:ext uri="{FF2B5EF4-FFF2-40B4-BE49-F238E27FC236}">
                  <a16:creationId xmlns:a16="http://schemas.microsoft.com/office/drawing/2014/main" id="{03544359-4E61-ED5A-8CC8-0B2D2AA860F7}"/>
                </a:ext>
              </a:extLst>
            </p:cNvPr>
            <p:cNvSpPr txBox="1"/>
            <p:nvPr/>
          </p:nvSpPr>
          <p:spPr>
            <a:xfrm>
              <a:off x="8037576" y="4261104"/>
              <a:ext cx="32461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Surveillance, agriculture, satellite imaging.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737219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6BCF3-0C70-27CC-9417-6FB82CAE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4A67-0A22-E790-E484-E16F5515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81C01-724A-19BD-FE32-DCDE5DCCC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5"/>
            <a:ext cx="11277600" cy="529254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COCO is the workhorse benchmark for detection, segmentation, and </a:t>
            </a:r>
            <a:r>
              <a:rPr lang="en-US" dirty="0" err="1"/>
              <a:t>keypoint</a:t>
            </a:r>
            <a:r>
              <a:rPr lang="en-US" dirty="0"/>
              <a:t> tasks.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277AD-2163-99A4-2508-3024DAEE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41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3815933-3E71-80ED-282A-ACDA6592090D}"/>
              </a:ext>
            </a:extLst>
          </p:cNvPr>
          <p:cNvGrpSpPr/>
          <p:nvPr/>
        </p:nvGrpSpPr>
        <p:grpSpPr>
          <a:xfrm>
            <a:off x="456997" y="1084837"/>
            <a:ext cx="11413473" cy="3318054"/>
            <a:chOff x="580618" y="1253946"/>
            <a:chExt cx="10968449" cy="3318054"/>
          </a:xfrm>
        </p:grpSpPr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03854FF4-940B-ECA5-9DDC-C4D4E4920747}"/>
                </a:ext>
              </a:extLst>
            </p:cNvPr>
            <p:cNvSpPr/>
            <p:nvPr/>
          </p:nvSpPr>
          <p:spPr>
            <a:xfrm>
              <a:off x="580813" y="1253946"/>
              <a:ext cx="5193792" cy="2521307"/>
            </a:xfrm>
            <a:prstGeom prst="roundRect">
              <a:avLst>
                <a:gd name="adj" fmla="val 2941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1D4E49A9-EE0D-B3AF-BD30-FA1E1528BA68}"/>
                </a:ext>
              </a:extLst>
            </p:cNvPr>
            <p:cNvSpPr/>
            <p:nvPr/>
          </p:nvSpPr>
          <p:spPr>
            <a:xfrm>
              <a:off x="580618" y="16002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5188DC1F-CC0B-2C3E-222C-A00E0D5710DD}"/>
                </a:ext>
              </a:extLst>
            </p:cNvPr>
            <p:cNvSpPr txBox="1"/>
            <p:nvPr/>
          </p:nvSpPr>
          <p:spPr>
            <a:xfrm>
              <a:off x="763693" y="1612393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Datasets</a:t>
              </a:r>
              <a:endParaRPr lang="en-US" sz="2400" dirty="0"/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57E8A746-C32E-8E22-BCE9-1CA9B0D7C94F}"/>
                </a:ext>
              </a:extLst>
            </p:cNvPr>
            <p:cNvSpPr txBox="1"/>
            <p:nvPr/>
          </p:nvSpPr>
          <p:spPr>
            <a:xfrm>
              <a:off x="960120" y="2514600"/>
              <a:ext cx="4599432" cy="2057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ImageNet (classification), COCO (detection/seg), Pascal VOC</a:t>
              </a:r>
              <a:endParaRPr lang="en-US" sz="2000" dirty="0"/>
            </a:p>
          </p:txBody>
        </p:sp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C954F586-3197-F1EF-FB29-3928D640BC77}"/>
                </a:ext>
              </a:extLst>
            </p:cNvPr>
            <p:cNvSpPr/>
            <p:nvPr/>
          </p:nvSpPr>
          <p:spPr>
            <a:xfrm>
              <a:off x="6355275" y="1253946"/>
              <a:ext cx="5193792" cy="2521307"/>
            </a:xfrm>
            <a:prstGeom prst="roundRect">
              <a:avLst>
                <a:gd name="adj" fmla="val 2941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72C1DCA3-A79F-D382-2AD5-A75FCF57FFC8}"/>
                </a:ext>
              </a:extLst>
            </p:cNvPr>
            <p:cNvSpPr/>
            <p:nvPr/>
          </p:nvSpPr>
          <p:spPr>
            <a:xfrm>
              <a:off x="6355080" y="16002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B9D26EFB-A561-9047-AB5E-6EDBD7D7C274}"/>
                </a:ext>
              </a:extLst>
            </p:cNvPr>
            <p:cNvSpPr txBox="1"/>
            <p:nvPr/>
          </p:nvSpPr>
          <p:spPr>
            <a:xfrm>
              <a:off x="6537960" y="16002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 challenges</a:t>
              </a:r>
              <a:endParaRPr lang="en-US" sz="2400" dirty="0"/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F0E2FA6C-88AA-D25E-F37D-E32536D054D6}"/>
                </a:ext>
              </a:extLst>
            </p:cNvPr>
            <p:cNvSpPr txBox="1"/>
            <p:nvPr/>
          </p:nvSpPr>
          <p:spPr>
            <a:xfrm>
              <a:off x="6675120" y="2514600"/>
              <a:ext cx="4599432" cy="2057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Robustness — lighting, weather, occlusion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bias &amp; fairness across demographics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Adversarial examples; generalization</a:t>
              </a:r>
              <a:endParaRPr lang="en-US" sz="2000" dirty="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443862C-A0F7-086A-5655-B28F00B96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36" y="3099692"/>
            <a:ext cx="5102231" cy="316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84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E6AA1-23FA-C9D1-34DF-B890F0627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B147-9A5F-4B25-ACF4-F7B94E2D1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/>
              <a:t>Challenges in Computer 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8069E-D97F-463B-DA78-CD1937F0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64B354B-CB69-E386-128D-2835A7A93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33339"/>
            <a:ext cx="6541838" cy="572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620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65F4-018B-6739-0A71-A142577C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FA469-9E44-D007-A42F-34989351D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&amp; Future Directions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65C273-951F-9DF3-52EA-C4F679C04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i="1" dirty="0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i="1" dirty="0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i="1" dirty="0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i="1" dirty="0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i="1" dirty="0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i="1" dirty="0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i="1" dirty="0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i="1" dirty="0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i="1" dirty="0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i="1" dirty="0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trend: unified models that see, hear, understand, and act in the physical world — built transparently and accountably.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0E09E-7053-337B-3D57-77478885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43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E861BB-6E3C-334F-3564-B7EF7739750B}"/>
              </a:ext>
            </a:extLst>
          </p:cNvPr>
          <p:cNvGrpSpPr/>
          <p:nvPr/>
        </p:nvGrpSpPr>
        <p:grpSpPr>
          <a:xfrm>
            <a:off x="640079" y="1565457"/>
            <a:ext cx="11277600" cy="3027169"/>
            <a:chOff x="640080" y="1600200"/>
            <a:chExt cx="10908792" cy="3108960"/>
          </a:xfrm>
        </p:grpSpPr>
        <p:sp>
          <p:nvSpPr>
            <p:cNvPr id="10" name="Shape 1">
              <a:extLst>
                <a:ext uri="{FF2B5EF4-FFF2-40B4-BE49-F238E27FC236}">
                  <a16:creationId xmlns:a16="http://schemas.microsoft.com/office/drawing/2014/main" id="{87FE44FD-8C83-C6BE-00C0-3E07705D2AE0}"/>
                </a:ext>
              </a:extLst>
            </p:cNvPr>
            <p:cNvSpPr/>
            <p:nvPr/>
          </p:nvSpPr>
          <p:spPr>
            <a:xfrm>
              <a:off x="640080" y="1600200"/>
              <a:ext cx="5290938" cy="3108960"/>
            </a:xfrm>
            <a:prstGeom prst="roundRect">
              <a:avLst>
                <a:gd name="adj" fmla="val 2941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" name="Shape 2">
              <a:extLst>
                <a:ext uri="{FF2B5EF4-FFF2-40B4-BE49-F238E27FC236}">
                  <a16:creationId xmlns:a16="http://schemas.microsoft.com/office/drawing/2014/main" id="{4ADE5703-3AD1-5768-FA0A-39C9B38A2956}"/>
                </a:ext>
              </a:extLst>
            </p:cNvPr>
            <p:cNvSpPr/>
            <p:nvPr/>
          </p:nvSpPr>
          <p:spPr>
            <a:xfrm>
              <a:off x="640080" y="1600200"/>
              <a:ext cx="5297318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E799F0AE-8558-5641-9146-5619E7D19BF0}"/>
                </a:ext>
              </a:extLst>
            </p:cNvPr>
            <p:cNvSpPr txBox="1"/>
            <p:nvPr/>
          </p:nvSpPr>
          <p:spPr>
            <a:xfrm>
              <a:off x="822960" y="16002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Responsible CV</a:t>
              </a:r>
              <a:endParaRPr lang="en-US" sz="2400" dirty="0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A2374D39-ECB5-29B3-B991-F24C17A62B99}"/>
                </a:ext>
              </a:extLst>
            </p:cNvPr>
            <p:cNvSpPr txBox="1"/>
            <p:nvPr/>
          </p:nvSpPr>
          <p:spPr>
            <a:xfrm>
              <a:off x="960119" y="2514600"/>
              <a:ext cx="4970900" cy="2057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Bias &amp; fairness — audit for demographic gaps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Privacy — face recognition, consent, GDPR, EU AI Act 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Surveillance — risks of mass monitoring</a:t>
              </a:r>
              <a:endParaRPr lang="en-US" sz="2000" dirty="0"/>
            </a:p>
          </p:txBody>
        </p:sp>
        <p:sp>
          <p:nvSpPr>
            <p:cNvPr id="14" name="Shape 5">
              <a:extLst>
                <a:ext uri="{FF2B5EF4-FFF2-40B4-BE49-F238E27FC236}">
                  <a16:creationId xmlns:a16="http://schemas.microsoft.com/office/drawing/2014/main" id="{7DC1B1BB-1B2B-A9EB-26B3-6CD33CEE41DC}"/>
                </a:ext>
              </a:extLst>
            </p:cNvPr>
            <p:cNvSpPr/>
            <p:nvPr/>
          </p:nvSpPr>
          <p:spPr>
            <a:xfrm>
              <a:off x="6355080" y="1600200"/>
              <a:ext cx="5193792" cy="3108960"/>
            </a:xfrm>
            <a:prstGeom prst="roundRect">
              <a:avLst>
                <a:gd name="adj" fmla="val 2941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" name="Shape 6">
              <a:extLst>
                <a:ext uri="{FF2B5EF4-FFF2-40B4-BE49-F238E27FC236}">
                  <a16:creationId xmlns:a16="http://schemas.microsoft.com/office/drawing/2014/main" id="{119B7FAE-B8EE-60CA-07BA-17763D8A3876}"/>
                </a:ext>
              </a:extLst>
            </p:cNvPr>
            <p:cNvSpPr/>
            <p:nvPr/>
          </p:nvSpPr>
          <p:spPr>
            <a:xfrm>
              <a:off x="6355080" y="16002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C5F2D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" name="Text 7">
              <a:extLst>
                <a:ext uri="{FF2B5EF4-FFF2-40B4-BE49-F238E27FC236}">
                  <a16:creationId xmlns:a16="http://schemas.microsoft.com/office/drawing/2014/main" id="{6593859B-D08F-2B0E-CE0A-94B2A943B6AB}"/>
                </a:ext>
              </a:extLst>
            </p:cNvPr>
            <p:cNvSpPr txBox="1"/>
            <p:nvPr/>
          </p:nvSpPr>
          <p:spPr>
            <a:xfrm>
              <a:off x="6537960" y="16002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Where it’s heading</a:t>
              </a:r>
              <a:endParaRPr lang="en-US" sz="2400" dirty="0"/>
            </a:p>
          </p:txBody>
        </p:sp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5ADE2763-014D-5697-7754-E4F5829EA974}"/>
                </a:ext>
              </a:extLst>
            </p:cNvPr>
            <p:cNvSpPr txBox="1"/>
            <p:nvPr/>
          </p:nvSpPr>
          <p:spPr>
            <a:xfrm>
              <a:off x="6675120" y="2514600"/>
              <a:ext cx="4599432" cy="2057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Foundation models (SAM 3, DINOv3) — segment by text prompt, zero/few-shot</a:t>
              </a:r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3D 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vision — neural radiance fields, Gaussian splatting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Embodied AI — vision for robotics &amp; action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977132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BD437-5E2D-EE4B-9821-BD2C124E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ED5C2D1-9FFB-968F-4D3F-7D0221458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20B4A66-76D0-6D85-A56C-3D840839D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91D7-DF40-3493-895B-B6C50719A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344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355E0-E6CA-4EE6-1868-7B64E45D3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39D43-A873-1970-5667-511BA1558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/>
              <a:t>Key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486E4-2956-3B87-A0A7-F062E9FA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51" name="Picture 2" descr="Beauty industry">
            <a:extLst>
              <a:ext uri="{FF2B5EF4-FFF2-40B4-BE49-F238E27FC236}">
                <a16:creationId xmlns:a16="http://schemas.microsoft.com/office/drawing/2014/main" id="{B591AD79-C026-4245-10EC-6A461AD02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8256" y="2974480"/>
            <a:ext cx="2624309" cy="1732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571A711-2909-F6A6-A6CD-EED9F2999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6133" y="4905983"/>
            <a:ext cx="3361016" cy="174772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482BEDF-C3D5-8673-97F0-B53BAE227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3928" y="1011238"/>
            <a:ext cx="2873221" cy="172393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6AEF8D5-92B3-97EB-0016-69F57D91D420}"/>
              </a:ext>
            </a:extLst>
          </p:cNvPr>
          <p:cNvGrpSpPr/>
          <p:nvPr/>
        </p:nvGrpSpPr>
        <p:grpSpPr>
          <a:xfrm>
            <a:off x="583727" y="1321536"/>
            <a:ext cx="7501494" cy="4572000"/>
            <a:chOff x="822960" y="1554480"/>
            <a:chExt cx="10515600" cy="4572000"/>
          </a:xfrm>
        </p:grpSpPr>
        <p:sp>
          <p:nvSpPr>
            <p:cNvPr id="7" name="Shape 1">
              <a:extLst>
                <a:ext uri="{FF2B5EF4-FFF2-40B4-BE49-F238E27FC236}">
                  <a16:creationId xmlns:a16="http://schemas.microsoft.com/office/drawing/2014/main" id="{645DFBCB-9085-92B3-B84D-612817385A39}"/>
                </a:ext>
              </a:extLst>
            </p:cNvPr>
            <p:cNvSpPr/>
            <p:nvPr/>
          </p:nvSpPr>
          <p:spPr>
            <a:xfrm>
              <a:off x="822960" y="1554480"/>
              <a:ext cx="10515600" cy="841248"/>
            </a:xfrm>
            <a:prstGeom prst="roundRect">
              <a:avLst>
                <a:gd name="adj" fmla="val 869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8" name="Text 2">
              <a:extLst>
                <a:ext uri="{FF2B5EF4-FFF2-40B4-BE49-F238E27FC236}">
                  <a16:creationId xmlns:a16="http://schemas.microsoft.com/office/drawing/2014/main" id="{EF8FAB5E-C087-7E8A-C1E8-7227F3D527E6}"/>
                </a:ext>
              </a:extLst>
            </p:cNvPr>
            <p:cNvSpPr txBox="1"/>
            <p:nvPr/>
          </p:nvSpPr>
          <p:spPr>
            <a:xfrm>
              <a:off x="1097280" y="1609344"/>
              <a:ext cx="10058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CV extracts meaning from pixels   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Images are numbers; models 	turn them into understanding.</a:t>
              </a:r>
              <a:endParaRPr lang="en-US" sz="2000" dirty="0"/>
            </a:p>
          </p:txBody>
        </p:sp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716953F0-3412-8B96-F46A-C7E705E3722E}"/>
                </a:ext>
              </a:extLst>
            </p:cNvPr>
            <p:cNvSpPr/>
            <p:nvPr/>
          </p:nvSpPr>
          <p:spPr>
            <a:xfrm>
              <a:off x="822960" y="2487168"/>
              <a:ext cx="10515600" cy="841248"/>
            </a:xfrm>
            <a:prstGeom prst="roundRect">
              <a:avLst>
                <a:gd name="adj" fmla="val 869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D5F41FE4-4D17-56DC-A875-05E319232489}"/>
                </a:ext>
              </a:extLst>
            </p:cNvPr>
            <p:cNvSpPr txBox="1"/>
            <p:nvPr/>
          </p:nvSpPr>
          <p:spPr>
            <a:xfrm>
              <a:off x="1097280" y="2542032"/>
              <a:ext cx="10058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Geometry recovers 3D   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Stereo, motion, and active sensing infer 	depth from 2D.</a:t>
              </a:r>
              <a:endParaRPr lang="en-US" sz="2000" dirty="0"/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DCCE4AF7-8926-8E56-5E01-4E00EFDE5B94}"/>
                </a:ext>
              </a:extLst>
            </p:cNvPr>
            <p:cNvSpPr/>
            <p:nvPr/>
          </p:nvSpPr>
          <p:spPr>
            <a:xfrm>
              <a:off x="822960" y="3419856"/>
              <a:ext cx="10515600" cy="841248"/>
            </a:xfrm>
            <a:prstGeom prst="roundRect">
              <a:avLst>
                <a:gd name="adj" fmla="val 869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C88FC53B-D58B-DF80-59E1-A19F9112FC0E}"/>
                </a:ext>
              </a:extLst>
            </p:cNvPr>
            <p:cNvSpPr txBox="1"/>
            <p:nvPr/>
          </p:nvSpPr>
          <p:spPr>
            <a:xfrm>
              <a:off x="1097280" y="3474720"/>
              <a:ext cx="10058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CNNs &amp; transformers power modern vision   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Learned features 	replaced hand-crafted ones after 2012.</a:t>
              </a:r>
              <a:endParaRPr lang="en-US" sz="2000" dirty="0"/>
            </a:p>
          </p:txBody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ECEADD54-E278-C5B6-575A-99F3D756877B}"/>
                </a:ext>
              </a:extLst>
            </p:cNvPr>
            <p:cNvSpPr/>
            <p:nvPr/>
          </p:nvSpPr>
          <p:spPr>
            <a:xfrm>
              <a:off x="822960" y="4352544"/>
              <a:ext cx="10515600" cy="841248"/>
            </a:xfrm>
            <a:prstGeom prst="roundRect">
              <a:avLst>
                <a:gd name="adj" fmla="val 869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9534A783-06B1-415B-9985-E6CD23E78AF6}"/>
                </a:ext>
              </a:extLst>
            </p:cNvPr>
            <p:cNvSpPr txBox="1"/>
            <p:nvPr/>
          </p:nvSpPr>
          <p:spPr>
            <a:xfrm>
              <a:off x="1097280" y="4407408"/>
              <a:ext cx="10058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 tasks: classify, detect, segment, track, generate   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Increasing 	complexity from ‘what’ to ‘exactly which pixels.’</a:t>
              </a:r>
              <a:endParaRPr lang="en-US" sz="2000" dirty="0"/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EE36117D-E030-49A5-C9CA-F975C8B2AC0E}"/>
                </a:ext>
              </a:extLst>
            </p:cNvPr>
            <p:cNvSpPr/>
            <p:nvPr/>
          </p:nvSpPr>
          <p:spPr>
            <a:xfrm>
              <a:off x="822960" y="5285232"/>
              <a:ext cx="10515600" cy="841248"/>
            </a:xfrm>
            <a:prstGeom prst="roundRect">
              <a:avLst>
                <a:gd name="adj" fmla="val 869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97184BDA-BE1B-6B71-497A-BEB9CCFE4C89}"/>
                </a:ext>
              </a:extLst>
            </p:cNvPr>
            <p:cNvSpPr txBox="1"/>
            <p:nvPr/>
          </p:nvSpPr>
          <p:spPr>
            <a:xfrm>
              <a:off x="1097280" y="5340096"/>
              <a:ext cx="10058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Ethics matter   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Address bias, privacy, and surveillance from the start.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129885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53E7E-53B2-752C-4512-199C7F205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FC0737-C68D-F670-E1F2-64795FF6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– Material for Self-Learning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389379-1291-1125-7E32-9B035200A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9FB51-2044-BC85-72FC-02F08343C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6806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16204-338F-09C2-CAA7-49E33D8D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D3F7-4150-B5A2-B051-5FE879A14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/>
              <a:t>Resources for Further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F0F6F-B785-84DA-6BBF-FC14B964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47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A221B9-6F64-1757-2B38-451614C29C6C}"/>
              </a:ext>
            </a:extLst>
          </p:cNvPr>
          <p:cNvGrpSpPr/>
          <p:nvPr/>
        </p:nvGrpSpPr>
        <p:grpSpPr>
          <a:xfrm>
            <a:off x="574158" y="1376363"/>
            <a:ext cx="9585842" cy="4237037"/>
            <a:chOff x="457200" y="1160859"/>
            <a:chExt cx="8235696" cy="2654053"/>
          </a:xfrm>
        </p:grpSpPr>
        <p:pic>
          <p:nvPicPr>
            <p:cNvPr id="5" name="Image 0" descr="/tmp/rasterized-gradient-5239ece2.png">
              <a:extLst>
                <a:ext uri="{FF2B5EF4-FFF2-40B4-BE49-F238E27FC236}">
                  <a16:creationId xmlns:a16="http://schemas.microsoft.com/office/drawing/2014/main" id="{CA3C7305-EB65-9950-846F-F12302796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1160859"/>
              <a:ext cx="8229600" cy="365671"/>
            </a:xfrm>
            <a:prstGeom prst="rect">
              <a:avLst/>
            </a:prstGeom>
          </p:spPr>
        </p:pic>
        <p:sp>
          <p:nvSpPr>
            <p:cNvPr id="6" name="Text 1">
              <a:extLst>
                <a:ext uri="{FF2B5EF4-FFF2-40B4-BE49-F238E27FC236}">
                  <a16:creationId xmlns:a16="http://schemas.microsoft.com/office/drawing/2014/main" id="{2BDF81E3-ED5B-8DC9-2D3F-580A2E74271E}"/>
                </a:ext>
              </a:extLst>
            </p:cNvPr>
            <p:cNvSpPr/>
            <p:nvPr/>
          </p:nvSpPr>
          <p:spPr>
            <a:xfrm>
              <a:off x="609600" y="1218009"/>
              <a:ext cx="8083296" cy="251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98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Recommended materials to deepen your CV knowledge</a:t>
              </a:r>
              <a:endParaRPr lang="en-US" sz="2000" b="1" dirty="0">
                <a:latin typeface="Helvetica Neue Light"/>
              </a:endParaRPr>
            </a:p>
          </p:txBody>
        </p:sp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F8BDB654-8EE0-8076-540D-1D87F24A3D2C}"/>
                </a:ext>
              </a:extLst>
            </p:cNvPr>
            <p:cNvSpPr/>
            <p:nvPr/>
          </p:nvSpPr>
          <p:spPr>
            <a:xfrm>
              <a:off x="457200" y="1717030"/>
              <a:ext cx="2667000" cy="407640"/>
            </a:xfrm>
            <a:prstGeom prst="roundRect">
              <a:avLst>
                <a:gd name="adj" fmla="val 14020"/>
              </a:avLst>
            </a:prstGeom>
            <a:solidFill>
              <a:srgbClr val="0066B3"/>
            </a:solidFill>
            <a:ln/>
          </p:spPr>
          <p:txBody>
            <a:bodyPr wrap="square" rtlCol="0" anchor="ctr"/>
            <a:lstStyle/>
            <a:p>
              <a:endParaRPr lang="en-US" sz="2400">
                <a:latin typeface="Helvetica Neue Light"/>
              </a:endParaRPr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6B40224A-8B2F-565A-1424-6C48E6556CBE}"/>
                </a:ext>
              </a:extLst>
            </p:cNvPr>
            <p:cNvSpPr/>
            <p:nvPr/>
          </p:nvSpPr>
          <p:spPr>
            <a:xfrm>
              <a:off x="547116" y="1774180"/>
              <a:ext cx="2487168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1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Courses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F8579BB0-6E4C-F06A-B705-F7E37EBD86B4}"/>
                </a:ext>
              </a:extLst>
            </p:cNvPr>
            <p:cNvSpPr/>
            <p:nvPr/>
          </p:nvSpPr>
          <p:spPr>
            <a:xfrm>
              <a:off x="457200" y="2162770"/>
              <a:ext cx="2667000" cy="1095970"/>
            </a:xfrm>
            <a:prstGeom prst="roundRect">
              <a:avLst>
                <a:gd name="adj" fmla="val 5215"/>
              </a:avLst>
            </a:prstGeom>
            <a:solidFill>
              <a:srgbClr val="F5F7FA"/>
            </a:solidFill>
            <a:ln/>
          </p:spPr>
          <p:txBody>
            <a:bodyPr wrap="square" rtlCol="0" anchor="ctr"/>
            <a:lstStyle/>
            <a:p>
              <a:endParaRPr lang="en-US" sz="2400">
                <a:latin typeface="Helvetica Neue Light"/>
              </a:endParaRPr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2AEFA3D3-C191-0210-6E07-B82A91E94D63}"/>
                </a:ext>
              </a:extLst>
            </p:cNvPr>
            <p:cNvSpPr/>
            <p:nvPr/>
          </p:nvSpPr>
          <p:spPr>
            <a:xfrm>
              <a:off x="571500" y="2238970"/>
              <a:ext cx="2487168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  <a:spcAft>
                  <a:spcPts val="375"/>
                </a:spcAft>
              </a:pPr>
              <a:r>
                <a:rPr lang="en-US" sz="2000" dirty="0">
                  <a:solidFill>
                    <a:srgbClr val="5A6A7A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CS231n (Stanford)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EC436DD5-56F5-ACDE-FB9D-6883672F396D}"/>
                </a:ext>
              </a:extLst>
            </p:cNvPr>
            <p:cNvSpPr/>
            <p:nvPr/>
          </p:nvSpPr>
          <p:spPr>
            <a:xfrm>
              <a:off x="571500" y="2569369"/>
              <a:ext cx="2487168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  <a:spcAft>
                  <a:spcPts val="375"/>
                </a:spcAft>
              </a:pPr>
              <a:r>
                <a:rPr lang="en-US" sz="2000" dirty="0">
                  <a:solidFill>
                    <a:srgbClr val="5A6A7A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Fast.ai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07C0992F-A340-33D9-855D-C7990982EFBA}"/>
                </a:ext>
              </a:extLst>
            </p:cNvPr>
            <p:cNvSpPr/>
            <p:nvPr/>
          </p:nvSpPr>
          <p:spPr>
            <a:xfrm>
              <a:off x="571500" y="2899767"/>
              <a:ext cx="2487168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</a:pPr>
              <a:r>
                <a:rPr lang="en-US" sz="2000" dirty="0">
                  <a:solidFill>
                    <a:srgbClr val="5A6A7A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Coursera CV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2E258E8D-08A6-C0FE-E536-3A9AB89D15F1}"/>
                </a:ext>
              </a:extLst>
            </p:cNvPr>
            <p:cNvSpPr/>
            <p:nvPr/>
          </p:nvSpPr>
          <p:spPr>
            <a:xfrm>
              <a:off x="3238500" y="1717030"/>
              <a:ext cx="2667000" cy="407640"/>
            </a:xfrm>
            <a:prstGeom prst="roundRect">
              <a:avLst>
                <a:gd name="adj" fmla="val 14020"/>
              </a:avLst>
            </a:prstGeom>
            <a:solidFill>
              <a:srgbClr val="0066B3"/>
            </a:solidFill>
            <a:ln/>
          </p:spPr>
          <p:txBody>
            <a:bodyPr wrap="square" rtlCol="0" anchor="ctr"/>
            <a:lstStyle/>
            <a:p>
              <a:endParaRPr lang="en-US" sz="2400">
                <a:latin typeface="Helvetica Neue Light"/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0BBEEA45-C84A-D5DE-B85B-22CD868CFDA8}"/>
                </a:ext>
              </a:extLst>
            </p:cNvPr>
            <p:cNvSpPr/>
            <p:nvPr/>
          </p:nvSpPr>
          <p:spPr>
            <a:xfrm>
              <a:off x="3328416" y="1774180"/>
              <a:ext cx="2487168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1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Books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E8BE9518-B824-EDF1-C073-EA5EE99A999C}"/>
                </a:ext>
              </a:extLst>
            </p:cNvPr>
            <p:cNvSpPr/>
            <p:nvPr/>
          </p:nvSpPr>
          <p:spPr>
            <a:xfrm>
              <a:off x="3238500" y="2162770"/>
              <a:ext cx="2667000" cy="1095970"/>
            </a:xfrm>
            <a:prstGeom prst="roundRect">
              <a:avLst>
                <a:gd name="adj" fmla="val 5215"/>
              </a:avLst>
            </a:prstGeom>
            <a:solidFill>
              <a:srgbClr val="E8F4FC"/>
            </a:solidFill>
            <a:ln/>
          </p:spPr>
          <p:txBody>
            <a:bodyPr wrap="square" rtlCol="0" anchor="ctr"/>
            <a:lstStyle/>
            <a:p>
              <a:endParaRPr lang="en-US" sz="2400">
                <a:latin typeface="Helvetica Neue Light"/>
              </a:endParaRPr>
            </a:p>
          </p:txBody>
        </p: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55F16A51-8544-FD68-450E-35D73F0F5444}"/>
                </a:ext>
              </a:extLst>
            </p:cNvPr>
            <p:cNvSpPr/>
            <p:nvPr/>
          </p:nvSpPr>
          <p:spPr>
            <a:xfrm>
              <a:off x="3352800" y="2238970"/>
              <a:ext cx="2487168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  <a:spcAft>
                  <a:spcPts val="375"/>
                </a:spcAft>
              </a:pPr>
              <a:r>
                <a:rPr lang="en-US" sz="2000" dirty="0">
                  <a:solidFill>
                    <a:srgbClr val="5A6A7A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Goodfellow et al.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05DB7D26-2475-5065-F345-433CB4EC52AA}"/>
                </a:ext>
              </a:extLst>
            </p:cNvPr>
            <p:cNvSpPr/>
            <p:nvPr/>
          </p:nvSpPr>
          <p:spPr>
            <a:xfrm>
              <a:off x="3352800" y="2569369"/>
              <a:ext cx="2487168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  <a:spcAft>
                  <a:spcPts val="375"/>
                </a:spcAft>
              </a:pPr>
              <a:r>
                <a:rPr lang="en-US" sz="2000" dirty="0" err="1">
                  <a:solidFill>
                    <a:srgbClr val="5A6A7A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Szeliski</a:t>
              </a:r>
              <a:r>
                <a:rPr lang="en-US" sz="2000" dirty="0">
                  <a:solidFill>
                    <a:srgbClr val="5A6A7A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 CV book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73249E4F-3CA4-FAFB-FE89-475444F2C362}"/>
                </a:ext>
              </a:extLst>
            </p:cNvPr>
            <p:cNvSpPr/>
            <p:nvPr/>
          </p:nvSpPr>
          <p:spPr>
            <a:xfrm>
              <a:off x="6019800" y="1717030"/>
              <a:ext cx="2667000" cy="407640"/>
            </a:xfrm>
            <a:prstGeom prst="roundRect">
              <a:avLst>
                <a:gd name="adj" fmla="val 14020"/>
              </a:avLst>
            </a:prstGeom>
            <a:solidFill>
              <a:srgbClr val="0066B3"/>
            </a:solidFill>
            <a:ln/>
          </p:spPr>
          <p:txBody>
            <a:bodyPr wrap="square" rtlCol="0" anchor="ctr"/>
            <a:lstStyle/>
            <a:p>
              <a:endParaRPr lang="en-US" sz="2400">
                <a:latin typeface="Helvetica Neue Light"/>
              </a:endParaRPr>
            </a:p>
          </p:txBody>
        </p: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47278974-2F5B-7F52-1FCD-E58A3650984E}"/>
                </a:ext>
              </a:extLst>
            </p:cNvPr>
            <p:cNvSpPr/>
            <p:nvPr/>
          </p:nvSpPr>
          <p:spPr>
            <a:xfrm>
              <a:off x="6109716" y="1774180"/>
              <a:ext cx="2487168" cy="293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1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Practice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820EBE21-AC6A-6D93-0AE5-44C5FA0AF07B}"/>
                </a:ext>
              </a:extLst>
            </p:cNvPr>
            <p:cNvSpPr/>
            <p:nvPr/>
          </p:nvSpPr>
          <p:spPr>
            <a:xfrm>
              <a:off x="6019800" y="2162770"/>
              <a:ext cx="2667000" cy="1095970"/>
            </a:xfrm>
            <a:prstGeom prst="roundRect">
              <a:avLst>
                <a:gd name="adj" fmla="val 5215"/>
              </a:avLst>
            </a:prstGeom>
            <a:solidFill>
              <a:srgbClr val="F5F7FA"/>
            </a:solidFill>
            <a:ln/>
          </p:spPr>
          <p:txBody>
            <a:bodyPr wrap="square" rtlCol="0" anchor="ctr"/>
            <a:lstStyle/>
            <a:p>
              <a:endParaRPr lang="en-US" sz="2400">
                <a:latin typeface="Helvetica Neue Light"/>
              </a:endParaRPr>
            </a:p>
          </p:txBody>
        </p:sp>
        <p:sp>
          <p:nvSpPr>
            <p:cNvPr id="22" name="Text 17">
              <a:extLst>
                <a:ext uri="{FF2B5EF4-FFF2-40B4-BE49-F238E27FC236}">
                  <a16:creationId xmlns:a16="http://schemas.microsoft.com/office/drawing/2014/main" id="{E8E5115F-A49D-AA52-0BA2-61E97A2787BD}"/>
                </a:ext>
              </a:extLst>
            </p:cNvPr>
            <p:cNvSpPr/>
            <p:nvPr/>
          </p:nvSpPr>
          <p:spPr>
            <a:xfrm>
              <a:off x="6134100" y="2238970"/>
              <a:ext cx="2487168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  <a:spcAft>
                  <a:spcPts val="375"/>
                </a:spcAft>
              </a:pPr>
              <a:r>
                <a:rPr lang="en-US" sz="2000" dirty="0">
                  <a:solidFill>
                    <a:srgbClr val="5A6A7A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Kaggle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36" name="Text 19">
              <a:extLst>
                <a:ext uri="{FF2B5EF4-FFF2-40B4-BE49-F238E27FC236}">
                  <a16:creationId xmlns:a16="http://schemas.microsoft.com/office/drawing/2014/main" id="{5D6CE3E8-47B1-1E26-DCCA-8F0E31CB6E1F}"/>
                </a:ext>
              </a:extLst>
            </p:cNvPr>
            <p:cNvSpPr/>
            <p:nvPr/>
          </p:nvSpPr>
          <p:spPr>
            <a:xfrm>
              <a:off x="6109715" y="2645569"/>
              <a:ext cx="2487168" cy="2827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228"/>
                </a:lnSpc>
              </a:pPr>
              <a:r>
                <a:rPr lang="en-US" sz="2000" dirty="0">
                  <a:solidFill>
                    <a:srgbClr val="5A6A7A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Hugging Face</a:t>
              </a:r>
              <a:endParaRPr lang="en-US" sz="2000" dirty="0">
                <a:latin typeface="Helvetica Neue Light"/>
              </a:endParaRPr>
            </a:p>
          </p:txBody>
        </p:sp>
        <p:sp>
          <p:nvSpPr>
            <p:cNvPr id="37" name="Text 20">
              <a:extLst>
                <a:ext uri="{FF2B5EF4-FFF2-40B4-BE49-F238E27FC236}">
                  <a16:creationId xmlns:a16="http://schemas.microsoft.com/office/drawing/2014/main" id="{83337A60-DBCA-6E03-1D4E-A8F02D40BF50}"/>
                </a:ext>
              </a:extLst>
            </p:cNvPr>
            <p:cNvSpPr/>
            <p:nvPr/>
          </p:nvSpPr>
          <p:spPr>
            <a:xfrm>
              <a:off x="457200" y="3449241"/>
              <a:ext cx="8229600" cy="365671"/>
            </a:xfrm>
            <a:prstGeom prst="roundRect">
              <a:avLst>
                <a:gd name="adj" fmla="val 15629"/>
              </a:avLst>
            </a:prstGeom>
            <a:solidFill>
              <a:srgbClr val="F5F7FA"/>
            </a:solidFill>
            <a:ln/>
          </p:spPr>
          <p:txBody>
            <a:bodyPr wrap="square" rtlCol="0" anchor="ctr"/>
            <a:lstStyle/>
            <a:p>
              <a:endParaRPr lang="en-US" sz="2400">
                <a:latin typeface="Helvetica Neue Light"/>
              </a:endParaRPr>
            </a:p>
          </p:txBody>
        </p:sp>
        <p:sp>
          <p:nvSpPr>
            <p:cNvPr id="38" name="Shape 21">
              <a:extLst>
                <a:ext uri="{FF2B5EF4-FFF2-40B4-BE49-F238E27FC236}">
                  <a16:creationId xmlns:a16="http://schemas.microsoft.com/office/drawing/2014/main" id="{AF79FC42-9B83-7996-5DBD-880146C48A73}"/>
                </a:ext>
              </a:extLst>
            </p:cNvPr>
            <p:cNvSpPr/>
            <p:nvPr/>
          </p:nvSpPr>
          <p:spPr>
            <a:xfrm>
              <a:off x="476250" y="3449241"/>
              <a:ext cx="0" cy="365671"/>
            </a:xfrm>
            <a:prstGeom prst="line">
              <a:avLst/>
            </a:prstGeom>
            <a:noFill/>
            <a:ln w="38100">
              <a:solidFill>
                <a:srgbClr val="0066B3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Helvetica Neue Light"/>
              </a:endParaRPr>
            </a:p>
          </p:txBody>
        </p:sp>
        <p:sp>
          <p:nvSpPr>
            <p:cNvPr id="39" name="Text 22">
              <a:extLst>
                <a:ext uri="{FF2B5EF4-FFF2-40B4-BE49-F238E27FC236}">
                  <a16:creationId xmlns:a16="http://schemas.microsoft.com/office/drawing/2014/main" id="{F6B667A7-4EAA-D618-BD9D-862276B10069}"/>
                </a:ext>
              </a:extLst>
            </p:cNvPr>
            <p:cNvSpPr/>
            <p:nvPr/>
          </p:nvSpPr>
          <p:spPr>
            <a:xfrm>
              <a:off x="647700" y="3506391"/>
              <a:ext cx="8044434" cy="251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980"/>
                </a:lnSpc>
              </a:pPr>
              <a:r>
                <a:rPr lang="en-US" sz="2000" dirty="0">
                  <a:solidFill>
                    <a:srgbClr val="0066B3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Tip:</a:t>
              </a:r>
              <a:r>
                <a:rPr lang="en-US" sz="2000" dirty="0">
                  <a:solidFill>
                    <a:srgbClr val="1A1A1A"/>
                  </a:solidFill>
                  <a:latin typeface="Helvetica Neue Light"/>
                  <a:ea typeface="Calibri" panose="020F0502020204030204" pitchFamily="34" charset="0"/>
                  <a:cs typeface="Calibri" panose="020F0502020204030204" pitchFamily="34" charset="0"/>
                </a:rPr>
                <a:t> Build projects — hands-on experience accelerates learning</a:t>
              </a:r>
              <a:endParaRPr lang="en-US" sz="2000" dirty="0">
                <a:latin typeface="Helvetica Neue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7474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9561D-9A22-4E3E-8A38-DB763D59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E79F-6A60-54AC-9C0A-0CDE9BB59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Augmented Reality (AR), Virtual Reality (VR)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637CE-20A6-2726-AF35-01E358FA3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11277600" cy="5292545"/>
          </a:xfrm>
        </p:spPr>
        <p:txBody>
          <a:bodyPr>
            <a:normAutofit/>
          </a:bodyPr>
          <a:lstStyle/>
          <a:p>
            <a:r>
              <a:rPr lang="en-US"/>
              <a:t>In AR, computer vision helps overlay digital content onto the real world, </a:t>
            </a:r>
          </a:p>
          <a:p>
            <a:endParaRPr lang="en-US"/>
          </a:p>
          <a:p>
            <a:r>
              <a:rPr lang="en-US"/>
              <a:t>In VR, it analyzes the user's environment and movements to create a more realistic 	and interactive experience.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1A35B-0DA2-1C5E-21FC-A74FF1E1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63D28-5CD7-7F1A-EE61-D2C319161F16}"/>
              </a:ext>
            </a:extLst>
          </p:cNvPr>
          <p:cNvSpPr txBox="1"/>
          <p:nvPr/>
        </p:nvSpPr>
        <p:spPr>
          <a:xfrm>
            <a:off x="5631511" y="6624490"/>
            <a:ext cx="50591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65000"/>
                  </a:schemeClr>
                </a:solidFill>
              </a:rPr>
              <a:t>https://www.comet.com/site/blog/an-introduction-to-object-tracking-in-computer-vision/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2F857D3-66B9-E6F0-1FEB-B97931872FC3}"/>
              </a:ext>
            </a:extLst>
          </p:cNvPr>
          <p:cNvGrpSpPr/>
          <p:nvPr/>
        </p:nvGrpSpPr>
        <p:grpSpPr>
          <a:xfrm>
            <a:off x="2182254" y="3013874"/>
            <a:ext cx="7589520" cy="1828800"/>
            <a:chOff x="449910" y="2711455"/>
            <a:chExt cx="7589520" cy="1828800"/>
          </a:xfrm>
        </p:grpSpPr>
        <p:sp>
          <p:nvSpPr>
            <p:cNvPr id="4" name="Rounded Rectangle 2">
              <a:extLst>
                <a:ext uri="{FF2B5EF4-FFF2-40B4-BE49-F238E27FC236}">
                  <a16:creationId xmlns:a16="http://schemas.microsoft.com/office/drawing/2014/main" id="{A87E7389-2BC6-3D5C-A6D2-2C3A5ED98655}"/>
                </a:ext>
              </a:extLst>
            </p:cNvPr>
            <p:cNvSpPr/>
            <p:nvPr/>
          </p:nvSpPr>
          <p:spPr>
            <a:xfrm>
              <a:off x="449910" y="2711455"/>
              <a:ext cx="3657600" cy="1828800"/>
            </a:xfrm>
            <a:prstGeom prst="roundRect">
              <a:avLst/>
            </a:prstGeom>
            <a:solidFill>
              <a:srgbClr val="3498DB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8D442E-C4C5-BD5C-3D90-4C0C540435AA}"/>
                </a:ext>
              </a:extLst>
            </p:cNvPr>
            <p:cNvSpPr txBox="1"/>
            <p:nvPr/>
          </p:nvSpPr>
          <p:spPr>
            <a:xfrm>
              <a:off x="1167380" y="2711455"/>
              <a:ext cx="2222660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400" b="1"/>
              </a:pPr>
              <a:r>
                <a:rPr sz="1600"/>
                <a:t>Augmented Reality (AR)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71EF66-F00A-CC19-D8B0-20E973137D55}"/>
                </a:ext>
              </a:extLst>
            </p:cNvPr>
            <p:cNvSpPr txBox="1"/>
            <p:nvPr/>
          </p:nvSpPr>
          <p:spPr>
            <a:xfrm>
              <a:off x="632790" y="3168655"/>
              <a:ext cx="3238900" cy="10772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/>
              </a:pPr>
              <a:r>
                <a:rPr sz="1600"/>
                <a:t>• </a:t>
              </a:r>
              <a:r>
                <a:rPr lang="en-US" sz="1600"/>
                <a:t>Overlays</a:t>
              </a:r>
              <a:r>
                <a:rPr sz="1600"/>
                <a:t> digital on </a:t>
              </a:r>
              <a:r>
                <a:rPr lang="en-US" sz="1600"/>
                <a:t>the </a:t>
              </a:r>
              <a:r>
                <a:rPr sz="1600"/>
                <a:t>real world</a:t>
              </a:r>
            </a:p>
            <a:p>
              <a:pPr>
                <a:defRPr sz="1100"/>
              </a:pPr>
              <a:r>
                <a:rPr sz="1600"/>
                <a:t>• Requires scene understanding</a:t>
              </a:r>
            </a:p>
            <a:p>
              <a:pPr>
                <a:defRPr sz="1100"/>
              </a:pPr>
              <a:r>
                <a:rPr sz="1600"/>
                <a:t>• Object tracking &amp; anchoring</a:t>
              </a:r>
            </a:p>
            <a:p>
              <a:pPr>
                <a:defRPr sz="1100"/>
              </a:pPr>
              <a:r>
                <a:rPr sz="1600"/>
                <a:t>• Examples: </a:t>
              </a:r>
              <a:r>
                <a:rPr lang="en-US" sz="1600"/>
                <a:t>Pokémon</a:t>
              </a:r>
              <a:r>
                <a:rPr sz="1600"/>
                <a:t> Go, IKEA Place</a:t>
              </a:r>
            </a:p>
          </p:txBody>
        </p:sp>
        <p:sp>
          <p:nvSpPr>
            <p:cNvPr id="9" name="Rounded Rectangle 5">
              <a:extLst>
                <a:ext uri="{FF2B5EF4-FFF2-40B4-BE49-F238E27FC236}">
                  <a16:creationId xmlns:a16="http://schemas.microsoft.com/office/drawing/2014/main" id="{B2C93CFB-7412-161D-BD40-DF1570CDDC2E}"/>
                </a:ext>
              </a:extLst>
            </p:cNvPr>
            <p:cNvSpPr/>
            <p:nvPr/>
          </p:nvSpPr>
          <p:spPr>
            <a:xfrm>
              <a:off x="4381830" y="2711455"/>
              <a:ext cx="3657600" cy="1828800"/>
            </a:xfrm>
            <a:prstGeom prst="roundRect">
              <a:avLst/>
            </a:prstGeom>
            <a:solidFill>
              <a:srgbClr val="2ECC7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3CED03-3ADB-D203-A848-3B3D97F6EB9F}"/>
                </a:ext>
              </a:extLst>
            </p:cNvPr>
            <p:cNvSpPr txBox="1"/>
            <p:nvPr/>
          </p:nvSpPr>
          <p:spPr>
            <a:xfrm>
              <a:off x="5308684" y="2711455"/>
              <a:ext cx="1803891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400" b="1"/>
              </a:pPr>
              <a:r>
                <a:rPr sz="1600"/>
                <a:t>Virtual Reality (VR)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79BB359-1FD4-DFE7-58E3-804DA795A0CC}"/>
                </a:ext>
              </a:extLst>
            </p:cNvPr>
            <p:cNvSpPr txBox="1"/>
            <p:nvPr/>
          </p:nvSpPr>
          <p:spPr>
            <a:xfrm>
              <a:off x="4564710" y="3168655"/>
              <a:ext cx="3033395" cy="10772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/>
              </a:pPr>
              <a:r>
                <a:rPr sz="1600" dirty="0"/>
                <a:t>• Fully immersive digital world</a:t>
              </a:r>
            </a:p>
            <a:p>
              <a:pPr>
                <a:defRPr sz="1100"/>
              </a:pPr>
              <a:r>
                <a:rPr sz="1600" dirty="0"/>
                <a:t>• Head &amp; hand tracking</a:t>
              </a:r>
            </a:p>
            <a:p>
              <a:pPr>
                <a:defRPr sz="1100"/>
              </a:pPr>
              <a:r>
                <a:rPr sz="1600" dirty="0"/>
                <a:t>• Inside-out positioning</a:t>
              </a:r>
            </a:p>
            <a:p>
              <a:pPr>
                <a:defRPr sz="1100"/>
              </a:pPr>
              <a:r>
                <a:rPr sz="1600" dirty="0"/>
                <a:t>• Examples: </a:t>
              </a:r>
              <a:r>
                <a:rPr lang="en-US" sz="1600" dirty="0"/>
                <a:t>Meta Quest</a:t>
              </a:r>
              <a:r>
                <a:rPr sz="1600" dirty="0"/>
                <a:t>, HTC </a:t>
              </a:r>
              <a:r>
                <a:rPr sz="1600" dirty="0" err="1"/>
                <a:t>Vive</a:t>
              </a:r>
              <a:endParaRPr sz="16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703CFAD-0C6B-D110-EB31-587C5606A7D6}"/>
              </a:ext>
            </a:extLst>
          </p:cNvPr>
          <p:cNvGrpSpPr/>
          <p:nvPr/>
        </p:nvGrpSpPr>
        <p:grpSpPr>
          <a:xfrm>
            <a:off x="1844298" y="4997455"/>
            <a:ext cx="8359212" cy="1280160"/>
            <a:chOff x="320298" y="4997455"/>
            <a:chExt cx="8359212" cy="12801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AAF91A-F086-54A5-AB69-F7177DE75B3B}"/>
                </a:ext>
              </a:extLst>
            </p:cNvPr>
            <p:cNvSpPr txBox="1"/>
            <p:nvPr/>
          </p:nvSpPr>
          <p:spPr>
            <a:xfrm>
              <a:off x="2997325" y="4997455"/>
              <a:ext cx="3134769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400" b="1"/>
              </a:pPr>
              <a:r>
                <a:rPr sz="1600"/>
                <a:t>Computer Vision Techniques Used:</a:t>
              </a:r>
            </a:p>
          </p:txBody>
        </p:sp>
        <p:sp>
          <p:nvSpPr>
            <p:cNvPr id="13" name="Rounded Rectangle 9">
              <a:extLst>
                <a:ext uri="{FF2B5EF4-FFF2-40B4-BE49-F238E27FC236}">
                  <a16:creationId xmlns:a16="http://schemas.microsoft.com/office/drawing/2014/main" id="{21717BF4-1BDF-5552-5CC4-491CD395DADD}"/>
                </a:ext>
              </a:extLst>
            </p:cNvPr>
            <p:cNvSpPr/>
            <p:nvPr/>
          </p:nvSpPr>
          <p:spPr>
            <a:xfrm>
              <a:off x="320298" y="5418853"/>
              <a:ext cx="4401574" cy="365760"/>
            </a:xfrm>
            <a:prstGeom prst="roundRect">
              <a:avLst/>
            </a:prstGeom>
            <a:solidFill>
              <a:srgbClr val="ECF0F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/>
              </a:pPr>
              <a:r>
                <a:rPr sz="1600">
                  <a:solidFill>
                    <a:schemeClr val="tx1"/>
                  </a:solidFill>
                </a:rPr>
                <a:t>SLAM (Simultaneous Localization and Mapping)</a:t>
              </a:r>
            </a:p>
          </p:txBody>
        </p:sp>
        <p:sp>
          <p:nvSpPr>
            <p:cNvPr id="14" name="Rounded Rectangle 10">
              <a:extLst>
                <a:ext uri="{FF2B5EF4-FFF2-40B4-BE49-F238E27FC236}">
                  <a16:creationId xmlns:a16="http://schemas.microsoft.com/office/drawing/2014/main" id="{D44EA05F-DC25-B680-0F8D-3CF487B9F213}"/>
                </a:ext>
              </a:extLst>
            </p:cNvPr>
            <p:cNvSpPr/>
            <p:nvPr/>
          </p:nvSpPr>
          <p:spPr>
            <a:xfrm>
              <a:off x="4872942" y="5454655"/>
              <a:ext cx="3806568" cy="365760"/>
            </a:xfrm>
            <a:prstGeom prst="roundRect">
              <a:avLst/>
            </a:prstGeom>
            <a:solidFill>
              <a:srgbClr val="ECF0F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/>
              </a:pPr>
              <a:r>
                <a:rPr sz="1600">
                  <a:solidFill>
                    <a:schemeClr val="tx1"/>
                  </a:solidFill>
                </a:rPr>
                <a:t>Marker Detection and Tracking</a:t>
              </a:r>
            </a:p>
          </p:txBody>
        </p:sp>
        <p:sp>
          <p:nvSpPr>
            <p:cNvPr id="15" name="Rounded Rectangle 11">
              <a:extLst>
                <a:ext uri="{FF2B5EF4-FFF2-40B4-BE49-F238E27FC236}">
                  <a16:creationId xmlns:a16="http://schemas.microsoft.com/office/drawing/2014/main" id="{5607014D-A836-7425-0F6C-46450426DB32}"/>
                </a:ext>
              </a:extLst>
            </p:cNvPr>
            <p:cNvSpPr/>
            <p:nvPr/>
          </p:nvSpPr>
          <p:spPr>
            <a:xfrm>
              <a:off x="320298" y="5911855"/>
              <a:ext cx="4401574" cy="365760"/>
            </a:xfrm>
            <a:prstGeom prst="roundRect">
              <a:avLst/>
            </a:prstGeom>
            <a:solidFill>
              <a:srgbClr val="ECF0F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/>
              </a:pPr>
              <a:r>
                <a:rPr sz="1600">
                  <a:solidFill>
                    <a:schemeClr val="tx1"/>
                  </a:solidFill>
                </a:rPr>
                <a:t>Hand Gesture Recognition</a:t>
              </a:r>
            </a:p>
          </p:txBody>
        </p:sp>
        <p:sp>
          <p:nvSpPr>
            <p:cNvPr id="16" name="Rounded Rectangle 12">
              <a:extLst>
                <a:ext uri="{FF2B5EF4-FFF2-40B4-BE49-F238E27FC236}">
                  <a16:creationId xmlns:a16="http://schemas.microsoft.com/office/drawing/2014/main" id="{1B3027EC-9CAA-E3DE-ED69-BC4FC4B95B6C}"/>
                </a:ext>
              </a:extLst>
            </p:cNvPr>
            <p:cNvSpPr/>
            <p:nvPr/>
          </p:nvSpPr>
          <p:spPr>
            <a:xfrm>
              <a:off x="4872942" y="5911855"/>
              <a:ext cx="3806568" cy="365760"/>
            </a:xfrm>
            <a:prstGeom prst="roundRect">
              <a:avLst/>
            </a:prstGeom>
            <a:solidFill>
              <a:srgbClr val="ECF0F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/>
              </a:pPr>
              <a:r>
                <a:rPr sz="1600">
                  <a:solidFill>
                    <a:schemeClr val="tx1"/>
                  </a:solidFill>
                </a:rPr>
                <a:t>Eye Tracking for Foveated Rendering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67088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588E0-5179-2317-9784-E7AB5A264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11E92-9380-7EE3-02CB-B79930D9E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Augmented Reality (AR)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A6CF9-40DF-BF9B-6504-6EF9FCB28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11277600" cy="5292545"/>
          </a:xfrm>
        </p:spPr>
        <p:txBody>
          <a:bodyPr>
            <a:normAutofit/>
          </a:bodyPr>
          <a:lstStyle/>
          <a:p>
            <a:r>
              <a:rPr lang="en-US"/>
              <a:t>Object tracking identifies 2D objects and overlays virtual objects onto the natural world in AR applications.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4DBCA-8409-2CAD-DD9C-3B42A781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41CCB-426A-7C38-14F9-42566EE06386}"/>
              </a:ext>
            </a:extLst>
          </p:cNvPr>
          <p:cNvSpPr txBox="1"/>
          <p:nvPr/>
        </p:nvSpPr>
        <p:spPr>
          <a:xfrm>
            <a:off x="492860" y="6647442"/>
            <a:ext cx="50591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https://www.comet.com/site/blog/an-introduction-to-object-tracking-in-computer-vision/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25E965B-C394-AFDA-55BF-905D1B5B1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49" y="2196845"/>
            <a:ext cx="7708739" cy="433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6488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AR (Augmented Reality): Eulerian Video Magnification (2:55)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9E51C-BC8C-48E3-A66B-C89BCF96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3" name="Online Media 2" title="Revealing Invisible Changes In The World">
            <a:hlinkClick r:id="" action="ppaction://media"/>
            <a:extLst>
              <a:ext uri="{FF2B5EF4-FFF2-40B4-BE49-F238E27FC236}">
                <a16:creationId xmlns:a16="http://schemas.microsoft.com/office/drawing/2014/main" id="{495BD6D8-C369-4E80-B625-4AB93F68109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78684" y="1239129"/>
            <a:ext cx="9432824" cy="532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6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5B160-1781-9C8D-F153-E5AFEFD4D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F7327-AB83-7808-5E14-BB78DB97B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Computer Vision in Retail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3A38A-EB68-824C-1911-AC25729EF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11277600" cy="5292545"/>
          </a:xfrm>
        </p:spPr>
        <p:txBody>
          <a:bodyPr/>
          <a:lstStyle/>
          <a:p>
            <a:r>
              <a:rPr lang="en-US"/>
              <a:t>Transforming Shopping Experiences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DD91F-3759-8D17-8AC7-66CD96F4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51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A96836-E826-5D4A-76FE-30A6FE202F57}"/>
              </a:ext>
            </a:extLst>
          </p:cNvPr>
          <p:cNvGrpSpPr/>
          <p:nvPr/>
        </p:nvGrpSpPr>
        <p:grpSpPr>
          <a:xfrm>
            <a:off x="2085372" y="2162151"/>
            <a:ext cx="7772400" cy="2468880"/>
            <a:chOff x="561372" y="2162151"/>
            <a:chExt cx="7772400" cy="2468880"/>
          </a:xfrm>
        </p:grpSpPr>
        <p:sp>
          <p:nvSpPr>
            <p:cNvPr id="22" name="Rounded Rectangle 3">
              <a:extLst>
                <a:ext uri="{FF2B5EF4-FFF2-40B4-BE49-F238E27FC236}">
                  <a16:creationId xmlns:a16="http://schemas.microsoft.com/office/drawing/2014/main" id="{C7C51956-4D2C-0943-3C3C-001E1E44BCA1}"/>
                </a:ext>
              </a:extLst>
            </p:cNvPr>
            <p:cNvSpPr/>
            <p:nvPr/>
          </p:nvSpPr>
          <p:spPr>
            <a:xfrm>
              <a:off x="561372" y="2162151"/>
              <a:ext cx="3657600" cy="1097280"/>
            </a:xfrm>
            <a:prstGeom prst="roundRect">
              <a:avLst/>
            </a:prstGeom>
            <a:solidFill>
              <a:srgbClr val="2ECC7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F070697-50BC-8236-36C4-758596D46A3A}"/>
                </a:ext>
              </a:extLst>
            </p:cNvPr>
            <p:cNvSpPr/>
            <p:nvPr/>
          </p:nvSpPr>
          <p:spPr>
            <a:xfrm>
              <a:off x="744252" y="2345031"/>
              <a:ext cx="731520" cy="731520"/>
            </a:xfrm>
            <a:prstGeom prst="ellipse">
              <a:avLst/>
            </a:prstGeom>
            <a:solidFill>
              <a:srgbClr val="2ECC7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2000"/>
              </a:pPr>
              <a:r>
                <a:rPr sz="2000"/>
                <a:t>🛒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6A3ACAA-6295-BFDC-8088-BC99B3A9620D}"/>
                </a:ext>
              </a:extLst>
            </p:cNvPr>
            <p:cNvSpPr txBox="1"/>
            <p:nvPr/>
          </p:nvSpPr>
          <p:spPr>
            <a:xfrm>
              <a:off x="1658652" y="2345031"/>
              <a:ext cx="2129301" cy="5847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/>
              </a:pPr>
              <a:r>
                <a:rPr sz="1600"/>
                <a:t>Autonomous Checkout</a:t>
              </a:r>
            </a:p>
            <a:p>
              <a:pPr>
                <a:defRPr sz="1000">
                  <a:solidFill>
                    <a:srgbClr val="7F8C8D"/>
                  </a:solidFill>
                </a:defRPr>
              </a:pPr>
              <a:r>
                <a:rPr sz="1600">
                  <a:solidFill>
                    <a:schemeClr val="bg1"/>
                  </a:solidFill>
                </a:rPr>
                <a:t>No cashiers needed</a:t>
              </a:r>
            </a:p>
          </p:txBody>
        </p:sp>
        <p:sp>
          <p:nvSpPr>
            <p:cNvPr id="25" name="Rounded Rectangle 6">
              <a:extLst>
                <a:ext uri="{FF2B5EF4-FFF2-40B4-BE49-F238E27FC236}">
                  <a16:creationId xmlns:a16="http://schemas.microsoft.com/office/drawing/2014/main" id="{F8197519-B8C9-6D31-5B15-18673F4CC228}"/>
                </a:ext>
              </a:extLst>
            </p:cNvPr>
            <p:cNvSpPr/>
            <p:nvPr/>
          </p:nvSpPr>
          <p:spPr>
            <a:xfrm>
              <a:off x="4676172" y="2162151"/>
              <a:ext cx="3657600" cy="1097280"/>
            </a:xfrm>
            <a:prstGeom prst="roundRect">
              <a:avLst/>
            </a:prstGeom>
            <a:solidFill>
              <a:srgbClr val="2ECC7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92EC3CD-AB40-9714-ABEF-40F49AAACFBD}"/>
                </a:ext>
              </a:extLst>
            </p:cNvPr>
            <p:cNvSpPr/>
            <p:nvPr/>
          </p:nvSpPr>
          <p:spPr>
            <a:xfrm>
              <a:off x="4859052" y="2345031"/>
              <a:ext cx="731520" cy="731520"/>
            </a:xfrm>
            <a:prstGeom prst="ellipse">
              <a:avLst/>
            </a:prstGeom>
            <a:solidFill>
              <a:srgbClr val="2ECC7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2000"/>
              </a:pPr>
              <a:r>
                <a:rPr sz="2000"/>
                <a:t>📦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4066647-D85E-E776-B302-636B828592FF}"/>
                </a:ext>
              </a:extLst>
            </p:cNvPr>
            <p:cNvSpPr txBox="1"/>
            <p:nvPr/>
          </p:nvSpPr>
          <p:spPr>
            <a:xfrm>
              <a:off x="5773452" y="2345031"/>
              <a:ext cx="2190921" cy="5847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/>
              </a:pPr>
              <a:r>
                <a:rPr sz="1600"/>
                <a:t>Inventory Management</a:t>
              </a:r>
            </a:p>
            <a:p>
              <a:pPr>
                <a:defRPr sz="1000">
                  <a:solidFill>
                    <a:srgbClr val="7F8C8D"/>
                  </a:solidFill>
                </a:defRPr>
              </a:pPr>
              <a:r>
                <a:rPr sz="1600">
                  <a:solidFill>
                    <a:schemeClr val="bg1"/>
                  </a:solidFill>
                </a:rPr>
                <a:t>Real-time stock tracking</a:t>
              </a:r>
            </a:p>
          </p:txBody>
        </p:sp>
        <p:sp>
          <p:nvSpPr>
            <p:cNvPr id="28" name="Rounded Rectangle 9">
              <a:extLst>
                <a:ext uri="{FF2B5EF4-FFF2-40B4-BE49-F238E27FC236}">
                  <a16:creationId xmlns:a16="http://schemas.microsoft.com/office/drawing/2014/main" id="{B5A9A4CF-0F8F-39EE-6A13-EBE694BA2607}"/>
                </a:ext>
              </a:extLst>
            </p:cNvPr>
            <p:cNvSpPr/>
            <p:nvPr/>
          </p:nvSpPr>
          <p:spPr>
            <a:xfrm>
              <a:off x="561372" y="3533751"/>
              <a:ext cx="3657600" cy="1097280"/>
            </a:xfrm>
            <a:prstGeom prst="roundRect">
              <a:avLst/>
            </a:prstGeom>
            <a:solidFill>
              <a:srgbClr val="2ECC7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426E017-19BA-215E-AB42-841DA15EE755}"/>
                </a:ext>
              </a:extLst>
            </p:cNvPr>
            <p:cNvSpPr/>
            <p:nvPr/>
          </p:nvSpPr>
          <p:spPr>
            <a:xfrm>
              <a:off x="744252" y="3716631"/>
              <a:ext cx="731520" cy="731520"/>
            </a:xfrm>
            <a:prstGeom prst="ellipse">
              <a:avLst/>
            </a:prstGeom>
            <a:solidFill>
              <a:srgbClr val="2ECC7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2000"/>
              </a:pPr>
              <a:r>
                <a:rPr sz="2000"/>
                <a:t>📊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587047A-FC79-2CFE-E203-FE0E2063A600}"/>
                </a:ext>
              </a:extLst>
            </p:cNvPr>
            <p:cNvSpPr txBox="1"/>
            <p:nvPr/>
          </p:nvSpPr>
          <p:spPr>
            <a:xfrm>
              <a:off x="1658652" y="3716631"/>
              <a:ext cx="1826077" cy="5847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/>
              </a:pPr>
              <a:r>
                <a:rPr sz="1600"/>
                <a:t>Customer Analytics</a:t>
              </a:r>
            </a:p>
            <a:p>
              <a:pPr>
                <a:defRPr sz="1000">
                  <a:solidFill>
                    <a:srgbClr val="7F8C8D"/>
                  </a:solidFill>
                </a:defRPr>
              </a:pPr>
              <a:r>
                <a:rPr sz="1600">
                  <a:solidFill>
                    <a:schemeClr val="bg1"/>
                  </a:solidFill>
                </a:rPr>
                <a:t>Behavior patterns</a:t>
              </a:r>
            </a:p>
          </p:txBody>
        </p:sp>
        <p:sp>
          <p:nvSpPr>
            <p:cNvPr id="31" name="Rounded Rectangle 12">
              <a:extLst>
                <a:ext uri="{FF2B5EF4-FFF2-40B4-BE49-F238E27FC236}">
                  <a16:creationId xmlns:a16="http://schemas.microsoft.com/office/drawing/2014/main" id="{114ADD82-98BD-9CF2-D93B-FF8162B40799}"/>
                </a:ext>
              </a:extLst>
            </p:cNvPr>
            <p:cNvSpPr/>
            <p:nvPr/>
          </p:nvSpPr>
          <p:spPr>
            <a:xfrm>
              <a:off x="4676172" y="3533751"/>
              <a:ext cx="3657600" cy="1097280"/>
            </a:xfrm>
            <a:prstGeom prst="roundRect">
              <a:avLst/>
            </a:prstGeom>
            <a:solidFill>
              <a:srgbClr val="2ECC7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AC254B5-2EFC-D9C4-4D1C-414CB5A0B2CA}"/>
                </a:ext>
              </a:extLst>
            </p:cNvPr>
            <p:cNvSpPr/>
            <p:nvPr/>
          </p:nvSpPr>
          <p:spPr>
            <a:xfrm>
              <a:off x="4859052" y="3716631"/>
              <a:ext cx="731520" cy="731520"/>
            </a:xfrm>
            <a:prstGeom prst="ellipse">
              <a:avLst/>
            </a:prstGeom>
            <a:solidFill>
              <a:srgbClr val="2ECC7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2000"/>
              </a:pPr>
              <a:r>
                <a:rPr sz="2000"/>
                <a:t>🔒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67675D0-B2E0-B6CA-BB69-95CDD938638D}"/>
                </a:ext>
              </a:extLst>
            </p:cNvPr>
            <p:cNvSpPr txBox="1"/>
            <p:nvPr/>
          </p:nvSpPr>
          <p:spPr>
            <a:xfrm>
              <a:off x="5773452" y="3716631"/>
              <a:ext cx="2448940" cy="5847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/>
              </a:pPr>
              <a:r>
                <a:rPr sz="1600"/>
                <a:t>Security &amp; Loss Prevention</a:t>
              </a:r>
            </a:p>
            <a:p>
              <a:pPr>
                <a:defRPr sz="1000">
                  <a:solidFill>
                    <a:srgbClr val="7F8C8D"/>
                  </a:solidFill>
                </a:defRPr>
              </a:pPr>
              <a:r>
                <a:rPr sz="1600">
                  <a:solidFill>
                    <a:schemeClr val="bg1"/>
                  </a:solidFill>
                </a:rPr>
                <a:t>Theft detection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F74F987-201D-C261-2072-485FF5774176}"/>
              </a:ext>
            </a:extLst>
          </p:cNvPr>
          <p:cNvSpPr txBox="1"/>
          <p:nvPr/>
        </p:nvSpPr>
        <p:spPr>
          <a:xfrm>
            <a:off x="2542573" y="4996791"/>
            <a:ext cx="4946547" cy="1077218"/>
          </a:xfrm>
          <a:prstGeom prst="rect">
            <a:avLst/>
          </a:prstGeom>
          <a:solidFill>
            <a:srgbClr val="ECF0F1"/>
          </a:solidFill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sz="1600"/>
              <a:t>Amazon Go Example:</a:t>
            </a:r>
          </a:p>
          <a:p>
            <a:pPr lvl="1">
              <a:defRPr sz="1100"/>
            </a:pPr>
            <a:r>
              <a:rPr sz="1600"/>
              <a:t>• Uses hundreds of cameras with computer vision</a:t>
            </a:r>
          </a:p>
          <a:p>
            <a:pPr lvl="1">
              <a:defRPr sz="1100"/>
            </a:pPr>
            <a:r>
              <a:rPr sz="1600"/>
              <a:t>• Tracks what customers pick up and put back</a:t>
            </a:r>
          </a:p>
          <a:p>
            <a:pPr lvl="1">
              <a:defRPr sz="1100"/>
            </a:pPr>
            <a:r>
              <a:rPr sz="1600"/>
              <a:t>• Automatically charges customers when they leave</a:t>
            </a:r>
          </a:p>
        </p:txBody>
      </p:sp>
      <p:pic>
        <p:nvPicPr>
          <p:cNvPr id="2050" name="Picture 2" descr="Amazon Go Opens Its Doors in SF's ...">
            <a:extLst>
              <a:ext uri="{FF2B5EF4-FFF2-40B4-BE49-F238E27FC236}">
                <a16:creationId xmlns:a16="http://schemas.microsoft.com/office/drawing/2014/main" id="{5BB62DD0-7A94-1936-B3FA-3A9C88003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303" y="4872978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5033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5129"/>
            <a:ext cx="11679865" cy="646331"/>
          </a:xfrm>
        </p:spPr>
        <p:txBody>
          <a:bodyPr/>
          <a:lstStyle/>
          <a:p>
            <a:r>
              <a:rPr lang="en-US" dirty="0"/>
              <a:t>Image Manipulations: Mosaicking, Stitching, Panoramas (4:08)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433335-A8D5-42F3-80D2-B0332F3D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6" name="Online Media 5" title="OpenCV 3 Advanced Photo Manipulation : Stitching Images | packtpub.com">
            <a:hlinkClick r:id="" action="ppaction://media"/>
            <a:extLst>
              <a:ext uri="{FF2B5EF4-FFF2-40B4-BE49-F238E27FC236}">
                <a16:creationId xmlns:a16="http://schemas.microsoft.com/office/drawing/2014/main" id="{FAAE69DB-0E1A-4F45-99DE-1FA49E06A8E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24102" y="1376065"/>
            <a:ext cx="9103679" cy="512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2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Spherical Cameras  (3:48)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A0F25-D7D0-47C6-A911-CDFEF9B3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3" name="Online Media 2" title="A Month in 360 | GoPro Fusion">
            <a:hlinkClick r:id="" action="ppaction://media"/>
            <a:extLst>
              <a:ext uri="{FF2B5EF4-FFF2-40B4-BE49-F238E27FC236}">
                <a16:creationId xmlns:a16="http://schemas.microsoft.com/office/drawing/2014/main" id="{D8FE33B4-A30A-4329-986F-466A95F41FA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73360" y="1301637"/>
            <a:ext cx="8902745" cy="503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6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Manipulations: Watermarking, Steganography (4:13)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AF3EE-52C9-47BB-9780-0E0C89499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3" name="Online Media 2" title="Cryptography Fundamentals: Hiding Data Using Steganography">
            <a:hlinkClick r:id="" action="ppaction://media"/>
            <a:extLst>
              <a:ext uri="{FF2B5EF4-FFF2-40B4-BE49-F238E27FC236}">
                <a16:creationId xmlns:a16="http://schemas.microsoft.com/office/drawing/2014/main" id="{C49343B5-9199-4412-AA42-142B80D414F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37954" y="1376065"/>
            <a:ext cx="9056294" cy="511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75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2013 - 2022 Theme [1788630384749]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E70CC2E-7DFD-4665-8C88-8CD88E841060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a6967f8-a440-42a2-b029-a4e0e16f33f7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</TotalTime>
  <Words>2962</Words>
  <Application>Microsoft Office PowerPoint</Application>
  <PresentationFormat>Widescreen</PresentationFormat>
  <Paragraphs>602</Paragraphs>
  <Slides>54</Slides>
  <Notes>30</Notes>
  <HiddenSlides>0</HiddenSlides>
  <MMClips>10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Arial</vt:lpstr>
      <vt:lpstr>Baskerville SemiBold</vt:lpstr>
      <vt:lpstr>Calibri</vt:lpstr>
      <vt:lpstr>Cambria</vt:lpstr>
      <vt:lpstr>Courier New</vt:lpstr>
      <vt:lpstr>Helvetica Neue Light</vt:lpstr>
      <vt:lpstr>Palatino ET W02</vt:lpstr>
      <vt:lpstr>1_Office 2013 - 2022 Theme [1788630384749]</vt:lpstr>
      <vt:lpstr>think-cell Slide</vt:lpstr>
      <vt:lpstr>      ALY 3510  ·  Fall 2026  Lecture 7:   Computer Vision  </vt:lpstr>
      <vt:lpstr>Pre-Lecture Video: What is Computer Vision?  (7:33)</vt:lpstr>
      <vt:lpstr>Agenda</vt:lpstr>
      <vt:lpstr>What is Computer Vision (CV)?</vt:lpstr>
      <vt:lpstr>How We Capture Images</vt:lpstr>
      <vt:lpstr>How We Understand Images</vt:lpstr>
      <vt:lpstr>A Brief History of Computer Vision</vt:lpstr>
      <vt:lpstr>How Computers See Images</vt:lpstr>
      <vt:lpstr> Image Acquisition &amp; 3D Understanding</vt:lpstr>
      <vt:lpstr>Image Modalities: Many Ways to See</vt:lpstr>
      <vt:lpstr>Image Modalities: 1D Line Scan</vt:lpstr>
      <vt:lpstr>Image Modalities: 2D Sensors</vt:lpstr>
      <vt:lpstr>Image Modalities: 3D Imaging</vt:lpstr>
      <vt:lpstr>Camera Models: The Pinhole Camera</vt:lpstr>
      <vt:lpstr>Depth Cues: Stereo, Motion &amp; Structured Light</vt:lpstr>
      <vt:lpstr>BREAK: How Computer Vision Works (7:07)</vt:lpstr>
      <vt:lpstr>Single-View Depth Cues</vt:lpstr>
      <vt:lpstr>Scene Understanding: 3D Reconstruction</vt:lpstr>
      <vt:lpstr>3D Reconstruction: (1:47)</vt:lpstr>
      <vt:lpstr>Structured Light 3D Scanning</vt:lpstr>
      <vt:lpstr>3D Reconstruction - Structured Light (2:08)</vt:lpstr>
      <vt:lpstr>3D Reconstruction: Point Cloud (3:30)</vt:lpstr>
      <vt:lpstr>From Pixels to Understanding</vt:lpstr>
      <vt:lpstr>Traditional ML → Deep Learning (CNNs)</vt:lpstr>
      <vt:lpstr>Machine Learning Powers Modern Vision</vt:lpstr>
      <vt:lpstr>Core Vision Tasks</vt:lpstr>
      <vt:lpstr>Core Computer Vision Tasks</vt:lpstr>
      <vt:lpstr>Classification → Localization → Detection → Segmentation</vt:lpstr>
      <vt:lpstr>Segmentation: Types &amp; Architectures</vt:lpstr>
      <vt:lpstr>Object Detection Architectures</vt:lpstr>
      <vt:lpstr>Transformer-Based Detection (Video 1:36)</vt:lpstr>
      <vt:lpstr>Video, Motion &amp; Advanced Topics</vt:lpstr>
      <vt:lpstr>Object Tracking &amp; Motion Analysis</vt:lpstr>
      <vt:lpstr>Object Tracking</vt:lpstr>
      <vt:lpstr>Motion Detection</vt:lpstr>
      <vt:lpstr> Pose Estimation &amp; Face Recognition</vt:lpstr>
      <vt:lpstr>Evaluation Metrics</vt:lpstr>
      <vt:lpstr> Image Generation &amp; Vision-Language Models</vt:lpstr>
      <vt:lpstr>Real-World Impact</vt:lpstr>
      <vt:lpstr>Computer Vision Across Industries</vt:lpstr>
      <vt:lpstr>Datasets &amp; Challenges</vt:lpstr>
      <vt:lpstr>Challenges in Computer Vision</vt:lpstr>
      <vt:lpstr>Ethics &amp; Future Directions</vt:lpstr>
      <vt:lpstr>Summary</vt:lpstr>
      <vt:lpstr>Key Takeaways</vt:lpstr>
      <vt:lpstr>Appendix – Material for Self-Learning</vt:lpstr>
      <vt:lpstr>Resources for Further Learning</vt:lpstr>
      <vt:lpstr>Augmented Reality (AR), Virtual Reality (VR)</vt:lpstr>
      <vt:lpstr>Augmented Reality (AR)</vt:lpstr>
      <vt:lpstr>AR (Augmented Reality): Eulerian Video Magnification (2:55)</vt:lpstr>
      <vt:lpstr>Computer Vision in Retail</vt:lpstr>
      <vt:lpstr>Image Manipulations: Mosaicking, Stitching, Panoramas (4:08)</vt:lpstr>
      <vt:lpstr>Spherical Cameras  (3:48)</vt:lpstr>
      <vt:lpstr>Image Manipulations: Watermarking, Steganography (4:13)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– Level I</dc:title>
  <dc:subject/>
  <dc:creator>v.shapiro@northeastern.edu</dc:creator>
  <cp:keywords/>
  <dc:description/>
  <cp:lastModifiedBy>Matt Naughton</cp:lastModifiedBy>
  <cp:revision>2</cp:revision>
  <cp:lastPrinted>2016-05-10T18:03:23Z</cp:lastPrinted>
  <dcterms:created xsi:type="dcterms:W3CDTF">2015-10-08T16:21:21Z</dcterms:created>
  <dcterms:modified xsi:type="dcterms:W3CDTF">2026-10-28T16:16:26Z</dcterms:modified>
  <cp:category/>
</cp:coreProperties>
</file>