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handoutMasterIdLst>
    <p:handoutMasterId r:id="rId11"/>
  </p:handoutMasterIdLst>
  <p:sldIdLst>
    <p:sldId id="449" r:id="rId2"/>
    <p:sldId id="762" r:id="rId3"/>
    <p:sldId id="1029" r:id="rId4"/>
    <p:sldId id="891" r:id="rId5"/>
    <p:sldId id="880" r:id="rId6"/>
    <p:sldId id="1030" r:id="rId7"/>
    <p:sldId id="776" r:id="rId8"/>
    <p:sldId id="1028" r:id="rId9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piro, Vladimir" initials="SV" lastIdx="1" clrIdx="0">
    <p:extLst>
      <p:ext uri="{19B8F6BF-5375-455C-9EA6-DF929625EA0E}">
        <p15:presenceInfo xmlns:p15="http://schemas.microsoft.com/office/powerpoint/2012/main" userId="S::vladisha@northeastern.edu::487b986e-9dea-4ba8-b33e-8d9a67ec1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CA087-C2C8-4BDF-BB6C-7A8536D68F30}" v="1" dt="2026-09-26T13:57:24.2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28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20C3D-B18F-408C-AB7E-3E832705066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81ED-B271-4688-BA18-CA7E4726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9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DE9AC-4BE4-4D3A-A0A7-E4076EE786F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F66-ACA7-4F65-9AFB-6946E0F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4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4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00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DC72-4F2F-9EEA-807E-0AC1C50A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645E-EF5F-7FE0-C2BD-9874218DB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045B7-8835-F03B-CED1-65EA68165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7399E-C637-35D0-AC23-1CF2D205C1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16A7D-941E-0703-E02C-3C19A1C2F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46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9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85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8F6C-B99C-02DD-CAA1-E8B5CA6A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7D702-60DD-6139-38A0-A013A4796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4FF4-E42B-14B1-A9C3-6C62194F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B3CA-8FB2-1F68-4067-2EEDACB7A9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1A915-1DAB-E5B5-ED79-8D650F179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94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2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3FDC-0369-3EE6-5768-2FBD0866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71C97-99C4-938E-BDC4-E05D86A74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8A866-100A-EBD2-0036-31A30FDDC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0B968-9C65-25C5-3A11-DF99428883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EE803-192E-B992-593F-A4968CC90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80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5637"/>
            <a:ext cx="7772400" cy="1754326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3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D082245-D0FD-47B0-A037-C26B7F228C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0594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D082245-D0FD-47B0-A037-C26B7F22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1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0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4057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57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1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9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4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0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B6FECB2-520B-4294-ACE6-32A45264D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857783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47" imgH="348" progId="TCLayout.ActiveDocument.1">
                  <p:embed/>
                </p:oleObj>
              </mc:Choice>
              <mc:Fallback>
                <p:oleObj name="think-cell Slide" r:id="rId15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B6FECB2-520B-4294-ACE6-32A45264D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hap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8D878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646331"/>
          </a:xfrm>
          <a:prstGeom prst="rect">
            <a:avLst/>
          </a:prstGeom>
        </p:spPr>
        <p:txBody>
          <a:bodyPr vert="horz" lIns="45720" tIns="45720" rIns="4572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5454"/>
            <a:ext cx="8229600" cy="52925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52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CB2026"/>
          </a:solidFill>
          <a:latin typeface="Baskerville SemiBold" charset="0"/>
          <a:ea typeface="Baskerville SemiBold" charset="0"/>
          <a:cs typeface="Baskerville SemiBold" charset="0"/>
        </a:defRPr>
      </a:lvl1pPr>
    </p:titleStyle>
    <p:bodyStyle>
      <a:lvl1pPr marL="234950" indent="-23495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1pPr>
      <a:lvl2pPr marL="57785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2pPr>
      <a:lvl3pPr marL="919163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3pPr>
      <a:lvl4pPr marL="1260475" indent="-227013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4pPr>
      <a:lvl5pPr marL="1601788" indent="-227013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385794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Baskerville SemiBold"/>
              </a:rPr>
              <a:t>ALY 3510 	AI Foundations: </a:t>
            </a:r>
            <a:br>
              <a:rPr lang="en-US" sz="3600" dirty="0">
                <a:latin typeface="Baskerville SemiBold"/>
              </a:rPr>
            </a:br>
            <a:r>
              <a:rPr lang="en-US" sz="3600" dirty="0">
                <a:latin typeface="Baskerville SemiBold"/>
              </a:rPr>
              <a:t>		An Interdisciplinary Approach</a:t>
            </a:r>
            <a:br>
              <a:rPr lang="en-US" sz="4000" dirty="0">
                <a:latin typeface="Baskerville SemiBold"/>
              </a:rPr>
            </a:br>
            <a:br>
              <a:rPr lang="en-US" sz="4000" dirty="0"/>
            </a:br>
            <a:r>
              <a:rPr lang="en-US" sz="2400" dirty="0">
                <a:latin typeface="Baskerville SemiBold"/>
              </a:rPr>
              <a:t>Week 3: </a:t>
            </a:r>
            <a:br>
              <a:rPr lang="en-US" sz="2400" dirty="0"/>
            </a:br>
            <a:r>
              <a:rPr lang="en-US" sz="2400" dirty="0">
                <a:latin typeface="Baskerville SemiBold"/>
              </a:rPr>
              <a:t>	</a:t>
            </a:r>
            <a:r>
              <a:rPr lang="en-US" sz="3100" dirty="0">
                <a:latin typeface="Baskerville SemiBold"/>
              </a:rPr>
              <a:t>Feedback</a:t>
            </a:r>
            <a:br>
              <a:rPr lang="en-US" sz="2400" dirty="0">
                <a:latin typeface="Baskerville SemiBold"/>
              </a:rPr>
            </a:br>
            <a:br>
              <a:rPr lang="en-US" sz="2400" dirty="0"/>
            </a:br>
            <a:r>
              <a:rPr lang="en-US" sz="2400" dirty="0">
                <a:latin typeface="Baskerville SemiBold"/>
              </a:rPr>
              <a:t>Session/Section: 	Fall 2026</a:t>
            </a:r>
            <a:br>
              <a:rPr lang="en-US" sz="2400" dirty="0"/>
            </a:br>
            <a:r>
              <a:rPr lang="en-US" sz="2400" dirty="0">
                <a:latin typeface="Baskerville SemiBold"/>
              </a:rPr>
              <a:t>Instructor:  		Vladimir Shapiro</a:t>
            </a:r>
            <a:br>
              <a:rPr lang="en-US" sz="2400" dirty="0">
                <a:latin typeface="Calibri Light"/>
                <a:cs typeface="Calibri Light"/>
              </a:rPr>
            </a:br>
            <a:endParaRPr lang="en-US" sz="2400" dirty="0"/>
          </a:p>
        </p:txBody>
      </p:sp>
      <p:pic>
        <p:nvPicPr>
          <p:cNvPr id="4" name="Picture 3" descr="Image result for northeastern logo" title="Logo">
            <a:extLst>
              <a:ext uri="{FF2B5EF4-FFF2-40B4-BE49-F238E27FC236}">
                <a16:creationId xmlns:a16="http://schemas.microsoft.com/office/drawing/2014/main" id="{81B0B0B8-8116-4011-A6C1-42E6C07960E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885" y="5791200"/>
            <a:ext cx="2698115" cy="9626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E88DC-BC17-4108-B0AE-E05EFC8C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0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153400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/>
              </a:rPr>
              <a:t>Going well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Good combination of authentic thinking and research by some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Good grasp of the Symbolic/Rule-based AI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Nice projection of the concept to relevant industries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Good understanding of the challenges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Sharing useful videos is welcome</a:t>
            </a: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/>
            </a:br>
            <a:r>
              <a:rPr lang="en-US" sz="2400">
                <a:latin typeface="Baskerville SemiBold"/>
              </a:rPr>
              <a:t>Reflection Journal</a:t>
            </a:r>
            <a:endParaRPr lang="en-US">
              <a:latin typeface="Baskerville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CDB9-D6A5-4828-A334-266AD3F2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128" y="100650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F0A-939E-4DDA-9F7D-FEE79939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4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B7BFB-ABBD-37FC-1BC2-BBF823D5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CD08-49D6-7B66-B928-E80B3DED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153400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/>
              </a:rPr>
              <a:t>Going well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Good formatting (Nathaniel, Tyrie, Dan, </a:t>
            </a:r>
            <a:r>
              <a:rPr lang="en-US" sz="1800" dirty="0" err="1">
                <a:cs typeface="Arial"/>
              </a:rPr>
              <a:t>Luizza</a:t>
            </a:r>
            <a:r>
              <a:rPr lang="en-US" sz="1800" dirty="0">
                <a:cs typeface="Arial"/>
              </a:rPr>
              <a:t>) – APA, formatting, sections, headings in boldface</a:t>
            </a: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CC9D1-C521-558C-EA3E-562D92D3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/>
            </a:br>
            <a:r>
              <a:rPr lang="en-US" sz="2400">
                <a:latin typeface="Baskerville SemiBold"/>
              </a:rPr>
              <a:t>Reflection Journal</a:t>
            </a:r>
            <a:endParaRPr lang="en-US">
              <a:latin typeface="Baskerville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26DB8-FD88-391F-71C5-683F63771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128" y="100650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F5CA9-F6A4-C1B8-0FAE-0DD31838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036E0-4896-8D68-2A9A-E27303399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238" y="2639671"/>
            <a:ext cx="3643693" cy="4067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3F3B54-74DC-57B0-41DA-0BD43F63F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843" y="2538920"/>
            <a:ext cx="2922752" cy="4168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786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458201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/>
              </a:rPr>
              <a:t>To improve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The vast majority defined AI as "pattern recognition", "model training", " neural networks". </a:t>
            </a:r>
            <a:r>
              <a:rPr lang="en-US" sz="1800">
                <a:cs typeface="Arial"/>
              </a:rPr>
              <a:t>I admire their </a:t>
            </a:r>
            <a:r>
              <a:rPr lang="en-US" sz="1800" dirty="0">
                <a:cs typeface="Arial"/>
              </a:rPr>
              <a:t>seeing the future …</a:t>
            </a:r>
            <a:r>
              <a:rPr lang="en-US" sz="1800" dirty="0">
                <a:cs typeface="Arial"/>
                <a:sym typeface="Wingdings" panose="05000000000000000000" pitchFamily="2" charset="2"/>
              </a:rPr>
              <a:t>, but this is not how Symbolic AI works…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  <a:sym typeface="Wingdings" panose="05000000000000000000" pitchFamily="2" charset="2"/>
              </a:rPr>
              <a:t>Explaining to a non-technical friend is a challenge. Cannot use sophisticated technical terminology…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  <a:sym typeface="Wingdings" panose="05000000000000000000" pitchFamily="2" charset="2"/>
              </a:rPr>
              <a:t>Visuals could be helpful.</a:t>
            </a:r>
          </a:p>
          <a:p>
            <a:pPr lvl="1"/>
            <a:r>
              <a:rPr lang="en-US" sz="1800" dirty="0"/>
              <a:t>It would be nice to link the reflections to the previous lecture and the material we studied earlier.</a:t>
            </a:r>
          </a:p>
          <a:p>
            <a:pPr lvl="1"/>
            <a:r>
              <a:rPr lang="en-US" sz="1800" dirty="0"/>
              <a:t>Splitting a huge chunk of text into meaningful paragraphs helps readers comprehend the material.</a:t>
            </a:r>
          </a:p>
          <a:p>
            <a:pPr lvl="1"/>
            <a:r>
              <a:rPr lang="en-US" sz="1800" dirty="0"/>
              <a:t>Backing up your reflections with external sources would be beneficial.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>
              <a:lnSpc>
                <a:spcPct val="100000"/>
              </a:lnSpc>
            </a:pPr>
            <a:endParaRPr lang="en-US" sz="1800" dirty="0">
              <a:cs typeface="Arial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>
                <a:latin typeface="Baskerville SemiBold"/>
              </a:rPr>
            </a:br>
            <a:r>
              <a:rPr lang="en-US" sz="2400">
                <a:latin typeface="Baskerville SemiBold"/>
              </a:rPr>
              <a:t>Reflection Journal</a:t>
            </a:r>
            <a:endParaRPr lang="en-US">
              <a:latin typeface="Baskerville SemiBo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F0A-939E-4DDA-9F7D-FEE79939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0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3886201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Reasoning logic types seem to be well understood.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Some original examples (e.g., “Stranger Things”, “Dune” movies).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Some attempted to combine various types of reasoning.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Personal view is appreciated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APA style: Brandon, Max, others -&gt;</a:t>
            </a: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/>
            </a:br>
            <a:r>
              <a:rPr lang="en-US" sz="2400">
                <a:latin typeface="Baskerville SemiBold"/>
              </a:rPr>
              <a:t>Assignment</a:t>
            </a:r>
            <a:endParaRPr lang="en-US">
              <a:latin typeface="Baskerville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CDB9-D6A5-4828-A334-266AD3F2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066" y="61334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C3EA-9CFF-4A56-9495-996257B4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DA9C38-CE36-82EB-BA8C-90C0F3019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580" y="2269068"/>
            <a:ext cx="4285135" cy="3975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384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8321-69A0-F43F-B3AC-B46C8CBB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93F88-AF0E-AEF6-AEF3-5C9EC72E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3886201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/>
              </a:rPr>
              <a:t>Using visuals (Nathaniel, Dan, </a:t>
            </a:r>
            <a:r>
              <a:rPr lang="en-US" sz="1800" dirty="0" err="1">
                <a:cs typeface="Arial"/>
              </a:rPr>
              <a:t>Luizza</a:t>
            </a:r>
            <a:r>
              <a:rPr lang="en-US" sz="1800" dirty="0">
                <a:cs typeface="Arial"/>
              </a:rPr>
              <a:t>, Lichan, </a:t>
            </a:r>
            <a:r>
              <a:rPr lang="en-US" sz="1800" dirty="0" err="1">
                <a:cs typeface="Arial"/>
              </a:rPr>
              <a:t>Qiantao</a:t>
            </a:r>
            <a:r>
              <a:rPr lang="en-US" sz="1800" dirty="0">
                <a:cs typeface="Arial"/>
              </a:rPr>
              <a:t>):</a:t>
            </a: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56A13-A590-71A6-AE81-7C4ADEA2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/>
            </a:br>
            <a:r>
              <a:rPr lang="en-US" sz="2400">
                <a:latin typeface="Baskerville SemiBold"/>
              </a:rPr>
              <a:t>Assignment</a:t>
            </a:r>
            <a:endParaRPr lang="en-US">
              <a:latin typeface="Baskerville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49A6C-1D95-AB8B-DB80-A09E9E304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066" y="61334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0B0F-92B5-8869-8440-453E0893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75EAB4-124F-1149-6522-C4AE673B7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438" y="2500008"/>
            <a:ext cx="5278167" cy="3992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C65A39-2BB4-57E2-DBBF-16B1E434F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22" y="3073941"/>
            <a:ext cx="3369643" cy="3482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30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422513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helvetica neue light"/>
                <a:cs typeface="Arial"/>
              </a:rPr>
              <a:t>To improve – formal matters</a:t>
            </a:r>
            <a:endParaRPr lang="en-US" sz="1800" dirty="0"/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helvetica neue light"/>
                <a:cs typeface="Arial"/>
              </a:rPr>
              <a:t>Late/Missing submissions</a:t>
            </a:r>
          </a:p>
          <a:p>
            <a:pPr lvl="1">
              <a:lnSpc>
                <a:spcPct val="100000"/>
              </a:lnSpc>
            </a:pPr>
            <a:endParaRPr lang="en-US" sz="1800" dirty="0">
              <a:latin typeface="helvetica neue light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 neue light"/>
                <a:cs typeface="Arial"/>
              </a:rPr>
              <a:t>The assignment solution should follow this structure: Title Page, Introduction, Body/Analysis (where the solution should go), Conclusions, and References.  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 neue light"/>
                <a:cs typeface="Arial"/>
              </a:rPr>
              <a:t>The requirement was to use the numbers above in your answers (i.e., A1, A2, etc.). It applies to A1a, A1b, etc.  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 neue light"/>
                <a:cs typeface="Arial"/>
              </a:rPr>
              <a:t>It was requested that the questions/tasks be repeated “verbatim” in full. 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 neue light"/>
                <a:cs typeface="Arial"/>
              </a:rPr>
              <a:t>All figure/table captions, references, and citations at the sentence level must follow the APA format. 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 neue light"/>
                <a:cs typeface="Arial"/>
              </a:rPr>
              <a:t>Visuals would be welcome. </a:t>
            </a: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2000" dirty="0">
              <a:cs typeface="Arial" panose="020B0604020202020204" pitchFamily="34" charset="0"/>
            </a:endParaRPr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/>
            </a:br>
            <a:r>
              <a:rPr lang="en-US" sz="2400">
                <a:latin typeface="Baskerville SemiBold"/>
              </a:rPr>
              <a:t>Assignment</a:t>
            </a:r>
            <a:endParaRPr lang="en-US">
              <a:latin typeface="Baskerville SemiBold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C3EA-9CFF-4A56-9495-996257B4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1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4483-A4C5-7758-3960-B15F9F9A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D112D-96F5-989B-54CF-52A134C2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8565985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  <a:latin typeface="helvetica neue light"/>
                <a:cs typeface="Arial"/>
              </a:rPr>
              <a:t>Late/Missing submissions</a:t>
            </a:r>
          </a:p>
          <a:p>
            <a:pPr marL="0" indent="0">
              <a:buNone/>
            </a:pPr>
            <a:endParaRPr lang="en-US" sz="2000">
              <a:cs typeface="Arial"/>
            </a:endParaRPr>
          </a:p>
          <a:p>
            <a:pPr marL="0" indent="0">
              <a:buNone/>
            </a:pPr>
            <a:r>
              <a:rPr lang="en-US" sz="2000">
                <a:cs typeface="Arial"/>
              </a:rPr>
              <a:t>Primarily high-grades</a:t>
            </a:r>
            <a:endParaRPr lang="en-US"/>
          </a:p>
          <a:p>
            <a:pPr marL="0" indent="0">
              <a:buNone/>
            </a:pPr>
            <a:endParaRPr lang="en-US" sz="200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cs typeface="Arial"/>
              </a:rPr>
              <a:t>Any issues or concerns?</a:t>
            </a:r>
            <a:endParaRPr lang="en-US" sz="200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2000">
              <a:cs typeface="Arial" panose="020B0604020202020204" pitchFamily="34" charset="0"/>
            </a:endParaRPr>
          </a:p>
          <a:p>
            <a:pPr marL="918845" lvl="2">
              <a:lnSpc>
                <a:spcPct val="100000"/>
              </a:lnSpc>
            </a:pPr>
            <a:endParaRPr lang="en-US" sz="180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0E5F5-A928-A429-E2C8-2670C61B6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>
                <a:latin typeface="Baskerville SemiBold"/>
              </a:rPr>
              <a:t>Feedback - Week </a:t>
            </a:r>
            <a:r>
              <a:rPr lang="en-US">
                <a:latin typeface="Baskerville SemiBold"/>
              </a:rPr>
              <a:t>2</a:t>
            </a:r>
            <a:br>
              <a:rPr lang="en-US"/>
            </a:br>
            <a:r>
              <a:rPr lang="en-US" sz="2400">
                <a:latin typeface="Baskerville SemiBold"/>
              </a:rPr>
              <a:t>Quiz</a:t>
            </a:r>
            <a:endParaRPr lang="en-US">
              <a:latin typeface="Baskerville SemiBold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E22B-F26A-740D-1B0A-4DB0A664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050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vel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Level.thmx</Template>
  <TotalTime>338</TotalTime>
  <Words>447</Words>
  <Application>Microsoft Office PowerPoint</Application>
  <PresentationFormat>On-screen Show (4:3)</PresentationFormat>
  <Paragraphs>80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Baskerville SemiBold</vt:lpstr>
      <vt:lpstr>Calibri</vt:lpstr>
      <vt:lpstr>Calibri Light</vt:lpstr>
      <vt:lpstr>Helvetica Neue</vt:lpstr>
      <vt:lpstr>Helvetica Neue Light</vt:lpstr>
      <vt:lpstr>Helvetica Neue Light</vt:lpstr>
      <vt:lpstr>Level</vt:lpstr>
      <vt:lpstr>think-cell Slide</vt:lpstr>
      <vt:lpstr>ALY 3510  AI Foundations:    An Interdisciplinary Approach  Week 3:   Feedback  Session/Section:  Fall 2026 Instructor:    Vladimir Shapiro </vt:lpstr>
      <vt:lpstr>Feedback - Week 2 Reflection Journal</vt:lpstr>
      <vt:lpstr>Feedback - Week 2 Reflection Journal</vt:lpstr>
      <vt:lpstr>Feedback - Week 2 Reflection Journal</vt:lpstr>
      <vt:lpstr>Feedback - Week 2 Assignment</vt:lpstr>
      <vt:lpstr>Feedback - Week 2 Assignment</vt:lpstr>
      <vt:lpstr>Feedback - Week 2 Assignment</vt:lpstr>
      <vt:lpstr>Feedback - Week 2 Quiz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Level I</dc:title>
  <dc:subject/>
  <dc:creator>v.shapiro@northeastern.edu</dc:creator>
  <cp:keywords/>
  <dc:description/>
  <cp:lastModifiedBy>Matt Naughton</cp:lastModifiedBy>
  <cp:revision>6</cp:revision>
  <cp:lastPrinted>2016-05-10T18:03:23Z</cp:lastPrinted>
  <dcterms:created xsi:type="dcterms:W3CDTF">2015-10-08T16:21:21Z</dcterms:created>
  <dcterms:modified xsi:type="dcterms:W3CDTF">2026-09-28T00:36:12Z</dcterms:modified>
  <cp:category/>
</cp:coreProperties>
</file>