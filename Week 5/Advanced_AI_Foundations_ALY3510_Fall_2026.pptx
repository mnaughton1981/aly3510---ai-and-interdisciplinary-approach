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99" r:id="rId2"/>
  </p:sldMasterIdLst>
  <p:notesMasterIdLst>
    <p:notesMasterId r:id="rId126"/>
  </p:notesMasterIdLst>
  <p:handoutMasterIdLst>
    <p:handoutMasterId r:id="rId127"/>
  </p:handoutMasterIdLst>
  <p:sldIdLst>
    <p:sldId id="449" r:id="rId3"/>
    <p:sldId id="491" r:id="rId4"/>
    <p:sldId id="801" r:id="rId5"/>
    <p:sldId id="861" r:id="rId6"/>
    <p:sldId id="862" r:id="rId7"/>
    <p:sldId id="949" r:id="rId8"/>
    <p:sldId id="865" r:id="rId9"/>
    <p:sldId id="966" r:id="rId10"/>
    <p:sldId id="967" r:id="rId11"/>
    <p:sldId id="968" r:id="rId12"/>
    <p:sldId id="867" r:id="rId13"/>
    <p:sldId id="950" r:id="rId14"/>
    <p:sldId id="971" r:id="rId15"/>
    <p:sldId id="970" r:id="rId16"/>
    <p:sldId id="871" r:id="rId17"/>
    <p:sldId id="951" r:id="rId18"/>
    <p:sldId id="973" r:id="rId19"/>
    <p:sldId id="972" r:id="rId20"/>
    <p:sldId id="974" r:id="rId21"/>
    <p:sldId id="875" r:id="rId22"/>
    <p:sldId id="952" r:id="rId23"/>
    <p:sldId id="975" r:id="rId24"/>
    <p:sldId id="979" r:id="rId25"/>
    <p:sldId id="978" r:id="rId26"/>
    <p:sldId id="977" r:id="rId27"/>
    <p:sldId id="880" r:id="rId28"/>
    <p:sldId id="953" r:id="rId29"/>
    <p:sldId id="976" r:id="rId30"/>
    <p:sldId id="981" r:id="rId31"/>
    <p:sldId id="980" r:id="rId32"/>
    <p:sldId id="983" r:id="rId33"/>
    <p:sldId id="882" r:id="rId34"/>
    <p:sldId id="954" r:id="rId35"/>
    <p:sldId id="982" r:id="rId36"/>
    <p:sldId id="985" r:id="rId37"/>
    <p:sldId id="984" r:id="rId38"/>
    <p:sldId id="986" r:id="rId39"/>
    <p:sldId id="892" r:id="rId40"/>
    <p:sldId id="956" r:id="rId41"/>
    <p:sldId id="955" r:id="rId42"/>
    <p:sldId id="987" r:id="rId43"/>
    <p:sldId id="993" r:id="rId44"/>
    <p:sldId id="988" r:id="rId45"/>
    <p:sldId id="992" r:id="rId46"/>
    <p:sldId id="994" r:id="rId47"/>
    <p:sldId id="890" r:id="rId48"/>
    <p:sldId id="957" r:id="rId49"/>
    <p:sldId id="998" r:id="rId50"/>
    <p:sldId id="1002" r:id="rId51"/>
    <p:sldId id="999" r:id="rId52"/>
    <p:sldId id="898" r:id="rId53"/>
    <p:sldId id="958" r:id="rId54"/>
    <p:sldId id="1000" r:id="rId55"/>
    <p:sldId id="1001" r:id="rId56"/>
    <p:sldId id="1008" r:id="rId57"/>
    <p:sldId id="904" r:id="rId58"/>
    <p:sldId id="959" r:id="rId59"/>
    <p:sldId id="1007" r:id="rId60"/>
    <p:sldId id="1003" r:id="rId61"/>
    <p:sldId id="1004" r:id="rId62"/>
    <p:sldId id="1005" r:id="rId63"/>
    <p:sldId id="911" r:id="rId64"/>
    <p:sldId id="912" r:id="rId65"/>
    <p:sldId id="1006" r:id="rId66"/>
    <p:sldId id="1009" r:id="rId67"/>
    <p:sldId id="909" r:id="rId68"/>
    <p:sldId id="960" r:id="rId69"/>
    <p:sldId id="1010" r:id="rId70"/>
    <p:sldId id="1011" r:id="rId71"/>
    <p:sldId id="916" r:id="rId72"/>
    <p:sldId id="920" r:id="rId73"/>
    <p:sldId id="1012" r:id="rId74"/>
    <p:sldId id="1013" r:id="rId75"/>
    <p:sldId id="921" r:id="rId76"/>
    <p:sldId id="923" r:id="rId77"/>
    <p:sldId id="1014" r:id="rId78"/>
    <p:sldId id="1015" r:id="rId79"/>
    <p:sldId id="924" r:id="rId80"/>
    <p:sldId id="1016" r:id="rId81"/>
    <p:sldId id="927" r:id="rId82"/>
    <p:sldId id="928" r:id="rId83"/>
    <p:sldId id="1017" r:id="rId84"/>
    <p:sldId id="1018" r:id="rId85"/>
    <p:sldId id="931" r:id="rId86"/>
    <p:sldId id="932" r:id="rId87"/>
    <p:sldId id="1019" r:id="rId88"/>
    <p:sldId id="1020" r:id="rId89"/>
    <p:sldId id="1021" r:id="rId90"/>
    <p:sldId id="1022" r:id="rId91"/>
    <p:sldId id="937" r:id="rId92"/>
    <p:sldId id="938" r:id="rId93"/>
    <p:sldId id="1023" r:id="rId94"/>
    <p:sldId id="1024" r:id="rId95"/>
    <p:sldId id="941" r:id="rId96"/>
    <p:sldId id="942" r:id="rId97"/>
    <p:sldId id="1031" r:id="rId98"/>
    <p:sldId id="1032" r:id="rId99"/>
    <p:sldId id="945" r:id="rId100"/>
    <p:sldId id="946" r:id="rId101"/>
    <p:sldId id="1033" r:id="rId102"/>
    <p:sldId id="1034" r:id="rId103"/>
    <p:sldId id="961" r:id="rId104"/>
    <p:sldId id="962" r:id="rId105"/>
    <p:sldId id="964" r:id="rId106"/>
    <p:sldId id="1035" r:id="rId107"/>
    <p:sldId id="1036" r:id="rId108"/>
    <p:sldId id="1039" r:id="rId109"/>
    <p:sldId id="1040" r:id="rId110"/>
    <p:sldId id="1037" r:id="rId111"/>
    <p:sldId id="1038" r:id="rId112"/>
    <p:sldId id="1049" r:id="rId113"/>
    <p:sldId id="1042" r:id="rId114"/>
    <p:sldId id="1041" r:id="rId115"/>
    <p:sldId id="1043" r:id="rId116"/>
    <p:sldId id="1044" r:id="rId117"/>
    <p:sldId id="1045" r:id="rId118"/>
    <p:sldId id="1046" r:id="rId119"/>
    <p:sldId id="1047" r:id="rId120"/>
    <p:sldId id="1050" r:id="rId121"/>
    <p:sldId id="1051" r:id="rId122"/>
    <p:sldId id="1053" r:id="rId123"/>
    <p:sldId id="1060" r:id="rId124"/>
    <p:sldId id="1061" r:id="rId125"/>
  </p:sldIdLst>
  <p:sldSz cx="9144000" cy="6858000" type="screen4x3"/>
  <p:notesSz cx="6858000" cy="9144000"/>
  <p:custDataLst>
    <p:tags r:id="rId1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piro, Vladimir" initials="SV" lastIdx="1" clrIdx="0">
    <p:extLst>
      <p:ext uri="{19B8F6BF-5375-455C-9EA6-DF929625EA0E}">
        <p15:presenceInfo xmlns:p15="http://schemas.microsoft.com/office/powerpoint/2012/main" userId="S::vladisha@northeastern.edu::487b986e-9dea-4ba8-b33e-8d9a67ec1e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A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42AB69-8E18-4767-95BD-D368CA1A7D77}" v="23" dt="2026-09-26T20:11:59.6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448" autoAdjust="0"/>
  </p:normalViewPr>
  <p:slideViewPr>
    <p:cSldViewPr snapToGrid="0">
      <p:cViewPr varScale="1">
        <p:scale>
          <a:sx n="101" d="100"/>
          <a:sy n="101" d="100"/>
        </p:scale>
        <p:origin x="1134" y="96"/>
      </p:cViewPr>
      <p:guideLst>
        <p:guide orient="horz" pos="2160"/>
        <p:guide pos="2880"/>
      </p:guideLst>
    </p:cSldViewPr>
  </p:slideViewPr>
  <p:notesTextViewPr>
    <p:cViewPr>
      <p:scale>
        <a:sx n="1" d="1"/>
        <a:sy n="1" d="1"/>
      </p:scale>
      <p:origin x="0" y="0"/>
    </p:cViewPr>
  </p:notesTextViewPr>
  <p:sorterViewPr>
    <p:cViewPr>
      <p:scale>
        <a:sx n="100" d="100"/>
        <a:sy n="100" d="100"/>
      </p:scale>
      <p:origin x="0" y="-1276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tags" Target="tags/tag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microsoft.com/office/2015/10/relationships/revisionInfo" Target="revisionInfo.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commentAuthors" Target="commentAuthor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2620C3D-B18F-408C-AB7E-3E8327050663}" type="datetimeFigureOut">
              <a:rPr lang="en-US" smtClean="0"/>
              <a:t>9/27/2026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D7A81ED-B271-4688-BA18-CA7E4726E60E}" type="slidenum">
              <a:rPr lang="en-US" smtClean="0"/>
              <a:t>‹#›</a:t>
            </a:fld>
            <a:endParaRPr lang="en-US"/>
          </a:p>
        </p:txBody>
      </p:sp>
    </p:spTree>
    <p:extLst>
      <p:ext uri="{BB962C8B-B14F-4D97-AF65-F5344CB8AC3E}">
        <p14:creationId xmlns:p14="http://schemas.microsoft.com/office/powerpoint/2010/main" val="52921956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1DE9AC-4BE4-4D3A-A0A7-E4076EE786F7}" type="datetimeFigureOut">
              <a:rPr lang="en-US" smtClean="0"/>
              <a:t>9/27/2026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93AF66-ACA7-4F65-9AFB-6946E0F37F13}" type="slidenum">
              <a:rPr lang="en-US" smtClean="0"/>
              <a:t>‹#›</a:t>
            </a:fld>
            <a:endParaRPr lang="en-US"/>
          </a:p>
        </p:txBody>
      </p:sp>
    </p:spTree>
    <p:extLst>
      <p:ext uri="{BB962C8B-B14F-4D97-AF65-F5344CB8AC3E}">
        <p14:creationId xmlns:p14="http://schemas.microsoft.com/office/powerpoint/2010/main" val="55309485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4804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81823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from TypeSafe AI, is the first 'System One' model. Rather than generating prose like an LLM, it takes a state plus typed questions and returns structured decisions - typed answers with probabilities and confidence - in a single parallel pass, so ordinary code can act on the result. Three question types: Choice, Score, Noul.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support ticket becomes a 'state'. In one request, Jev answers four typed questions in parallel - is this a refund request (Noul), which category (Choice), how urgent (Score 1-5), churn risk (Noul) - each with a confidence score. Your own code then routes: auto-resolve when confidence is high, escalate to a human when it isn't. This replaces a chain of slow LLM calls with one fast, calibrated, structured decision. Answers shown are illustrative.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Jev is machine-native (typed answers your code uses directly), fast and cheap (TypeSafe reports up to ~200x faster and ~400x cheaper, with many questions batched per call), and confidence-aware (act when certain, escalate when not). It's for atomic decisions inside software, not conversation. All performance figures are TypeSafe's own reported claims.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5637"/>
            <a:ext cx="7772400" cy="1754326"/>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140043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D082245-D0FD-47B0-A037-C26B7F228CD5}"/>
              </a:ext>
            </a:extLst>
          </p:cNvPr>
          <p:cNvGraphicFramePr>
            <a:graphicFrameLocks noChangeAspect="1"/>
          </p:cNvGraphicFramePr>
          <p:nvPr userDrawn="1">
            <p:custDataLst>
              <p:tags r:id="rId1"/>
            </p:custDataLst>
            <p:extLst>
              <p:ext uri="{D42A27DB-BD31-4B8C-83A1-F6EECF244321}">
                <p14:modId xmlns:p14="http://schemas.microsoft.com/office/powerpoint/2010/main" val="170550594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Object 3" hidden="1">
                        <a:extLst>
                          <a:ext uri="{FF2B5EF4-FFF2-40B4-BE49-F238E27FC236}">
                            <a16:creationId xmlns:a16="http://schemas.microsoft.com/office/drawing/2014/main" id="{5D082245-D0FD-47B0-A037-C26B7F228CD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457200" y="365126"/>
            <a:ext cx="8229600" cy="592213"/>
          </a:xfrm>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653113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592213"/>
          </a:xfrm>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83995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1091405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14868535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825625"/>
            <a:ext cx="40576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40576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1599518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1"/>
            <a:ext cx="2057400" cy="365125"/>
          </a:xfrm>
          <a:prstGeom prst="rect">
            <a:avLst/>
          </a:prstGeom>
        </p:spPr>
        <p:txBody>
          <a:bodyPr/>
          <a:lstStyle/>
          <a:p>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91219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592213"/>
          </a:xfrm>
        </p:spPr>
        <p:txBody>
          <a:bodyPr/>
          <a:lstStyle>
            <a:lvl1pPr>
              <a:defRPr sz="3600"/>
            </a:lvl1pPr>
          </a:lstStyle>
          <a:p>
            <a:r>
              <a:rPr lang="en-US" dirty="0"/>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379995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1_Title Only">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592213"/>
          </a:xfrm>
        </p:spPr>
        <p:txBody>
          <a:bodyPr/>
          <a:lstStyle>
            <a:lvl1pPr>
              <a:defRPr sz="3600"/>
            </a:lvl1pPr>
          </a:lstStyle>
          <a:p>
            <a:r>
              <a:rPr lang="en-US" dirty="0"/>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208740973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2118746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199044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1712822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3939401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1EF4C0E-91FA-4D94-8941-E22F3A83D5F1}" type="slidenum">
              <a:rPr lang="en-US" smtClean="0"/>
              <a:t>‹#›</a:t>
            </a:fld>
            <a:endParaRPr lang="en-US"/>
          </a:p>
        </p:txBody>
      </p:sp>
    </p:spTree>
    <p:extLst>
      <p:ext uri="{BB962C8B-B14F-4D97-AF65-F5344CB8AC3E}">
        <p14:creationId xmlns:p14="http://schemas.microsoft.com/office/powerpoint/2010/main" val="2596307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95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B6FECB2-520B-4294-ACE6-32A45264D0B0}"/>
              </a:ext>
            </a:extLst>
          </p:cNvPr>
          <p:cNvGraphicFramePr>
            <a:graphicFrameLocks noChangeAspect="1"/>
          </p:cNvGraphicFramePr>
          <p:nvPr userDrawn="1">
            <p:custDataLst>
              <p:tags r:id="rId16"/>
            </p:custDataLst>
            <p:extLst>
              <p:ext uri="{D42A27DB-BD31-4B8C-83A1-F6EECF244321}">
                <p14:modId xmlns:p14="http://schemas.microsoft.com/office/powerpoint/2010/main" val="1857783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7" imgW="347" imgH="348" progId="TCLayout.ActiveDocument.1">
                  <p:embed/>
                </p:oleObj>
              </mc:Choice>
              <mc:Fallback>
                <p:oleObj name="think-cell Slide" r:id="rId17" imgW="347" imgH="348" progId="TCLayout.ActiveDocument.1">
                  <p:embed/>
                  <p:pic>
                    <p:nvPicPr>
                      <p:cNvPr id="4" name="Object 3" hidden="1">
                        <a:extLst>
                          <a:ext uri="{FF2B5EF4-FFF2-40B4-BE49-F238E27FC236}">
                            <a16:creationId xmlns:a16="http://schemas.microsoft.com/office/drawing/2014/main" id="{8B6FECB2-520B-4294-ACE6-32A45264D0B0}"/>
                          </a:ext>
                        </a:extLst>
                      </p:cNvPr>
                      <p:cNvPicPr/>
                      <p:nvPr/>
                    </p:nvPicPr>
                    <p:blipFill>
                      <a:blip r:embed="rId18"/>
                      <a:stretch>
                        <a:fillRect/>
                      </a:stretch>
                    </p:blipFill>
                    <p:spPr>
                      <a:xfrm>
                        <a:off x="1588" y="1588"/>
                        <a:ext cx="1587" cy="1587"/>
                      </a:xfrm>
                      <a:prstGeom prst="rect">
                        <a:avLst/>
                      </a:prstGeom>
                    </p:spPr>
                  </p:pic>
                </p:oleObj>
              </mc:Fallback>
            </mc:AlternateContent>
          </a:graphicData>
        </a:graphic>
      </p:graphicFrame>
      <p:sp>
        <p:nvSpPr>
          <p:cNvPr id="7" name="Shape 3"/>
          <p:cNvSpPr/>
          <p:nvPr/>
        </p:nvSpPr>
        <p:spPr>
          <a:xfrm>
            <a:off x="0" y="-1"/>
            <a:ext cx="9144000" cy="365762"/>
          </a:xfrm>
          <a:prstGeom prst="rect">
            <a:avLst/>
          </a:prstGeom>
          <a:solidFill>
            <a:srgbClr val="8D8787"/>
          </a:solidFill>
          <a:ln w="12700">
            <a:miter lim="400000"/>
          </a:ln>
        </p:spPr>
        <p:txBody>
          <a:bodyPr lIns="0" tIns="0" rIns="0" bIns="0" anchor="ctr"/>
          <a:lstStyle/>
          <a:p>
            <a:pPr lvl="0" algn="ctr">
              <a:defRPr>
                <a:solidFill>
                  <a:srgbClr val="FFFFFF"/>
                </a:solidFill>
              </a:defRPr>
            </a:pPr>
            <a:endParaRPr/>
          </a:p>
        </p:txBody>
      </p:sp>
      <p:sp>
        <p:nvSpPr>
          <p:cNvPr id="2" name="Title Placeholder 1"/>
          <p:cNvSpPr>
            <a:spLocks noGrp="1"/>
          </p:cNvSpPr>
          <p:nvPr>
            <p:ph type="title"/>
          </p:nvPr>
        </p:nvSpPr>
        <p:spPr>
          <a:xfrm>
            <a:off x="457200" y="365126"/>
            <a:ext cx="8229600" cy="646331"/>
          </a:xfrm>
          <a:prstGeom prst="rect">
            <a:avLst/>
          </a:prstGeom>
        </p:spPr>
        <p:txBody>
          <a:bodyPr vert="horz" lIns="45720" tIns="45720" rIns="45720" bIns="45720" rtlCol="0" anchor="t" anchorCtr="0">
            <a:spAutoFit/>
          </a:bodyPr>
          <a:lstStyle/>
          <a:p>
            <a:r>
              <a:rPr lang="en-US"/>
              <a:t>Click to edit Master title style</a:t>
            </a:r>
          </a:p>
        </p:txBody>
      </p:sp>
      <p:sp>
        <p:nvSpPr>
          <p:cNvPr id="3" name="Text Placeholder 2"/>
          <p:cNvSpPr>
            <a:spLocks noGrp="1"/>
          </p:cNvSpPr>
          <p:nvPr>
            <p:ph type="body" idx="1"/>
          </p:nvPr>
        </p:nvSpPr>
        <p:spPr>
          <a:xfrm>
            <a:off x="457200" y="1565454"/>
            <a:ext cx="8229600" cy="5292545"/>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629400" y="521"/>
            <a:ext cx="2057400" cy="365125"/>
          </a:xfrm>
          <a:prstGeom prst="rect">
            <a:avLst/>
          </a:prstGeom>
        </p:spPr>
        <p:txBody>
          <a:bodyPr vert="horz" lIns="91440" tIns="45720" rIns="91440" bIns="45720" rtlCol="0" anchor="ctr"/>
          <a:lstStyle>
            <a:lvl1pPr algn="r">
              <a:defRPr sz="1400">
                <a:solidFill>
                  <a:schemeClr val="bg1"/>
                </a:solidFill>
                <a:latin typeface="Helvetica Neue" charset="0"/>
                <a:ea typeface="Helvetica Neue" charset="0"/>
                <a:cs typeface="Helvetica Neue" charset="0"/>
              </a:defRPr>
            </a:lvl1pPr>
          </a:lstStyle>
          <a:p>
            <a:fld id="{21EF4C0E-91FA-4D94-8941-E22F3A83D5F1}" type="slidenum">
              <a:rPr lang="en-US" smtClean="0"/>
              <a:t>‹#›</a:t>
            </a:fld>
            <a:endParaRPr lang="en-US"/>
          </a:p>
        </p:txBody>
      </p:sp>
    </p:spTree>
    <p:extLst>
      <p:ext uri="{BB962C8B-B14F-4D97-AF65-F5344CB8AC3E}">
        <p14:creationId xmlns:p14="http://schemas.microsoft.com/office/powerpoint/2010/main" val="9016508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97" r:id="rId5"/>
    <p:sldLayoutId id="2147483689" r:id="rId6"/>
    <p:sldLayoutId id="2147483690" r:id="rId7"/>
    <p:sldLayoutId id="2147483691" r:id="rId8"/>
    <p:sldLayoutId id="2147483698" r:id="rId9"/>
    <p:sldLayoutId id="2147483692" r:id="rId10"/>
    <p:sldLayoutId id="2147483693" r:id="rId11"/>
    <p:sldLayoutId id="2147483694" r:id="rId12"/>
    <p:sldLayoutId id="2147483695" r:id="rId13"/>
    <p:sldLayoutId id="2147483696" r:id="rId14"/>
  </p:sldLayoutIdLst>
  <p:hf hdr="0" ftr="0" dt="0"/>
  <p:txStyles>
    <p:titleStyle>
      <a:lvl1pPr algn="l" defTabSz="914400" rtl="0" eaLnBrk="1" latinLnBrk="0" hangingPunct="1">
        <a:lnSpc>
          <a:spcPct val="90000"/>
        </a:lnSpc>
        <a:spcBef>
          <a:spcPct val="0"/>
        </a:spcBef>
        <a:buNone/>
        <a:defRPr sz="4000" b="1" i="0" kern="1200">
          <a:solidFill>
            <a:srgbClr val="CB2026"/>
          </a:solidFill>
          <a:latin typeface="Baskerville SemiBold" charset="0"/>
          <a:ea typeface="Baskerville SemiBold" charset="0"/>
          <a:cs typeface="Baskerville SemiBold" charset="0"/>
        </a:defRPr>
      </a:lvl1pPr>
    </p:titleStyle>
    <p:bodyStyle>
      <a:lvl1pPr marL="234950" indent="-234950" algn="l" defTabSz="914400" rtl="0" eaLnBrk="1" latinLnBrk="0" hangingPunct="1">
        <a:lnSpc>
          <a:spcPct val="90000"/>
        </a:lnSpc>
        <a:spcBef>
          <a:spcPts val="1000"/>
        </a:spcBef>
        <a:buClr>
          <a:srgbClr val="00A7C5"/>
        </a:buClr>
        <a:buFont typeface="Arial" charset="0"/>
        <a:buChar char="•"/>
        <a:tabLst/>
        <a:defRPr sz="2400" kern="1200">
          <a:solidFill>
            <a:schemeClr val="tx1"/>
          </a:solidFill>
          <a:latin typeface="Helvetica Neue Light"/>
          <a:ea typeface="Helvetica Neue" charset="0"/>
          <a:cs typeface="Helvetica Neue Light"/>
        </a:defRPr>
      </a:lvl1pPr>
      <a:lvl2pPr marL="577850" indent="-228600" algn="l" defTabSz="914400" rtl="0" eaLnBrk="1" latinLnBrk="0" hangingPunct="1">
        <a:lnSpc>
          <a:spcPct val="90000"/>
        </a:lnSpc>
        <a:spcBef>
          <a:spcPts val="500"/>
        </a:spcBef>
        <a:buClr>
          <a:srgbClr val="00A7C5"/>
        </a:buClr>
        <a:buFont typeface="Arial" charset="0"/>
        <a:buChar char="•"/>
        <a:tabLst/>
        <a:defRPr sz="2400" kern="1200">
          <a:solidFill>
            <a:schemeClr val="tx1"/>
          </a:solidFill>
          <a:latin typeface="Helvetica Neue Light"/>
          <a:ea typeface="Helvetica Neue" charset="0"/>
          <a:cs typeface="Helvetica Neue Light"/>
        </a:defRPr>
      </a:lvl2pPr>
      <a:lvl3pPr marL="919163" indent="-228600" algn="l" defTabSz="914400" rtl="0" eaLnBrk="1" latinLnBrk="0" hangingPunct="1">
        <a:lnSpc>
          <a:spcPct val="90000"/>
        </a:lnSpc>
        <a:spcBef>
          <a:spcPts val="500"/>
        </a:spcBef>
        <a:buClr>
          <a:srgbClr val="00A7C5"/>
        </a:buClr>
        <a:buFont typeface="Arial" charset="0"/>
        <a:buChar char="•"/>
        <a:tabLst/>
        <a:defRPr sz="2400" kern="1200">
          <a:solidFill>
            <a:schemeClr val="tx1"/>
          </a:solidFill>
          <a:latin typeface="Helvetica Neue Light"/>
          <a:ea typeface="Helvetica Neue" charset="0"/>
          <a:cs typeface="Helvetica Neue Light"/>
        </a:defRPr>
      </a:lvl3pPr>
      <a:lvl4pPr marL="1260475" indent="-227013" algn="l" defTabSz="914400" rtl="0" eaLnBrk="1" latinLnBrk="0" hangingPunct="1">
        <a:lnSpc>
          <a:spcPct val="90000"/>
        </a:lnSpc>
        <a:spcBef>
          <a:spcPts val="500"/>
        </a:spcBef>
        <a:buClr>
          <a:srgbClr val="00A7C5"/>
        </a:buClr>
        <a:buFont typeface="Arial" charset="0"/>
        <a:buChar char="•"/>
        <a:tabLst/>
        <a:defRPr sz="2400" kern="1200">
          <a:solidFill>
            <a:schemeClr val="tx1"/>
          </a:solidFill>
          <a:latin typeface="Helvetica Neue Light"/>
          <a:ea typeface="Helvetica Neue" charset="0"/>
          <a:cs typeface="Helvetica Neue Light"/>
        </a:defRPr>
      </a:lvl4pPr>
      <a:lvl5pPr marL="1601788" indent="-227013" algn="l" defTabSz="914400" rtl="0" eaLnBrk="1" latinLnBrk="0" hangingPunct="1">
        <a:lnSpc>
          <a:spcPct val="90000"/>
        </a:lnSpc>
        <a:spcBef>
          <a:spcPts val="500"/>
        </a:spcBef>
        <a:buClr>
          <a:srgbClr val="00A7C5"/>
        </a:buClr>
        <a:buFont typeface="Arial" charset="0"/>
        <a:buChar char="•"/>
        <a:tabLst/>
        <a:defRPr sz="2400" kern="1200">
          <a:solidFill>
            <a:schemeClr val="tx1"/>
          </a:solidFill>
          <a:latin typeface="Helvetica Neue Light"/>
          <a:ea typeface="Helvetica Neue" charset="0"/>
          <a:cs typeface="Helvetica Neue Ligh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5547721"/>
      </p:ext>
    </p:extLst>
  </p:cSld>
  <p:clrMap bg1="lt1" tx1="dk1" bg2="lt2" tx2="dk2" accent1="accent1" accent2="accent2" accent3="accent3" accent4="accent4" accent5="accent5" accent6="accent6" hlink="hlink" folHlink="folHlink"/>
  <p:sldLayoutIdLst>
    <p:sldLayoutId id="2147483700" r:id="rId1"/>
  </p:sldLayoutIdLst>
  <p:hf sldNum="0"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9.xml"/><Relationship Id="rId1" Type="http://schemas.openxmlformats.org/officeDocument/2006/relationships/video" Target="https://www.youtube.com/embed/-pqzyvRp3Tc?feature=oemb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9.xml"/><Relationship Id="rId1" Type="http://schemas.openxmlformats.org/officeDocument/2006/relationships/video" Target="https://www.youtube.com/embed/GrloGdp5wdc?feature=oembed"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9.xml"/><Relationship Id="rId1" Type="http://schemas.openxmlformats.org/officeDocument/2006/relationships/video" Target="https://www.youtube.com/embed/klTvEwg3oJ4?feature=oembe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9.xml"/><Relationship Id="rId1" Type="http://schemas.openxmlformats.org/officeDocument/2006/relationships/video" Target="https://www.youtube.com/embed/tKPSmn-urB4?feature=oembe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9.xml"/><Relationship Id="rId1" Type="http://schemas.openxmlformats.org/officeDocument/2006/relationships/video" Target="https://www.youtube.com/embed/MmSMAYooRas?feature=oembe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9.xml"/><Relationship Id="rId1" Type="http://schemas.openxmlformats.org/officeDocument/2006/relationships/video" Target="https://www.youtube.com/embed/mTAvGHyz1SE?feature=oembed"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9.xml"/><Relationship Id="rId1" Type="http://schemas.openxmlformats.org/officeDocument/2006/relationships/video" Target="https://www.youtube.com/embed/Fp-ue4UCE3s?feature=oembed"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9.xml"/><Relationship Id="rId1" Type="http://schemas.openxmlformats.org/officeDocument/2006/relationships/video" Target="https://www.youtube.com/embed/w9eQJdBRC5o?feature=oembed"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9.xml"/><Relationship Id="rId1" Type="http://schemas.openxmlformats.org/officeDocument/2006/relationships/video" Target="https://www.youtube.com/embed/ndNYQz8mmYI?feature=oembed"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9.xml"/><Relationship Id="rId1" Type="http://schemas.openxmlformats.org/officeDocument/2006/relationships/video" Target="https://www.youtube.com/embed/sW5xoicq5TY?feature=oembed"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9.xml"/><Relationship Id="rId1" Type="http://schemas.openxmlformats.org/officeDocument/2006/relationships/video" Target="https://www.youtube.com/embed/2Ipb3F4GlL4?feature=oembed"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9.xml"/><Relationship Id="rId1" Type="http://schemas.openxmlformats.org/officeDocument/2006/relationships/video" Target="https://www.youtube.com/embed/gGJuyVDndOU?feature=oembed" TargetMode="Externa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9.xml"/><Relationship Id="rId1" Type="http://schemas.openxmlformats.org/officeDocument/2006/relationships/video" Target="https://www.youtube.com/embed/DRyb3jA0ZOM?feature=oembed" TargetMode="Externa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slideLayout" Target="../slideLayouts/slideLayout9.xml"/><Relationship Id="rId1" Type="http://schemas.openxmlformats.org/officeDocument/2006/relationships/video" Target="https://www.youtube.com/embed/eur8dUO9mvE?feature=oembed" TargetMode="External"/></Relationships>
</file>

<file path=ppt/slides/_rels/slide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slideLayout" Target="../slideLayouts/slideLayout9.xml"/><Relationship Id="rId1" Type="http://schemas.openxmlformats.org/officeDocument/2006/relationships/video" Target="https://www.youtube.com/embed/hZ4a4NgM3u0?start=255&amp;feature=oembed"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slideLayout" Target="../slideLayouts/slideLayout9.xml"/><Relationship Id="rId1" Type="http://schemas.openxmlformats.org/officeDocument/2006/relationships/video" Target="https://www.youtube.com/embed/qfWbbMMWlG4?feature=oembed" TargetMode="External"/></Relationships>
</file>

<file path=ppt/slides/_rels/slide8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9.xml"/><Relationship Id="rId1" Type="http://schemas.openxmlformats.org/officeDocument/2006/relationships/video" Target="https://www.youtube.com/embed/w-Dk7sTba2I?feature=oembed" TargetMode="External"/></Relationships>
</file>

<file path=ppt/slides/_rels/slide8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9.xml"/><Relationship Id="rId1" Type="http://schemas.openxmlformats.org/officeDocument/2006/relationships/video" Target="https://www.youtube.com/embed/7QlQKTGsPt8?feature=oembed"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slideLayout" Target="../slideLayouts/slideLayout9.xml"/><Relationship Id="rId1" Type="http://schemas.openxmlformats.org/officeDocument/2006/relationships/video" Target="https://www.youtube.com/embed/NCkMlNwTSv4?feature=oembed" TargetMode="External"/></Relationships>
</file>

<file path=ppt/slides/_rels/slide9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slideLayout" Target="../slideLayouts/slideLayout9.xml"/><Relationship Id="rId1" Type="http://schemas.openxmlformats.org/officeDocument/2006/relationships/video" Target="https://www.youtube.com/embed/nLbaUhEAx5c?feature=oembed"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Layout" Target="../slideLayouts/slideLayout9.xml"/><Relationship Id="rId1" Type="http://schemas.openxmlformats.org/officeDocument/2006/relationships/video" Target="https://www.youtube.com/embed/LUaxETMekts?feature=oembed" TargetMode="External"/></Relationships>
</file>

<file path=ppt/slides/_rels/slide10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slideLayout" Target="../slideLayouts/slideLayout9.xml"/><Relationship Id="rId1" Type="http://schemas.openxmlformats.org/officeDocument/2006/relationships/video" Target="https://www.youtube.com/embed/kb6eH0zCnl8?feature=oembed" TargetMode="External"/></Relationships>
</file>

<file path=ppt/slides/_rels/slide105.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slideLayout" Target="../slideLayouts/slideLayout9.xml"/><Relationship Id="rId1" Type="http://schemas.openxmlformats.org/officeDocument/2006/relationships/video" Target="https://www.youtube.com/embed/8Kh9HoCsmrw?feature=oembed"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slideLayout" Target="../slideLayouts/slideLayout9.xml"/><Relationship Id="rId1" Type="http://schemas.openxmlformats.org/officeDocument/2006/relationships/video" Target="https://www.youtube.com/embed/YVWxbHJakgg?feature=oembed"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slideLayout" Target="../slideLayouts/slideLayout9.xml"/><Relationship Id="rId1" Type="http://schemas.openxmlformats.org/officeDocument/2006/relationships/video" Target="https://www.youtube.com/embed/zkZQT5rbrf4?feature=oembed" TargetMode="Externa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7.svg"/><Relationship Id="rId4" Type="http://schemas.openxmlformats.org/officeDocument/2006/relationships/image" Target="../media/image5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3857941"/>
          </a:xfrm>
        </p:spPr>
        <p:txBody>
          <a:bodyPr>
            <a:normAutofit fontScale="90000"/>
          </a:bodyPr>
          <a:lstStyle/>
          <a:p>
            <a:r>
              <a:rPr lang="en-US" sz="3600" dirty="0">
                <a:latin typeface="Baskerville SemiBold"/>
              </a:rPr>
              <a:t>ALY 3510 	AI Foundations: </a:t>
            </a:r>
            <a:br>
              <a:rPr lang="en-US" sz="3600" dirty="0">
                <a:latin typeface="Baskerville SemiBold"/>
              </a:rPr>
            </a:br>
            <a:r>
              <a:rPr lang="en-US" sz="3600" dirty="0">
                <a:latin typeface="Baskerville SemiBold"/>
              </a:rPr>
              <a:t>		An Interdisciplinary Approach</a:t>
            </a:r>
            <a:br>
              <a:rPr lang="en-US" sz="4000" dirty="0">
                <a:latin typeface="Baskerville SemiBold"/>
              </a:rPr>
            </a:br>
            <a:br>
              <a:rPr lang="en-US" sz="4000" dirty="0"/>
            </a:br>
            <a:r>
              <a:rPr lang="en-US" sz="2400" dirty="0">
                <a:latin typeface="Baskerville SemiBold"/>
              </a:rPr>
              <a:t>Bonus Lecture: </a:t>
            </a:r>
            <a:br>
              <a:rPr lang="en-US" sz="2400" dirty="0"/>
            </a:br>
            <a:r>
              <a:rPr lang="en-US" sz="2400" dirty="0">
                <a:latin typeface="Baskerville SemiBold"/>
              </a:rPr>
              <a:t>	</a:t>
            </a:r>
            <a:r>
              <a:rPr lang="en-US" sz="3200" dirty="0"/>
              <a:t> Advanced Subjects/Notions/Concepts in AI </a:t>
            </a:r>
            <a:br>
              <a:rPr lang="en-US" sz="3200" dirty="0"/>
            </a:br>
            <a:br>
              <a:rPr lang="en-US" sz="3200" dirty="0"/>
            </a:br>
            <a:r>
              <a:rPr lang="en-US" sz="2400" dirty="0">
                <a:latin typeface="Baskerville SemiBold"/>
              </a:rPr>
              <a:t>Session/Section: 	Fall 2026</a:t>
            </a:r>
            <a:br>
              <a:rPr lang="en-US" sz="2400" dirty="0"/>
            </a:br>
            <a:r>
              <a:rPr lang="en-US" sz="2400" dirty="0">
                <a:latin typeface="Baskerville SemiBold"/>
              </a:rPr>
              <a:t>Time:       	Monday  5:50-8:30 PM  </a:t>
            </a:r>
            <a:br>
              <a:rPr lang="en-US" sz="2400" dirty="0"/>
            </a:br>
            <a:r>
              <a:rPr lang="en-US" sz="2400" dirty="0">
                <a:latin typeface="Baskerville SemiBold"/>
              </a:rPr>
              <a:t>Instructor:  		Vladimir Shapiro</a:t>
            </a:r>
            <a:br>
              <a:rPr lang="en-US" sz="2400" dirty="0">
                <a:latin typeface="Calibri Light"/>
                <a:cs typeface="Calibri Light"/>
              </a:rPr>
            </a:br>
            <a:endParaRPr lang="en-US" sz="2400" dirty="0"/>
          </a:p>
        </p:txBody>
      </p:sp>
      <p:pic>
        <p:nvPicPr>
          <p:cNvPr id="4" name="Picture 3" descr="Image result for northeastern logo" title="Logo">
            <a:extLst>
              <a:ext uri="{FF2B5EF4-FFF2-40B4-BE49-F238E27FC236}">
                <a16:creationId xmlns:a16="http://schemas.microsoft.com/office/drawing/2014/main" id="{81B0B0B8-8116-4011-A6C1-42E6C07960E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5885" y="5791200"/>
            <a:ext cx="2698115" cy="962660"/>
          </a:xfrm>
          <a:prstGeom prst="rect">
            <a:avLst/>
          </a:prstGeom>
          <a:noFill/>
          <a:ln>
            <a:noFill/>
          </a:ln>
        </p:spPr>
      </p:pic>
      <p:sp>
        <p:nvSpPr>
          <p:cNvPr id="3" name="Slide Number Placeholder 2">
            <a:extLst>
              <a:ext uri="{FF2B5EF4-FFF2-40B4-BE49-F238E27FC236}">
                <a16:creationId xmlns:a16="http://schemas.microsoft.com/office/drawing/2014/main" id="{60EE88DC-BC17-4108-B0AE-E05EFC8C1F50}"/>
              </a:ext>
            </a:extLst>
          </p:cNvPr>
          <p:cNvSpPr>
            <a:spLocks noGrp="1"/>
          </p:cNvSpPr>
          <p:nvPr>
            <p:ph type="sldNum" sz="quarter" idx="12"/>
          </p:nvPr>
        </p:nvSpPr>
        <p:spPr/>
        <p:txBody>
          <a:bodyPr/>
          <a:lstStyle/>
          <a:p>
            <a:fld id="{21EF4C0E-91FA-4D94-8941-E22F3A83D5F1}" type="slidenum">
              <a:rPr lang="en-US" smtClean="0"/>
              <a:t>1</a:t>
            </a:fld>
            <a:endParaRPr lang="en-US"/>
          </a:p>
        </p:txBody>
      </p:sp>
    </p:spTree>
    <p:extLst>
      <p:ext uri="{BB962C8B-B14F-4D97-AF65-F5344CB8AC3E}">
        <p14:creationId xmlns:p14="http://schemas.microsoft.com/office/powerpoint/2010/main" val="606806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5320" y="1117600"/>
            <a:ext cx="8153400" cy="3722624"/>
          </a:xfrm>
        </p:spPr>
        <p:txBody>
          <a:bodyPr>
            <a:normAutofit/>
          </a:bodyPr>
          <a:lstStyle/>
          <a:p>
            <a:br>
              <a:rPr lang="en-US" sz="3200" dirty="0"/>
            </a:br>
            <a:r>
              <a:rPr lang="en-US" sz="3200" dirty="0"/>
              <a:t>Bonus Lecture: </a:t>
            </a:r>
            <a:br>
              <a:rPr lang="en-US" sz="4000" dirty="0"/>
            </a:br>
            <a:r>
              <a:rPr lang="en-US" sz="4000" dirty="0"/>
              <a:t>			Advanced Subjects in AI</a:t>
            </a:r>
          </a:p>
        </p:txBody>
      </p:sp>
      <p:sp>
        <p:nvSpPr>
          <p:cNvPr id="3" name="Slide Number Placeholder 2">
            <a:extLst>
              <a:ext uri="{FF2B5EF4-FFF2-40B4-BE49-F238E27FC236}">
                <a16:creationId xmlns:a16="http://schemas.microsoft.com/office/drawing/2014/main" id="{581CC18A-3487-4805-8621-103847D1C3F7}"/>
              </a:ext>
            </a:extLst>
          </p:cNvPr>
          <p:cNvSpPr>
            <a:spLocks noGrp="1"/>
          </p:cNvSpPr>
          <p:nvPr>
            <p:ph type="sldNum" sz="quarter" idx="12"/>
          </p:nvPr>
        </p:nvSpPr>
        <p:spPr/>
        <p:txBody>
          <a:bodyPr/>
          <a:lstStyle/>
          <a:p>
            <a:fld id="{21EF4C0E-91FA-4D94-8941-E22F3A83D5F1}" type="slidenum">
              <a:rPr lang="en-US" smtClean="0"/>
              <a:t>2</a:t>
            </a:fld>
            <a:endParaRPr lang="en-US"/>
          </a:p>
        </p:txBody>
      </p:sp>
      <p:pic>
        <p:nvPicPr>
          <p:cNvPr id="5" name="Picture 4" descr="A wireframe of a brain&#10;&#10;AI-generated content may be incorrect.">
            <a:extLst>
              <a:ext uri="{FF2B5EF4-FFF2-40B4-BE49-F238E27FC236}">
                <a16:creationId xmlns:a16="http://schemas.microsoft.com/office/drawing/2014/main" id="{D5CF4E9A-EAED-443E-5AD0-A63043D74B95}"/>
              </a:ext>
            </a:extLst>
          </p:cNvPr>
          <p:cNvPicPr>
            <a:picLocks noChangeAspect="1"/>
          </p:cNvPicPr>
          <p:nvPr/>
        </p:nvPicPr>
        <p:blipFill>
          <a:blip r:embed="rId3" cstate="print">
            <a:extLst>
              <a:ext uri="{28A0092B-C50C-407E-A947-70E740481C1C}">
                <a14:useLocalDpi xmlns:a14="http://schemas.microsoft.com/office/drawing/2010/main" val="0"/>
              </a:ext>
            </a:extLst>
          </a:blip>
          <a:srcRect l="32186"/>
          <a:stretch/>
        </p:blipFill>
        <p:spPr>
          <a:xfrm>
            <a:off x="6403688" y="562391"/>
            <a:ext cx="2508824" cy="2419475"/>
          </a:xfrm>
          <a:prstGeom prst="rect">
            <a:avLst/>
          </a:prstGeom>
        </p:spPr>
      </p:pic>
      <p:sp>
        <p:nvSpPr>
          <p:cNvPr id="6" name="TextBox 5">
            <a:extLst>
              <a:ext uri="{FF2B5EF4-FFF2-40B4-BE49-F238E27FC236}">
                <a16:creationId xmlns:a16="http://schemas.microsoft.com/office/drawing/2014/main" id="{09332A36-D421-AEDD-7A37-3FFB7D75B7CC}"/>
              </a:ext>
            </a:extLst>
          </p:cNvPr>
          <p:cNvSpPr txBox="1"/>
          <p:nvPr/>
        </p:nvSpPr>
        <p:spPr>
          <a:xfrm>
            <a:off x="744876" y="5072267"/>
            <a:ext cx="7941924" cy="369332"/>
          </a:xfrm>
          <a:prstGeom prst="rect">
            <a:avLst/>
          </a:prstGeom>
          <a:noFill/>
        </p:spPr>
        <p:txBody>
          <a:bodyPr wrap="square">
            <a:spAutoFit/>
          </a:bodyPr>
          <a:lstStyle/>
          <a:p>
            <a:pPr marL="0" indent="0">
              <a:buNone/>
            </a:pPr>
            <a:r>
              <a:rPr lang="en-US" sz="1800" i="1" dirty="0">
                <a:solidFill>
                  <a:srgbClr val="2D3436"/>
                </a:solidFill>
                <a:latin typeface="Calibri" pitchFamily="34" charset="0"/>
                <a:ea typeface="Calibri" pitchFamily="34" charset="-122"/>
                <a:cs typeface="Calibri" pitchFamily="34" charset="-120"/>
              </a:rPr>
              <a:t>Exploring the cutting-edge concepts shaping modern artificial intelligence</a:t>
            </a:r>
            <a:endParaRPr lang="en-US" sz="1800" i="1" dirty="0"/>
          </a:p>
        </p:txBody>
      </p:sp>
    </p:spTree>
    <p:extLst>
      <p:ext uri="{BB962C8B-B14F-4D97-AF65-F5344CB8AC3E}">
        <p14:creationId xmlns:p14="http://schemas.microsoft.com/office/powerpoint/2010/main" val="80868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E41E-9352-49B1-85CC-F4BAB43F26AD}"/>
              </a:ext>
            </a:extLst>
          </p:cNvPr>
          <p:cNvSpPr>
            <a:spLocks noGrp="1"/>
          </p:cNvSpPr>
          <p:nvPr>
            <p:ph type="title"/>
          </p:nvPr>
        </p:nvSpPr>
        <p:spPr>
          <a:xfrm>
            <a:off x="447953" y="365646"/>
            <a:ext cx="8229600" cy="868828"/>
          </a:xfrm>
        </p:spPr>
        <p:txBody>
          <a:bodyPr/>
          <a:lstStyle/>
          <a:p>
            <a:r>
              <a:rPr lang="en-US" sz="3200" dirty="0"/>
              <a:t>Advanced Subjects/Notions/Concepts in AI</a:t>
            </a:r>
            <a:br>
              <a:rPr lang="en-US" dirty="0"/>
            </a:br>
            <a:r>
              <a:rPr lang="en-US" sz="2400" b="1" dirty="0"/>
              <a:t>23Topics Covered</a:t>
            </a:r>
            <a:endParaRPr lang="en-US" dirty="0"/>
          </a:p>
        </p:txBody>
      </p:sp>
      <p:sp>
        <p:nvSpPr>
          <p:cNvPr id="5" name="Slide Number Placeholder 4">
            <a:extLst>
              <a:ext uri="{FF2B5EF4-FFF2-40B4-BE49-F238E27FC236}">
                <a16:creationId xmlns:a16="http://schemas.microsoft.com/office/drawing/2014/main" id="{0F9C819C-DB1D-4921-9EB0-254CD70BF52F}"/>
              </a:ext>
            </a:extLst>
          </p:cNvPr>
          <p:cNvSpPr>
            <a:spLocks noGrp="1"/>
          </p:cNvSpPr>
          <p:nvPr>
            <p:ph type="sldNum" sz="quarter" idx="12"/>
          </p:nvPr>
        </p:nvSpPr>
        <p:spPr/>
        <p:txBody>
          <a:bodyPr/>
          <a:lstStyle/>
          <a:p>
            <a:fld id="{21EF4C0E-91FA-4D94-8941-E22F3A83D5F1}" type="slidenum">
              <a:rPr lang="en-US" smtClean="0"/>
              <a:t>3</a:t>
            </a:fld>
            <a:endParaRPr lang="en-US"/>
          </a:p>
        </p:txBody>
      </p:sp>
      <p:grpSp>
        <p:nvGrpSpPr>
          <p:cNvPr id="10" name="Group 9">
            <a:extLst>
              <a:ext uri="{FF2B5EF4-FFF2-40B4-BE49-F238E27FC236}">
                <a16:creationId xmlns:a16="http://schemas.microsoft.com/office/drawing/2014/main" id="{CB6D3C3D-0380-BD6C-0C6E-ACA747F7C1DF}"/>
              </a:ext>
            </a:extLst>
          </p:cNvPr>
          <p:cNvGrpSpPr/>
          <p:nvPr/>
        </p:nvGrpSpPr>
        <p:grpSpPr>
          <a:xfrm>
            <a:off x="539393" y="1999351"/>
            <a:ext cx="8229600" cy="3383280"/>
            <a:chOff x="457200" y="1280160"/>
            <a:chExt cx="8229600" cy="3383280"/>
          </a:xfrm>
        </p:grpSpPr>
        <p:sp>
          <p:nvSpPr>
            <p:cNvPr id="11" name="Shape 3">
              <a:extLst>
                <a:ext uri="{FF2B5EF4-FFF2-40B4-BE49-F238E27FC236}">
                  <a16:creationId xmlns:a16="http://schemas.microsoft.com/office/drawing/2014/main" id="{3B7B1EC1-19D2-2841-6B3E-2E09C9CEA7CB}"/>
                </a:ext>
              </a:extLst>
            </p:cNvPr>
            <p:cNvSpPr/>
            <p:nvPr/>
          </p:nvSpPr>
          <p:spPr>
            <a:xfrm>
              <a:off x="457200" y="1280160"/>
              <a:ext cx="4023360" cy="3383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2" name="Shape 4">
              <a:extLst>
                <a:ext uri="{FF2B5EF4-FFF2-40B4-BE49-F238E27FC236}">
                  <a16:creationId xmlns:a16="http://schemas.microsoft.com/office/drawing/2014/main" id="{729379CA-4124-3F13-85E5-E4B8507BFDEF}"/>
                </a:ext>
              </a:extLst>
            </p:cNvPr>
            <p:cNvSpPr/>
            <p:nvPr/>
          </p:nvSpPr>
          <p:spPr>
            <a:xfrm>
              <a:off x="457200" y="1280160"/>
              <a:ext cx="54864" cy="3383280"/>
            </a:xfrm>
            <a:prstGeom prst="rect">
              <a:avLst/>
            </a:prstGeom>
            <a:solidFill>
              <a:srgbClr val="065A82"/>
            </a:solidFill>
            <a:ln/>
          </p:spPr>
          <p:txBody>
            <a:bodyPr/>
            <a:lstStyle/>
            <a:p>
              <a:endParaRPr lang="en-US" sz="2400">
                <a:latin typeface="Helvetica Neue Light"/>
              </a:endParaRPr>
            </a:p>
          </p:txBody>
        </p:sp>
        <p:sp>
          <p:nvSpPr>
            <p:cNvPr id="13" name="Text 5">
              <a:extLst>
                <a:ext uri="{FF2B5EF4-FFF2-40B4-BE49-F238E27FC236}">
                  <a16:creationId xmlns:a16="http://schemas.microsoft.com/office/drawing/2014/main" id="{25F4DEA4-4A4D-D44C-6D76-7651C9FB619B}"/>
                </a:ext>
              </a:extLst>
            </p:cNvPr>
            <p:cNvSpPr/>
            <p:nvPr/>
          </p:nvSpPr>
          <p:spPr>
            <a:xfrm>
              <a:off x="640080" y="1417320"/>
              <a:ext cx="3895344" cy="3108960"/>
            </a:xfrm>
            <a:prstGeom prst="rect">
              <a:avLst/>
            </a:prstGeom>
            <a:noFill/>
            <a:ln/>
          </p:spPr>
          <p:txBody>
            <a:bodyPr wrap="square" rtlCol="0" anchor="t"/>
            <a:lstStyle/>
            <a:p>
              <a:pPr marL="0" indent="0">
                <a:buNone/>
              </a:pPr>
              <a:r>
                <a:rPr lang="en-US" sz="1600" dirty="0">
                  <a:solidFill>
                    <a:srgbClr val="2D3436"/>
                  </a:solidFill>
                  <a:latin typeface="Helvetica Neue Light"/>
                  <a:ea typeface="Calibri" pitchFamily="34" charset="-122"/>
                  <a:cs typeface="Calibri" pitchFamily="34" charset="-120"/>
                </a:rPr>
                <a:t>1. Agentic AI</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2. Scaling Laws</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3. Vector Databases</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4. RAG (Retrieval-Augmented Generation)</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5. Context Window</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6. Knowledge Cutoff Date</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7. Chain of Thought (CoT)</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8. Reasoning/Thinking Models</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9. Zero/One/Multi-shot Learning</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10. Meta-Learning</a:t>
              </a:r>
            </a:p>
            <a:p>
              <a:r>
                <a:rPr lang="en-US" sz="1600" dirty="0">
                  <a:solidFill>
                    <a:srgbClr val="2D3436"/>
                  </a:solidFill>
                  <a:latin typeface="Helvetica Neue Light"/>
                  <a:ea typeface="Calibri" pitchFamily="34" charset="-122"/>
                  <a:cs typeface="Calibri" pitchFamily="34" charset="-120"/>
                </a:rPr>
                <a:t>11. RLHF (Reinforcement Learning from 	Human Feedback)</a:t>
              </a:r>
              <a:endParaRPr lang="en-US" sz="1600" dirty="0">
                <a:latin typeface="Helvetica Neue Light"/>
              </a:endParaRPr>
            </a:p>
            <a:p>
              <a:pPr marL="0" indent="0">
                <a:buNone/>
              </a:pPr>
              <a:endParaRPr lang="en-US" sz="1600" dirty="0">
                <a:latin typeface="Helvetica Neue Light"/>
              </a:endParaRPr>
            </a:p>
          </p:txBody>
        </p:sp>
        <p:sp>
          <p:nvSpPr>
            <p:cNvPr id="14" name="Shape 6">
              <a:extLst>
                <a:ext uri="{FF2B5EF4-FFF2-40B4-BE49-F238E27FC236}">
                  <a16:creationId xmlns:a16="http://schemas.microsoft.com/office/drawing/2014/main" id="{5E7114C9-3586-E5F2-5674-BF64CC746B99}"/>
                </a:ext>
              </a:extLst>
            </p:cNvPr>
            <p:cNvSpPr/>
            <p:nvPr/>
          </p:nvSpPr>
          <p:spPr>
            <a:xfrm>
              <a:off x="4663440" y="1280160"/>
              <a:ext cx="4023360" cy="3383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5" name="Shape 7">
              <a:extLst>
                <a:ext uri="{FF2B5EF4-FFF2-40B4-BE49-F238E27FC236}">
                  <a16:creationId xmlns:a16="http://schemas.microsoft.com/office/drawing/2014/main" id="{61191A59-47D7-D925-E535-0BC3CF3DD5C5}"/>
                </a:ext>
              </a:extLst>
            </p:cNvPr>
            <p:cNvSpPr/>
            <p:nvPr/>
          </p:nvSpPr>
          <p:spPr>
            <a:xfrm>
              <a:off x="4663440" y="1280160"/>
              <a:ext cx="54864" cy="3383280"/>
            </a:xfrm>
            <a:prstGeom prst="rect">
              <a:avLst/>
            </a:prstGeom>
            <a:solidFill>
              <a:srgbClr val="1C7293"/>
            </a:solidFill>
            <a:ln/>
          </p:spPr>
          <p:txBody>
            <a:bodyPr/>
            <a:lstStyle/>
            <a:p>
              <a:endParaRPr lang="en-US" sz="2400">
                <a:latin typeface="Helvetica Neue Light"/>
              </a:endParaRPr>
            </a:p>
          </p:txBody>
        </p:sp>
        <p:sp>
          <p:nvSpPr>
            <p:cNvPr id="16" name="Text 8">
              <a:extLst>
                <a:ext uri="{FF2B5EF4-FFF2-40B4-BE49-F238E27FC236}">
                  <a16:creationId xmlns:a16="http://schemas.microsoft.com/office/drawing/2014/main" id="{0761C6AD-BFE8-7BD6-D6C0-467C7A340C55}"/>
                </a:ext>
              </a:extLst>
            </p:cNvPr>
            <p:cNvSpPr/>
            <p:nvPr/>
          </p:nvSpPr>
          <p:spPr>
            <a:xfrm>
              <a:off x="4846319" y="1417320"/>
              <a:ext cx="3758287" cy="3108960"/>
            </a:xfrm>
            <a:prstGeom prst="rect">
              <a:avLst/>
            </a:prstGeom>
            <a:noFill/>
            <a:ln/>
          </p:spPr>
          <p:txBody>
            <a:bodyPr wrap="square" rtlCol="0" anchor="t"/>
            <a:lstStyle/>
            <a:p>
              <a:pPr marL="0" indent="0">
                <a:buNone/>
              </a:pPr>
              <a:r>
                <a:rPr lang="en-US" sz="1600" dirty="0">
                  <a:solidFill>
                    <a:srgbClr val="2D3436"/>
                  </a:solidFill>
                  <a:latin typeface="Helvetica Neue Light"/>
                  <a:ea typeface="Calibri" pitchFamily="34" charset="-122"/>
                  <a:cs typeface="Calibri" pitchFamily="34" charset="-120"/>
                </a:rPr>
                <a:t>12. Sycophancy</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13. Model Context Protocol (MCP)</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14. Latent Space</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15. Jailbroken Models</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16. Vibe Coding</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17. Causal AI</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18. Multimodal AI</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19. Hallucinations</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20. Mixture-of-Experts (</a:t>
              </a:r>
              <a:r>
                <a:rPr lang="en-US" sz="1600" dirty="0" err="1">
                  <a:solidFill>
                    <a:srgbClr val="2D3436"/>
                  </a:solidFill>
                  <a:latin typeface="Helvetica Neue Light"/>
                  <a:ea typeface="Calibri" pitchFamily="34" charset="-122"/>
                  <a:cs typeface="Calibri" pitchFamily="34" charset="-120"/>
                </a:rPr>
                <a:t>MoE</a:t>
              </a:r>
              <a:r>
                <a:rPr lang="en-US" sz="1600" dirty="0">
                  <a:solidFill>
                    <a:srgbClr val="2D3436"/>
                  </a:solidFill>
                  <a:latin typeface="Helvetica Neue Light"/>
                  <a:ea typeface="Calibri" pitchFamily="34" charset="-122"/>
                  <a:cs typeface="Calibri" pitchFamily="34" charset="-120"/>
                </a:rPr>
                <a:t>)</a:t>
              </a:r>
            </a:p>
            <a:p>
              <a:pPr marL="0" indent="0">
                <a:buNone/>
              </a:pPr>
              <a:r>
                <a:rPr lang="en-US" sz="1600" dirty="0">
                  <a:solidFill>
                    <a:srgbClr val="2D3436"/>
                  </a:solidFill>
                  <a:latin typeface="Helvetica Neue Light"/>
                  <a:ea typeface="Calibri" pitchFamily="34" charset="-122"/>
                  <a:cs typeface="Calibri" pitchFamily="34" charset="-120"/>
                </a:rPr>
                <a:t>21. </a:t>
              </a:r>
              <a:r>
                <a:rPr lang="en-US" sz="1600" dirty="0">
                  <a:latin typeface="Helvetica Neue Light"/>
                </a:rPr>
                <a:t>Emergent Capabilities in AI</a:t>
              </a:r>
            </a:p>
            <a:p>
              <a:pPr marL="0" indent="0">
                <a:buNone/>
              </a:pPr>
              <a:r>
                <a:rPr lang="en-US" sz="1600" dirty="0">
                  <a:latin typeface="Helvetica Neue Light"/>
                </a:rPr>
                <a:t>22. Fine-Tuning vs. Prompting</a:t>
              </a:r>
            </a:p>
            <a:p>
              <a:pPr marL="0" indent="0">
                <a:buNone/>
              </a:pPr>
              <a:r>
                <a:rPr lang="en-US" sz="1600" dirty="0">
                  <a:latin typeface="Helvetica Neue Light"/>
                </a:rPr>
                <a:t>23. </a:t>
              </a:r>
              <a:r>
                <a:rPr lang="en-US" sz="1600" dirty="0" err="1">
                  <a:latin typeface="Helvetica Neue Light"/>
                </a:rPr>
                <a:t>Jev</a:t>
              </a:r>
              <a:endParaRPr lang="en-US" sz="1600" dirty="0">
                <a:latin typeface="Helvetica Neue Light"/>
              </a:endParaRPr>
            </a:p>
          </p:txBody>
        </p:sp>
      </p:grpSp>
    </p:spTree>
    <p:extLst>
      <p:ext uri="{BB962C8B-B14F-4D97-AF65-F5344CB8AC3E}">
        <p14:creationId xmlns:p14="http://schemas.microsoft.com/office/powerpoint/2010/main" val="3844350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A2C2B4E-A530-4EA8-E991-665FADAB8C70}"/>
              </a:ext>
            </a:extLst>
          </p:cNvPr>
          <p:cNvSpPr>
            <a:spLocks noGrp="1"/>
          </p:cNvSpPr>
          <p:nvPr>
            <p:ph type="title"/>
          </p:nvPr>
        </p:nvSpPr>
        <p:spPr>
          <a:xfrm>
            <a:off x="623888" y="3083032"/>
            <a:ext cx="7886700" cy="1479444"/>
          </a:xfrm>
        </p:spPr>
        <p:txBody>
          <a:bodyPr/>
          <a:lstStyle/>
          <a:p>
            <a:r>
              <a:rPr lang="en-US" sz="3600" i="1" dirty="0"/>
              <a:t>Part 1</a:t>
            </a:r>
            <a:br>
              <a:rPr lang="en-US" dirty="0"/>
            </a:br>
            <a:r>
              <a:rPr lang="en-US" dirty="0"/>
              <a:t>	Agentic AI</a:t>
            </a:r>
          </a:p>
        </p:txBody>
      </p:sp>
      <p:sp>
        <p:nvSpPr>
          <p:cNvPr id="2" name="Text Placeholder 1">
            <a:extLst>
              <a:ext uri="{FF2B5EF4-FFF2-40B4-BE49-F238E27FC236}">
                <a16:creationId xmlns:a16="http://schemas.microsoft.com/office/drawing/2014/main" id="{E4EC225E-07A8-6498-89F6-2145542FD8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F2A579-30BB-8104-EFD6-7279B035CAA1}"/>
              </a:ext>
            </a:extLst>
          </p:cNvPr>
          <p:cNvSpPr>
            <a:spLocks noGrp="1"/>
          </p:cNvSpPr>
          <p:nvPr>
            <p:ph type="sldNum" sz="quarter" idx="12"/>
          </p:nvPr>
        </p:nvSpPr>
        <p:spPr/>
        <p:txBody>
          <a:bodyPr/>
          <a:lstStyle/>
          <a:p>
            <a:fld id="{21EF4C0E-91FA-4D94-8941-E22F3A83D5F1}" type="slidenum">
              <a:rPr lang="en-US" smtClean="0"/>
              <a:t>4</a:t>
            </a:fld>
            <a:endParaRPr lang="en-US"/>
          </a:p>
        </p:txBody>
      </p:sp>
    </p:spTree>
    <p:extLst>
      <p:ext uri="{BB962C8B-B14F-4D97-AF65-F5344CB8AC3E}">
        <p14:creationId xmlns:p14="http://schemas.microsoft.com/office/powerpoint/2010/main" val="1405599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p:txBody>
          <a:bodyPr/>
          <a:lstStyle/>
          <a:p>
            <a:r>
              <a:rPr lang="en-US" sz="3600" dirty="0"/>
              <a:t>Agentic AI </a:t>
            </a:r>
            <a:r>
              <a:rPr lang="en-US" dirty="0"/>
              <a:t>- Video (3:51) </a:t>
            </a:r>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5</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https://www.youtube.com/watch?v=-pqzyvRp3Tc</a:t>
            </a:r>
          </a:p>
        </p:txBody>
      </p:sp>
      <p:pic>
        <p:nvPicPr>
          <p:cNvPr id="4" name="Online Media 3" title="What is Agentic AI? An Easy Explanation For Everyone">
            <a:hlinkClick r:id="" action="ppaction://media"/>
            <a:extLst>
              <a:ext uri="{FF2B5EF4-FFF2-40B4-BE49-F238E27FC236}">
                <a16:creationId xmlns:a16="http://schemas.microsoft.com/office/drawing/2014/main" id="{BD3BC18C-8A6A-07AB-F6D4-8B24AABD0F16}"/>
              </a:ext>
            </a:extLst>
          </p:cNvPr>
          <p:cNvPicPr>
            <a:picLocks noRot="1" noChangeAspect="1"/>
          </p:cNvPicPr>
          <p:nvPr>
            <a:videoFile r:link="rId1"/>
          </p:nvPr>
        </p:nvPicPr>
        <p:blipFill>
          <a:blip r:embed="rId3"/>
          <a:stretch>
            <a:fillRect/>
          </a:stretch>
        </p:blipFill>
        <p:spPr>
          <a:xfrm>
            <a:off x="582142" y="1637013"/>
            <a:ext cx="8229600" cy="4646295"/>
          </a:xfrm>
          <a:prstGeom prst="rect">
            <a:avLst/>
          </a:prstGeom>
        </p:spPr>
      </p:pic>
      <p:sp>
        <p:nvSpPr>
          <p:cNvPr id="3" name="Text 5">
            <a:extLst>
              <a:ext uri="{FF2B5EF4-FFF2-40B4-BE49-F238E27FC236}">
                <a16:creationId xmlns:a16="http://schemas.microsoft.com/office/drawing/2014/main" id="{C3179E39-C4E3-B7D5-06B3-837FFAF4107A}"/>
              </a:ext>
            </a:extLst>
          </p:cNvPr>
          <p:cNvSpPr/>
          <p:nvPr/>
        </p:nvSpPr>
        <p:spPr>
          <a:xfrm>
            <a:off x="582141" y="1139064"/>
            <a:ext cx="6157705" cy="365760"/>
          </a:xfrm>
          <a:prstGeom prst="rect">
            <a:avLst/>
          </a:prstGeom>
          <a:noFill/>
          <a:ln/>
        </p:spPr>
        <p:txBody>
          <a:bodyPr wrap="square" rtlCol="0" anchor="ctr"/>
          <a:lstStyle/>
          <a:p>
            <a:pPr marL="0" indent="0">
              <a:buNone/>
            </a:pPr>
            <a:r>
              <a:rPr lang="en-US" i="1" dirty="0">
                <a:solidFill>
                  <a:srgbClr val="E8F4F8"/>
                </a:solidFill>
                <a:latin typeface="Helvetica Neue Light"/>
                <a:ea typeface="Calibri" pitchFamily="34" charset="-122"/>
                <a:cs typeface="Calibri" pitchFamily="34" charset="-120"/>
              </a:rPr>
              <a:t>Bernard Marr explains the fundamentals of Agentic AI</a:t>
            </a:r>
            <a:endParaRPr lang="en-US" dirty="0">
              <a:latin typeface="Helvetica Neue Light"/>
            </a:endParaRPr>
          </a:p>
        </p:txBody>
      </p:sp>
    </p:spTree>
    <p:extLst>
      <p:ext uri="{BB962C8B-B14F-4D97-AF65-F5344CB8AC3E}">
        <p14:creationId xmlns:p14="http://schemas.microsoft.com/office/powerpoint/2010/main" val="390912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34FBB452-1971-ADC6-FBED-C36212430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BFED6-189F-8062-3456-564C29C688A6}"/>
              </a:ext>
            </a:extLst>
          </p:cNvPr>
          <p:cNvSpPr>
            <a:spLocks noGrp="1"/>
          </p:cNvSpPr>
          <p:nvPr>
            <p:ph type="title"/>
          </p:nvPr>
        </p:nvSpPr>
        <p:spPr>
          <a:xfrm>
            <a:off x="457200" y="365126"/>
            <a:ext cx="8229600" cy="592213"/>
          </a:xfrm>
        </p:spPr>
        <p:txBody>
          <a:bodyPr/>
          <a:lstStyle/>
          <a:p>
            <a:r>
              <a:rPr lang="en-US" b="1" dirty="0"/>
              <a:t>Core Definition &amp; Key Ideas</a:t>
            </a:r>
            <a:endParaRPr lang="en-US" dirty="0"/>
          </a:p>
        </p:txBody>
      </p:sp>
      <p:sp>
        <p:nvSpPr>
          <p:cNvPr id="5" name="Slide Number Placeholder 4">
            <a:extLst>
              <a:ext uri="{FF2B5EF4-FFF2-40B4-BE49-F238E27FC236}">
                <a16:creationId xmlns:a16="http://schemas.microsoft.com/office/drawing/2014/main" id="{3E1A60B4-C7AD-8CD4-2F0C-509D838614CE}"/>
              </a:ext>
            </a:extLst>
          </p:cNvPr>
          <p:cNvSpPr>
            <a:spLocks noGrp="1"/>
          </p:cNvSpPr>
          <p:nvPr>
            <p:ph type="sldNum" sz="quarter" idx="12"/>
          </p:nvPr>
        </p:nvSpPr>
        <p:spPr/>
        <p:txBody>
          <a:bodyPr/>
          <a:lstStyle/>
          <a:p>
            <a:fld id="{21EF4C0E-91FA-4D94-8941-E22F3A83D5F1}" type="slidenum">
              <a:rPr lang="en-US" smtClean="0"/>
              <a:t>6</a:t>
            </a:fld>
            <a:endParaRPr lang="en-US"/>
          </a:p>
        </p:txBody>
      </p:sp>
      <p:sp>
        <p:nvSpPr>
          <p:cNvPr id="9" name="TextBox 8">
            <a:extLst>
              <a:ext uri="{FF2B5EF4-FFF2-40B4-BE49-F238E27FC236}">
                <a16:creationId xmlns:a16="http://schemas.microsoft.com/office/drawing/2014/main" id="{335FBC76-B484-C215-D174-5AAF99CBE5E1}"/>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https://share.google/images/XmCfRompQuohcMdTi</a:t>
            </a:r>
          </a:p>
        </p:txBody>
      </p:sp>
      <p:grpSp>
        <p:nvGrpSpPr>
          <p:cNvPr id="8" name="Group 7">
            <a:extLst>
              <a:ext uri="{FF2B5EF4-FFF2-40B4-BE49-F238E27FC236}">
                <a16:creationId xmlns:a16="http://schemas.microsoft.com/office/drawing/2014/main" id="{FAAF4070-3A69-ED49-EB62-E69FDF392AF7}"/>
              </a:ext>
            </a:extLst>
          </p:cNvPr>
          <p:cNvGrpSpPr/>
          <p:nvPr/>
        </p:nvGrpSpPr>
        <p:grpSpPr>
          <a:xfrm>
            <a:off x="457200" y="1288014"/>
            <a:ext cx="8229600" cy="4989496"/>
            <a:chOff x="457200" y="822960"/>
            <a:chExt cx="8229600" cy="3840480"/>
          </a:xfrm>
        </p:grpSpPr>
        <p:sp>
          <p:nvSpPr>
            <p:cNvPr id="10" name="Text 2">
              <a:extLst>
                <a:ext uri="{FF2B5EF4-FFF2-40B4-BE49-F238E27FC236}">
                  <a16:creationId xmlns:a16="http://schemas.microsoft.com/office/drawing/2014/main" id="{5314540A-9AB7-5172-EEF7-1106D91F64C4}"/>
                </a:ext>
              </a:extLst>
            </p:cNvPr>
            <p:cNvSpPr/>
            <p:nvPr/>
          </p:nvSpPr>
          <p:spPr>
            <a:xfrm>
              <a:off x="457200" y="822960"/>
              <a:ext cx="5486400" cy="320040"/>
            </a:xfrm>
            <a:prstGeom prst="rect">
              <a:avLst/>
            </a:prstGeom>
            <a:noFill/>
            <a:ln/>
          </p:spPr>
          <p:txBody>
            <a:bodyPr wrap="square" rtlCol="0" anchor="ctr"/>
            <a:lstStyle/>
            <a:p>
              <a:pPr marL="0" indent="0">
                <a:buNone/>
              </a:pPr>
              <a:r>
                <a:rPr lang="en-US" sz="2000" i="1" dirty="0">
                  <a:solidFill>
                    <a:srgbClr val="1C7293"/>
                  </a:solidFill>
                  <a:latin typeface="Helvetica Neue Light"/>
                  <a:ea typeface="Calibri" pitchFamily="34" charset="-122"/>
                  <a:cs typeface="Calibri" pitchFamily="34" charset="-120"/>
                </a:rPr>
                <a:t>Core Definition &amp; Key Ideas</a:t>
              </a:r>
              <a:endParaRPr lang="en-US" sz="2000" dirty="0">
                <a:latin typeface="Helvetica Neue Light"/>
              </a:endParaRPr>
            </a:p>
          </p:txBody>
        </p:sp>
        <p:sp>
          <p:nvSpPr>
            <p:cNvPr id="11" name="Shape 3">
              <a:extLst>
                <a:ext uri="{FF2B5EF4-FFF2-40B4-BE49-F238E27FC236}">
                  <a16:creationId xmlns:a16="http://schemas.microsoft.com/office/drawing/2014/main" id="{DDD3C682-B2B1-02A6-0585-66B9B10C5714}"/>
                </a:ext>
              </a:extLst>
            </p:cNvPr>
            <p:cNvSpPr/>
            <p:nvPr/>
          </p:nvSpPr>
          <p:spPr>
            <a:xfrm>
              <a:off x="457200" y="1280160"/>
              <a:ext cx="8229600" cy="1097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2" name="Shape 4">
              <a:extLst>
                <a:ext uri="{FF2B5EF4-FFF2-40B4-BE49-F238E27FC236}">
                  <a16:creationId xmlns:a16="http://schemas.microsoft.com/office/drawing/2014/main" id="{8E526D20-8BDC-8381-EA53-BB314034299B}"/>
                </a:ext>
              </a:extLst>
            </p:cNvPr>
            <p:cNvSpPr/>
            <p:nvPr/>
          </p:nvSpPr>
          <p:spPr>
            <a:xfrm>
              <a:off x="457200" y="1280160"/>
              <a:ext cx="54864" cy="1097280"/>
            </a:xfrm>
            <a:prstGeom prst="rect">
              <a:avLst/>
            </a:prstGeom>
            <a:solidFill>
              <a:srgbClr val="E07A5F"/>
            </a:solidFill>
            <a:ln/>
          </p:spPr>
          <p:txBody>
            <a:bodyPr/>
            <a:lstStyle/>
            <a:p>
              <a:endParaRPr lang="en-US" sz="2400">
                <a:latin typeface="Helvetica Neue Light"/>
              </a:endParaRPr>
            </a:p>
          </p:txBody>
        </p:sp>
        <p:sp>
          <p:nvSpPr>
            <p:cNvPr id="13" name="Text 5">
              <a:extLst>
                <a:ext uri="{FF2B5EF4-FFF2-40B4-BE49-F238E27FC236}">
                  <a16:creationId xmlns:a16="http://schemas.microsoft.com/office/drawing/2014/main" id="{475F58FC-E6EC-4C6B-4601-C780323B3265}"/>
                </a:ext>
              </a:extLst>
            </p:cNvPr>
            <p:cNvSpPr/>
            <p:nvPr/>
          </p:nvSpPr>
          <p:spPr>
            <a:xfrm>
              <a:off x="685800" y="1276830"/>
              <a:ext cx="777240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Definition:</a:t>
              </a:r>
              <a:endParaRPr lang="en-US" dirty="0">
                <a:latin typeface="Helvetica Neue Light"/>
              </a:endParaRPr>
            </a:p>
          </p:txBody>
        </p:sp>
        <p:sp>
          <p:nvSpPr>
            <p:cNvPr id="14" name="Text 6">
              <a:extLst>
                <a:ext uri="{FF2B5EF4-FFF2-40B4-BE49-F238E27FC236}">
                  <a16:creationId xmlns:a16="http://schemas.microsoft.com/office/drawing/2014/main" id="{60FC0AB3-F311-30C4-5A39-43A0DAD1BC0B}"/>
                </a:ext>
              </a:extLst>
            </p:cNvPr>
            <p:cNvSpPr/>
            <p:nvPr/>
          </p:nvSpPr>
          <p:spPr>
            <a:xfrm>
              <a:off x="685800" y="1645920"/>
              <a:ext cx="8001000" cy="6400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Agentic AI refers to AI systems that can autonomously pursue goals, make decisions, and take actions with minimal human intervention. Unlike traditional AI that responds to specific prompts, agentic AI can plan, reason, and execute complex multi-step tasks independently.</a:t>
              </a:r>
              <a:endParaRPr lang="en-US" sz="1600" dirty="0">
                <a:latin typeface="Helvetica Neue Light"/>
              </a:endParaRPr>
            </a:p>
          </p:txBody>
        </p:sp>
        <p:sp>
          <p:nvSpPr>
            <p:cNvPr id="15" name="Text 7">
              <a:extLst>
                <a:ext uri="{FF2B5EF4-FFF2-40B4-BE49-F238E27FC236}">
                  <a16:creationId xmlns:a16="http://schemas.microsoft.com/office/drawing/2014/main" id="{E5AFA5A0-6311-7DDE-F447-A6DAC51A55FC}"/>
                </a:ext>
              </a:extLst>
            </p:cNvPr>
            <p:cNvSpPr/>
            <p:nvPr/>
          </p:nvSpPr>
          <p:spPr>
            <a:xfrm>
              <a:off x="457200" y="251460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Traditional AI vs. Agentic AI</a:t>
              </a:r>
              <a:endParaRPr lang="en-US" sz="2000" dirty="0">
                <a:latin typeface="Helvetica Neue Light"/>
              </a:endParaRPr>
            </a:p>
          </p:txBody>
        </p:sp>
        <p:sp>
          <p:nvSpPr>
            <p:cNvPr id="16" name="Shape 8">
              <a:extLst>
                <a:ext uri="{FF2B5EF4-FFF2-40B4-BE49-F238E27FC236}">
                  <a16:creationId xmlns:a16="http://schemas.microsoft.com/office/drawing/2014/main" id="{83A572E8-C6B6-7834-95DF-C76A218F7A85}"/>
                </a:ext>
              </a:extLst>
            </p:cNvPr>
            <p:cNvSpPr/>
            <p:nvPr/>
          </p:nvSpPr>
          <p:spPr>
            <a:xfrm>
              <a:off x="457200" y="2880360"/>
              <a:ext cx="3931920" cy="1783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7" name="Shape 9">
              <a:extLst>
                <a:ext uri="{FF2B5EF4-FFF2-40B4-BE49-F238E27FC236}">
                  <a16:creationId xmlns:a16="http://schemas.microsoft.com/office/drawing/2014/main" id="{F12A76EC-62B0-E03C-1B01-9E50F72E5921}"/>
                </a:ext>
              </a:extLst>
            </p:cNvPr>
            <p:cNvSpPr/>
            <p:nvPr/>
          </p:nvSpPr>
          <p:spPr>
            <a:xfrm>
              <a:off x="457200" y="2880360"/>
              <a:ext cx="54864" cy="1783080"/>
            </a:xfrm>
            <a:prstGeom prst="rect">
              <a:avLst/>
            </a:prstGeom>
            <a:solidFill>
              <a:srgbClr val="636E72"/>
            </a:solidFill>
            <a:ln/>
          </p:spPr>
          <p:txBody>
            <a:bodyPr/>
            <a:lstStyle/>
            <a:p>
              <a:endParaRPr lang="en-US" sz="2400">
                <a:latin typeface="Helvetica Neue Light"/>
              </a:endParaRPr>
            </a:p>
          </p:txBody>
        </p:sp>
        <p:sp>
          <p:nvSpPr>
            <p:cNvPr id="18" name="Text 10">
              <a:extLst>
                <a:ext uri="{FF2B5EF4-FFF2-40B4-BE49-F238E27FC236}">
                  <a16:creationId xmlns:a16="http://schemas.microsoft.com/office/drawing/2014/main" id="{9F7CB7B1-5AEE-C003-6176-F41ED7F0FF85}"/>
                </a:ext>
              </a:extLst>
            </p:cNvPr>
            <p:cNvSpPr/>
            <p:nvPr/>
          </p:nvSpPr>
          <p:spPr>
            <a:xfrm>
              <a:off x="685800" y="2971800"/>
              <a:ext cx="34747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Traditional AI</a:t>
              </a:r>
              <a:endParaRPr lang="en-US" dirty="0">
                <a:latin typeface="Helvetica Neue Light"/>
              </a:endParaRPr>
            </a:p>
          </p:txBody>
        </p:sp>
        <p:sp>
          <p:nvSpPr>
            <p:cNvPr id="19" name="Text 11">
              <a:extLst>
                <a:ext uri="{FF2B5EF4-FFF2-40B4-BE49-F238E27FC236}">
                  <a16:creationId xmlns:a16="http://schemas.microsoft.com/office/drawing/2014/main" id="{9F2F2ED1-09D3-68C2-DA53-31CEC8319B52}"/>
                </a:ext>
              </a:extLst>
            </p:cNvPr>
            <p:cNvSpPr/>
            <p:nvPr/>
          </p:nvSpPr>
          <p:spPr>
            <a:xfrm>
              <a:off x="685800" y="3339288"/>
              <a:ext cx="3474720" cy="1280160"/>
            </a:xfrm>
            <a:prstGeom prst="rect">
              <a:avLst/>
            </a:prstGeom>
            <a:noFill/>
            <a:ln/>
          </p:spPr>
          <p:txBody>
            <a:bodyPr wrap="square" rtlCol="0" anchor="t"/>
            <a:lstStyle/>
            <a:p>
              <a:pPr marL="0" indent="0">
                <a:buNone/>
              </a:pPr>
              <a:r>
                <a:rPr lang="en-US" sz="1400" dirty="0">
                  <a:solidFill>
                    <a:srgbClr val="2D3436"/>
                  </a:solidFill>
                  <a:latin typeface="Helvetica Neue Light"/>
                  <a:ea typeface="Calibri" pitchFamily="34" charset="-122"/>
                  <a:cs typeface="Calibri" pitchFamily="34" charset="-120"/>
                </a:rPr>
                <a:t>• Requires prompts from humans</a:t>
              </a:r>
              <a:endParaRPr lang="en-US" sz="1400" dirty="0">
                <a:latin typeface="Helvetica Neue Light"/>
              </a:endParaRPr>
            </a:p>
            <a:p>
              <a:pPr marL="0" indent="0">
                <a:buNone/>
              </a:pPr>
              <a:r>
                <a:rPr lang="en-US" sz="1400" dirty="0">
                  <a:solidFill>
                    <a:srgbClr val="2D3436"/>
                  </a:solidFill>
                  <a:latin typeface="Helvetica Neue Light"/>
                  <a:ea typeface="Calibri" pitchFamily="34" charset="-122"/>
                  <a:cs typeface="Calibri" pitchFamily="34" charset="-120"/>
                </a:rPr>
                <a:t>• Pattern recognition &amp; prediction</a:t>
              </a:r>
              <a:endParaRPr lang="en-US" sz="1400" dirty="0">
                <a:latin typeface="Helvetica Neue Light"/>
              </a:endParaRPr>
            </a:p>
            <a:p>
              <a:pPr marL="0" indent="0">
                <a:buNone/>
              </a:pPr>
              <a:r>
                <a:rPr lang="en-US" sz="1400" dirty="0">
                  <a:solidFill>
                    <a:srgbClr val="2D3436"/>
                  </a:solidFill>
                  <a:latin typeface="Helvetica Neue Light"/>
                  <a:ea typeface="Calibri" pitchFamily="34" charset="-122"/>
                  <a:cs typeface="Calibri" pitchFamily="34" charset="-120"/>
                </a:rPr>
                <a:t>• Classification within structured datasets</a:t>
              </a:r>
              <a:endParaRPr lang="en-US" sz="1400" dirty="0">
                <a:latin typeface="Helvetica Neue Light"/>
              </a:endParaRPr>
            </a:p>
            <a:p>
              <a:pPr marL="0" indent="0">
                <a:buNone/>
              </a:pPr>
              <a:r>
                <a:rPr lang="en-US" sz="1400" dirty="0">
                  <a:solidFill>
                    <a:srgbClr val="2D3436"/>
                  </a:solidFill>
                  <a:latin typeface="Helvetica Neue Light"/>
                  <a:ea typeface="Calibri" pitchFamily="34" charset="-122"/>
                  <a:cs typeface="Calibri" pitchFamily="34" charset="-120"/>
                </a:rPr>
                <a:t>• Reactive: Question → Answer</a:t>
              </a:r>
              <a:endParaRPr lang="en-US" sz="1400" dirty="0">
                <a:latin typeface="Helvetica Neue Light"/>
              </a:endParaRPr>
            </a:p>
          </p:txBody>
        </p:sp>
        <p:sp>
          <p:nvSpPr>
            <p:cNvPr id="20" name="Shape 12">
              <a:extLst>
                <a:ext uri="{FF2B5EF4-FFF2-40B4-BE49-F238E27FC236}">
                  <a16:creationId xmlns:a16="http://schemas.microsoft.com/office/drawing/2014/main" id="{3FBBD17E-3779-541A-93EA-C267E7D09338}"/>
                </a:ext>
              </a:extLst>
            </p:cNvPr>
            <p:cNvSpPr/>
            <p:nvPr/>
          </p:nvSpPr>
          <p:spPr>
            <a:xfrm>
              <a:off x="4754880" y="2880360"/>
              <a:ext cx="3931920" cy="1783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21" name="Shape 13">
              <a:extLst>
                <a:ext uri="{FF2B5EF4-FFF2-40B4-BE49-F238E27FC236}">
                  <a16:creationId xmlns:a16="http://schemas.microsoft.com/office/drawing/2014/main" id="{5DC90338-A241-7E29-9BE2-7AE5AE57FA47}"/>
                </a:ext>
              </a:extLst>
            </p:cNvPr>
            <p:cNvSpPr/>
            <p:nvPr/>
          </p:nvSpPr>
          <p:spPr>
            <a:xfrm>
              <a:off x="4754880" y="2880360"/>
              <a:ext cx="54864" cy="1783080"/>
            </a:xfrm>
            <a:prstGeom prst="rect">
              <a:avLst/>
            </a:prstGeom>
            <a:solidFill>
              <a:srgbClr val="1C7293"/>
            </a:solidFill>
            <a:ln/>
          </p:spPr>
          <p:txBody>
            <a:bodyPr/>
            <a:lstStyle/>
            <a:p>
              <a:endParaRPr lang="en-US" sz="2400">
                <a:latin typeface="Helvetica Neue Light"/>
              </a:endParaRPr>
            </a:p>
          </p:txBody>
        </p:sp>
        <p:sp>
          <p:nvSpPr>
            <p:cNvPr id="22" name="Text 14">
              <a:extLst>
                <a:ext uri="{FF2B5EF4-FFF2-40B4-BE49-F238E27FC236}">
                  <a16:creationId xmlns:a16="http://schemas.microsoft.com/office/drawing/2014/main" id="{48B7BA0A-455D-562A-2454-294684AC50FA}"/>
                </a:ext>
              </a:extLst>
            </p:cNvPr>
            <p:cNvSpPr/>
            <p:nvPr/>
          </p:nvSpPr>
          <p:spPr>
            <a:xfrm>
              <a:off x="4983480" y="2971800"/>
              <a:ext cx="34747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Agentic AI</a:t>
              </a:r>
              <a:endParaRPr lang="en-US" dirty="0">
                <a:latin typeface="Helvetica Neue Light"/>
              </a:endParaRPr>
            </a:p>
          </p:txBody>
        </p:sp>
        <p:sp>
          <p:nvSpPr>
            <p:cNvPr id="23" name="Text 15">
              <a:extLst>
                <a:ext uri="{FF2B5EF4-FFF2-40B4-BE49-F238E27FC236}">
                  <a16:creationId xmlns:a16="http://schemas.microsoft.com/office/drawing/2014/main" id="{C6369209-2C40-B784-7AE1-43E36087000A}"/>
                </a:ext>
              </a:extLst>
            </p:cNvPr>
            <p:cNvSpPr/>
            <p:nvPr/>
          </p:nvSpPr>
          <p:spPr>
            <a:xfrm>
              <a:off x="4983480" y="3339288"/>
              <a:ext cx="3703320" cy="1280160"/>
            </a:xfrm>
            <a:prstGeom prst="rect">
              <a:avLst/>
            </a:prstGeom>
            <a:noFill/>
            <a:ln/>
          </p:spPr>
          <p:txBody>
            <a:bodyPr wrap="square" rtlCol="0" anchor="t"/>
            <a:lstStyle/>
            <a:p>
              <a:pPr marL="0" indent="0">
                <a:buNone/>
              </a:pPr>
              <a:r>
                <a:rPr lang="en-US" sz="1400" dirty="0">
                  <a:solidFill>
                    <a:srgbClr val="2D3436"/>
                  </a:solidFill>
                  <a:latin typeface="Helvetica Neue Light"/>
                  <a:ea typeface="Calibri" pitchFamily="34" charset="-122"/>
                  <a:cs typeface="Calibri" pitchFamily="34" charset="-120"/>
                </a:rPr>
                <a:t>• Takes action to achieve defined outcomes</a:t>
              </a:r>
              <a:endParaRPr lang="en-US" sz="1400" dirty="0">
                <a:latin typeface="Helvetica Neue Light"/>
              </a:endParaRPr>
            </a:p>
            <a:p>
              <a:pPr marL="0" indent="0">
                <a:buNone/>
              </a:pPr>
              <a:r>
                <a:rPr lang="en-US" sz="1400" dirty="0">
                  <a:solidFill>
                    <a:srgbClr val="2D3436"/>
                  </a:solidFill>
                  <a:latin typeface="Helvetica Neue Light"/>
                  <a:ea typeface="Calibri" pitchFamily="34" charset="-122"/>
                  <a:cs typeface="Calibri" pitchFamily="34" charset="-120"/>
                </a:rPr>
                <a:t>• Perceives environment &amp; reasons</a:t>
              </a:r>
              <a:endParaRPr lang="en-US" sz="1400" dirty="0">
                <a:latin typeface="Helvetica Neue Light"/>
              </a:endParaRPr>
            </a:p>
            <a:p>
              <a:pPr marL="0" indent="0">
                <a:buNone/>
              </a:pPr>
              <a:r>
                <a:rPr lang="en-US" sz="1400" dirty="0">
                  <a:solidFill>
                    <a:srgbClr val="2D3436"/>
                  </a:solidFill>
                  <a:latin typeface="Helvetica Neue Light"/>
                  <a:ea typeface="Calibri" pitchFamily="34" charset="-122"/>
                  <a:cs typeface="Calibri" pitchFamily="34" charset="-120"/>
                </a:rPr>
                <a:t>• Executes actions &amp; learns from outcomes</a:t>
              </a:r>
              <a:endParaRPr lang="en-US" sz="1400" dirty="0">
                <a:latin typeface="Helvetica Neue Light"/>
              </a:endParaRPr>
            </a:p>
            <a:p>
              <a:pPr marL="0" indent="0">
                <a:buNone/>
              </a:pPr>
              <a:r>
                <a:rPr lang="en-US" sz="1400" dirty="0">
                  <a:solidFill>
                    <a:srgbClr val="2D3436"/>
                  </a:solidFill>
                  <a:latin typeface="Helvetica Neue Light"/>
                  <a:ea typeface="Calibri" pitchFamily="34" charset="-122"/>
                  <a:cs typeface="Calibri" pitchFamily="34" charset="-120"/>
                </a:rPr>
                <a:t>• Proactive: Goal → Plan → Execute → Adapt</a:t>
              </a:r>
              <a:endParaRPr lang="en-US" sz="1400" dirty="0">
                <a:latin typeface="Helvetica Neue Light"/>
              </a:endParaRPr>
            </a:p>
          </p:txBody>
        </p:sp>
      </p:grpSp>
    </p:spTree>
    <p:extLst>
      <p:ext uri="{BB962C8B-B14F-4D97-AF65-F5344CB8AC3E}">
        <p14:creationId xmlns:p14="http://schemas.microsoft.com/office/powerpoint/2010/main" val="874867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7ABA3DA-26E3-8AA6-9158-48AB3A243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0903C-7CE5-2C95-8460-08E5B2F29CEC}"/>
              </a:ext>
            </a:extLst>
          </p:cNvPr>
          <p:cNvSpPr>
            <a:spLocks noGrp="1"/>
          </p:cNvSpPr>
          <p:nvPr>
            <p:ph type="title"/>
          </p:nvPr>
        </p:nvSpPr>
        <p:spPr>
          <a:xfrm>
            <a:off x="457200" y="365126"/>
            <a:ext cx="8229600" cy="592213"/>
          </a:xfrm>
        </p:spPr>
        <p:txBody>
          <a:bodyPr/>
          <a:lstStyle/>
          <a:p>
            <a:r>
              <a:rPr lang="en-US" dirty="0"/>
              <a:t>Building Blocks &amp; Components</a:t>
            </a:r>
          </a:p>
        </p:txBody>
      </p:sp>
      <p:sp>
        <p:nvSpPr>
          <p:cNvPr id="5" name="Slide Number Placeholder 4">
            <a:extLst>
              <a:ext uri="{FF2B5EF4-FFF2-40B4-BE49-F238E27FC236}">
                <a16:creationId xmlns:a16="http://schemas.microsoft.com/office/drawing/2014/main" id="{7E57BCF2-5C25-FBF2-EDF3-8325C05A399A}"/>
              </a:ext>
            </a:extLst>
          </p:cNvPr>
          <p:cNvSpPr>
            <a:spLocks noGrp="1"/>
          </p:cNvSpPr>
          <p:nvPr>
            <p:ph type="sldNum" sz="quarter" idx="12"/>
          </p:nvPr>
        </p:nvSpPr>
        <p:spPr/>
        <p:txBody>
          <a:bodyPr/>
          <a:lstStyle/>
          <a:p>
            <a:fld id="{21EF4C0E-91FA-4D94-8941-E22F3A83D5F1}" type="slidenum">
              <a:rPr lang="en-US" smtClean="0"/>
              <a:t>7</a:t>
            </a:fld>
            <a:endParaRPr lang="en-US"/>
          </a:p>
        </p:txBody>
      </p:sp>
      <p:sp>
        <p:nvSpPr>
          <p:cNvPr id="6" name="TextBox 5">
            <a:extLst>
              <a:ext uri="{FF2B5EF4-FFF2-40B4-BE49-F238E27FC236}">
                <a16:creationId xmlns:a16="http://schemas.microsoft.com/office/drawing/2014/main" id="{BE9B225A-9751-0219-C9BD-57AAE3374B57}"/>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8" name="Group 7">
            <a:extLst>
              <a:ext uri="{FF2B5EF4-FFF2-40B4-BE49-F238E27FC236}">
                <a16:creationId xmlns:a16="http://schemas.microsoft.com/office/drawing/2014/main" id="{91AE621B-EDFD-5868-12D7-E4FFDB5B79C2}"/>
              </a:ext>
            </a:extLst>
          </p:cNvPr>
          <p:cNvGrpSpPr/>
          <p:nvPr/>
        </p:nvGrpSpPr>
        <p:grpSpPr>
          <a:xfrm>
            <a:off x="457200" y="1274884"/>
            <a:ext cx="8458200" cy="3841646"/>
            <a:chOff x="457200" y="1275507"/>
            <a:chExt cx="8458200" cy="3387933"/>
          </a:xfrm>
        </p:grpSpPr>
        <p:sp>
          <p:nvSpPr>
            <p:cNvPr id="9" name="Shape 3">
              <a:extLst>
                <a:ext uri="{FF2B5EF4-FFF2-40B4-BE49-F238E27FC236}">
                  <a16:creationId xmlns:a16="http://schemas.microsoft.com/office/drawing/2014/main" id="{85D03D3E-3494-91EE-438C-5226277A77A8}"/>
                </a:ext>
              </a:extLst>
            </p:cNvPr>
            <p:cNvSpPr/>
            <p:nvPr/>
          </p:nvSpPr>
          <p:spPr>
            <a:xfrm>
              <a:off x="457200" y="1280160"/>
              <a:ext cx="2651760" cy="1828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0" name="Shape 4">
              <a:extLst>
                <a:ext uri="{FF2B5EF4-FFF2-40B4-BE49-F238E27FC236}">
                  <a16:creationId xmlns:a16="http://schemas.microsoft.com/office/drawing/2014/main" id="{F93A9BC5-823A-34C8-3DB0-1EE3BF64E901}"/>
                </a:ext>
              </a:extLst>
            </p:cNvPr>
            <p:cNvSpPr/>
            <p:nvPr/>
          </p:nvSpPr>
          <p:spPr>
            <a:xfrm>
              <a:off x="457200" y="1280160"/>
              <a:ext cx="54864" cy="1828800"/>
            </a:xfrm>
            <a:prstGeom prst="rect">
              <a:avLst/>
            </a:prstGeom>
            <a:solidFill>
              <a:srgbClr val="065A82"/>
            </a:solidFill>
            <a:ln/>
          </p:spPr>
          <p:txBody>
            <a:bodyPr/>
            <a:lstStyle/>
            <a:p>
              <a:endParaRPr lang="en-US" sz="2400">
                <a:latin typeface="Helvetica Neue Light"/>
              </a:endParaRPr>
            </a:p>
          </p:txBody>
        </p:sp>
        <p:sp>
          <p:nvSpPr>
            <p:cNvPr id="11" name="Text 5">
              <a:extLst>
                <a:ext uri="{FF2B5EF4-FFF2-40B4-BE49-F238E27FC236}">
                  <a16:creationId xmlns:a16="http://schemas.microsoft.com/office/drawing/2014/main" id="{54532106-284D-9819-350F-841981AB3211}"/>
                </a:ext>
              </a:extLst>
            </p:cNvPr>
            <p:cNvSpPr/>
            <p:nvPr/>
          </p:nvSpPr>
          <p:spPr>
            <a:xfrm>
              <a:off x="594360" y="1371600"/>
              <a:ext cx="548640" cy="548640"/>
            </a:xfrm>
            <a:prstGeom prst="rect">
              <a:avLst/>
            </a:prstGeom>
            <a:noFill/>
            <a:ln/>
          </p:spPr>
          <p:txBody>
            <a:bodyPr wrap="square" rtlCol="0" anchor="ctr"/>
            <a:lstStyle/>
            <a:p>
              <a:pPr marL="0" indent="0">
                <a:buNone/>
              </a:pPr>
              <a:r>
                <a:rPr lang="en-US" sz="3600" dirty="0">
                  <a:solidFill>
                    <a:srgbClr val="000000"/>
                  </a:solidFill>
                  <a:latin typeface="Helvetica Neue Light"/>
                </a:rPr>
                <a:t>🧠</a:t>
              </a:r>
              <a:endParaRPr lang="en-US" sz="3600" dirty="0">
                <a:latin typeface="Helvetica Neue Light"/>
              </a:endParaRPr>
            </a:p>
          </p:txBody>
        </p:sp>
        <p:sp>
          <p:nvSpPr>
            <p:cNvPr id="12" name="Text 6">
              <a:extLst>
                <a:ext uri="{FF2B5EF4-FFF2-40B4-BE49-F238E27FC236}">
                  <a16:creationId xmlns:a16="http://schemas.microsoft.com/office/drawing/2014/main" id="{8B5314E8-96F3-71ED-6ADF-87E87A6CE1A2}"/>
                </a:ext>
              </a:extLst>
            </p:cNvPr>
            <p:cNvSpPr/>
            <p:nvPr/>
          </p:nvSpPr>
          <p:spPr>
            <a:xfrm>
              <a:off x="594360" y="1920240"/>
              <a:ext cx="237744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Brain (LLM)</a:t>
              </a:r>
              <a:endParaRPr lang="en-US" dirty="0">
                <a:latin typeface="Helvetica Neue Light"/>
              </a:endParaRPr>
            </a:p>
          </p:txBody>
        </p:sp>
        <p:sp>
          <p:nvSpPr>
            <p:cNvPr id="13" name="Text 7">
              <a:extLst>
                <a:ext uri="{FF2B5EF4-FFF2-40B4-BE49-F238E27FC236}">
                  <a16:creationId xmlns:a16="http://schemas.microsoft.com/office/drawing/2014/main" id="{DC1B9642-4B4A-F82E-B4ED-10F445D29621}"/>
                </a:ext>
              </a:extLst>
            </p:cNvPr>
            <p:cNvSpPr/>
            <p:nvPr/>
          </p:nvSpPr>
          <p:spPr>
            <a:xfrm>
              <a:off x="594360" y="2240280"/>
              <a:ext cx="2377440" cy="7772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Planning and reasoning capabilities powered by large language models</a:t>
              </a:r>
              <a:endParaRPr lang="en-US" sz="1400" dirty="0">
                <a:latin typeface="Helvetica Neue Light"/>
              </a:endParaRPr>
            </a:p>
          </p:txBody>
        </p:sp>
        <p:sp>
          <p:nvSpPr>
            <p:cNvPr id="14" name="Shape 8">
              <a:extLst>
                <a:ext uri="{FF2B5EF4-FFF2-40B4-BE49-F238E27FC236}">
                  <a16:creationId xmlns:a16="http://schemas.microsoft.com/office/drawing/2014/main" id="{9D2F32CE-7AA0-5359-382F-128758397CDC}"/>
                </a:ext>
              </a:extLst>
            </p:cNvPr>
            <p:cNvSpPr/>
            <p:nvPr/>
          </p:nvSpPr>
          <p:spPr>
            <a:xfrm>
              <a:off x="3291840" y="1280160"/>
              <a:ext cx="2651760" cy="1828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5" name="Shape 9">
              <a:extLst>
                <a:ext uri="{FF2B5EF4-FFF2-40B4-BE49-F238E27FC236}">
                  <a16:creationId xmlns:a16="http://schemas.microsoft.com/office/drawing/2014/main" id="{E2CF1206-0493-9AE1-4EC5-D8AE34298CD4}"/>
                </a:ext>
              </a:extLst>
            </p:cNvPr>
            <p:cNvSpPr/>
            <p:nvPr/>
          </p:nvSpPr>
          <p:spPr>
            <a:xfrm>
              <a:off x="3291840" y="1280160"/>
              <a:ext cx="54864" cy="1828800"/>
            </a:xfrm>
            <a:prstGeom prst="rect">
              <a:avLst/>
            </a:prstGeom>
            <a:solidFill>
              <a:srgbClr val="1C7293"/>
            </a:solidFill>
            <a:ln/>
          </p:spPr>
          <p:txBody>
            <a:bodyPr/>
            <a:lstStyle/>
            <a:p>
              <a:endParaRPr lang="en-US" sz="2400">
                <a:latin typeface="Helvetica Neue Light"/>
              </a:endParaRPr>
            </a:p>
          </p:txBody>
        </p:sp>
        <p:sp>
          <p:nvSpPr>
            <p:cNvPr id="16" name="Text 10">
              <a:extLst>
                <a:ext uri="{FF2B5EF4-FFF2-40B4-BE49-F238E27FC236}">
                  <a16:creationId xmlns:a16="http://schemas.microsoft.com/office/drawing/2014/main" id="{8E6014C4-EDAE-BEF3-7ABB-B061C1DAA2E3}"/>
                </a:ext>
              </a:extLst>
            </p:cNvPr>
            <p:cNvSpPr/>
            <p:nvPr/>
          </p:nvSpPr>
          <p:spPr>
            <a:xfrm>
              <a:off x="3429000" y="1371600"/>
              <a:ext cx="548640" cy="548640"/>
            </a:xfrm>
            <a:prstGeom prst="rect">
              <a:avLst/>
            </a:prstGeom>
            <a:noFill/>
            <a:ln/>
          </p:spPr>
          <p:txBody>
            <a:bodyPr wrap="square" rtlCol="0" anchor="ctr"/>
            <a:lstStyle/>
            <a:p>
              <a:pPr marL="0" indent="0">
                <a:buNone/>
              </a:pPr>
              <a:r>
                <a:rPr lang="en-US" sz="3600" dirty="0">
                  <a:solidFill>
                    <a:srgbClr val="000000"/>
                  </a:solidFill>
                  <a:latin typeface="Helvetica Neue Light"/>
                </a:rPr>
                <a:t>💾</a:t>
              </a:r>
              <a:endParaRPr lang="en-US" sz="3600" dirty="0">
                <a:latin typeface="Helvetica Neue Light"/>
              </a:endParaRPr>
            </a:p>
          </p:txBody>
        </p:sp>
        <p:sp>
          <p:nvSpPr>
            <p:cNvPr id="17" name="Text 11">
              <a:extLst>
                <a:ext uri="{FF2B5EF4-FFF2-40B4-BE49-F238E27FC236}">
                  <a16:creationId xmlns:a16="http://schemas.microsoft.com/office/drawing/2014/main" id="{98FE4DC1-1671-8F44-4BAD-86A1B3F05537}"/>
                </a:ext>
              </a:extLst>
            </p:cNvPr>
            <p:cNvSpPr/>
            <p:nvPr/>
          </p:nvSpPr>
          <p:spPr>
            <a:xfrm>
              <a:off x="3429000" y="1920240"/>
              <a:ext cx="237744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Memory</a:t>
              </a:r>
              <a:endParaRPr lang="en-US" dirty="0">
                <a:latin typeface="Helvetica Neue Light"/>
              </a:endParaRPr>
            </a:p>
          </p:txBody>
        </p:sp>
        <p:sp>
          <p:nvSpPr>
            <p:cNvPr id="18" name="Text 12">
              <a:extLst>
                <a:ext uri="{FF2B5EF4-FFF2-40B4-BE49-F238E27FC236}">
                  <a16:creationId xmlns:a16="http://schemas.microsoft.com/office/drawing/2014/main" id="{FE2163E4-AEDC-5867-0B12-35435BB7C6F4}"/>
                </a:ext>
              </a:extLst>
            </p:cNvPr>
            <p:cNvSpPr/>
            <p:nvPr/>
          </p:nvSpPr>
          <p:spPr>
            <a:xfrm>
              <a:off x="3429000" y="2240280"/>
              <a:ext cx="2615184" cy="7772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Stores intermediate results, context, and learned information (short &amp; long-term)</a:t>
              </a:r>
              <a:endParaRPr lang="en-US" sz="1400" dirty="0">
                <a:latin typeface="Helvetica Neue Light"/>
              </a:endParaRPr>
            </a:p>
          </p:txBody>
        </p:sp>
        <p:sp>
          <p:nvSpPr>
            <p:cNvPr id="19" name="Shape 13">
              <a:extLst>
                <a:ext uri="{FF2B5EF4-FFF2-40B4-BE49-F238E27FC236}">
                  <a16:creationId xmlns:a16="http://schemas.microsoft.com/office/drawing/2014/main" id="{B5F1685D-0CF3-1A46-574E-9AF585524D36}"/>
                </a:ext>
              </a:extLst>
            </p:cNvPr>
            <p:cNvSpPr/>
            <p:nvPr/>
          </p:nvSpPr>
          <p:spPr>
            <a:xfrm>
              <a:off x="6228636" y="1275507"/>
              <a:ext cx="2651760" cy="1828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20" name="Shape 14">
              <a:extLst>
                <a:ext uri="{FF2B5EF4-FFF2-40B4-BE49-F238E27FC236}">
                  <a16:creationId xmlns:a16="http://schemas.microsoft.com/office/drawing/2014/main" id="{6715178D-0996-298B-9EEA-99DD32371593}"/>
                </a:ext>
              </a:extLst>
            </p:cNvPr>
            <p:cNvSpPr/>
            <p:nvPr/>
          </p:nvSpPr>
          <p:spPr>
            <a:xfrm>
              <a:off x="6126480" y="1280160"/>
              <a:ext cx="54864" cy="1828800"/>
            </a:xfrm>
            <a:prstGeom prst="rect">
              <a:avLst/>
            </a:prstGeom>
            <a:solidFill>
              <a:srgbClr val="E07A5F"/>
            </a:solidFill>
            <a:ln/>
          </p:spPr>
          <p:txBody>
            <a:bodyPr/>
            <a:lstStyle/>
            <a:p>
              <a:endParaRPr lang="en-US" sz="2400">
                <a:latin typeface="Helvetica Neue Light"/>
              </a:endParaRPr>
            </a:p>
          </p:txBody>
        </p:sp>
        <p:sp>
          <p:nvSpPr>
            <p:cNvPr id="21" name="Text 15">
              <a:extLst>
                <a:ext uri="{FF2B5EF4-FFF2-40B4-BE49-F238E27FC236}">
                  <a16:creationId xmlns:a16="http://schemas.microsoft.com/office/drawing/2014/main" id="{75525021-FD0C-DA5E-1257-39BAD09145B9}"/>
                </a:ext>
              </a:extLst>
            </p:cNvPr>
            <p:cNvSpPr/>
            <p:nvPr/>
          </p:nvSpPr>
          <p:spPr>
            <a:xfrm>
              <a:off x="6263640" y="1371600"/>
              <a:ext cx="548640" cy="548640"/>
            </a:xfrm>
            <a:prstGeom prst="rect">
              <a:avLst/>
            </a:prstGeom>
            <a:noFill/>
            <a:ln/>
          </p:spPr>
          <p:txBody>
            <a:bodyPr wrap="square" rtlCol="0" anchor="ctr"/>
            <a:lstStyle/>
            <a:p>
              <a:pPr marL="0" indent="0">
                <a:buNone/>
              </a:pPr>
              <a:r>
                <a:rPr lang="en-US" sz="3600" dirty="0">
                  <a:solidFill>
                    <a:srgbClr val="000000"/>
                  </a:solidFill>
                  <a:latin typeface="Helvetica Neue Light"/>
                </a:rPr>
                <a:t>🔧</a:t>
              </a:r>
              <a:endParaRPr lang="en-US" sz="3600" dirty="0">
                <a:latin typeface="Helvetica Neue Light"/>
              </a:endParaRPr>
            </a:p>
          </p:txBody>
        </p:sp>
        <p:sp>
          <p:nvSpPr>
            <p:cNvPr id="22" name="Text 16">
              <a:extLst>
                <a:ext uri="{FF2B5EF4-FFF2-40B4-BE49-F238E27FC236}">
                  <a16:creationId xmlns:a16="http://schemas.microsoft.com/office/drawing/2014/main" id="{3A1EE783-538E-BC11-8694-5B0B759F81F0}"/>
                </a:ext>
              </a:extLst>
            </p:cNvPr>
            <p:cNvSpPr/>
            <p:nvPr/>
          </p:nvSpPr>
          <p:spPr>
            <a:xfrm>
              <a:off x="6263640" y="1920240"/>
              <a:ext cx="237744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Tools</a:t>
              </a:r>
              <a:endParaRPr lang="en-US" dirty="0">
                <a:latin typeface="Helvetica Neue Light"/>
              </a:endParaRPr>
            </a:p>
          </p:txBody>
        </p:sp>
        <p:sp>
          <p:nvSpPr>
            <p:cNvPr id="23" name="Text 17">
              <a:extLst>
                <a:ext uri="{FF2B5EF4-FFF2-40B4-BE49-F238E27FC236}">
                  <a16:creationId xmlns:a16="http://schemas.microsoft.com/office/drawing/2014/main" id="{2A924D8F-D7A2-4A0C-B34F-191EB113A00F}"/>
                </a:ext>
              </a:extLst>
            </p:cNvPr>
            <p:cNvSpPr/>
            <p:nvPr/>
          </p:nvSpPr>
          <p:spPr>
            <a:xfrm>
              <a:off x="6263640" y="2240280"/>
              <a:ext cx="2558892" cy="7772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Calendar, calculator, code interpreter, search, APIs, and more</a:t>
              </a:r>
              <a:endParaRPr lang="en-US" sz="1400" dirty="0">
                <a:latin typeface="Helvetica Neue Light"/>
              </a:endParaRPr>
            </a:p>
          </p:txBody>
        </p:sp>
        <p:sp>
          <p:nvSpPr>
            <p:cNvPr id="24" name="Text 18">
              <a:extLst>
                <a:ext uri="{FF2B5EF4-FFF2-40B4-BE49-F238E27FC236}">
                  <a16:creationId xmlns:a16="http://schemas.microsoft.com/office/drawing/2014/main" id="{941595D0-08ED-B254-D36B-EB80B92A9E08}"/>
                </a:ext>
              </a:extLst>
            </p:cNvPr>
            <p:cNvSpPr/>
            <p:nvPr/>
          </p:nvSpPr>
          <p:spPr>
            <a:xfrm>
              <a:off x="457200" y="3246120"/>
              <a:ext cx="8229600" cy="320040"/>
            </a:xfrm>
            <a:prstGeom prst="rect">
              <a:avLst/>
            </a:prstGeom>
            <a:noFill/>
            <a:ln/>
          </p:spPr>
          <p:txBody>
            <a:bodyPr wrap="square" rtlCol="0" anchor="ctr"/>
            <a:lstStyle/>
            <a:p>
              <a:pPr marL="0" indent="0">
                <a:buNone/>
              </a:pPr>
              <a:r>
                <a:rPr lang="en-US" b="1" dirty="0">
                  <a:solidFill>
                    <a:srgbClr val="065A82"/>
                  </a:solidFill>
                  <a:latin typeface="Helvetica Neue Light"/>
                  <a:ea typeface="Georgia" pitchFamily="34" charset="-122"/>
                  <a:cs typeface="Georgia" pitchFamily="34" charset="-120"/>
                </a:rPr>
                <a:t>Planning Capabilities</a:t>
              </a:r>
              <a:endParaRPr lang="en-US" dirty="0">
                <a:latin typeface="Helvetica Neue Light"/>
              </a:endParaRPr>
            </a:p>
          </p:txBody>
        </p:sp>
        <p:sp>
          <p:nvSpPr>
            <p:cNvPr id="25" name="Shape 19">
              <a:extLst>
                <a:ext uri="{FF2B5EF4-FFF2-40B4-BE49-F238E27FC236}">
                  <a16:creationId xmlns:a16="http://schemas.microsoft.com/office/drawing/2014/main" id="{B100ADE0-C976-CA94-2F38-6C87E2D911DA}"/>
                </a:ext>
              </a:extLst>
            </p:cNvPr>
            <p:cNvSpPr/>
            <p:nvPr/>
          </p:nvSpPr>
          <p:spPr>
            <a:xfrm>
              <a:off x="457200" y="3611880"/>
              <a:ext cx="2011680" cy="457200"/>
            </a:xfrm>
            <a:prstGeom prst="rect">
              <a:avLst/>
            </a:prstGeom>
            <a:solidFill>
              <a:srgbClr val="1C7293">
                <a:alpha val="80000"/>
              </a:srgbClr>
            </a:solidFill>
            <a:ln/>
          </p:spPr>
          <p:txBody>
            <a:bodyPr/>
            <a:lstStyle/>
            <a:p>
              <a:endParaRPr lang="en-US" sz="2400">
                <a:latin typeface="Helvetica Neue Light"/>
              </a:endParaRPr>
            </a:p>
          </p:txBody>
        </p:sp>
        <p:sp>
          <p:nvSpPr>
            <p:cNvPr id="26" name="Text 20">
              <a:extLst>
                <a:ext uri="{FF2B5EF4-FFF2-40B4-BE49-F238E27FC236}">
                  <a16:creationId xmlns:a16="http://schemas.microsoft.com/office/drawing/2014/main" id="{811F7D47-5A07-D482-9D71-D89CB1E4CC6C}"/>
                </a:ext>
              </a:extLst>
            </p:cNvPr>
            <p:cNvSpPr/>
            <p:nvPr/>
          </p:nvSpPr>
          <p:spPr>
            <a:xfrm>
              <a:off x="457200" y="3657600"/>
              <a:ext cx="2011680" cy="365760"/>
            </a:xfrm>
            <a:prstGeom prst="rect">
              <a:avLst/>
            </a:prstGeom>
            <a:noFill/>
            <a:ln/>
          </p:spPr>
          <p:txBody>
            <a:bodyPr wrap="square" rtlCol="0" anchor="ctr"/>
            <a:lstStyle/>
            <a:p>
              <a:pPr marL="0" indent="0" algn="ctr">
                <a:buNone/>
              </a:pPr>
              <a:r>
                <a:rPr lang="en-US" b="1" dirty="0">
                  <a:solidFill>
                    <a:schemeClr val="bg1"/>
                  </a:solidFill>
                  <a:latin typeface="Helvetica Neue Light"/>
                  <a:ea typeface="Calibri" pitchFamily="34" charset="-122"/>
                  <a:cs typeface="Calibri" pitchFamily="34" charset="-120"/>
                </a:rPr>
                <a:t>Reflection</a:t>
              </a:r>
              <a:endParaRPr lang="en-US" b="1" dirty="0">
                <a:solidFill>
                  <a:schemeClr val="bg1"/>
                </a:solidFill>
                <a:latin typeface="Helvetica Neue Light"/>
              </a:endParaRPr>
            </a:p>
          </p:txBody>
        </p:sp>
        <p:sp>
          <p:nvSpPr>
            <p:cNvPr id="27" name="Shape 21">
              <a:extLst>
                <a:ext uri="{FF2B5EF4-FFF2-40B4-BE49-F238E27FC236}">
                  <a16:creationId xmlns:a16="http://schemas.microsoft.com/office/drawing/2014/main" id="{56C98BE2-6224-DFDA-30D9-C595B3B18549}"/>
                </a:ext>
              </a:extLst>
            </p:cNvPr>
            <p:cNvSpPr/>
            <p:nvPr/>
          </p:nvSpPr>
          <p:spPr>
            <a:xfrm>
              <a:off x="2606040" y="3611880"/>
              <a:ext cx="2011680" cy="457200"/>
            </a:xfrm>
            <a:prstGeom prst="rect">
              <a:avLst/>
            </a:prstGeom>
            <a:solidFill>
              <a:srgbClr val="1C7293">
                <a:alpha val="80000"/>
              </a:srgbClr>
            </a:solidFill>
            <a:ln/>
          </p:spPr>
          <p:txBody>
            <a:bodyPr/>
            <a:lstStyle/>
            <a:p>
              <a:endParaRPr lang="en-US" sz="2400">
                <a:latin typeface="Helvetica Neue Light"/>
              </a:endParaRPr>
            </a:p>
          </p:txBody>
        </p:sp>
        <p:sp>
          <p:nvSpPr>
            <p:cNvPr id="28" name="Text 22">
              <a:extLst>
                <a:ext uri="{FF2B5EF4-FFF2-40B4-BE49-F238E27FC236}">
                  <a16:creationId xmlns:a16="http://schemas.microsoft.com/office/drawing/2014/main" id="{BD116242-A7B1-B6AE-9E35-471CF2D45589}"/>
                </a:ext>
              </a:extLst>
            </p:cNvPr>
            <p:cNvSpPr/>
            <p:nvPr/>
          </p:nvSpPr>
          <p:spPr>
            <a:xfrm>
              <a:off x="2606040" y="3657600"/>
              <a:ext cx="2011680" cy="365760"/>
            </a:xfrm>
            <a:prstGeom prst="rect">
              <a:avLst/>
            </a:prstGeom>
            <a:noFill/>
            <a:ln/>
          </p:spPr>
          <p:txBody>
            <a:bodyPr wrap="square" rtlCol="0" anchor="ctr"/>
            <a:lstStyle/>
            <a:p>
              <a:pPr marL="0" indent="0" algn="ctr">
                <a:buNone/>
              </a:pPr>
              <a:r>
                <a:rPr lang="en-US" b="1" dirty="0">
                  <a:solidFill>
                    <a:schemeClr val="bg1"/>
                  </a:solidFill>
                  <a:latin typeface="Helvetica Neue Light"/>
                  <a:ea typeface="Calibri" pitchFamily="34" charset="-122"/>
                  <a:cs typeface="Calibri" pitchFamily="34" charset="-120"/>
                </a:rPr>
                <a:t>Self-criticism</a:t>
              </a:r>
              <a:endParaRPr lang="en-US" b="1" dirty="0">
                <a:solidFill>
                  <a:schemeClr val="bg1"/>
                </a:solidFill>
                <a:latin typeface="Helvetica Neue Light"/>
              </a:endParaRPr>
            </a:p>
          </p:txBody>
        </p:sp>
        <p:sp>
          <p:nvSpPr>
            <p:cNvPr id="29" name="Shape 23">
              <a:extLst>
                <a:ext uri="{FF2B5EF4-FFF2-40B4-BE49-F238E27FC236}">
                  <a16:creationId xmlns:a16="http://schemas.microsoft.com/office/drawing/2014/main" id="{C4C5656D-CA7C-854E-EB9A-E6611273E32D}"/>
                </a:ext>
              </a:extLst>
            </p:cNvPr>
            <p:cNvSpPr/>
            <p:nvPr/>
          </p:nvSpPr>
          <p:spPr>
            <a:xfrm>
              <a:off x="4754880" y="3611880"/>
              <a:ext cx="2011680" cy="457200"/>
            </a:xfrm>
            <a:prstGeom prst="rect">
              <a:avLst/>
            </a:prstGeom>
            <a:solidFill>
              <a:srgbClr val="1C7293">
                <a:alpha val="80000"/>
              </a:srgbClr>
            </a:solidFill>
            <a:ln/>
          </p:spPr>
          <p:txBody>
            <a:bodyPr/>
            <a:lstStyle/>
            <a:p>
              <a:endParaRPr lang="en-US" sz="2400">
                <a:latin typeface="Helvetica Neue Light"/>
              </a:endParaRPr>
            </a:p>
          </p:txBody>
        </p:sp>
        <p:sp>
          <p:nvSpPr>
            <p:cNvPr id="30" name="Text 24">
              <a:extLst>
                <a:ext uri="{FF2B5EF4-FFF2-40B4-BE49-F238E27FC236}">
                  <a16:creationId xmlns:a16="http://schemas.microsoft.com/office/drawing/2014/main" id="{504AA848-5F08-9906-EB19-739DFAC7CEE1}"/>
                </a:ext>
              </a:extLst>
            </p:cNvPr>
            <p:cNvSpPr/>
            <p:nvPr/>
          </p:nvSpPr>
          <p:spPr>
            <a:xfrm>
              <a:off x="4754880" y="3657600"/>
              <a:ext cx="2011680" cy="365760"/>
            </a:xfrm>
            <a:prstGeom prst="rect">
              <a:avLst/>
            </a:prstGeom>
            <a:noFill/>
            <a:ln/>
          </p:spPr>
          <p:txBody>
            <a:bodyPr wrap="square" rtlCol="0" anchor="ctr"/>
            <a:lstStyle/>
            <a:p>
              <a:pPr marL="0" indent="0" algn="ctr">
                <a:buNone/>
              </a:pPr>
              <a:r>
                <a:rPr lang="en-US" b="1" dirty="0">
                  <a:solidFill>
                    <a:schemeClr val="bg1"/>
                  </a:solidFill>
                  <a:latin typeface="Helvetica Neue Light"/>
                  <a:ea typeface="Calibri" pitchFamily="34" charset="-122"/>
                  <a:cs typeface="Calibri" pitchFamily="34" charset="-120"/>
                </a:rPr>
                <a:t>Chain of Thought</a:t>
              </a:r>
              <a:endParaRPr lang="en-US" b="1" dirty="0">
                <a:solidFill>
                  <a:schemeClr val="bg1"/>
                </a:solidFill>
                <a:latin typeface="Helvetica Neue Light"/>
              </a:endParaRPr>
            </a:p>
          </p:txBody>
        </p:sp>
        <p:sp>
          <p:nvSpPr>
            <p:cNvPr id="31" name="Shape 25">
              <a:extLst>
                <a:ext uri="{FF2B5EF4-FFF2-40B4-BE49-F238E27FC236}">
                  <a16:creationId xmlns:a16="http://schemas.microsoft.com/office/drawing/2014/main" id="{459D0B31-B88F-3364-3905-B902CBF5B5B8}"/>
                </a:ext>
              </a:extLst>
            </p:cNvPr>
            <p:cNvSpPr/>
            <p:nvPr/>
          </p:nvSpPr>
          <p:spPr>
            <a:xfrm>
              <a:off x="6903720" y="3611880"/>
              <a:ext cx="2011680" cy="457200"/>
            </a:xfrm>
            <a:prstGeom prst="rect">
              <a:avLst/>
            </a:prstGeom>
            <a:solidFill>
              <a:srgbClr val="1C7293">
                <a:alpha val="80000"/>
              </a:srgbClr>
            </a:solidFill>
            <a:ln/>
          </p:spPr>
          <p:txBody>
            <a:bodyPr/>
            <a:lstStyle/>
            <a:p>
              <a:endParaRPr lang="en-US" sz="2800">
                <a:latin typeface="Helvetica Neue Light"/>
              </a:endParaRPr>
            </a:p>
          </p:txBody>
        </p:sp>
        <p:sp>
          <p:nvSpPr>
            <p:cNvPr id="32" name="Text 26">
              <a:extLst>
                <a:ext uri="{FF2B5EF4-FFF2-40B4-BE49-F238E27FC236}">
                  <a16:creationId xmlns:a16="http://schemas.microsoft.com/office/drawing/2014/main" id="{2A0C6179-7CC8-0457-AC4F-C8E1CD44B81F}"/>
                </a:ext>
              </a:extLst>
            </p:cNvPr>
            <p:cNvSpPr/>
            <p:nvPr/>
          </p:nvSpPr>
          <p:spPr>
            <a:xfrm>
              <a:off x="6903720" y="3657600"/>
              <a:ext cx="2011680" cy="365760"/>
            </a:xfrm>
            <a:prstGeom prst="rect">
              <a:avLst/>
            </a:prstGeom>
            <a:noFill/>
            <a:ln/>
          </p:spPr>
          <p:txBody>
            <a:bodyPr wrap="square" rtlCol="0" anchor="ctr"/>
            <a:lstStyle/>
            <a:p>
              <a:pPr marL="0" indent="0" algn="ctr">
                <a:buNone/>
              </a:pPr>
              <a:r>
                <a:rPr lang="en-US" sz="1600" b="1" dirty="0">
                  <a:solidFill>
                    <a:schemeClr val="bg1"/>
                  </a:solidFill>
                  <a:latin typeface="Helvetica Neue Light"/>
                  <a:ea typeface="Calibri" pitchFamily="34" charset="-122"/>
                  <a:cs typeface="Calibri" pitchFamily="34" charset="-120"/>
                </a:rPr>
                <a:t>Subgoal Decomposition</a:t>
              </a:r>
              <a:endParaRPr lang="en-US" sz="1600" b="1" dirty="0">
                <a:solidFill>
                  <a:schemeClr val="bg1"/>
                </a:solidFill>
                <a:latin typeface="Helvetica Neue Light"/>
              </a:endParaRPr>
            </a:p>
          </p:txBody>
        </p:sp>
        <p:sp>
          <p:nvSpPr>
            <p:cNvPr id="33" name="Shape 27">
              <a:extLst>
                <a:ext uri="{FF2B5EF4-FFF2-40B4-BE49-F238E27FC236}">
                  <a16:creationId xmlns:a16="http://schemas.microsoft.com/office/drawing/2014/main" id="{4E60BD3C-BCB8-3D8A-AAEC-BF89B3F17570}"/>
                </a:ext>
              </a:extLst>
            </p:cNvPr>
            <p:cNvSpPr/>
            <p:nvPr/>
          </p:nvSpPr>
          <p:spPr>
            <a:xfrm>
              <a:off x="3200400" y="4251960"/>
              <a:ext cx="2743200" cy="411480"/>
            </a:xfrm>
            <a:prstGeom prst="rect">
              <a:avLst/>
            </a:prstGeom>
            <a:solidFill>
              <a:srgbClr val="E07A5F"/>
            </a:solidFill>
            <a:ln/>
          </p:spPr>
          <p:txBody>
            <a:bodyPr/>
            <a:lstStyle/>
            <a:p>
              <a:endParaRPr lang="en-US" sz="2400">
                <a:latin typeface="Helvetica Neue Light"/>
              </a:endParaRPr>
            </a:p>
          </p:txBody>
        </p:sp>
        <p:sp>
          <p:nvSpPr>
            <p:cNvPr id="34" name="Text 28">
              <a:extLst>
                <a:ext uri="{FF2B5EF4-FFF2-40B4-BE49-F238E27FC236}">
                  <a16:creationId xmlns:a16="http://schemas.microsoft.com/office/drawing/2014/main" id="{EB82E0D1-0EB8-8AB1-F39B-F2330BFB205A}"/>
                </a:ext>
              </a:extLst>
            </p:cNvPr>
            <p:cNvSpPr/>
            <p:nvPr/>
          </p:nvSpPr>
          <p:spPr>
            <a:xfrm>
              <a:off x="3200400" y="4297680"/>
              <a:ext cx="2743200" cy="320040"/>
            </a:xfrm>
            <a:prstGeom prst="rect">
              <a:avLst/>
            </a:prstGeom>
            <a:noFill/>
            <a:ln/>
          </p:spPr>
          <p:txBody>
            <a:bodyPr wrap="square" rtlCol="0" anchor="ctr"/>
            <a:lstStyle/>
            <a:p>
              <a:pPr marL="0" indent="0" algn="ctr">
                <a:buNone/>
              </a:pPr>
              <a:r>
                <a:rPr lang="en-US" sz="1600" b="1" dirty="0">
                  <a:solidFill>
                    <a:srgbClr val="FFFFFF"/>
                  </a:solidFill>
                  <a:latin typeface="Helvetica Neue Light"/>
                  <a:ea typeface="Calibri" pitchFamily="34" charset="-122"/>
                  <a:cs typeface="Calibri" pitchFamily="34" charset="-120"/>
                </a:rPr>
                <a:t>→ Action Execution</a:t>
              </a:r>
              <a:endParaRPr lang="en-US" sz="1600" dirty="0">
                <a:latin typeface="Helvetica Neue Light"/>
              </a:endParaRPr>
            </a:p>
          </p:txBody>
        </p:sp>
      </p:grpSp>
    </p:spTree>
    <p:extLst>
      <p:ext uri="{BB962C8B-B14F-4D97-AF65-F5344CB8AC3E}">
        <p14:creationId xmlns:p14="http://schemas.microsoft.com/office/powerpoint/2010/main" val="133566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AC680E53-B5D4-4CD6-6CD1-B41E3EB08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CE82B-A58D-B624-0987-6D3DF7B66618}"/>
              </a:ext>
            </a:extLst>
          </p:cNvPr>
          <p:cNvSpPr>
            <a:spLocks noGrp="1"/>
          </p:cNvSpPr>
          <p:nvPr>
            <p:ph type="title"/>
          </p:nvPr>
        </p:nvSpPr>
        <p:spPr>
          <a:xfrm>
            <a:off x="457200" y="365126"/>
            <a:ext cx="8229600" cy="592213"/>
          </a:xfrm>
        </p:spPr>
        <p:txBody>
          <a:bodyPr/>
          <a:lstStyle/>
          <a:p>
            <a:r>
              <a:rPr lang="en-US" dirty="0"/>
              <a:t>Fundamental Characteristics</a:t>
            </a:r>
          </a:p>
        </p:txBody>
      </p:sp>
      <p:sp>
        <p:nvSpPr>
          <p:cNvPr id="5" name="Slide Number Placeholder 4">
            <a:extLst>
              <a:ext uri="{FF2B5EF4-FFF2-40B4-BE49-F238E27FC236}">
                <a16:creationId xmlns:a16="http://schemas.microsoft.com/office/drawing/2014/main" id="{BEECD348-B7DB-BB65-5335-D9D8813A3B0E}"/>
              </a:ext>
            </a:extLst>
          </p:cNvPr>
          <p:cNvSpPr>
            <a:spLocks noGrp="1"/>
          </p:cNvSpPr>
          <p:nvPr>
            <p:ph type="sldNum" sz="quarter" idx="12"/>
          </p:nvPr>
        </p:nvSpPr>
        <p:spPr/>
        <p:txBody>
          <a:bodyPr/>
          <a:lstStyle/>
          <a:p>
            <a:fld id="{21EF4C0E-91FA-4D94-8941-E22F3A83D5F1}" type="slidenum">
              <a:rPr lang="en-US" smtClean="0"/>
              <a:t>8</a:t>
            </a:fld>
            <a:endParaRPr lang="en-US"/>
          </a:p>
        </p:txBody>
      </p:sp>
      <p:sp>
        <p:nvSpPr>
          <p:cNvPr id="6" name="TextBox 5">
            <a:extLst>
              <a:ext uri="{FF2B5EF4-FFF2-40B4-BE49-F238E27FC236}">
                <a16:creationId xmlns:a16="http://schemas.microsoft.com/office/drawing/2014/main" id="{09486144-C418-9E8D-E405-640726AE2B66}"/>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7C2485CD-FB14-9F9E-664F-124038AB24C9}"/>
              </a:ext>
            </a:extLst>
          </p:cNvPr>
          <p:cNvGrpSpPr/>
          <p:nvPr/>
        </p:nvGrpSpPr>
        <p:grpSpPr>
          <a:xfrm>
            <a:off x="457200" y="1234440"/>
            <a:ext cx="8229600" cy="3920210"/>
            <a:chOff x="457200" y="1234440"/>
            <a:chExt cx="8229600" cy="3920210"/>
          </a:xfrm>
        </p:grpSpPr>
        <p:sp>
          <p:nvSpPr>
            <p:cNvPr id="4" name="Shape 3">
              <a:extLst>
                <a:ext uri="{FF2B5EF4-FFF2-40B4-BE49-F238E27FC236}">
                  <a16:creationId xmlns:a16="http://schemas.microsoft.com/office/drawing/2014/main" id="{A5A0A641-54DA-37BF-0892-0526133C8851}"/>
                </a:ext>
              </a:extLst>
            </p:cNvPr>
            <p:cNvSpPr/>
            <p:nvPr/>
          </p:nvSpPr>
          <p:spPr>
            <a:xfrm>
              <a:off x="457200" y="1234440"/>
              <a:ext cx="411480" cy="411480"/>
            </a:xfrm>
            <a:prstGeom prst="ellipse">
              <a:avLst/>
            </a:prstGeom>
            <a:solidFill>
              <a:srgbClr val="1C7293"/>
            </a:solidFill>
            <a:ln/>
          </p:spPr>
          <p:txBody>
            <a:bodyPr/>
            <a:lstStyle/>
            <a:p>
              <a:endParaRPr lang="en-US" sz="2400">
                <a:latin typeface="Helvetica Neue Light"/>
              </a:endParaRPr>
            </a:p>
          </p:txBody>
        </p:sp>
        <p:sp>
          <p:nvSpPr>
            <p:cNvPr id="7" name="Text 4">
              <a:extLst>
                <a:ext uri="{FF2B5EF4-FFF2-40B4-BE49-F238E27FC236}">
                  <a16:creationId xmlns:a16="http://schemas.microsoft.com/office/drawing/2014/main" id="{07F34B74-06E6-E1E4-C99B-F179C46920F0}"/>
                </a:ext>
              </a:extLst>
            </p:cNvPr>
            <p:cNvSpPr/>
            <p:nvPr/>
          </p:nvSpPr>
          <p:spPr>
            <a:xfrm>
              <a:off x="457200" y="1252728"/>
              <a:ext cx="411480" cy="36576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1</a:t>
              </a:r>
              <a:endParaRPr lang="en-US" dirty="0">
                <a:latin typeface="Helvetica Neue Light"/>
              </a:endParaRPr>
            </a:p>
          </p:txBody>
        </p:sp>
        <p:sp>
          <p:nvSpPr>
            <p:cNvPr id="8" name="Text 5">
              <a:extLst>
                <a:ext uri="{FF2B5EF4-FFF2-40B4-BE49-F238E27FC236}">
                  <a16:creationId xmlns:a16="http://schemas.microsoft.com/office/drawing/2014/main" id="{5D3C75BB-0D97-AF22-91D0-BEF8F4EC0F8C}"/>
                </a:ext>
              </a:extLst>
            </p:cNvPr>
            <p:cNvSpPr/>
            <p:nvPr/>
          </p:nvSpPr>
          <p:spPr>
            <a:xfrm>
              <a:off x="1005840" y="1234440"/>
              <a:ext cx="1828800" cy="36576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Autonomy:</a:t>
              </a:r>
              <a:endParaRPr lang="en-US" dirty="0">
                <a:latin typeface="Helvetica Neue Light"/>
              </a:endParaRPr>
            </a:p>
          </p:txBody>
        </p:sp>
        <p:sp>
          <p:nvSpPr>
            <p:cNvPr id="9" name="Text 6">
              <a:extLst>
                <a:ext uri="{FF2B5EF4-FFF2-40B4-BE49-F238E27FC236}">
                  <a16:creationId xmlns:a16="http://schemas.microsoft.com/office/drawing/2014/main" id="{17A3F829-16DB-001D-FABE-A76A988CD5FF}"/>
                </a:ext>
              </a:extLst>
            </p:cNvPr>
            <p:cNvSpPr/>
            <p:nvPr/>
          </p:nvSpPr>
          <p:spPr>
            <a:xfrm>
              <a:off x="2834640" y="1234440"/>
              <a:ext cx="585216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Operates independently once given objectives</a:t>
              </a:r>
              <a:endParaRPr lang="en-US" sz="1600" dirty="0">
                <a:latin typeface="Helvetica Neue Light"/>
              </a:endParaRPr>
            </a:p>
          </p:txBody>
        </p:sp>
        <p:sp>
          <p:nvSpPr>
            <p:cNvPr id="10" name="Shape 7">
              <a:extLst>
                <a:ext uri="{FF2B5EF4-FFF2-40B4-BE49-F238E27FC236}">
                  <a16:creationId xmlns:a16="http://schemas.microsoft.com/office/drawing/2014/main" id="{AC7B0C03-BFE0-6D5F-B5AB-E8943F65F1EE}"/>
                </a:ext>
              </a:extLst>
            </p:cNvPr>
            <p:cNvSpPr/>
            <p:nvPr/>
          </p:nvSpPr>
          <p:spPr>
            <a:xfrm>
              <a:off x="457200" y="1874520"/>
              <a:ext cx="411480" cy="411480"/>
            </a:xfrm>
            <a:prstGeom prst="ellipse">
              <a:avLst/>
            </a:prstGeom>
            <a:solidFill>
              <a:srgbClr val="E07A5F"/>
            </a:solidFill>
            <a:ln/>
          </p:spPr>
          <p:txBody>
            <a:bodyPr/>
            <a:lstStyle/>
            <a:p>
              <a:endParaRPr lang="en-US" sz="2400">
                <a:latin typeface="Helvetica Neue Light"/>
              </a:endParaRPr>
            </a:p>
          </p:txBody>
        </p:sp>
        <p:sp>
          <p:nvSpPr>
            <p:cNvPr id="11" name="Text 8">
              <a:extLst>
                <a:ext uri="{FF2B5EF4-FFF2-40B4-BE49-F238E27FC236}">
                  <a16:creationId xmlns:a16="http://schemas.microsoft.com/office/drawing/2014/main" id="{50E474B6-00BC-A721-A73A-84FFC3971D77}"/>
                </a:ext>
              </a:extLst>
            </p:cNvPr>
            <p:cNvSpPr/>
            <p:nvPr/>
          </p:nvSpPr>
          <p:spPr>
            <a:xfrm>
              <a:off x="457200" y="1892808"/>
              <a:ext cx="411480" cy="36576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2</a:t>
              </a:r>
              <a:endParaRPr lang="en-US" dirty="0">
                <a:latin typeface="Helvetica Neue Light"/>
              </a:endParaRPr>
            </a:p>
          </p:txBody>
        </p:sp>
        <p:sp>
          <p:nvSpPr>
            <p:cNvPr id="12" name="Text 9">
              <a:extLst>
                <a:ext uri="{FF2B5EF4-FFF2-40B4-BE49-F238E27FC236}">
                  <a16:creationId xmlns:a16="http://schemas.microsoft.com/office/drawing/2014/main" id="{0F635E91-1149-CBF8-EDF5-2E8CEE4800D4}"/>
                </a:ext>
              </a:extLst>
            </p:cNvPr>
            <p:cNvSpPr/>
            <p:nvPr/>
          </p:nvSpPr>
          <p:spPr>
            <a:xfrm>
              <a:off x="1005840" y="1874520"/>
              <a:ext cx="1828800" cy="36576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Goal-directed:</a:t>
              </a:r>
              <a:endParaRPr lang="en-US" dirty="0">
                <a:latin typeface="Helvetica Neue Light"/>
              </a:endParaRPr>
            </a:p>
          </p:txBody>
        </p:sp>
        <p:sp>
          <p:nvSpPr>
            <p:cNvPr id="13" name="Text 10">
              <a:extLst>
                <a:ext uri="{FF2B5EF4-FFF2-40B4-BE49-F238E27FC236}">
                  <a16:creationId xmlns:a16="http://schemas.microsoft.com/office/drawing/2014/main" id="{8D9F05FF-25B6-970A-1134-DC14A89E6147}"/>
                </a:ext>
              </a:extLst>
            </p:cNvPr>
            <p:cNvSpPr/>
            <p:nvPr/>
          </p:nvSpPr>
          <p:spPr>
            <a:xfrm>
              <a:off x="2834640" y="1874520"/>
              <a:ext cx="585216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Pursues specific outcomes through planning and reasoning</a:t>
              </a:r>
              <a:endParaRPr lang="en-US" sz="1600" dirty="0">
                <a:latin typeface="Helvetica Neue Light"/>
              </a:endParaRPr>
            </a:p>
          </p:txBody>
        </p:sp>
        <p:sp>
          <p:nvSpPr>
            <p:cNvPr id="14" name="Shape 11">
              <a:extLst>
                <a:ext uri="{FF2B5EF4-FFF2-40B4-BE49-F238E27FC236}">
                  <a16:creationId xmlns:a16="http://schemas.microsoft.com/office/drawing/2014/main" id="{50253212-5153-B44B-C36A-C34B65FF7505}"/>
                </a:ext>
              </a:extLst>
            </p:cNvPr>
            <p:cNvSpPr/>
            <p:nvPr/>
          </p:nvSpPr>
          <p:spPr>
            <a:xfrm>
              <a:off x="457200" y="2514600"/>
              <a:ext cx="411480" cy="411480"/>
            </a:xfrm>
            <a:prstGeom prst="ellipse">
              <a:avLst/>
            </a:prstGeom>
            <a:solidFill>
              <a:srgbClr val="1C7293"/>
            </a:solidFill>
            <a:ln/>
          </p:spPr>
          <p:txBody>
            <a:bodyPr/>
            <a:lstStyle/>
            <a:p>
              <a:endParaRPr lang="en-US" sz="2400">
                <a:latin typeface="Helvetica Neue Light"/>
              </a:endParaRPr>
            </a:p>
          </p:txBody>
        </p:sp>
        <p:sp>
          <p:nvSpPr>
            <p:cNvPr id="15" name="Text 12">
              <a:extLst>
                <a:ext uri="{FF2B5EF4-FFF2-40B4-BE49-F238E27FC236}">
                  <a16:creationId xmlns:a16="http://schemas.microsoft.com/office/drawing/2014/main" id="{3DF6D48F-ED26-7E3D-C22E-6C05F70C307E}"/>
                </a:ext>
              </a:extLst>
            </p:cNvPr>
            <p:cNvSpPr/>
            <p:nvPr/>
          </p:nvSpPr>
          <p:spPr>
            <a:xfrm>
              <a:off x="457200" y="2532888"/>
              <a:ext cx="411480" cy="36576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3</a:t>
              </a:r>
              <a:endParaRPr lang="en-US" dirty="0">
                <a:latin typeface="Helvetica Neue Light"/>
              </a:endParaRPr>
            </a:p>
          </p:txBody>
        </p:sp>
        <p:sp>
          <p:nvSpPr>
            <p:cNvPr id="16" name="Text 13">
              <a:extLst>
                <a:ext uri="{FF2B5EF4-FFF2-40B4-BE49-F238E27FC236}">
                  <a16:creationId xmlns:a16="http://schemas.microsoft.com/office/drawing/2014/main" id="{DDC4AC11-BF6B-98A2-5EA3-317F19E4B0B3}"/>
                </a:ext>
              </a:extLst>
            </p:cNvPr>
            <p:cNvSpPr/>
            <p:nvPr/>
          </p:nvSpPr>
          <p:spPr>
            <a:xfrm>
              <a:off x="1005840" y="2514600"/>
              <a:ext cx="1828800" cy="36576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Tool use:</a:t>
              </a:r>
              <a:endParaRPr lang="en-US" dirty="0">
                <a:latin typeface="Helvetica Neue Light"/>
              </a:endParaRPr>
            </a:p>
          </p:txBody>
        </p:sp>
        <p:sp>
          <p:nvSpPr>
            <p:cNvPr id="17" name="Text 14">
              <a:extLst>
                <a:ext uri="{FF2B5EF4-FFF2-40B4-BE49-F238E27FC236}">
                  <a16:creationId xmlns:a16="http://schemas.microsoft.com/office/drawing/2014/main" id="{E0CF5539-72B6-61B7-1345-4076B483A0AC}"/>
                </a:ext>
              </a:extLst>
            </p:cNvPr>
            <p:cNvSpPr/>
            <p:nvPr/>
          </p:nvSpPr>
          <p:spPr>
            <a:xfrm>
              <a:off x="2834640" y="2514600"/>
              <a:ext cx="585216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Interacts with external systems, APIs, and software tools</a:t>
              </a:r>
              <a:endParaRPr lang="en-US" sz="1600" dirty="0">
                <a:latin typeface="Helvetica Neue Light"/>
              </a:endParaRPr>
            </a:p>
          </p:txBody>
        </p:sp>
        <p:sp>
          <p:nvSpPr>
            <p:cNvPr id="18" name="Shape 15">
              <a:extLst>
                <a:ext uri="{FF2B5EF4-FFF2-40B4-BE49-F238E27FC236}">
                  <a16:creationId xmlns:a16="http://schemas.microsoft.com/office/drawing/2014/main" id="{4C3A2DF9-EEBD-8BFD-73DB-F69ECDDF857C}"/>
                </a:ext>
              </a:extLst>
            </p:cNvPr>
            <p:cNvSpPr/>
            <p:nvPr/>
          </p:nvSpPr>
          <p:spPr>
            <a:xfrm>
              <a:off x="457200" y="3154680"/>
              <a:ext cx="411480" cy="411480"/>
            </a:xfrm>
            <a:prstGeom prst="ellipse">
              <a:avLst/>
            </a:prstGeom>
            <a:solidFill>
              <a:srgbClr val="E07A5F"/>
            </a:solidFill>
            <a:ln/>
          </p:spPr>
          <p:txBody>
            <a:bodyPr/>
            <a:lstStyle/>
            <a:p>
              <a:endParaRPr lang="en-US" sz="2400">
                <a:latin typeface="Helvetica Neue Light"/>
              </a:endParaRPr>
            </a:p>
          </p:txBody>
        </p:sp>
        <p:sp>
          <p:nvSpPr>
            <p:cNvPr id="19" name="Text 16">
              <a:extLst>
                <a:ext uri="{FF2B5EF4-FFF2-40B4-BE49-F238E27FC236}">
                  <a16:creationId xmlns:a16="http://schemas.microsoft.com/office/drawing/2014/main" id="{84CE009A-ABCC-0ABB-B2F9-6B32C5136893}"/>
                </a:ext>
              </a:extLst>
            </p:cNvPr>
            <p:cNvSpPr/>
            <p:nvPr/>
          </p:nvSpPr>
          <p:spPr>
            <a:xfrm>
              <a:off x="457200" y="3172968"/>
              <a:ext cx="411480" cy="36576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4</a:t>
              </a:r>
              <a:endParaRPr lang="en-US" dirty="0">
                <a:latin typeface="Helvetica Neue Light"/>
              </a:endParaRPr>
            </a:p>
          </p:txBody>
        </p:sp>
        <p:sp>
          <p:nvSpPr>
            <p:cNvPr id="20" name="Text 17">
              <a:extLst>
                <a:ext uri="{FF2B5EF4-FFF2-40B4-BE49-F238E27FC236}">
                  <a16:creationId xmlns:a16="http://schemas.microsoft.com/office/drawing/2014/main" id="{AF6D3B8C-4999-34F8-5346-1F3B37E80C50}"/>
                </a:ext>
              </a:extLst>
            </p:cNvPr>
            <p:cNvSpPr/>
            <p:nvPr/>
          </p:nvSpPr>
          <p:spPr>
            <a:xfrm>
              <a:off x="1005840" y="3154680"/>
              <a:ext cx="1828800" cy="36576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Adaptive:</a:t>
              </a:r>
              <a:endParaRPr lang="en-US" dirty="0">
                <a:latin typeface="Helvetica Neue Light"/>
              </a:endParaRPr>
            </a:p>
          </p:txBody>
        </p:sp>
        <p:sp>
          <p:nvSpPr>
            <p:cNvPr id="21" name="Text 18">
              <a:extLst>
                <a:ext uri="{FF2B5EF4-FFF2-40B4-BE49-F238E27FC236}">
                  <a16:creationId xmlns:a16="http://schemas.microsoft.com/office/drawing/2014/main" id="{5B85BDC1-68F4-0BD3-029D-6ACF83BBF771}"/>
                </a:ext>
              </a:extLst>
            </p:cNvPr>
            <p:cNvSpPr/>
            <p:nvPr/>
          </p:nvSpPr>
          <p:spPr>
            <a:xfrm>
              <a:off x="2834640" y="3154680"/>
              <a:ext cx="585216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Adjusts strategies based on feedback and changing conditions</a:t>
              </a:r>
              <a:endParaRPr lang="en-US" sz="1600" dirty="0">
                <a:latin typeface="Helvetica Neue Light"/>
              </a:endParaRPr>
            </a:p>
          </p:txBody>
        </p:sp>
        <p:sp>
          <p:nvSpPr>
            <p:cNvPr id="22" name="Shape 19">
              <a:extLst>
                <a:ext uri="{FF2B5EF4-FFF2-40B4-BE49-F238E27FC236}">
                  <a16:creationId xmlns:a16="http://schemas.microsoft.com/office/drawing/2014/main" id="{3B7808F3-F436-D1A6-7BFE-6638E4EA373A}"/>
                </a:ext>
              </a:extLst>
            </p:cNvPr>
            <p:cNvSpPr/>
            <p:nvPr/>
          </p:nvSpPr>
          <p:spPr>
            <a:xfrm>
              <a:off x="457200" y="3794760"/>
              <a:ext cx="411480" cy="411480"/>
            </a:xfrm>
            <a:prstGeom prst="ellipse">
              <a:avLst/>
            </a:prstGeom>
            <a:solidFill>
              <a:srgbClr val="1C7293"/>
            </a:solidFill>
            <a:ln/>
          </p:spPr>
          <p:txBody>
            <a:bodyPr/>
            <a:lstStyle/>
            <a:p>
              <a:endParaRPr lang="en-US" sz="2400">
                <a:latin typeface="Helvetica Neue Light"/>
              </a:endParaRPr>
            </a:p>
          </p:txBody>
        </p:sp>
        <p:sp>
          <p:nvSpPr>
            <p:cNvPr id="23" name="Text 20">
              <a:extLst>
                <a:ext uri="{FF2B5EF4-FFF2-40B4-BE49-F238E27FC236}">
                  <a16:creationId xmlns:a16="http://schemas.microsoft.com/office/drawing/2014/main" id="{7758FBEF-8C4F-E0BF-9ABB-66477E12E2D4}"/>
                </a:ext>
              </a:extLst>
            </p:cNvPr>
            <p:cNvSpPr/>
            <p:nvPr/>
          </p:nvSpPr>
          <p:spPr>
            <a:xfrm>
              <a:off x="457200" y="3813048"/>
              <a:ext cx="411480" cy="36576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5</a:t>
              </a:r>
              <a:endParaRPr lang="en-US" dirty="0">
                <a:latin typeface="Helvetica Neue Light"/>
              </a:endParaRPr>
            </a:p>
          </p:txBody>
        </p:sp>
        <p:sp>
          <p:nvSpPr>
            <p:cNvPr id="24" name="Text 21">
              <a:extLst>
                <a:ext uri="{FF2B5EF4-FFF2-40B4-BE49-F238E27FC236}">
                  <a16:creationId xmlns:a16="http://schemas.microsoft.com/office/drawing/2014/main" id="{FC035585-896D-A080-2895-FCF7B4D0D0CC}"/>
                </a:ext>
              </a:extLst>
            </p:cNvPr>
            <p:cNvSpPr/>
            <p:nvPr/>
          </p:nvSpPr>
          <p:spPr>
            <a:xfrm>
              <a:off x="1005840" y="3794760"/>
              <a:ext cx="1828800" cy="36576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Persistence:</a:t>
              </a:r>
              <a:endParaRPr lang="en-US" dirty="0">
                <a:latin typeface="Helvetica Neue Light"/>
              </a:endParaRPr>
            </a:p>
          </p:txBody>
        </p:sp>
        <p:sp>
          <p:nvSpPr>
            <p:cNvPr id="25" name="Text 22">
              <a:extLst>
                <a:ext uri="{FF2B5EF4-FFF2-40B4-BE49-F238E27FC236}">
                  <a16:creationId xmlns:a16="http://schemas.microsoft.com/office/drawing/2014/main" id="{1D18D751-AD1E-5220-4B83-65719D8354AC}"/>
                </a:ext>
              </a:extLst>
            </p:cNvPr>
            <p:cNvSpPr/>
            <p:nvPr/>
          </p:nvSpPr>
          <p:spPr>
            <a:xfrm>
              <a:off x="2834640" y="3794760"/>
              <a:ext cx="585216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Maintains context and works toward goals over extended periods</a:t>
              </a:r>
              <a:endParaRPr lang="en-US" sz="1600" dirty="0">
                <a:latin typeface="Helvetica Neue Light"/>
              </a:endParaRPr>
            </a:p>
          </p:txBody>
        </p:sp>
        <p:sp>
          <p:nvSpPr>
            <p:cNvPr id="26" name="Shape 23">
              <a:extLst>
                <a:ext uri="{FF2B5EF4-FFF2-40B4-BE49-F238E27FC236}">
                  <a16:creationId xmlns:a16="http://schemas.microsoft.com/office/drawing/2014/main" id="{EA312F45-2350-F875-D972-40831420B463}"/>
                </a:ext>
              </a:extLst>
            </p:cNvPr>
            <p:cNvSpPr/>
            <p:nvPr/>
          </p:nvSpPr>
          <p:spPr>
            <a:xfrm>
              <a:off x="457200" y="4480560"/>
              <a:ext cx="8229600" cy="674090"/>
            </a:xfrm>
            <a:prstGeom prst="rect">
              <a:avLst/>
            </a:prstGeom>
            <a:solidFill>
              <a:srgbClr val="21295C"/>
            </a:solidFill>
            <a:ln/>
          </p:spPr>
          <p:txBody>
            <a:bodyPr/>
            <a:lstStyle/>
            <a:p>
              <a:endParaRPr lang="en-US" sz="2400">
                <a:latin typeface="Helvetica Neue Light"/>
              </a:endParaRPr>
            </a:p>
          </p:txBody>
        </p:sp>
        <p:sp>
          <p:nvSpPr>
            <p:cNvPr id="27" name="Text 24">
              <a:extLst>
                <a:ext uri="{FF2B5EF4-FFF2-40B4-BE49-F238E27FC236}">
                  <a16:creationId xmlns:a16="http://schemas.microsoft.com/office/drawing/2014/main" id="{E4028EBF-6BF5-79AD-1C7D-E4E18FCC74AA}"/>
                </a:ext>
              </a:extLst>
            </p:cNvPr>
            <p:cNvSpPr/>
            <p:nvPr/>
          </p:nvSpPr>
          <p:spPr>
            <a:xfrm>
              <a:off x="594360" y="4642586"/>
              <a:ext cx="7955280" cy="365760"/>
            </a:xfrm>
            <a:prstGeom prst="rect">
              <a:avLst/>
            </a:prstGeom>
            <a:noFill/>
            <a:ln/>
          </p:spPr>
          <p:txBody>
            <a:bodyPr wrap="square" rtlCol="0" anchor="ctr"/>
            <a:lstStyle/>
            <a:p>
              <a:pPr marL="0" indent="0">
                <a:buNone/>
              </a:pPr>
              <a:r>
                <a:rPr lang="en-US" sz="1600" b="1" dirty="0">
                  <a:solidFill>
                    <a:srgbClr val="FFFFFF"/>
                  </a:solidFill>
                  <a:latin typeface="Helvetica Neue Light"/>
                  <a:ea typeface="Calibri" pitchFamily="34" charset="-122"/>
                  <a:cs typeface="Calibri" pitchFamily="34" charset="-120"/>
                </a:rPr>
                <a:t>Key Distinction: </a:t>
              </a:r>
              <a:r>
                <a:rPr lang="en-US" sz="1600" dirty="0">
                  <a:solidFill>
                    <a:srgbClr val="FFFFFF"/>
                  </a:solidFill>
                  <a:latin typeface="Helvetica Neue Light"/>
                  <a:ea typeface="Calibri" pitchFamily="34" charset="-122"/>
                  <a:cs typeface="Calibri" pitchFamily="34" charset="-120"/>
                </a:rPr>
                <a:t>Traditional AI is reactive (question → answer), while Agentic AI is 	proactive (goal → plan → execute → adapt)</a:t>
              </a:r>
              <a:endParaRPr lang="en-US" sz="1600" dirty="0">
                <a:latin typeface="Helvetica Neue Light"/>
              </a:endParaRPr>
            </a:p>
          </p:txBody>
        </p:sp>
      </p:grpSp>
    </p:spTree>
    <p:extLst>
      <p:ext uri="{BB962C8B-B14F-4D97-AF65-F5344CB8AC3E}">
        <p14:creationId xmlns:p14="http://schemas.microsoft.com/office/powerpoint/2010/main" val="61409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314D562-112A-5A20-E61B-C1D7CAE0C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78EAB-494A-8A3B-8F94-E5B46500BAD5}"/>
              </a:ext>
            </a:extLst>
          </p:cNvPr>
          <p:cNvSpPr>
            <a:spLocks noGrp="1"/>
          </p:cNvSpPr>
          <p:nvPr>
            <p:ph type="title"/>
          </p:nvPr>
        </p:nvSpPr>
        <p:spPr>
          <a:xfrm>
            <a:off x="457200" y="365126"/>
            <a:ext cx="8229600" cy="592213"/>
          </a:xfrm>
        </p:spPr>
        <p:txBody>
          <a:bodyPr/>
          <a:lstStyle/>
          <a:p>
            <a:r>
              <a:rPr lang="en-US" dirty="0"/>
              <a:t>Real-World Applications &amp; Capabilities</a:t>
            </a:r>
          </a:p>
        </p:txBody>
      </p:sp>
      <p:sp>
        <p:nvSpPr>
          <p:cNvPr id="5" name="Slide Number Placeholder 4">
            <a:extLst>
              <a:ext uri="{FF2B5EF4-FFF2-40B4-BE49-F238E27FC236}">
                <a16:creationId xmlns:a16="http://schemas.microsoft.com/office/drawing/2014/main" id="{647B86BC-0A6E-F60C-3B6A-D4400F8BF12A}"/>
              </a:ext>
            </a:extLst>
          </p:cNvPr>
          <p:cNvSpPr>
            <a:spLocks noGrp="1"/>
          </p:cNvSpPr>
          <p:nvPr>
            <p:ph type="sldNum" sz="quarter" idx="12"/>
          </p:nvPr>
        </p:nvSpPr>
        <p:spPr/>
        <p:txBody>
          <a:bodyPr/>
          <a:lstStyle/>
          <a:p>
            <a:fld id="{21EF4C0E-91FA-4D94-8941-E22F3A83D5F1}" type="slidenum">
              <a:rPr lang="en-US" smtClean="0"/>
              <a:t>9</a:t>
            </a:fld>
            <a:endParaRPr lang="en-US"/>
          </a:p>
        </p:txBody>
      </p:sp>
      <p:sp>
        <p:nvSpPr>
          <p:cNvPr id="6" name="TextBox 5">
            <a:extLst>
              <a:ext uri="{FF2B5EF4-FFF2-40B4-BE49-F238E27FC236}">
                <a16:creationId xmlns:a16="http://schemas.microsoft.com/office/drawing/2014/main" id="{8C24387A-90C5-1183-1FA2-26F55344FFCE}"/>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534F6D65-6F9B-C471-FE7B-22AE11C353E2}"/>
              </a:ext>
            </a:extLst>
          </p:cNvPr>
          <p:cNvGrpSpPr/>
          <p:nvPr/>
        </p:nvGrpSpPr>
        <p:grpSpPr>
          <a:xfrm>
            <a:off x="457200" y="1073029"/>
            <a:ext cx="8458200" cy="3611880"/>
            <a:chOff x="457200" y="1234440"/>
            <a:chExt cx="8458200" cy="3611880"/>
          </a:xfrm>
        </p:grpSpPr>
        <p:sp>
          <p:nvSpPr>
            <p:cNvPr id="4" name="Shape 3">
              <a:extLst>
                <a:ext uri="{FF2B5EF4-FFF2-40B4-BE49-F238E27FC236}">
                  <a16:creationId xmlns:a16="http://schemas.microsoft.com/office/drawing/2014/main" id="{3BEF25D6-EAEA-FA70-9C46-2A4062AF1100}"/>
                </a:ext>
              </a:extLst>
            </p:cNvPr>
            <p:cNvSpPr/>
            <p:nvPr/>
          </p:nvSpPr>
          <p:spPr>
            <a:xfrm>
              <a:off x="457200" y="1234440"/>
              <a:ext cx="4114800" cy="8686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7" name="Shape 4">
              <a:extLst>
                <a:ext uri="{FF2B5EF4-FFF2-40B4-BE49-F238E27FC236}">
                  <a16:creationId xmlns:a16="http://schemas.microsoft.com/office/drawing/2014/main" id="{32100872-7885-5233-BF94-9F474A2F98B4}"/>
                </a:ext>
              </a:extLst>
            </p:cNvPr>
            <p:cNvSpPr/>
            <p:nvPr/>
          </p:nvSpPr>
          <p:spPr>
            <a:xfrm>
              <a:off x="457200" y="1234440"/>
              <a:ext cx="54864" cy="868680"/>
            </a:xfrm>
            <a:prstGeom prst="rect">
              <a:avLst/>
            </a:prstGeom>
            <a:solidFill>
              <a:srgbClr val="1C7293"/>
            </a:solidFill>
            <a:ln/>
          </p:spPr>
          <p:txBody>
            <a:bodyPr/>
            <a:lstStyle/>
            <a:p>
              <a:endParaRPr lang="en-US" sz="2400">
                <a:latin typeface="Helvetica Neue Light"/>
              </a:endParaRPr>
            </a:p>
          </p:txBody>
        </p:sp>
        <p:sp>
          <p:nvSpPr>
            <p:cNvPr id="8" name="Text 5">
              <a:extLst>
                <a:ext uri="{FF2B5EF4-FFF2-40B4-BE49-F238E27FC236}">
                  <a16:creationId xmlns:a16="http://schemas.microsoft.com/office/drawing/2014/main" id="{C1B2B5D8-2FCB-E8A1-BD99-36C21B91D153}"/>
                </a:ext>
              </a:extLst>
            </p:cNvPr>
            <p:cNvSpPr/>
            <p:nvPr/>
          </p:nvSpPr>
          <p:spPr>
            <a:xfrm>
              <a:off x="640080" y="1325880"/>
              <a:ext cx="374904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Software Development</a:t>
              </a:r>
              <a:endParaRPr lang="en-US" sz="1600" dirty="0">
                <a:latin typeface="Helvetica Neue Light"/>
              </a:endParaRPr>
            </a:p>
          </p:txBody>
        </p:sp>
        <p:sp>
          <p:nvSpPr>
            <p:cNvPr id="9" name="Text 6">
              <a:extLst>
                <a:ext uri="{FF2B5EF4-FFF2-40B4-BE49-F238E27FC236}">
                  <a16:creationId xmlns:a16="http://schemas.microsoft.com/office/drawing/2014/main" id="{34D8A1A0-659F-7E76-035E-FABF9C4422BF}"/>
                </a:ext>
              </a:extLst>
            </p:cNvPr>
            <p:cNvSpPr/>
            <p:nvPr/>
          </p:nvSpPr>
          <p:spPr>
            <a:xfrm>
              <a:off x="640080" y="1600200"/>
              <a:ext cx="3749040" cy="41148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AI agents that write, debug, and deploy code autonomously</a:t>
              </a:r>
              <a:endParaRPr lang="en-US" sz="1400" dirty="0">
                <a:latin typeface="Helvetica Neue Light"/>
              </a:endParaRPr>
            </a:p>
          </p:txBody>
        </p:sp>
        <p:sp>
          <p:nvSpPr>
            <p:cNvPr id="10" name="Shape 7">
              <a:extLst>
                <a:ext uri="{FF2B5EF4-FFF2-40B4-BE49-F238E27FC236}">
                  <a16:creationId xmlns:a16="http://schemas.microsoft.com/office/drawing/2014/main" id="{E46C2C27-F97E-BEB7-5CB7-E6A424C185DD}"/>
                </a:ext>
              </a:extLst>
            </p:cNvPr>
            <p:cNvSpPr/>
            <p:nvPr/>
          </p:nvSpPr>
          <p:spPr>
            <a:xfrm>
              <a:off x="457200" y="2240280"/>
              <a:ext cx="4114800" cy="8686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1" name="Shape 8">
              <a:extLst>
                <a:ext uri="{FF2B5EF4-FFF2-40B4-BE49-F238E27FC236}">
                  <a16:creationId xmlns:a16="http://schemas.microsoft.com/office/drawing/2014/main" id="{F1E1AB1D-E28B-19CD-304C-09909670FF36}"/>
                </a:ext>
              </a:extLst>
            </p:cNvPr>
            <p:cNvSpPr/>
            <p:nvPr/>
          </p:nvSpPr>
          <p:spPr>
            <a:xfrm>
              <a:off x="457200" y="2240280"/>
              <a:ext cx="54864" cy="868680"/>
            </a:xfrm>
            <a:prstGeom prst="rect">
              <a:avLst/>
            </a:prstGeom>
            <a:solidFill>
              <a:srgbClr val="E07A5F"/>
            </a:solidFill>
            <a:ln/>
          </p:spPr>
          <p:txBody>
            <a:bodyPr/>
            <a:lstStyle/>
            <a:p>
              <a:endParaRPr lang="en-US" sz="2400">
                <a:latin typeface="Helvetica Neue Light"/>
              </a:endParaRPr>
            </a:p>
          </p:txBody>
        </p:sp>
        <p:sp>
          <p:nvSpPr>
            <p:cNvPr id="12" name="Text 9">
              <a:extLst>
                <a:ext uri="{FF2B5EF4-FFF2-40B4-BE49-F238E27FC236}">
                  <a16:creationId xmlns:a16="http://schemas.microsoft.com/office/drawing/2014/main" id="{C5902511-A761-DF47-37D7-681D23E744AB}"/>
                </a:ext>
              </a:extLst>
            </p:cNvPr>
            <p:cNvSpPr/>
            <p:nvPr/>
          </p:nvSpPr>
          <p:spPr>
            <a:xfrm>
              <a:off x="640080" y="2331720"/>
              <a:ext cx="374904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Research &amp; Analysis</a:t>
              </a:r>
              <a:endParaRPr lang="en-US" sz="1600" dirty="0">
                <a:latin typeface="Helvetica Neue Light"/>
              </a:endParaRPr>
            </a:p>
          </p:txBody>
        </p:sp>
        <p:sp>
          <p:nvSpPr>
            <p:cNvPr id="13" name="Text 10">
              <a:extLst>
                <a:ext uri="{FF2B5EF4-FFF2-40B4-BE49-F238E27FC236}">
                  <a16:creationId xmlns:a16="http://schemas.microsoft.com/office/drawing/2014/main" id="{2A5E926F-48EB-192B-FBDE-7BCC690CEF19}"/>
                </a:ext>
              </a:extLst>
            </p:cNvPr>
            <p:cNvSpPr/>
            <p:nvPr/>
          </p:nvSpPr>
          <p:spPr>
            <a:xfrm>
              <a:off x="640080" y="2606040"/>
              <a:ext cx="3749040" cy="41148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Systems that conduct literature reviews, gather data, and synthesize findings</a:t>
              </a:r>
              <a:endParaRPr lang="en-US" sz="1400" dirty="0">
                <a:latin typeface="Helvetica Neue Light"/>
              </a:endParaRPr>
            </a:p>
          </p:txBody>
        </p:sp>
        <p:sp>
          <p:nvSpPr>
            <p:cNvPr id="14" name="Shape 11">
              <a:extLst>
                <a:ext uri="{FF2B5EF4-FFF2-40B4-BE49-F238E27FC236}">
                  <a16:creationId xmlns:a16="http://schemas.microsoft.com/office/drawing/2014/main" id="{82B6127D-8700-B860-43BD-EBA635799464}"/>
                </a:ext>
              </a:extLst>
            </p:cNvPr>
            <p:cNvSpPr/>
            <p:nvPr/>
          </p:nvSpPr>
          <p:spPr>
            <a:xfrm>
              <a:off x="457200" y="3246120"/>
              <a:ext cx="6720942" cy="8686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5" name="Shape 12">
              <a:extLst>
                <a:ext uri="{FF2B5EF4-FFF2-40B4-BE49-F238E27FC236}">
                  <a16:creationId xmlns:a16="http://schemas.microsoft.com/office/drawing/2014/main" id="{A8B5D25F-14B9-452C-5536-F6C9A12496AE}"/>
                </a:ext>
              </a:extLst>
            </p:cNvPr>
            <p:cNvSpPr/>
            <p:nvPr/>
          </p:nvSpPr>
          <p:spPr>
            <a:xfrm>
              <a:off x="457200" y="3246120"/>
              <a:ext cx="54864" cy="868680"/>
            </a:xfrm>
            <a:prstGeom prst="rect">
              <a:avLst/>
            </a:prstGeom>
            <a:solidFill>
              <a:srgbClr val="1C7293"/>
            </a:solidFill>
            <a:ln/>
          </p:spPr>
          <p:txBody>
            <a:bodyPr/>
            <a:lstStyle/>
            <a:p>
              <a:endParaRPr lang="en-US" sz="2400">
                <a:latin typeface="Helvetica Neue Light"/>
              </a:endParaRPr>
            </a:p>
          </p:txBody>
        </p:sp>
        <p:sp>
          <p:nvSpPr>
            <p:cNvPr id="16" name="Text 13">
              <a:extLst>
                <a:ext uri="{FF2B5EF4-FFF2-40B4-BE49-F238E27FC236}">
                  <a16:creationId xmlns:a16="http://schemas.microsoft.com/office/drawing/2014/main" id="{39ACAA7D-E955-B060-0F32-840687E5561C}"/>
                </a:ext>
              </a:extLst>
            </p:cNvPr>
            <p:cNvSpPr/>
            <p:nvPr/>
          </p:nvSpPr>
          <p:spPr>
            <a:xfrm>
              <a:off x="640080" y="3337560"/>
              <a:ext cx="374904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Business Operations</a:t>
              </a:r>
              <a:endParaRPr lang="en-US" sz="1600" dirty="0">
                <a:latin typeface="Helvetica Neue Light"/>
              </a:endParaRPr>
            </a:p>
          </p:txBody>
        </p:sp>
        <p:sp>
          <p:nvSpPr>
            <p:cNvPr id="17" name="Text 14">
              <a:extLst>
                <a:ext uri="{FF2B5EF4-FFF2-40B4-BE49-F238E27FC236}">
                  <a16:creationId xmlns:a16="http://schemas.microsoft.com/office/drawing/2014/main" id="{CB3CD6A0-B379-4C69-4117-B2670A76F3A7}"/>
                </a:ext>
              </a:extLst>
            </p:cNvPr>
            <p:cNvSpPr/>
            <p:nvPr/>
          </p:nvSpPr>
          <p:spPr>
            <a:xfrm>
              <a:off x="640079" y="3611880"/>
              <a:ext cx="6592927" cy="41148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Automated customer service, supply chain optimization, workflow management</a:t>
              </a:r>
              <a:endParaRPr lang="en-US" sz="1400" dirty="0">
                <a:latin typeface="Helvetica Neue Light"/>
              </a:endParaRPr>
            </a:p>
          </p:txBody>
        </p:sp>
        <p:sp>
          <p:nvSpPr>
            <p:cNvPr id="18" name="Shape 15">
              <a:extLst>
                <a:ext uri="{FF2B5EF4-FFF2-40B4-BE49-F238E27FC236}">
                  <a16:creationId xmlns:a16="http://schemas.microsoft.com/office/drawing/2014/main" id="{43DC03A8-5523-95D2-C19E-AB459F1A823B}"/>
                </a:ext>
              </a:extLst>
            </p:cNvPr>
            <p:cNvSpPr/>
            <p:nvPr/>
          </p:nvSpPr>
          <p:spPr>
            <a:xfrm>
              <a:off x="4800600" y="1234440"/>
              <a:ext cx="4114800" cy="8686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9" name="Shape 16">
              <a:extLst>
                <a:ext uri="{FF2B5EF4-FFF2-40B4-BE49-F238E27FC236}">
                  <a16:creationId xmlns:a16="http://schemas.microsoft.com/office/drawing/2014/main" id="{01D67692-DFE1-19F0-6F7B-6B4EAB5D2547}"/>
                </a:ext>
              </a:extLst>
            </p:cNvPr>
            <p:cNvSpPr/>
            <p:nvPr/>
          </p:nvSpPr>
          <p:spPr>
            <a:xfrm>
              <a:off x="4800600" y="1234440"/>
              <a:ext cx="54864" cy="868680"/>
            </a:xfrm>
            <a:prstGeom prst="rect">
              <a:avLst/>
            </a:prstGeom>
            <a:solidFill>
              <a:srgbClr val="E07A5F"/>
            </a:solidFill>
            <a:ln/>
          </p:spPr>
          <p:txBody>
            <a:bodyPr/>
            <a:lstStyle/>
            <a:p>
              <a:endParaRPr lang="en-US" sz="2400">
                <a:latin typeface="Helvetica Neue Light"/>
              </a:endParaRPr>
            </a:p>
          </p:txBody>
        </p:sp>
        <p:sp>
          <p:nvSpPr>
            <p:cNvPr id="20" name="Text 17">
              <a:extLst>
                <a:ext uri="{FF2B5EF4-FFF2-40B4-BE49-F238E27FC236}">
                  <a16:creationId xmlns:a16="http://schemas.microsoft.com/office/drawing/2014/main" id="{B4BD6B70-A8F4-08A6-6A34-80EF5314C561}"/>
                </a:ext>
              </a:extLst>
            </p:cNvPr>
            <p:cNvSpPr/>
            <p:nvPr/>
          </p:nvSpPr>
          <p:spPr>
            <a:xfrm>
              <a:off x="4983480" y="1325880"/>
              <a:ext cx="374904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Personal Assistance</a:t>
              </a:r>
              <a:endParaRPr lang="en-US" sz="1600" dirty="0">
                <a:latin typeface="Helvetica Neue Light"/>
              </a:endParaRPr>
            </a:p>
          </p:txBody>
        </p:sp>
        <p:sp>
          <p:nvSpPr>
            <p:cNvPr id="21" name="Text 18">
              <a:extLst>
                <a:ext uri="{FF2B5EF4-FFF2-40B4-BE49-F238E27FC236}">
                  <a16:creationId xmlns:a16="http://schemas.microsoft.com/office/drawing/2014/main" id="{FDB1AAA3-E079-92B7-06B1-AA0DD034BFC1}"/>
                </a:ext>
              </a:extLst>
            </p:cNvPr>
            <p:cNvSpPr/>
            <p:nvPr/>
          </p:nvSpPr>
          <p:spPr>
            <a:xfrm>
              <a:off x="4983480" y="1600200"/>
              <a:ext cx="3749040" cy="41148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AI that manages calendars, emails, and complex task coordination</a:t>
              </a:r>
              <a:endParaRPr lang="en-US" sz="1400" dirty="0">
                <a:latin typeface="Helvetica Neue Light"/>
              </a:endParaRPr>
            </a:p>
          </p:txBody>
        </p:sp>
        <p:sp>
          <p:nvSpPr>
            <p:cNvPr id="22" name="Shape 19">
              <a:extLst>
                <a:ext uri="{FF2B5EF4-FFF2-40B4-BE49-F238E27FC236}">
                  <a16:creationId xmlns:a16="http://schemas.microsoft.com/office/drawing/2014/main" id="{9F2EB937-9DC7-63BB-C587-8BB00CD3EB7B}"/>
                </a:ext>
              </a:extLst>
            </p:cNvPr>
            <p:cNvSpPr/>
            <p:nvPr/>
          </p:nvSpPr>
          <p:spPr>
            <a:xfrm>
              <a:off x="4800600" y="2240280"/>
              <a:ext cx="4114800" cy="8686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23" name="Shape 20">
              <a:extLst>
                <a:ext uri="{FF2B5EF4-FFF2-40B4-BE49-F238E27FC236}">
                  <a16:creationId xmlns:a16="http://schemas.microsoft.com/office/drawing/2014/main" id="{8B8666BE-45EF-D7C6-3C25-1C81A0DF8553}"/>
                </a:ext>
              </a:extLst>
            </p:cNvPr>
            <p:cNvSpPr/>
            <p:nvPr/>
          </p:nvSpPr>
          <p:spPr>
            <a:xfrm>
              <a:off x="4800600" y="2240280"/>
              <a:ext cx="54864" cy="868680"/>
            </a:xfrm>
            <a:prstGeom prst="rect">
              <a:avLst/>
            </a:prstGeom>
            <a:solidFill>
              <a:srgbClr val="1C7293"/>
            </a:solidFill>
            <a:ln/>
          </p:spPr>
          <p:txBody>
            <a:bodyPr/>
            <a:lstStyle/>
            <a:p>
              <a:endParaRPr lang="en-US" sz="2400">
                <a:latin typeface="Helvetica Neue Light"/>
              </a:endParaRPr>
            </a:p>
          </p:txBody>
        </p:sp>
        <p:sp>
          <p:nvSpPr>
            <p:cNvPr id="24" name="Text 21">
              <a:extLst>
                <a:ext uri="{FF2B5EF4-FFF2-40B4-BE49-F238E27FC236}">
                  <a16:creationId xmlns:a16="http://schemas.microsoft.com/office/drawing/2014/main" id="{E8ED8E5D-623D-68D4-C1CF-17D2963B8550}"/>
                </a:ext>
              </a:extLst>
            </p:cNvPr>
            <p:cNvSpPr/>
            <p:nvPr/>
          </p:nvSpPr>
          <p:spPr>
            <a:xfrm>
              <a:off x="4983480" y="2331720"/>
              <a:ext cx="374904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Scientific Discovery</a:t>
              </a:r>
              <a:endParaRPr lang="en-US" sz="1600" dirty="0">
                <a:latin typeface="Helvetica Neue Light"/>
              </a:endParaRPr>
            </a:p>
          </p:txBody>
        </p:sp>
        <p:sp>
          <p:nvSpPr>
            <p:cNvPr id="25" name="Text 22">
              <a:extLst>
                <a:ext uri="{FF2B5EF4-FFF2-40B4-BE49-F238E27FC236}">
                  <a16:creationId xmlns:a16="http://schemas.microsoft.com/office/drawing/2014/main" id="{A008D18D-0FA7-84E6-140E-D84AFF390982}"/>
                </a:ext>
              </a:extLst>
            </p:cNvPr>
            <p:cNvSpPr/>
            <p:nvPr/>
          </p:nvSpPr>
          <p:spPr>
            <a:xfrm>
              <a:off x="4983480" y="2606040"/>
              <a:ext cx="3749040" cy="41148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Autonomous experimentation and hypothesis generation</a:t>
              </a:r>
              <a:endParaRPr lang="en-US" sz="1400" dirty="0">
                <a:latin typeface="Helvetica Neue Light"/>
              </a:endParaRPr>
            </a:p>
          </p:txBody>
        </p:sp>
        <p:sp>
          <p:nvSpPr>
            <p:cNvPr id="26" name="Text 23">
              <a:extLst>
                <a:ext uri="{FF2B5EF4-FFF2-40B4-BE49-F238E27FC236}">
                  <a16:creationId xmlns:a16="http://schemas.microsoft.com/office/drawing/2014/main" id="{21E0D845-136C-E194-AD7F-0E2AA741D9CD}"/>
                </a:ext>
              </a:extLst>
            </p:cNvPr>
            <p:cNvSpPr/>
            <p:nvPr/>
          </p:nvSpPr>
          <p:spPr>
            <a:xfrm>
              <a:off x="457200" y="4251960"/>
              <a:ext cx="822960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Georgia" pitchFamily="34" charset="-122"/>
                  <a:cs typeface="Georgia" pitchFamily="34" charset="-120"/>
                </a:rPr>
                <a:t>What Makes This Possible:</a:t>
              </a:r>
              <a:endParaRPr lang="en-US" sz="1600" dirty="0">
                <a:latin typeface="Helvetica Neue Light"/>
              </a:endParaRPr>
            </a:p>
          </p:txBody>
        </p:sp>
        <p:sp>
          <p:nvSpPr>
            <p:cNvPr id="27" name="Text 24">
              <a:extLst>
                <a:ext uri="{FF2B5EF4-FFF2-40B4-BE49-F238E27FC236}">
                  <a16:creationId xmlns:a16="http://schemas.microsoft.com/office/drawing/2014/main" id="{5481EB33-369F-BA11-1316-DAC0253E3CDD}"/>
                </a:ext>
              </a:extLst>
            </p:cNvPr>
            <p:cNvSpPr/>
            <p:nvPr/>
          </p:nvSpPr>
          <p:spPr>
            <a:xfrm>
              <a:off x="457200" y="4526280"/>
              <a:ext cx="8229600" cy="320040"/>
            </a:xfrm>
            <a:prstGeom prst="rect">
              <a:avLst/>
            </a:prstGeom>
            <a:noFill/>
            <a:ln/>
          </p:spPr>
          <p:txBody>
            <a:bodyPr wrap="square" rtlCol="0" anchor="ctr"/>
            <a:lstStyle/>
            <a:p>
              <a:pPr marL="0" indent="0">
                <a:buNone/>
              </a:pPr>
              <a:r>
                <a:rPr lang="en-US" sz="1600" dirty="0">
                  <a:solidFill>
                    <a:srgbClr val="636E72"/>
                  </a:solidFill>
                  <a:latin typeface="Helvetica Neue Light"/>
                  <a:ea typeface="Calibri" pitchFamily="34" charset="-122"/>
                  <a:cs typeface="Calibri" pitchFamily="34" charset="-120"/>
                </a:rPr>
                <a:t>LLMs with reasoning • Tool/API integration • RLHF training • Advanced planning algorithms</a:t>
              </a:r>
              <a:endParaRPr lang="en-US" sz="1600" dirty="0">
                <a:latin typeface="Helvetica Neue Light"/>
              </a:endParaRPr>
            </a:p>
          </p:txBody>
        </p:sp>
      </p:grpSp>
      <p:sp>
        <p:nvSpPr>
          <p:cNvPr id="28" name="TextBox 27">
            <a:extLst>
              <a:ext uri="{FF2B5EF4-FFF2-40B4-BE49-F238E27FC236}">
                <a16:creationId xmlns:a16="http://schemas.microsoft.com/office/drawing/2014/main" id="{42653869-F027-D60B-70C0-A13CED6BC05C}"/>
              </a:ext>
            </a:extLst>
          </p:cNvPr>
          <p:cNvSpPr txBox="1"/>
          <p:nvPr/>
        </p:nvSpPr>
        <p:spPr>
          <a:xfrm>
            <a:off x="6607968" y="6641035"/>
            <a:ext cx="2536032" cy="215444"/>
          </a:xfrm>
          <a:prstGeom prst="rect">
            <a:avLst/>
          </a:prstGeom>
          <a:noFill/>
        </p:spPr>
        <p:txBody>
          <a:bodyPr wrap="square">
            <a:spAutoFit/>
          </a:bodyPr>
          <a:lstStyle/>
          <a:p>
            <a:r>
              <a:rPr lang="en-US" sz="800" dirty="0">
                <a:solidFill>
                  <a:schemeClr val="bg2">
                    <a:lumMod val="90000"/>
                  </a:schemeClr>
                </a:solidFill>
              </a:rPr>
              <a:t>https://share.google/images/fxw26eTY2aBLaFTHN</a:t>
            </a:r>
          </a:p>
        </p:txBody>
      </p:sp>
      <p:pic>
        <p:nvPicPr>
          <p:cNvPr id="29" name="Picture 2" descr="Agentic AI Explained: Transforming Industries with Autonomous Intelligence">
            <a:extLst>
              <a:ext uri="{FF2B5EF4-FFF2-40B4-BE49-F238E27FC236}">
                <a16:creationId xmlns:a16="http://schemas.microsoft.com/office/drawing/2014/main" id="{D2D83872-B9AB-46FA-6BD7-90E8E6C1F4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51" t="11497" r="4918" b="10949"/>
          <a:stretch>
            <a:fillRect/>
          </a:stretch>
        </p:blipFill>
        <p:spPr bwMode="auto">
          <a:xfrm>
            <a:off x="873303" y="4740939"/>
            <a:ext cx="5322014" cy="202131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0921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F71FC5CC-FE69-9843-2C31-A2A92F803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6EC80-58DD-C9A4-EC35-1E7FCCCCB94B}"/>
              </a:ext>
            </a:extLst>
          </p:cNvPr>
          <p:cNvSpPr>
            <a:spLocks noGrp="1"/>
          </p:cNvSpPr>
          <p:nvPr>
            <p:ph type="title"/>
          </p:nvPr>
        </p:nvSpPr>
        <p:spPr>
          <a:xfrm>
            <a:off x="457200" y="365126"/>
            <a:ext cx="8229600" cy="592213"/>
          </a:xfrm>
        </p:spPr>
        <p:txBody>
          <a:bodyPr/>
          <a:lstStyle/>
          <a:p>
            <a:r>
              <a:rPr lang="en-US" dirty="0"/>
              <a:t>Challenges, Risks &amp; Future Expectations</a:t>
            </a:r>
          </a:p>
        </p:txBody>
      </p:sp>
      <p:sp>
        <p:nvSpPr>
          <p:cNvPr id="5" name="Slide Number Placeholder 4">
            <a:extLst>
              <a:ext uri="{FF2B5EF4-FFF2-40B4-BE49-F238E27FC236}">
                <a16:creationId xmlns:a16="http://schemas.microsoft.com/office/drawing/2014/main" id="{9D8536DA-48D9-F5CE-5897-1F3FC40CCAE7}"/>
              </a:ext>
            </a:extLst>
          </p:cNvPr>
          <p:cNvSpPr>
            <a:spLocks noGrp="1"/>
          </p:cNvSpPr>
          <p:nvPr>
            <p:ph type="sldNum" sz="quarter" idx="12"/>
          </p:nvPr>
        </p:nvSpPr>
        <p:spPr/>
        <p:txBody>
          <a:bodyPr/>
          <a:lstStyle/>
          <a:p>
            <a:fld id="{21EF4C0E-91FA-4D94-8941-E22F3A83D5F1}" type="slidenum">
              <a:rPr lang="en-US" smtClean="0"/>
              <a:t>10</a:t>
            </a:fld>
            <a:endParaRPr lang="en-US"/>
          </a:p>
        </p:txBody>
      </p:sp>
      <p:sp>
        <p:nvSpPr>
          <p:cNvPr id="6" name="TextBox 5">
            <a:extLst>
              <a:ext uri="{FF2B5EF4-FFF2-40B4-BE49-F238E27FC236}">
                <a16:creationId xmlns:a16="http://schemas.microsoft.com/office/drawing/2014/main" id="{26B0B649-85BA-2117-1939-1EF6B538E50F}"/>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5F46F3C8-7B8B-9668-05F7-8AFAB069CE74}"/>
              </a:ext>
            </a:extLst>
          </p:cNvPr>
          <p:cNvGrpSpPr/>
          <p:nvPr/>
        </p:nvGrpSpPr>
        <p:grpSpPr>
          <a:xfrm>
            <a:off x="457200" y="1234440"/>
            <a:ext cx="8440220" cy="4221138"/>
            <a:chOff x="457200" y="1234440"/>
            <a:chExt cx="8440220" cy="2926080"/>
          </a:xfrm>
        </p:grpSpPr>
        <p:sp>
          <p:nvSpPr>
            <p:cNvPr id="4" name="Shape 3">
              <a:extLst>
                <a:ext uri="{FF2B5EF4-FFF2-40B4-BE49-F238E27FC236}">
                  <a16:creationId xmlns:a16="http://schemas.microsoft.com/office/drawing/2014/main" id="{1C1A8446-B9A9-C543-0D40-164B1835EE8C}"/>
                </a:ext>
              </a:extLst>
            </p:cNvPr>
            <p:cNvSpPr/>
            <p:nvPr/>
          </p:nvSpPr>
          <p:spPr>
            <a:xfrm>
              <a:off x="548640" y="1295098"/>
              <a:ext cx="4023360" cy="21945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7" name="Shape 4">
              <a:extLst>
                <a:ext uri="{FF2B5EF4-FFF2-40B4-BE49-F238E27FC236}">
                  <a16:creationId xmlns:a16="http://schemas.microsoft.com/office/drawing/2014/main" id="{0090214F-FFE9-A99D-415F-2F149B2D34F8}"/>
                </a:ext>
              </a:extLst>
            </p:cNvPr>
            <p:cNvSpPr/>
            <p:nvPr/>
          </p:nvSpPr>
          <p:spPr>
            <a:xfrm>
              <a:off x="457200" y="1234440"/>
              <a:ext cx="54864" cy="2194560"/>
            </a:xfrm>
            <a:prstGeom prst="rect">
              <a:avLst/>
            </a:prstGeom>
            <a:solidFill>
              <a:srgbClr val="E07A5F"/>
            </a:solidFill>
            <a:ln/>
          </p:spPr>
          <p:txBody>
            <a:bodyPr/>
            <a:lstStyle/>
            <a:p>
              <a:endParaRPr lang="en-US" sz="2400">
                <a:latin typeface="Helvetica Neue Light"/>
              </a:endParaRPr>
            </a:p>
          </p:txBody>
        </p:sp>
        <p:sp>
          <p:nvSpPr>
            <p:cNvPr id="8" name="Text 5">
              <a:extLst>
                <a:ext uri="{FF2B5EF4-FFF2-40B4-BE49-F238E27FC236}">
                  <a16:creationId xmlns:a16="http://schemas.microsoft.com/office/drawing/2014/main" id="{008A2499-4A92-FBBC-C7F7-3DC1434A5514}"/>
                </a:ext>
              </a:extLst>
            </p:cNvPr>
            <p:cNvSpPr/>
            <p:nvPr/>
          </p:nvSpPr>
          <p:spPr>
            <a:xfrm>
              <a:off x="685800" y="1325880"/>
              <a:ext cx="36576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Critical Challenges</a:t>
              </a:r>
              <a:endParaRPr lang="en-US" dirty="0">
                <a:latin typeface="Helvetica Neue Light"/>
              </a:endParaRPr>
            </a:p>
          </p:txBody>
        </p:sp>
        <p:sp>
          <p:nvSpPr>
            <p:cNvPr id="9" name="Text 6">
              <a:extLst>
                <a:ext uri="{FF2B5EF4-FFF2-40B4-BE49-F238E27FC236}">
                  <a16:creationId xmlns:a16="http://schemas.microsoft.com/office/drawing/2014/main" id="{60ED7F48-4CEA-ACC2-4CE1-CE11BB4853B7}"/>
                </a:ext>
              </a:extLst>
            </p:cNvPr>
            <p:cNvSpPr/>
            <p:nvPr/>
          </p:nvSpPr>
          <p:spPr>
            <a:xfrm>
              <a:off x="685800" y="1645920"/>
              <a:ext cx="3840480" cy="1691640"/>
            </a:xfrm>
            <a:prstGeom prst="rect">
              <a:avLst/>
            </a:prstGeom>
            <a:noFill/>
            <a:ln/>
          </p:spPr>
          <p:txBody>
            <a:bodyPr wrap="square" rtlCol="0" anchor="ctr"/>
            <a:lstStyle/>
            <a:p>
              <a:pPr marL="0" indent="0">
                <a:buNone/>
              </a:pPr>
              <a:r>
                <a:rPr lang="en-US" sz="1400" b="1" dirty="0">
                  <a:solidFill>
                    <a:srgbClr val="2D3436"/>
                  </a:solidFill>
                  <a:latin typeface="Helvetica Neue Light"/>
                  <a:ea typeface="Calibri" pitchFamily="34" charset="-122"/>
                  <a:cs typeface="Calibri" pitchFamily="34" charset="-120"/>
                </a:rPr>
                <a:t>Reliability &amp; Safety: </a:t>
              </a:r>
              <a:r>
                <a:rPr lang="en-US" sz="1400" dirty="0">
                  <a:solidFill>
                    <a:srgbClr val="2D3436"/>
                  </a:solidFill>
                  <a:latin typeface="Helvetica Neue Light"/>
                  <a:ea typeface="Calibri" pitchFamily="34" charset="-122"/>
                  <a:cs typeface="Calibri" pitchFamily="34" charset="-120"/>
                </a:rPr>
                <a:t>Preventing harmful actions</a:t>
              </a:r>
              <a:endParaRPr lang="en-US" sz="1400" dirty="0">
                <a:latin typeface="Helvetica Neue Light"/>
              </a:endParaRPr>
            </a:p>
            <a:p>
              <a:pPr marL="0" indent="0">
                <a:buNone/>
              </a:pPr>
              <a:endParaRPr lang="en-US" sz="1400" b="1" dirty="0">
                <a:solidFill>
                  <a:srgbClr val="2D3436"/>
                </a:solidFill>
                <a:latin typeface="Helvetica Neue Light"/>
                <a:ea typeface="Calibri" pitchFamily="34" charset="-122"/>
                <a:cs typeface="Calibri" pitchFamily="34" charset="-120"/>
              </a:endParaRPr>
            </a:p>
            <a:p>
              <a:pPr marL="0" indent="0">
                <a:buNone/>
              </a:pPr>
              <a:r>
                <a:rPr lang="en-US" sz="1400" b="1" dirty="0">
                  <a:solidFill>
                    <a:srgbClr val="2D3436"/>
                  </a:solidFill>
                  <a:latin typeface="Helvetica Neue Light"/>
                  <a:ea typeface="Calibri" pitchFamily="34" charset="-122"/>
                  <a:cs typeface="Calibri" pitchFamily="34" charset="-120"/>
                </a:rPr>
                <a:t>Alignment Problem: </a:t>
              </a:r>
              <a:r>
                <a:rPr lang="en-US" sz="1400" dirty="0">
                  <a:solidFill>
                    <a:srgbClr val="2D3436"/>
                  </a:solidFill>
                  <a:latin typeface="Helvetica Neue Light"/>
                  <a:ea typeface="Calibri" pitchFamily="34" charset="-122"/>
                  <a:cs typeface="Calibri" pitchFamily="34" charset="-120"/>
                </a:rPr>
                <a:t>Keeping goals aligned with 	human values</a:t>
              </a:r>
              <a:endParaRPr lang="en-US" sz="1400" dirty="0">
                <a:latin typeface="Helvetica Neue Light"/>
              </a:endParaRPr>
            </a:p>
            <a:p>
              <a:pPr marL="0" indent="0">
                <a:buNone/>
              </a:pPr>
              <a:r>
                <a:rPr lang="en-US" sz="1400" b="1" dirty="0">
                  <a:solidFill>
                    <a:srgbClr val="2D3436"/>
                  </a:solidFill>
                  <a:latin typeface="Helvetica Neue Light"/>
                  <a:ea typeface="Calibri" pitchFamily="34" charset="-122"/>
                  <a:cs typeface="Calibri" pitchFamily="34" charset="-120"/>
                </a:rPr>
                <a:t>Accountability: </a:t>
              </a:r>
              <a:r>
                <a:rPr lang="en-US" sz="1400" dirty="0">
                  <a:solidFill>
                    <a:srgbClr val="2D3436"/>
                  </a:solidFill>
                  <a:latin typeface="Helvetica Neue Light"/>
                  <a:ea typeface="Calibri" pitchFamily="34" charset="-122"/>
                  <a:cs typeface="Calibri" pitchFamily="34" charset="-120"/>
                </a:rPr>
                <a:t>Determining responsibility for 	mistakes</a:t>
              </a:r>
              <a:endParaRPr lang="en-US" sz="1400" dirty="0">
                <a:latin typeface="Helvetica Neue Light"/>
              </a:endParaRPr>
            </a:p>
            <a:p>
              <a:pPr marL="0" indent="0">
                <a:buNone/>
              </a:pPr>
              <a:r>
                <a:rPr lang="en-US" sz="1400" b="1" dirty="0">
                  <a:solidFill>
                    <a:srgbClr val="2D3436"/>
                  </a:solidFill>
                  <a:latin typeface="Helvetica Neue Light"/>
                  <a:ea typeface="Calibri" pitchFamily="34" charset="-122"/>
                  <a:cs typeface="Calibri" pitchFamily="34" charset="-120"/>
                </a:rPr>
                <a:t>Control &amp; Oversight: </a:t>
              </a:r>
              <a:r>
                <a:rPr lang="en-US" sz="1400" dirty="0">
                  <a:solidFill>
                    <a:srgbClr val="2D3436"/>
                  </a:solidFill>
                  <a:latin typeface="Helvetica Neue Light"/>
                  <a:ea typeface="Calibri" pitchFamily="34" charset="-122"/>
                  <a:cs typeface="Calibri" pitchFamily="34" charset="-120"/>
                </a:rPr>
                <a:t>Maintaining meaningful 	human supervision</a:t>
              </a:r>
              <a:endParaRPr lang="en-US" sz="1400" dirty="0">
                <a:latin typeface="Helvetica Neue Light"/>
              </a:endParaRPr>
            </a:p>
            <a:p>
              <a:pPr marL="0" indent="0">
                <a:buNone/>
              </a:pPr>
              <a:r>
                <a:rPr lang="en-US" sz="1400" b="1" dirty="0">
                  <a:solidFill>
                    <a:srgbClr val="2D3436"/>
                  </a:solidFill>
                  <a:latin typeface="Helvetica Neue Light"/>
                  <a:ea typeface="Calibri" pitchFamily="34" charset="-122"/>
                  <a:cs typeface="Calibri" pitchFamily="34" charset="-120"/>
                </a:rPr>
                <a:t>Hallucination: </a:t>
              </a:r>
              <a:r>
                <a:rPr lang="en-US" sz="1400" dirty="0">
                  <a:solidFill>
                    <a:srgbClr val="2D3436"/>
                  </a:solidFill>
                  <a:latin typeface="Helvetica Neue Light"/>
                  <a:ea typeface="Calibri" pitchFamily="34" charset="-122"/>
                  <a:cs typeface="Calibri" pitchFamily="34" charset="-120"/>
                </a:rPr>
                <a:t>Agents acting on false information</a:t>
              </a:r>
              <a:endParaRPr lang="en-US" sz="1400" dirty="0">
                <a:latin typeface="Helvetica Neue Light"/>
              </a:endParaRPr>
            </a:p>
          </p:txBody>
        </p:sp>
        <p:sp>
          <p:nvSpPr>
            <p:cNvPr id="10" name="Shape 7">
              <a:extLst>
                <a:ext uri="{FF2B5EF4-FFF2-40B4-BE49-F238E27FC236}">
                  <a16:creationId xmlns:a16="http://schemas.microsoft.com/office/drawing/2014/main" id="{CA95CD7B-55B9-F11D-315A-EF7796629CB5}"/>
                </a:ext>
              </a:extLst>
            </p:cNvPr>
            <p:cNvSpPr/>
            <p:nvPr/>
          </p:nvSpPr>
          <p:spPr>
            <a:xfrm>
              <a:off x="4663440" y="1234440"/>
              <a:ext cx="4233980" cy="21945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1" name="Shape 8">
              <a:extLst>
                <a:ext uri="{FF2B5EF4-FFF2-40B4-BE49-F238E27FC236}">
                  <a16:creationId xmlns:a16="http://schemas.microsoft.com/office/drawing/2014/main" id="{C2BDEADC-EE10-DC53-D10F-573C4BC5E17A}"/>
                </a:ext>
              </a:extLst>
            </p:cNvPr>
            <p:cNvSpPr/>
            <p:nvPr/>
          </p:nvSpPr>
          <p:spPr>
            <a:xfrm>
              <a:off x="4663440" y="1234440"/>
              <a:ext cx="54864" cy="2194560"/>
            </a:xfrm>
            <a:prstGeom prst="rect">
              <a:avLst/>
            </a:prstGeom>
            <a:solidFill>
              <a:srgbClr val="1C7293"/>
            </a:solidFill>
            <a:ln/>
          </p:spPr>
          <p:txBody>
            <a:bodyPr/>
            <a:lstStyle/>
            <a:p>
              <a:endParaRPr lang="en-US" sz="2400">
                <a:latin typeface="Helvetica Neue Light"/>
              </a:endParaRPr>
            </a:p>
          </p:txBody>
        </p:sp>
        <p:sp>
          <p:nvSpPr>
            <p:cNvPr id="12" name="Text 9">
              <a:extLst>
                <a:ext uri="{FF2B5EF4-FFF2-40B4-BE49-F238E27FC236}">
                  <a16:creationId xmlns:a16="http://schemas.microsoft.com/office/drawing/2014/main" id="{4AFCDC45-10FC-BEB1-5612-DE1F03555013}"/>
                </a:ext>
              </a:extLst>
            </p:cNvPr>
            <p:cNvSpPr/>
            <p:nvPr/>
          </p:nvSpPr>
          <p:spPr>
            <a:xfrm>
              <a:off x="4892040" y="1325880"/>
              <a:ext cx="36576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Future Expectations (5-10 Years)</a:t>
              </a:r>
              <a:endParaRPr lang="en-US" dirty="0">
                <a:latin typeface="Helvetica Neue Light"/>
              </a:endParaRPr>
            </a:p>
          </p:txBody>
        </p:sp>
        <p:sp>
          <p:nvSpPr>
            <p:cNvPr id="13" name="Text 10">
              <a:extLst>
                <a:ext uri="{FF2B5EF4-FFF2-40B4-BE49-F238E27FC236}">
                  <a16:creationId xmlns:a16="http://schemas.microsoft.com/office/drawing/2014/main" id="{626C623B-894C-F5A8-9C9B-3ABBE0B31FED}"/>
                </a:ext>
              </a:extLst>
            </p:cNvPr>
            <p:cNvSpPr/>
            <p:nvPr/>
          </p:nvSpPr>
          <p:spPr>
            <a:xfrm>
              <a:off x="4892040" y="1691640"/>
              <a:ext cx="3930492" cy="1645920"/>
            </a:xfrm>
            <a:prstGeom prst="rect">
              <a:avLst/>
            </a:prstGeom>
            <a:noFill/>
            <a:ln/>
          </p:spPr>
          <p:txBody>
            <a:bodyPr wrap="square" rtlCol="0" anchor="ctr"/>
            <a:lstStyle/>
            <a:p>
              <a:pPr marL="0" indent="0">
                <a:buNone/>
              </a:pPr>
              <a:r>
                <a:rPr lang="en-US" sz="1400" b="1" dirty="0">
                  <a:solidFill>
                    <a:srgbClr val="2D3436"/>
                  </a:solidFill>
                  <a:latin typeface="Helvetica Neue Light"/>
                  <a:ea typeface="Calibri" pitchFamily="34" charset="-122"/>
                  <a:cs typeface="Calibri" pitchFamily="34" charset="-120"/>
                </a:rPr>
                <a:t>Increased Integration: </a:t>
              </a:r>
              <a:r>
                <a:rPr lang="en-US" sz="1400" dirty="0">
                  <a:solidFill>
                    <a:srgbClr val="2D3436"/>
                  </a:solidFill>
                  <a:latin typeface="Helvetica Neue Light"/>
                  <a:ea typeface="Calibri" pitchFamily="34" charset="-122"/>
                  <a:cs typeface="Calibri" pitchFamily="34" charset="-120"/>
                </a:rPr>
                <a:t>Standard in professional </a:t>
              </a:r>
            </a:p>
            <a:p>
              <a:pPr marL="0" indent="0">
                <a:buNone/>
              </a:pPr>
              <a:r>
                <a:rPr lang="en-US" sz="1400" dirty="0">
                  <a:solidFill>
                    <a:srgbClr val="2D3436"/>
                  </a:solidFill>
                  <a:latin typeface="Helvetica Neue Light"/>
                  <a:ea typeface="Calibri" pitchFamily="34" charset="-122"/>
                  <a:cs typeface="Calibri" pitchFamily="34" charset="-120"/>
                </a:rPr>
                <a:t>	workflows</a:t>
              </a:r>
              <a:endParaRPr lang="en-US" sz="1400" dirty="0">
                <a:latin typeface="Helvetica Neue Light"/>
              </a:endParaRPr>
            </a:p>
            <a:p>
              <a:pPr marL="0" indent="0">
                <a:buNone/>
              </a:pPr>
              <a:r>
                <a:rPr lang="en-US" sz="1400" b="1" dirty="0">
                  <a:solidFill>
                    <a:srgbClr val="2D3436"/>
                  </a:solidFill>
                  <a:latin typeface="Helvetica Neue Light"/>
                  <a:ea typeface="Calibri" pitchFamily="34" charset="-122"/>
                  <a:cs typeface="Calibri" pitchFamily="34" charset="-120"/>
                </a:rPr>
                <a:t>Collaborative Intelligence: </a:t>
              </a:r>
              <a:r>
                <a:rPr lang="en-US" sz="1400" dirty="0">
                  <a:solidFill>
                    <a:srgbClr val="2D3436"/>
                  </a:solidFill>
                  <a:latin typeface="Helvetica Neue Light"/>
                  <a:ea typeface="Calibri" pitchFamily="34" charset="-122"/>
                  <a:cs typeface="Calibri" pitchFamily="34" charset="-120"/>
                </a:rPr>
                <a:t>Human-AI teams</a:t>
              </a:r>
              <a:endParaRPr lang="en-US" sz="1400" dirty="0">
                <a:latin typeface="Helvetica Neue Light"/>
              </a:endParaRPr>
            </a:p>
            <a:p>
              <a:pPr marL="0" indent="0">
                <a:buNone/>
              </a:pPr>
              <a:endParaRPr lang="en-US" sz="1400" b="1" dirty="0">
                <a:solidFill>
                  <a:srgbClr val="2D3436"/>
                </a:solidFill>
                <a:latin typeface="Helvetica Neue Light"/>
                <a:ea typeface="Calibri" pitchFamily="34" charset="-122"/>
                <a:cs typeface="Calibri" pitchFamily="34" charset="-120"/>
              </a:endParaRPr>
            </a:p>
            <a:p>
              <a:pPr marL="0" indent="0">
                <a:buNone/>
              </a:pPr>
              <a:r>
                <a:rPr lang="en-US" sz="1400" b="1" dirty="0">
                  <a:solidFill>
                    <a:srgbClr val="2D3436"/>
                  </a:solidFill>
                  <a:latin typeface="Helvetica Neue Light"/>
                  <a:ea typeface="Calibri" pitchFamily="34" charset="-122"/>
                  <a:cs typeface="Calibri" pitchFamily="34" charset="-120"/>
                </a:rPr>
                <a:t>Economic Impact: </a:t>
              </a:r>
              <a:r>
                <a:rPr lang="en-US" sz="1400" dirty="0">
                  <a:solidFill>
                    <a:srgbClr val="2D3436"/>
                  </a:solidFill>
                  <a:latin typeface="Helvetica Neue Light"/>
                  <a:ea typeface="Calibri" pitchFamily="34" charset="-122"/>
                  <a:cs typeface="Calibri" pitchFamily="34" charset="-120"/>
                </a:rPr>
                <a:t>Productivity gains + workforce 	changes</a:t>
              </a:r>
              <a:endParaRPr lang="en-US" sz="1400" dirty="0">
                <a:latin typeface="Helvetica Neue Light"/>
              </a:endParaRPr>
            </a:p>
            <a:p>
              <a:pPr marL="0" indent="0">
                <a:buNone/>
              </a:pPr>
              <a:r>
                <a:rPr lang="en-US" sz="1400" b="1" dirty="0">
                  <a:solidFill>
                    <a:srgbClr val="2D3436"/>
                  </a:solidFill>
                  <a:latin typeface="Helvetica Neue Light"/>
                  <a:ea typeface="Calibri" pitchFamily="34" charset="-122"/>
                  <a:cs typeface="Calibri" pitchFamily="34" charset="-120"/>
                </a:rPr>
                <a:t>Regulatory Evolution: </a:t>
              </a:r>
              <a:r>
                <a:rPr lang="en-US" sz="1400" dirty="0">
                  <a:solidFill>
                    <a:srgbClr val="2D3436"/>
                  </a:solidFill>
                  <a:latin typeface="Helvetica Neue Light"/>
                  <a:ea typeface="Calibri" pitchFamily="34" charset="-122"/>
                  <a:cs typeface="Calibri" pitchFamily="34" charset="-120"/>
                </a:rPr>
                <a:t>New governance 	frameworks</a:t>
              </a:r>
              <a:endParaRPr lang="en-US" sz="1400" dirty="0">
                <a:latin typeface="Helvetica Neue Light"/>
              </a:endParaRPr>
            </a:p>
            <a:p>
              <a:pPr marL="0" indent="0">
                <a:buNone/>
              </a:pPr>
              <a:r>
                <a:rPr lang="en-US" sz="1400" b="1" dirty="0">
                  <a:solidFill>
                    <a:srgbClr val="2D3436"/>
                  </a:solidFill>
                  <a:latin typeface="Helvetica Neue Light"/>
                  <a:ea typeface="Calibri" pitchFamily="34" charset="-122"/>
                  <a:cs typeface="Calibri" pitchFamily="34" charset="-120"/>
                </a:rPr>
                <a:t>Capability Expansion: </a:t>
              </a:r>
              <a:r>
                <a:rPr lang="en-US" sz="1400" dirty="0">
                  <a:solidFill>
                    <a:srgbClr val="2D3436"/>
                  </a:solidFill>
                  <a:latin typeface="Helvetica Neue Light"/>
                  <a:ea typeface="Calibri" pitchFamily="34" charset="-122"/>
                  <a:cs typeface="Calibri" pitchFamily="34" charset="-120"/>
                </a:rPr>
                <a:t>From narrow to general-	purpose</a:t>
              </a:r>
              <a:endParaRPr lang="en-US" sz="1400" dirty="0">
                <a:latin typeface="Helvetica Neue Light"/>
              </a:endParaRPr>
            </a:p>
          </p:txBody>
        </p:sp>
        <p:sp>
          <p:nvSpPr>
            <p:cNvPr id="14" name="Shape 11">
              <a:extLst>
                <a:ext uri="{FF2B5EF4-FFF2-40B4-BE49-F238E27FC236}">
                  <a16:creationId xmlns:a16="http://schemas.microsoft.com/office/drawing/2014/main" id="{DF9878DB-AA82-0E26-B089-B5BA5E30E43E}"/>
                </a:ext>
              </a:extLst>
            </p:cNvPr>
            <p:cNvSpPr/>
            <p:nvPr/>
          </p:nvSpPr>
          <p:spPr>
            <a:xfrm>
              <a:off x="457200" y="3611880"/>
              <a:ext cx="8229600" cy="548640"/>
            </a:xfrm>
            <a:prstGeom prst="rect">
              <a:avLst/>
            </a:prstGeom>
            <a:solidFill>
              <a:srgbClr val="21295C"/>
            </a:solidFill>
            <a:ln/>
          </p:spPr>
          <p:txBody>
            <a:bodyPr/>
            <a:lstStyle/>
            <a:p>
              <a:endParaRPr lang="en-US" sz="2400">
                <a:latin typeface="Helvetica Neue Light"/>
              </a:endParaRPr>
            </a:p>
          </p:txBody>
        </p:sp>
        <p:sp>
          <p:nvSpPr>
            <p:cNvPr id="15" name="Text 12">
              <a:extLst>
                <a:ext uri="{FF2B5EF4-FFF2-40B4-BE49-F238E27FC236}">
                  <a16:creationId xmlns:a16="http://schemas.microsoft.com/office/drawing/2014/main" id="{1CF23100-DCBC-0BE7-033E-B7049984F671}"/>
                </a:ext>
              </a:extLst>
            </p:cNvPr>
            <p:cNvSpPr/>
            <p:nvPr/>
          </p:nvSpPr>
          <p:spPr>
            <a:xfrm>
              <a:off x="594360" y="3703320"/>
              <a:ext cx="7955280" cy="36576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Key Insight: </a:t>
              </a:r>
              <a:r>
                <a:rPr lang="en-US" dirty="0">
                  <a:solidFill>
                    <a:srgbClr val="FFFFFF"/>
                  </a:solidFill>
                  <a:latin typeface="Helvetica Neue Light"/>
                  <a:ea typeface="Calibri" pitchFamily="34" charset="-122"/>
                  <a:cs typeface="Calibri" pitchFamily="34" charset="-120"/>
                </a:rPr>
                <a:t>Agentic AI represents a paradigm shift from AI as a tool to AI as a collaborator</a:t>
              </a:r>
              <a:endParaRPr lang="en-US" dirty="0">
                <a:latin typeface="Helvetica Neue Light"/>
              </a:endParaRPr>
            </a:p>
          </p:txBody>
        </p:sp>
      </p:grpSp>
    </p:spTree>
    <p:extLst>
      <p:ext uri="{BB962C8B-B14F-4D97-AF65-F5344CB8AC3E}">
        <p14:creationId xmlns:p14="http://schemas.microsoft.com/office/powerpoint/2010/main" val="1525144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9D703-6386-3B42-EB59-2DFF5BFF64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E95A0BB-1265-5E44-CFA4-1CA9FEFA3451}"/>
              </a:ext>
            </a:extLst>
          </p:cNvPr>
          <p:cNvSpPr>
            <a:spLocks noGrp="1"/>
          </p:cNvSpPr>
          <p:nvPr>
            <p:ph type="title"/>
          </p:nvPr>
        </p:nvSpPr>
        <p:spPr>
          <a:xfrm>
            <a:off x="623888" y="3193832"/>
            <a:ext cx="7886700" cy="1368644"/>
          </a:xfrm>
        </p:spPr>
        <p:txBody>
          <a:bodyPr/>
          <a:lstStyle/>
          <a:p>
            <a:r>
              <a:rPr lang="en-US" sz="3200" i="1" dirty="0"/>
              <a:t>Part 2</a:t>
            </a:r>
            <a:br>
              <a:rPr lang="en-US" dirty="0"/>
            </a:br>
            <a:r>
              <a:rPr lang="en-US" dirty="0"/>
              <a:t>	Scaling Laws in AI</a:t>
            </a:r>
          </a:p>
        </p:txBody>
      </p:sp>
      <p:sp>
        <p:nvSpPr>
          <p:cNvPr id="2" name="Text Placeholder 1">
            <a:extLst>
              <a:ext uri="{FF2B5EF4-FFF2-40B4-BE49-F238E27FC236}">
                <a16:creationId xmlns:a16="http://schemas.microsoft.com/office/drawing/2014/main" id="{ED5A5359-9AD6-B56E-7B55-517A332BF7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409B0D-E7A0-FBDD-BCDC-5AA63594D89C}"/>
              </a:ext>
            </a:extLst>
          </p:cNvPr>
          <p:cNvSpPr>
            <a:spLocks noGrp="1"/>
          </p:cNvSpPr>
          <p:nvPr>
            <p:ph type="sldNum" sz="quarter" idx="12"/>
          </p:nvPr>
        </p:nvSpPr>
        <p:spPr/>
        <p:txBody>
          <a:bodyPr/>
          <a:lstStyle/>
          <a:p>
            <a:fld id="{21EF4C0E-91FA-4D94-8941-E22F3A83D5F1}" type="slidenum">
              <a:rPr lang="en-US" smtClean="0"/>
              <a:t>11</a:t>
            </a:fld>
            <a:endParaRPr lang="en-US"/>
          </a:p>
        </p:txBody>
      </p:sp>
    </p:spTree>
    <p:extLst>
      <p:ext uri="{BB962C8B-B14F-4D97-AF65-F5344CB8AC3E}">
        <p14:creationId xmlns:p14="http://schemas.microsoft.com/office/powerpoint/2010/main" val="278469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553236" cy="592213"/>
          </a:xfrm>
        </p:spPr>
        <p:txBody>
          <a:bodyPr/>
          <a:lstStyle/>
          <a:p>
            <a:r>
              <a:rPr lang="en-US" dirty="0"/>
              <a:t>Scaling Laws in AI - Video (watch first 4-5min)</a:t>
            </a:r>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12</a:t>
            </a:fld>
            <a:endParaRPr lang="en-US"/>
          </a:p>
        </p:txBody>
      </p:sp>
      <p:pic>
        <p:nvPicPr>
          <p:cNvPr id="3" name="Online Media 2" title="Scaling Laws of AI explained | Dario Amodei and Lex Fridman">
            <a:hlinkClick r:id="" action="ppaction://media"/>
            <a:extLst>
              <a:ext uri="{FF2B5EF4-FFF2-40B4-BE49-F238E27FC236}">
                <a16:creationId xmlns:a16="http://schemas.microsoft.com/office/drawing/2014/main" id="{B2C0C5D9-B780-1DC2-3CAE-E5063C22E3EE}"/>
              </a:ext>
            </a:extLst>
          </p:cNvPr>
          <p:cNvPicPr>
            <a:picLocks noRot="1" noChangeAspect="1"/>
          </p:cNvPicPr>
          <p:nvPr>
            <a:videoFile r:link="rId1"/>
          </p:nvPr>
        </p:nvPicPr>
        <p:blipFill>
          <a:blip r:embed="rId3"/>
          <a:stretch>
            <a:fillRect/>
          </a:stretch>
        </p:blipFill>
        <p:spPr>
          <a:xfrm>
            <a:off x="560868" y="1491223"/>
            <a:ext cx="8650841" cy="4887124"/>
          </a:xfrm>
          <a:prstGeom prst="rect">
            <a:avLst/>
          </a:prstGeom>
        </p:spPr>
      </p:pic>
      <p:sp>
        <p:nvSpPr>
          <p:cNvPr id="7" name="TextBox 6">
            <a:extLst>
              <a:ext uri="{FF2B5EF4-FFF2-40B4-BE49-F238E27FC236}">
                <a16:creationId xmlns:a16="http://schemas.microsoft.com/office/drawing/2014/main" id="{00B4E1A3-0F86-096E-0385-AAB4970C9012}"/>
              </a:ext>
            </a:extLst>
          </p:cNvPr>
          <p:cNvSpPr txBox="1"/>
          <p:nvPr/>
        </p:nvSpPr>
        <p:spPr>
          <a:xfrm>
            <a:off x="411510" y="6570794"/>
            <a:ext cx="5337425" cy="215444"/>
          </a:xfrm>
          <a:prstGeom prst="rect">
            <a:avLst/>
          </a:prstGeom>
          <a:noFill/>
        </p:spPr>
        <p:txBody>
          <a:bodyPr wrap="square">
            <a:spAutoFit/>
          </a:bodyPr>
          <a:lstStyle/>
          <a:p>
            <a:r>
              <a:rPr lang="en-US" sz="800" dirty="0">
                <a:solidFill>
                  <a:schemeClr val="tx1">
                    <a:lumMod val="65000"/>
                  </a:schemeClr>
                </a:solidFill>
              </a:rPr>
              <a:t>https://www.youtube.com/watch?v=GrloGdp5wdc</a:t>
            </a:r>
          </a:p>
        </p:txBody>
      </p:sp>
      <p:sp>
        <p:nvSpPr>
          <p:cNvPr id="8" name="Text 5">
            <a:extLst>
              <a:ext uri="{FF2B5EF4-FFF2-40B4-BE49-F238E27FC236}">
                <a16:creationId xmlns:a16="http://schemas.microsoft.com/office/drawing/2014/main" id="{134C5A77-49A2-3006-E028-E6D75E6A7791}"/>
              </a:ext>
            </a:extLst>
          </p:cNvPr>
          <p:cNvSpPr/>
          <p:nvPr/>
        </p:nvSpPr>
        <p:spPr>
          <a:xfrm>
            <a:off x="493159" y="1041401"/>
            <a:ext cx="7171362" cy="365760"/>
          </a:xfrm>
          <a:prstGeom prst="rect">
            <a:avLst/>
          </a:prstGeom>
          <a:noFill/>
          <a:ln/>
        </p:spPr>
        <p:txBody>
          <a:bodyPr wrap="square" rtlCol="0" anchor="ctr"/>
          <a:lstStyle/>
          <a:p>
            <a:pPr marL="0" indent="0">
              <a:buNone/>
            </a:pPr>
            <a:r>
              <a:rPr lang="en-US" i="1" dirty="0">
                <a:solidFill>
                  <a:srgbClr val="E8F4F8"/>
                </a:solidFill>
                <a:latin typeface="Helvetica Neue Light"/>
                <a:ea typeface="Calibri" pitchFamily="34" charset="-122"/>
                <a:cs typeface="Calibri" pitchFamily="34" charset="-120"/>
              </a:rPr>
              <a:t>Dario Amodei (Anthropic) explains the concept of Scaling Laws in AI</a:t>
            </a:r>
            <a:endParaRPr lang="en-US" dirty="0">
              <a:latin typeface="Helvetica Neue Light"/>
            </a:endParaRPr>
          </a:p>
        </p:txBody>
      </p:sp>
    </p:spTree>
    <p:extLst>
      <p:ext uri="{BB962C8B-B14F-4D97-AF65-F5344CB8AC3E}">
        <p14:creationId xmlns:p14="http://schemas.microsoft.com/office/powerpoint/2010/main" val="251793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1D6F7931-2286-C555-BF41-05A9CF462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14D36-9474-02AA-D429-553AA15EA40F}"/>
              </a:ext>
            </a:extLst>
          </p:cNvPr>
          <p:cNvSpPr>
            <a:spLocks noGrp="1"/>
          </p:cNvSpPr>
          <p:nvPr>
            <p:ph type="title"/>
          </p:nvPr>
        </p:nvSpPr>
        <p:spPr>
          <a:xfrm>
            <a:off x="457200" y="365126"/>
            <a:ext cx="8229600" cy="592213"/>
          </a:xfrm>
        </p:spPr>
        <p:txBody>
          <a:bodyPr/>
          <a:lstStyle/>
          <a:p>
            <a:r>
              <a:rPr lang="en-US" dirty="0"/>
              <a:t>Overview &amp; Core Concepts</a:t>
            </a:r>
          </a:p>
        </p:txBody>
      </p:sp>
      <p:sp>
        <p:nvSpPr>
          <p:cNvPr id="5" name="Slide Number Placeholder 4">
            <a:extLst>
              <a:ext uri="{FF2B5EF4-FFF2-40B4-BE49-F238E27FC236}">
                <a16:creationId xmlns:a16="http://schemas.microsoft.com/office/drawing/2014/main" id="{AB0A6290-95AD-D33D-0E1F-4E1FD556B4E5}"/>
              </a:ext>
            </a:extLst>
          </p:cNvPr>
          <p:cNvSpPr>
            <a:spLocks noGrp="1"/>
          </p:cNvSpPr>
          <p:nvPr>
            <p:ph type="sldNum" sz="quarter" idx="12"/>
          </p:nvPr>
        </p:nvSpPr>
        <p:spPr/>
        <p:txBody>
          <a:bodyPr/>
          <a:lstStyle/>
          <a:p>
            <a:fld id="{21EF4C0E-91FA-4D94-8941-E22F3A83D5F1}" type="slidenum">
              <a:rPr lang="en-US" smtClean="0"/>
              <a:t>13</a:t>
            </a:fld>
            <a:endParaRPr lang="en-US"/>
          </a:p>
        </p:txBody>
      </p:sp>
      <p:sp>
        <p:nvSpPr>
          <p:cNvPr id="6" name="TextBox 5">
            <a:extLst>
              <a:ext uri="{FF2B5EF4-FFF2-40B4-BE49-F238E27FC236}">
                <a16:creationId xmlns:a16="http://schemas.microsoft.com/office/drawing/2014/main" id="{8E95BE7F-9AD6-DA1C-7475-E5118ED73530}"/>
              </a:ext>
            </a:extLst>
          </p:cNvPr>
          <p:cNvSpPr txBox="1"/>
          <p:nvPr/>
        </p:nvSpPr>
        <p:spPr>
          <a:xfrm>
            <a:off x="6607968"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35C38C2C-CAA8-A9ED-DD51-37F19830BF06}"/>
              </a:ext>
            </a:extLst>
          </p:cNvPr>
          <p:cNvGrpSpPr/>
          <p:nvPr/>
        </p:nvGrpSpPr>
        <p:grpSpPr>
          <a:xfrm>
            <a:off x="457200" y="1036247"/>
            <a:ext cx="8365332" cy="3883018"/>
            <a:chOff x="457200" y="1208433"/>
            <a:chExt cx="8365332" cy="3180687"/>
          </a:xfrm>
        </p:grpSpPr>
        <p:sp>
          <p:nvSpPr>
            <p:cNvPr id="4" name="Shape 3">
              <a:extLst>
                <a:ext uri="{FF2B5EF4-FFF2-40B4-BE49-F238E27FC236}">
                  <a16:creationId xmlns:a16="http://schemas.microsoft.com/office/drawing/2014/main" id="{B96566A7-4B10-3D9E-3CEB-BF86323E3F3C}"/>
                </a:ext>
              </a:extLst>
            </p:cNvPr>
            <p:cNvSpPr/>
            <p:nvPr/>
          </p:nvSpPr>
          <p:spPr>
            <a:xfrm>
              <a:off x="457200" y="1234440"/>
              <a:ext cx="8365332" cy="8686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7" name="Shape 4">
              <a:extLst>
                <a:ext uri="{FF2B5EF4-FFF2-40B4-BE49-F238E27FC236}">
                  <a16:creationId xmlns:a16="http://schemas.microsoft.com/office/drawing/2014/main" id="{AC5CB573-9127-C074-601E-67FA93C17483}"/>
                </a:ext>
              </a:extLst>
            </p:cNvPr>
            <p:cNvSpPr/>
            <p:nvPr/>
          </p:nvSpPr>
          <p:spPr>
            <a:xfrm>
              <a:off x="457200" y="1234440"/>
              <a:ext cx="54864" cy="868680"/>
            </a:xfrm>
            <a:prstGeom prst="rect">
              <a:avLst/>
            </a:prstGeom>
            <a:solidFill>
              <a:srgbClr val="E07A5F"/>
            </a:solidFill>
            <a:ln/>
          </p:spPr>
          <p:txBody>
            <a:bodyPr/>
            <a:lstStyle/>
            <a:p>
              <a:endParaRPr lang="en-US" sz="2400">
                <a:latin typeface="Helvetica Neue Light"/>
              </a:endParaRPr>
            </a:p>
          </p:txBody>
        </p:sp>
        <p:sp>
          <p:nvSpPr>
            <p:cNvPr id="8" name="Text 5">
              <a:extLst>
                <a:ext uri="{FF2B5EF4-FFF2-40B4-BE49-F238E27FC236}">
                  <a16:creationId xmlns:a16="http://schemas.microsoft.com/office/drawing/2014/main" id="{7F2628DB-3C56-E5FB-3A15-0FC59373CE1A}"/>
                </a:ext>
              </a:extLst>
            </p:cNvPr>
            <p:cNvSpPr/>
            <p:nvPr/>
          </p:nvSpPr>
          <p:spPr>
            <a:xfrm>
              <a:off x="685800" y="1208433"/>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Definition:</a:t>
              </a:r>
              <a:endParaRPr lang="en-US" dirty="0">
                <a:latin typeface="Helvetica Neue Light"/>
              </a:endParaRPr>
            </a:p>
          </p:txBody>
        </p:sp>
        <p:sp>
          <p:nvSpPr>
            <p:cNvPr id="9" name="Text 6">
              <a:extLst>
                <a:ext uri="{FF2B5EF4-FFF2-40B4-BE49-F238E27FC236}">
                  <a16:creationId xmlns:a16="http://schemas.microsoft.com/office/drawing/2014/main" id="{DAD61136-7F88-D498-FE96-8295A1B07262}"/>
                </a:ext>
              </a:extLst>
            </p:cNvPr>
            <p:cNvSpPr/>
            <p:nvPr/>
          </p:nvSpPr>
          <p:spPr>
            <a:xfrm>
              <a:off x="685800" y="1593403"/>
              <a:ext cx="8136732" cy="4572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Scaling laws describe how AI model performance improves predictably as we increase resources (data, compute, parameters). Error decreases smoothly following power-law.</a:t>
              </a:r>
              <a:endParaRPr lang="en-US" sz="1600" dirty="0">
                <a:latin typeface="Helvetica Neue Light"/>
              </a:endParaRPr>
            </a:p>
          </p:txBody>
        </p:sp>
        <p:sp>
          <p:nvSpPr>
            <p:cNvPr id="10" name="Text 7">
              <a:extLst>
                <a:ext uri="{FF2B5EF4-FFF2-40B4-BE49-F238E27FC236}">
                  <a16:creationId xmlns:a16="http://schemas.microsoft.com/office/drawing/2014/main" id="{7D9750E7-0E5C-5FE5-54F6-24E162CC66D9}"/>
                </a:ext>
              </a:extLst>
            </p:cNvPr>
            <p:cNvSpPr/>
            <p:nvPr/>
          </p:nvSpPr>
          <p:spPr>
            <a:xfrm>
              <a:off x="457200" y="2240280"/>
              <a:ext cx="8229600" cy="320040"/>
            </a:xfrm>
            <a:prstGeom prst="rect">
              <a:avLst/>
            </a:prstGeom>
            <a:noFill/>
            <a:ln/>
          </p:spPr>
          <p:txBody>
            <a:bodyPr wrap="square" rtlCol="0" anchor="ctr"/>
            <a:lstStyle/>
            <a:p>
              <a:pPr marL="0" indent="0">
                <a:buNone/>
              </a:pPr>
              <a:r>
                <a:rPr lang="en-US" b="1" dirty="0">
                  <a:solidFill>
                    <a:srgbClr val="065A82"/>
                  </a:solidFill>
                  <a:latin typeface="Helvetica Neue Light"/>
                  <a:ea typeface="Georgia" pitchFamily="34" charset="-122"/>
                  <a:cs typeface="Georgia" pitchFamily="34" charset="-120"/>
                </a:rPr>
                <a:t>Core Variables:</a:t>
              </a:r>
              <a:endParaRPr lang="en-US" dirty="0">
                <a:latin typeface="Helvetica Neue Light"/>
              </a:endParaRPr>
            </a:p>
          </p:txBody>
        </p:sp>
        <p:sp>
          <p:nvSpPr>
            <p:cNvPr id="11" name="Shape 8">
              <a:extLst>
                <a:ext uri="{FF2B5EF4-FFF2-40B4-BE49-F238E27FC236}">
                  <a16:creationId xmlns:a16="http://schemas.microsoft.com/office/drawing/2014/main" id="{871D404B-A5C3-B681-6A9E-B34D19E658E4}"/>
                </a:ext>
              </a:extLst>
            </p:cNvPr>
            <p:cNvSpPr/>
            <p:nvPr/>
          </p:nvSpPr>
          <p:spPr>
            <a:xfrm>
              <a:off x="457200" y="2606040"/>
              <a:ext cx="2651760" cy="1097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2" name="Shape 9">
              <a:extLst>
                <a:ext uri="{FF2B5EF4-FFF2-40B4-BE49-F238E27FC236}">
                  <a16:creationId xmlns:a16="http://schemas.microsoft.com/office/drawing/2014/main" id="{6CEBA3A0-3D33-6C8D-5029-1B378640DFE4}"/>
                </a:ext>
              </a:extLst>
            </p:cNvPr>
            <p:cNvSpPr/>
            <p:nvPr/>
          </p:nvSpPr>
          <p:spPr>
            <a:xfrm>
              <a:off x="457200" y="2606040"/>
              <a:ext cx="54864" cy="1097280"/>
            </a:xfrm>
            <a:prstGeom prst="rect">
              <a:avLst/>
            </a:prstGeom>
            <a:solidFill>
              <a:srgbClr val="065A82"/>
            </a:solidFill>
            <a:ln/>
          </p:spPr>
          <p:txBody>
            <a:bodyPr/>
            <a:lstStyle/>
            <a:p>
              <a:endParaRPr lang="en-US" sz="2400">
                <a:latin typeface="Helvetica Neue Light"/>
              </a:endParaRPr>
            </a:p>
          </p:txBody>
        </p:sp>
        <p:sp>
          <p:nvSpPr>
            <p:cNvPr id="13" name="Text 10">
              <a:extLst>
                <a:ext uri="{FF2B5EF4-FFF2-40B4-BE49-F238E27FC236}">
                  <a16:creationId xmlns:a16="http://schemas.microsoft.com/office/drawing/2014/main" id="{000BB63D-1946-C1A9-77F4-63B80C5807C7}"/>
                </a:ext>
              </a:extLst>
            </p:cNvPr>
            <p:cNvSpPr/>
            <p:nvPr/>
          </p:nvSpPr>
          <p:spPr>
            <a:xfrm>
              <a:off x="594360" y="2697480"/>
              <a:ext cx="237744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Model Size</a:t>
              </a:r>
              <a:endParaRPr lang="en-US" sz="1600" dirty="0">
                <a:latin typeface="Helvetica Neue Light"/>
              </a:endParaRPr>
            </a:p>
          </p:txBody>
        </p:sp>
        <p:sp>
          <p:nvSpPr>
            <p:cNvPr id="14" name="Text 11">
              <a:extLst>
                <a:ext uri="{FF2B5EF4-FFF2-40B4-BE49-F238E27FC236}">
                  <a16:creationId xmlns:a16="http://schemas.microsoft.com/office/drawing/2014/main" id="{2489A245-64F5-DC6A-C30D-6447AF7929C2}"/>
                </a:ext>
              </a:extLst>
            </p:cNvPr>
            <p:cNvSpPr/>
            <p:nvPr/>
          </p:nvSpPr>
          <p:spPr>
            <a:xfrm>
              <a:off x="594360" y="2971800"/>
              <a:ext cx="2377440" cy="3200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Number of parameters</a:t>
              </a:r>
              <a:endParaRPr lang="en-US" sz="1400" dirty="0">
                <a:latin typeface="Helvetica Neue Light"/>
              </a:endParaRPr>
            </a:p>
          </p:txBody>
        </p:sp>
        <p:sp>
          <p:nvSpPr>
            <p:cNvPr id="15" name="Text 12">
              <a:extLst>
                <a:ext uri="{FF2B5EF4-FFF2-40B4-BE49-F238E27FC236}">
                  <a16:creationId xmlns:a16="http://schemas.microsoft.com/office/drawing/2014/main" id="{B965D2B2-6E2D-FD00-D19D-C2F39C9E8794}"/>
                </a:ext>
              </a:extLst>
            </p:cNvPr>
            <p:cNvSpPr/>
            <p:nvPr/>
          </p:nvSpPr>
          <p:spPr>
            <a:xfrm>
              <a:off x="594360" y="3291840"/>
              <a:ext cx="2377440" cy="320040"/>
            </a:xfrm>
            <a:prstGeom prst="rect">
              <a:avLst/>
            </a:prstGeom>
            <a:noFill/>
            <a:ln/>
          </p:spPr>
          <p:txBody>
            <a:bodyPr wrap="square" rtlCol="0" anchor="ctr"/>
            <a:lstStyle/>
            <a:p>
              <a:pPr marL="0" indent="0">
                <a:buNone/>
              </a:pPr>
              <a:r>
                <a:rPr lang="en-US" sz="1400" i="1" dirty="0">
                  <a:solidFill>
                    <a:srgbClr val="636E72"/>
                  </a:solidFill>
                  <a:latin typeface="Helvetica Neue Light"/>
                  <a:ea typeface="Calibri" pitchFamily="34" charset="-122"/>
                  <a:cs typeface="Calibri" pitchFamily="34" charset="-120"/>
                </a:rPr>
                <a:t>10B → 100B → 1T+</a:t>
              </a:r>
              <a:endParaRPr lang="en-US" sz="1400" dirty="0">
                <a:latin typeface="Helvetica Neue Light"/>
              </a:endParaRPr>
            </a:p>
          </p:txBody>
        </p:sp>
        <p:sp>
          <p:nvSpPr>
            <p:cNvPr id="16" name="Shape 13">
              <a:extLst>
                <a:ext uri="{FF2B5EF4-FFF2-40B4-BE49-F238E27FC236}">
                  <a16:creationId xmlns:a16="http://schemas.microsoft.com/office/drawing/2014/main" id="{2C8ABF4C-89E4-84FF-FAE6-5C4CF22A3574}"/>
                </a:ext>
              </a:extLst>
            </p:cNvPr>
            <p:cNvSpPr/>
            <p:nvPr/>
          </p:nvSpPr>
          <p:spPr>
            <a:xfrm>
              <a:off x="3291840" y="2606040"/>
              <a:ext cx="2651760" cy="1097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7" name="Shape 14">
              <a:extLst>
                <a:ext uri="{FF2B5EF4-FFF2-40B4-BE49-F238E27FC236}">
                  <a16:creationId xmlns:a16="http://schemas.microsoft.com/office/drawing/2014/main" id="{B876BDB2-1A18-C7DD-9BB9-8121CCD2CE99}"/>
                </a:ext>
              </a:extLst>
            </p:cNvPr>
            <p:cNvSpPr/>
            <p:nvPr/>
          </p:nvSpPr>
          <p:spPr>
            <a:xfrm>
              <a:off x="3291840" y="2606040"/>
              <a:ext cx="54864" cy="1097280"/>
            </a:xfrm>
            <a:prstGeom prst="rect">
              <a:avLst/>
            </a:prstGeom>
            <a:solidFill>
              <a:srgbClr val="1C7293"/>
            </a:solidFill>
            <a:ln/>
          </p:spPr>
          <p:txBody>
            <a:bodyPr/>
            <a:lstStyle/>
            <a:p>
              <a:endParaRPr lang="en-US" sz="2400">
                <a:latin typeface="Helvetica Neue Light"/>
              </a:endParaRPr>
            </a:p>
          </p:txBody>
        </p:sp>
        <p:sp>
          <p:nvSpPr>
            <p:cNvPr id="18" name="Text 15">
              <a:extLst>
                <a:ext uri="{FF2B5EF4-FFF2-40B4-BE49-F238E27FC236}">
                  <a16:creationId xmlns:a16="http://schemas.microsoft.com/office/drawing/2014/main" id="{771D5100-8D5F-7D7D-5C1E-0949724EBA75}"/>
                </a:ext>
              </a:extLst>
            </p:cNvPr>
            <p:cNvSpPr/>
            <p:nvPr/>
          </p:nvSpPr>
          <p:spPr>
            <a:xfrm>
              <a:off x="3429000" y="2697480"/>
              <a:ext cx="237744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Dataset Size</a:t>
              </a:r>
              <a:endParaRPr lang="en-US" sz="1600" dirty="0">
                <a:latin typeface="Helvetica Neue Light"/>
              </a:endParaRPr>
            </a:p>
          </p:txBody>
        </p:sp>
        <p:sp>
          <p:nvSpPr>
            <p:cNvPr id="19" name="Text 16">
              <a:extLst>
                <a:ext uri="{FF2B5EF4-FFF2-40B4-BE49-F238E27FC236}">
                  <a16:creationId xmlns:a16="http://schemas.microsoft.com/office/drawing/2014/main" id="{4313A196-B868-764E-D081-60444C747773}"/>
                </a:ext>
              </a:extLst>
            </p:cNvPr>
            <p:cNvSpPr/>
            <p:nvPr/>
          </p:nvSpPr>
          <p:spPr>
            <a:xfrm>
              <a:off x="3429000" y="2971800"/>
              <a:ext cx="2377440" cy="3200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Training examples</a:t>
              </a:r>
              <a:endParaRPr lang="en-US" sz="1400" dirty="0">
                <a:latin typeface="Helvetica Neue Light"/>
              </a:endParaRPr>
            </a:p>
          </p:txBody>
        </p:sp>
        <p:sp>
          <p:nvSpPr>
            <p:cNvPr id="20" name="Text 17">
              <a:extLst>
                <a:ext uri="{FF2B5EF4-FFF2-40B4-BE49-F238E27FC236}">
                  <a16:creationId xmlns:a16="http://schemas.microsoft.com/office/drawing/2014/main" id="{CC7A12B3-8811-DE53-3F29-57D08D81C4B8}"/>
                </a:ext>
              </a:extLst>
            </p:cNvPr>
            <p:cNvSpPr/>
            <p:nvPr/>
          </p:nvSpPr>
          <p:spPr>
            <a:xfrm>
              <a:off x="3429000" y="3291840"/>
              <a:ext cx="2377440" cy="320040"/>
            </a:xfrm>
            <a:prstGeom prst="rect">
              <a:avLst/>
            </a:prstGeom>
            <a:noFill/>
            <a:ln/>
          </p:spPr>
          <p:txBody>
            <a:bodyPr wrap="square" rtlCol="0" anchor="ctr"/>
            <a:lstStyle/>
            <a:p>
              <a:pPr marL="0" indent="0">
                <a:buNone/>
              </a:pPr>
              <a:r>
                <a:rPr lang="en-US" sz="1400" i="1" dirty="0">
                  <a:solidFill>
                    <a:srgbClr val="636E72"/>
                  </a:solidFill>
                  <a:latin typeface="Helvetica Neue Light"/>
                  <a:ea typeface="Calibri" pitchFamily="34" charset="-122"/>
                  <a:cs typeface="Calibri" pitchFamily="34" charset="-120"/>
                </a:rPr>
                <a:t>Tokens processed</a:t>
              </a:r>
              <a:endParaRPr lang="en-US" sz="1400" dirty="0">
                <a:latin typeface="Helvetica Neue Light"/>
              </a:endParaRPr>
            </a:p>
          </p:txBody>
        </p:sp>
        <p:sp>
          <p:nvSpPr>
            <p:cNvPr id="21" name="Shape 18">
              <a:extLst>
                <a:ext uri="{FF2B5EF4-FFF2-40B4-BE49-F238E27FC236}">
                  <a16:creationId xmlns:a16="http://schemas.microsoft.com/office/drawing/2014/main" id="{327C8C36-59FF-C53E-9734-CB21C9EEFC7C}"/>
                </a:ext>
              </a:extLst>
            </p:cNvPr>
            <p:cNvSpPr/>
            <p:nvPr/>
          </p:nvSpPr>
          <p:spPr>
            <a:xfrm>
              <a:off x="6126480" y="2606040"/>
              <a:ext cx="2696052" cy="1097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22" name="Shape 19">
              <a:extLst>
                <a:ext uri="{FF2B5EF4-FFF2-40B4-BE49-F238E27FC236}">
                  <a16:creationId xmlns:a16="http://schemas.microsoft.com/office/drawing/2014/main" id="{9D03813F-084E-2F84-A077-B5E3D1AC52FF}"/>
                </a:ext>
              </a:extLst>
            </p:cNvPr>
            <p:cNvSpPr/>
            <p:nvPr/>
          </p:nvSpPr>
          <p:spPr>
            <a:xfrm>
              <a:off x="6126480" y="2606040"/>
              <a:ext cx="54864" cy="1097280"/>
            </a:xfrm>
            <a:prstGeom prst="rect">
              <a:avLst/>
            </a:prstGeom>
            <a:solidFill>
              <a:srgbClr val="E07A5F"/>
            </a:solidFill>
            <a:ln/>
          </p:spPr>
          <p:txBody>
            <a:bodyPr/>
            <a:lstStyle/>
            <a:p>
              <a:endParaRPr lang="en-US" sz="2400">
                <a:latin typeface="Helvetica Neue Light"/>
              </a:endParaRPr>
            </a:p>
          </p:txBody>
        </p:sp>
        <p:sp>
          <p:nvSpPr>
            <p:cNvPr id="23" name="Text 20">
              <a:extLst>
                <a:ext uri="{FF2B5EF4-FFF2-40B4-BE49-F238E27FC236}">
                  <a16:creationId xmlns:a16="http://schemas.microsoft.com/office/drawing/2014/main" id="{EC7A8C42-5941-B177-9020-12D4D9583101}"/>
                </a:ext>
              </a:extLst>
            </p:cNvPr>
            <p:cNvSpPr/>
            <p:nvPr/>
          </p:nvSpPr>
          <p:spPr>
            <a:xfrm>
              <a:off x="6263640" y="2697480"/>
              <a:ext cx="237744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Compute</a:t>
              </a:r>
              <a:endParaRPr lang="en-US" sz="1600" dirty="0">
                <a:latin typeface="Helvetica Neue Light"/>
              </a:endParaRPr>
            </a:p>
          </p:txBody>
        </p:sp>
        <p:sp>
          <p:nvSpPr>
            <p:cNvPr id="24" name="Text 21">
              <a:extLst>
                <a:ext uri="{FF2B5EF4-FFF2-40B4-BE49-F238E27FC236}">
                  <a16:creationId xmlns:a16="http://schemas.microsoft.com/office/drawing/2014/main" id="{58FD4821-17FE-B0D1-342B-8BFCA224BBAB}"/>
                </a:ext>
              </a:extLst>
            </p:cNvPr>
            <p:cNvSpPr/>
            <p:nvPr/>
          </p:nvSpPr>
          <p:spPr>
            <a:xfrm>
              <a:off x="6263640" y="2971800"/>
              <a:ext cx="2377440" cy="3200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FLOPs used in training</a:t>
              </a:r>
              <a:endParaRPr lang="en-US" sz="1400" dirty="0">
                <a:latin typeface="Helvetica Neue Light"/>
              </a:endParaRPr>
            </a:p>
          </p:txBody>
        </p:sp>
        <p:sp>
          <p:nvSpPr>
            <p:cNvPr id="25" name="Text 22">
              <a:extLst>
                <a:ext uri="{FF2B5EF4-FFF2-40B4-BE49-F238E27FC236}">
                  <a16:creationId xmlns:a16="http://schemas.microsoft.com/office/drawing/2014/main" id="{A23F0226-799B-2617-0908-E8BB43FC679C}"/>
                </a:ext>
              </a:extLst>
            </p:cNvPr>
            <p:cNvSpPr/>
            <p:nvPr/>
          </p:nvSpPr>
          <p:spPr>
            <a:xfrm>
              <a:off x="6263640" y="3291840"/>
              <a:ext cx="2377440" cy="320040"/>
            </a:xfrm>
            <a:prstGeom prst="rect">
              <a:avLst/>
            </a:prstGeom>
            <a:noFill/>
            <a:ln/>
          </p:spPr>
          <p:txBody>
            <a:bodyPr wrap="square" rtlCol="0" anchor="ctr"/>
            <a:lstStyle/>
            <a:p>
              <a:pPr marL="0" indent="0">
                <a:buNone/>
              </a:pPr>
              <a:r>
                <a:rPr lang="en-US" sz="1400" i="1" dirty="0">
                  <a:solidFill>
                    <a:srgbClr val="636E72"/>
                  </a:solidFill>
                  <a:latin typeface="Helvetica Neue Light"/>
                  <a:ea typeface="Calibri" pitchFamily="34" charset="-122"/>
                  <a:cs typeface="Calibri" pitchFamily="34" charset="-120"/>
                </a:rPr>
                <a:t>GPU hours / cost</a:t>
              </a:r>
              <a:endParaRPr lang="en-US" sz="1400" dirty="0">
                <a:latin typeface="Helvetica Neue Light"/>
              </a:endParaRPr>
            </a:p>
          </p:txBody>
        </p:sp>
        <p:sp>
          <p:nvSpPr>
            <p:cNvPr id="26" name="Shape 23">
              <a:extLst>
                <a:ext uri="{FF2B5EF4-FFF2-40B4-BE49-F238E27FC236}">
                  <a16:creationId xmlns:a16="http://schemas.microsoft.com/office/drawing/2014/main" id="{1E921A09-8BF8-9509-38C6-F41A18E85DAD}"/>
                </a:ext>
              </a:extLst>
            </p:cNvPr>
            <p:cNvSpPr/>
            <p:nvPr/>
          </p:nvSpPr>
          <p:spPr>
            <a:xfrm>
              <a:off x="457200" y="3886200"/>
              <a:ext cx="8365332" cy="502920"/>
            </a:xfrm>
            <a:prstGeom prst="rect">
              <a:avLst/>
            </a:prstGeom>
            <a:solidFill>
              <a:srgbClr val="21295C"/>
            </a:solidFill>
            <a:ln/>
          </p:spPr>
          <p:txBody>
            <a:bodyPr/>
            <a:lstStyle/>
            <a:p>
              <a:endParaRPr lang="en-US" sz="2400">
                <a:latin typeface="Helvetica Neue Light"/>
              </a:endParaRPr>
            </a:p>
          </p:txBody>
        </p:sp>
        <p:sp>
          <p:nvSpPr>
            <p:cNvPr id="27" name="Text 24">
              <a:extLst>
                <a:ext uri="{FF2B5EF4-FFF2-40B4-BE49-F238E27FC236}">
                  <a16:creationId xmlns:a16="http://schemas.microsoft.com/office/drawing/2014/main" id="{8FD2CE3D-180C-F1F3-C270-EFA5D0C8420E}"/>
                </a:ext>
              </a:extLst>
            </p:cNvPr>
            <p:cNvSpPr/>
            <p:nvPr/>
          </p:nvSpPr>
          <p:spPr>
            <a:xfrm>
              <a:off x="512064" y="3977640"/>
              <a:ext cx="8266176" cy="320040"/>
            </a:xfrm>
            <a:prstGeom prst="rect">
              <a:avLst/>
            </a:prstGeom>
            <a:noFill/>
            <a:ln/>
          </p:spPr>
          <p:txBody>
            <a:bodyPr wrap="square" rtlCol="0" anchor="ctr"/>
            <a:lstStyle/>
            <a:p>
              <a:pPr marL="0" indent="0" algn="ctr">
                <a:buNone/>
              </a:pPr>
              <a:r>
                <a:rPr lang="en-US" sz="1600" b="1" dirty="0">
                  <a:solidFill>
                    <a:srgbClr val="FFFFFF"/>
                  </a:solidFill>
                  <a:latin typeface="Helvetica Neue Light"/>
                  <a:ea typeface="Calibri" pitchFamily="34" charset="-122"/>
                  <a:cs typeface="Calibri" pitchFamily="34" charset="-120"/>
                </a:rPr>
                <a:t>Takeaway</a:t>
              </a:r>
              <a:r>
                <a:rPr lang="en-US" sz="1600" dirty="0">
                  <a:solidFill>
                    <a:srgbClr val="FFFFFF"/>
                  </a:solidFill>
                  <a:latin typeface="Helvetica Neue Light"/>
                  <a:ea typeface="Calibri" pitchFamily="34" charset="-122"/>
                  <a:cs typeface="Calibri" pitchFamily="34" charset="-120"/>
                </a:rPr>
                <a:t>: Larger models + more data → better performance, but with diminishing returns</a:t>
              </a:r>
              <a:endParaRPr lang="en-US" sz="1600" dirty="0">
                <a:latin typeface="Helvetica Neue Light"/>
              </a:endParaRPr>
            </a:p>
          </p:txBody>
        </p:sp>
      </p:grpSp>
      <p:sp>
        <p:nvSpPr>
          <p:cNvPr id="28" name="TextBox 27">
            <a:extLst>
              <a:ext uri="{FF2B5EF4-FFF2-40B4-BE49-F238E27FC236}">
                <a16:creationId xmlns:a16="http://schemas.microsoft.com/office/drawing/2014/main" id="{D52ED33C-0844-A4B4-0B5E-8EE3B79D9E74}"/>
              </a:ext>
            </a:extLst>
          </p:cNvPr>
          <p:cNvSpPr txBox="1"/>
          <p:nvPr/>
        </p:nvSpPr>
        <p:spPr>
          <a:xfrm>
            <a:off x="5631382" y="7173151"/>
            <a:ext cx="2097403" cy="336176"/>
          </a:xfrm>
          <a:prstGeom prst="rect">
            <a:avLst/>
          </a:prstGeom>
          <a:noFill/>
        </p:spPr>
        <p:txBody>
          <a:bodyPr wrap="square">
            <a:spAutoFit/>
          </a:bodyPr>
          <a:lstStyle/>
          <a:p>
            <a:r>
              <a:rPr lang="en-US" sz="800" dirty="0">
                <a:solidFill>
                  <a:schemeClr val="bg2">
                    <a:lumMod val="90000"/>
                  </a:schemeClr>
                </a:solidFill>
              </a:rPr>
              <a:t>https://share.google/images/24UXZjiAzX9guOQc1</a:t>
            </a:r>
          </a:p>
        </p:txBody>
      </p:sp>
      <p:pic>
        <p:nvPicPr>
          <p:cNvPr id="29" name="Picture 2" descr="The Scaling Paradox — Toby Ord">
            <a:extLst>
              <a:ext uri="{FF2B5EF4-FFF2-40B4-BE49-F238E27FC236}">
                <a16:creationId xmlns:a16="http://schemas.microsoft.com/office/drawing/2014/main" id="{00484589-4C4B-74CF-0E13-013E02F596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9948" y="5027756"/>
            <a:ext cx="5533593" cy="17225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4627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86BBABB-01CA-34F8-A2C3-B61D764CD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09CB5-EA36-366E-57F0-595A6C1FAE3D}"/>
              </a:ext>
            </a:extLst>
          </p:cNvPr>
          <p:cNvSpPr>
            <a:spLocks noGrp="1"/>
          </p:cNvSpPr>
          <p:nvPr>
            <p:ph type="title"/>
          </p:nvPr>
        </p:nvSpPr>
        <p:spPr>
          <a:xfrm>
            <a:off x="457200" y="365126"/>
            <a:ext cx="8229600" cy="592213"/>
          </a:xfrm>
        </p:spPr>
        <p:txBody>
          <a:bodyPr/>
          <a:lstStyle/>
          <a:p>
            <a:r>
              <a:rPr lang="en-US" dirty="0"/>
              <a:t>Strategic Impact &amp; Implications</a:t>
            </a:r>
          </a:p>
        </p:txBody>
      </p:sp>
      <p:sp>
        <p:nvSpPr>
          <p:cNvPr id="5" name="Slide Number Placeholder 4">
            <a:extLst>
              <a:ext uri="{FF2B5EF4-FFF2-40B4-BE49-F238E27FC236}">
                <a16:creationId xmlns:a16="http://schemas.microsoft.com/office/drawing/2014/main" id="{1BE90281-E58A-931F-7042-14AAC0B5A20D}"/>
              </a:ext>
            </a:extLst>
          </p:cNvPr>
          <p:cNvSpPr>
            <a:spLocks noGrp="1"/>
          </p:cNvSpPr>
          <p:nvPr>
            <p:ph type="sldNum" sz="quarter" idx="12"/>
          </p:nvPr>
        </p:nvSpPr>
        <p:spPr/>
        <p:txBody>
          <a:bodyPr/>
          <a:lstStyle/>
          <a:p>
            <a:fld id="{21EF4C0E-91FA-4D94-8941-E22F3A83D5F1}" type="slidenum">
              <a:rPr lang="en-US" smtClean="0"/>
              <a:t>14</a:t>
            </a:fld>
            <a:endParaRPr lang="en-US"/>
          </a:p>
        </p:txBody>
      </p:sp>
      <p:sp>
        <p:nvSpPr>
          <p:cNvPr id="6" name="TextBox 5">
            <a:extLst>
              <a:ext uri="{FF2B5EF4-FFF2-40B4-BE49-F238E27FC236}">
                <a16:creationId xmlns:a16="http://schemas.microsoft.com/office/drawing/2014/main" id="{50591E80-B413-EA28-392C-C272D99F034E}"/>
              </a:ext>
            </a:extLst>
          </p:cNvPr>
          <p:cNvSpPr txBox="1"/>
          <p:nvPr/>
        </p:nvSpPr>
        <p:spPr>
          <a:xfrm>
            <a:off x="6390084" y="667089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D93A4B71-7C1B-E658-7A86-5FA5823A8101}"/>
              </a:ext>
            </a:extLst>
          </p:cNvPr>
          <p:cNvGrpSpPr/>
          <p:nvPr/>
        </p:nvGrpSpPr>
        <p:grpSpPr>
          <a:xfrm>
            <a:off x="457200" y="1321944"/>
            <a:ext cx="8412480" cy="3702668"/>
            <a:chOff x="457200" y="1234440"/>
            <a:chExt cx="8412480" cy="3440565"/>
          </a:xfrm>
        </p:grpSpPr>
        <p:sp>
          <p:nvSpPr>
            <p:cNvPr id="4" name="Shape 3">
              <a:extLst>
                <a:ext uri="{FF2B5EF4-FFF2-40B4-BE49-F238E27FC236}">
                  <a16:creationId xmlns:a16="http://schemas.microsoft.com/office/drawing/2014/main" id="{6D190B91-8202-F247-83AD-6D2E20AEF93C}"/>
                </a:ext>
              </a:extLst>
            </p:cNvPr>
            <p:cNvSpPr/>
            <p:nvPr/>
          </p:nvSpPr>
          <p:spPr>
            <a:xfrm>
              <a:off x="457200" y="1234440"/>
              <a:ext cx="365760" cy="365760"/>
            </a:xfrm>
            <a:prstGeom prst="ellipse">
              <a:avLst/>
            </a:prstGeom>
            <a:solidFill>
              <a:srgbClr val="1C7293"/>
            </a:solidFill>
            <a:ln/>
          </p:spPr>
          <p:txBody>
            <a:bodyPr/>
            <a:lstStyle/>
            <a:p>
              <a:endParaRPr lang="en-US" sz="2400">
                <a:latin typeface="Helvetica Neue Light"/>
              </a:endParaRPr>
            </a:p>
          </p:txBody>
        </p:sp>
        <p:sp>
          <p:nvSpPr>
            <p:cNvPr id="7" name="Text 4">
              <a:extLst>
                <a:ext uri="{FF2B5EF4-FFF2-40B4-BE49-F238E27FC236}">
                  <a16:creationId xmlns:a16="http://schemas.microsoft.com/office/drawing/2014/main" id="{A0F9DFED-3E62-813A-909A-30707D82B928}"/>
                </a:ext>
              </a:extLst>
            </p:cNvPr>
            <p:cNvSpPr/>
            <p:nvPr/>
          </p:nvSpPr>
          <p:spPr>
            <a:xfrm>
              <a:off x="960120" y="1234440"/>
              <a:ext cx="2286000" cy="32004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Predictive Power:</a:t>
              </a:r>
              <a:endParaRPr lang="en-US" sz="1600" dirty="0">
                <a:latin typeface="Helvetica Neue Light"/>
              </a:endParaRPr>
            </a:p>
          </p:txBody>
        </p:sp>
        <p:sp>
          <p:nvSpPr>
            <p:cNvPr id="8" name="Text 5">
              <a:extLst>
                <a:ext uri="{FF2B5EF4-FFF2-40B4-BE49-F238E27FC236}">
                  <a16:creationId xmlns:a16="http://schemas.microsoft.com/office/drawing/2014/main" id="{6C25CC13-333E-3183-28FD-F6FE41F8C8DC}"/>
                </a:ext>
              </a:extLst>
            </p:cNvPr>
            <p:cNvSpPr/>
            <p:nvPr/>
          </p:nvSpPr>
          <p:spPr>
            <a:xfrm>
              <a:off x="3246120" y="1234440"/>
              <a:ext cx="54864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Forecast future model performance without training them</a:t>
              </a:r>
              <a:endParaRPr lang="en-US" sz="1600" dirty="0">
                <a:latin typeface="Helvetica Neue Light"/>
              </a:endParaRPr>
            </a:p>
          </p:txBody>
        </p:sp>
        <p:sp>
          <p:nvSpPr>
            <p:cNvPr id="9" name="Shape 6">
              <a:extLst>
                <a:ext uri="{FF2B5EF4-FFF2-40B4-BE49-F238E27FC236}">
                  <a16:creationId xmlns:a16="http://schemas.microsoft.com/office/drawing/2014/main" id="{25320AA5-DA0E-90D6-40EA-D28037DEDF10}"/>
                </a:ext>
              </a:extLst>
            </p:cNvPr>
            <p:cNvSpPr/>
            <p:nvPr/>
          </p:nvSpPr>
          <p:spPr>
            <a:xfrm>
              <a:off x="457200" y="1920240"/>
              <a:ext cx="365760" cy="365760"/>
            </a:xfrm>
            <a:prstGeom prst="ellipse">
              <a:avLst/>
            </a:prstGeom>
            <a:solidFill>
              <a:srgbClr val="E07A5F"/>
            </a:solidFill>
            <a:ln/>
          </p:spPr>
          <p:txBody>
            <a:bodyPr/>
            <a:lstStyle/>
            <a:p>
              <a:endParaRPr lang="en-US" sz="2400">
                <a:latin typeface="Helvetica Neue Light"/>
              </a:endParaRPr>
            </a:p>
          </p:txBody>
        </p:sp>
        <p:sp>
          <p:nvSpPr>
            <p:cNvPr id="10" name="Text 7">
              <a:extLst>
                <a:ext uri="{FF2B5EF4-FFF2-40B4-BE49-F238E27FC236}">
                  <a16:creationId xmlns:a16="http://schemas.microsoft.com/office/drawing/2014/main" id="{4A312800-30CD-9F2B-886C-A13AF01084C1}"/>
                </a:ext>
              </a:extLst>
            </p:cNvPr>
            <p:cNvSpPr/>
            <p:nvPr/>
          </p:nvSpPr>
          <p:spPr>
            <a:xfrm>
              <a:off x="960120" y="1920240"/>
              <a:ext cx="2286000" cy="32004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Resource Allocation:</a:t>
              </a:r>
              <a:endParaRPr lang="en-US" sz="1600" dirty="0">
                <a:latin typeface="Helvetica Neue Light"/>
              </a:endParaRPr>
            </a:p>
          </p:txBody>
        </p:sp>
        <p:sp>
          <p:nvSpPr>
            <p:cNvPr id="11" name="Text 8">
              <a:extLst>
                <a:ext uri="{FF2B5EF4-FFF2-40B4-BE49-F238E27FC236}">
                  <a16:creationId xmlns:a16="http://schemas.microsoft.com/office/drawing/2014/main" id="{456A49DB-BA2B-4710-F490-E646575BE892}"/>
                </a:ext>
              </a:extLst>
            </p:cNvPr>
            <p:cNvSpPr/>
            <p:nvPr/>
          </p:nvSpPr>
          <p:spPr>
            <a:xfrm>
              <a:off x="3246120" y="1920240"/>
              <a:ext cx="54864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Guide trade-offs between data, model size, and compute</a:t>
              </a:r>
              <a:endParaRPr lang="en-US" sz="1600" dirty="0">
                <a:latin typeface="Helvetica Neue Light"/>
              </a:endParaRPr>
            </a:p>
          </p:txBody>
        </p:sp>
        <p:sp>
          <p:nvSpPr>
            <p:cNvPr id="12" name="Shape 9">
              <a:extLst>
                <a:ext uri="{FF2B5EF4-FFF2-40B4-BE49-F238E27FC236}">
                  <a16:creationId xmlns:a16="http://schemas.microsoft.com/office/drawing/2014/main" id="{627E314E-D450-7A23-4C5E-CF48AC015343}"/>
                </a:ext>
              </a:extLst>
            </p:cNvPr>
            <p:cNvSpPr/>
            <p:nvPr/>
          </p:nvSpPr>
          <p:spPr>
            <a:xfrm>
              <a:off x="457200" y="2606040"/>
              <a:ext cx="365760" cy="365760"/>
            </a:xfrm>
            <a:prstGeom prst="ellipse">
              <a:avLst/>
            </a:prstGeom>
            <a:solidFill>
              <a:srgbClr val="1C7293"/>
            </a:solidFill>
            <a:ln/>
          </p:spPr>
          <p:txBody>
            <a:bodyPr/>
            <a:lstStyle/>
            <a:p>
              <a:endParaRPr lang="en-US" sz="2400">
                <a:latin typeface="Helvetica Neue Light"/>
              </a:endParaRPr>
            </a:p>
          </p:txBody>
        </p:sp>
        <p:sp>
          <p:nvSpPr>
            <p:cNvPr id="13" name="Text 10">
              <a:extLst>
                <a:ext uri="{FF2B5EF4-FFF2-40B4-BE49-F238E27FC236}">
                  <a16:creationId xmlns:a16="http://schemas.microsoft.com/office/drawing/2014/main" id="{5712CF12-E681-6C44-9B0A-B28DC81FE85C}"/>
                </a:ext>
              </a:extLst>
            </p:cNvPr>
            <p:cNvSpPr/>
            <p:nvPr/>
          </p:nvSpPr>
          <p:spPr>
            <a:xfrm>
              <a:off x="960120" y="2606040"/>
              <a:ext cx="2286000" cy="32004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Benchmarking:</a:t>
              </a:r>
              <a:endParaRPr lang="en-US" sz="1600" dirty="0">
                <a:latin typeface="Helvetica Neue Light"/>
              </a:endParaRPr>
            </a:p>
          </p:txBody>
        </p:sp>
        <p:sp>
          <p:nvSpPr>
            <p:cNvPr id="14" name="Text 11">
              <a:extLst>
                <a:ext uri="{FF2B5EF4-FFF2-40B4-BE49-F238E27FC236}">
                  <a16:creationId xmlns:a16="http://schemas.microsoft.com/office/drawing/2014/main" id="{A8CB949F-15DC-C08D-4C65-654B4BA5199C}"/>
                </a:ext>
              </a:extLst>
            </p:cNvPr>
            <p:cNvSpPr/>
            <p:nvPr/>
          </p:nvSpPr>
          <p:spPr>
            <a:xfrm>
              <a:off x="3246120" y="2606040"/>
              <a:ext cx="54864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Scientific framework to compare models systematically</a:t>
              </a:r>
              <a:endParaRPr lang="en-US" sz="1600" dirty="0">
                <a:latin typeface="Helvetica Neue Light"/>
              </a:endParaRPr>
            </a:p>
          </p:txBody>
        </p:sp>
        <p:sp>
          <p:nvSpPr>
            <p:cNvPr id="15" name="Shape 12">
              <a:extLst>
                <a:ext uri="{FF2B5EF4-FFF2-40B4-BE49-F238E27FC236}">
                  <a16:creationId xmlns:a16="http://schemas.microsoft.com/office/drawing/2014/main" id="{93E8F5BE-19E9-E337-513C-AE54E301D9C0}"/>
                </a:ext>
              </a:extLst>
            </p:cNvPr>
            <p:cNvSpPr/>
            <p:nvPr/>
          </p:nvSpPr>
          <p:spPr>
            <a:xfrm>
              <a:off x="457200" y="3291840"/>
              <a:ext cx="365760" cy="365760"/>
            </a:xfrm>
            <a:prstGeom prst="ellipse">
              <a:avLst/>
            </a:prstGeom>
            <a:solidFill>
              <a:srgbClr val="E07A5F"/>
            </a:solidFill>
            <a:ln/>
          </p:spPr>
          <p:txBody>
            <a:bodyPr/>
            <a:lstStyle/>
            <a:p>
              <a:endParaRPr lang="en-US" sz="2400">
                <a:latin typeface="Helvetica Neue Light"/>
              </a:endParaRPr>
            </a:p>
          </p:txBody>
        </p:sp>
        <p:sp>
          <p:nvSpPr>
            <p:cNvPr id="16" name="Text 13">
              <a:extLst>
                <a:ext uri="{FF2B5EF4-FFF2-40B4-BE49-F238E27FC236}">
                  <a16:creationId xmlns:a16="http://schemas.microsoft.com/office/drawing/2014/main" id="{2B7BB092-A1DD-1661-46E4-F47638D9A90F}"/>
                </a:ext>
              </a:extLst>
            </p:cNvPr>
            <p:cNvSpPr/>
            <p:nvPr/>
          </p:nvSpPr>
          <p:spPr>
            <a:xfrm>
              <a:off x="960120" y="3291840"/>
              <a:ext cx="2286000" cy="32004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Strategic Roadmap:</a:t>
              </a:r>
              <a:endParaRPr lang="en-US" sz="1600" dirty="0">
                <a:latin typeface="Helvetica Neue Light"/>
              </a:endParaRPr>
            </a:p>
          </p:txBody>
        </p:sp>
        <p:sp>
          <p:nvSpPr>
            <p:cNvPr id="17" name="Text 14">
              <a:extLst>
                <a:ext uri="{FF2B5EF4-FFF2-40B4-BE49-F238E27FC236}">
                  <a16:creationId xmlns:a16="http://schemas.microsoft.com/office/drawing/2014/main" id="{672F88BC-774E-CFA7-6325-662203EBAED2}"/>
                </a:ext>
              </a:extLst>
            </p:cNvPr>
            <p:cNvSpPr/>
            <p:nvPr/>
          </p:nvSpPr>
          <p:spPr>
            <a:xfrm>
              <a:off x="3246120" y="3291840"/>
              <a:ext cx="54864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Informs building of frontier models (GPT-4, GPT-5, etc.)</a:t>
              </a:r>
              <a:endParaRPr lang="en-US" sz="1600" dirty="0">
                <a:latin typeface="Helvetica Neue Light"/>
              </a:endParaRPr>
            </a:p>
          </p:txBody>
        </p:sp>
        <p:sp>
          <p:nvSpPr>
            <p:cNvPr id="18" name="Shape 15">
              <a:extLst>
                <a:ext uri="{FF2B5EF4-FFF2-40B4-BE49-F238E27FC236}">
                  <a16:creationId xmlns:a16="http://schemas.microsoft.com/office/drawing/2014/main" id="{82432708-3406-15D0-F29B-DE3650315CD1}"/>
                </a:ext>
              </a:extLst>
            </p:cNvPr>
            <p:cNvSpPr/>
            <p:nvPr/>
          </p:nvSpPr>
          <p:spPr>
            <a:xfrm>
              <a:off x="457200" y="3794237"/>
              <a:ext cx="8229600" cy="880768"/>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400">
                <a:latin typeface="Helvetica Neue Light"/>
              </a:endParaRPr>
            </a:p>
          </p:txBody>
        </p:sp>
        <p:sp>
          <p:nvSpPr>
            <p:cNvPr id="19" name="Shape 16">
              <a:extLst>
                <a:ext uri="{FF2B5EF4-FFF2-40B4-BE49-F238E27FC236}">
                  <a16:creationId xmlns:a16="http://schemas.microsoft.com/office/drawing/2014/main" id="{1CF51A43-C1F1-82B7-3A44-03B98834D834}"/>
                </a:ext>
              </a:extLst>
            </p:cNvPr>
            <p:cNvSpPr/>
            <p:nvPr/>
          </p:nvSpPr>
          <p:spPr>
            <a:xfrm>
              <a:off x="457200" y="3794237"/>
              <a:ext cx="45719" cy="880768"/>
            </a:xfrm>
            <a:prstGeom prst="rect">
              <a:avLst/>
            </a:prstGeom>
            <a:solidFill>
              <a:srgbClr val="065A82"/>
            </a:solidFill>
            <a:ln/>
          </p:spPr>
          <p:txBody>
            <a:bodyPr/>
            <a:lstStyle/>
            <a:p>
              <a:endParaRPr lang="en-US" sz="2400">
                <a:latin typeface="Helvetica Neue Light"/>
              </a:endParaRPr>
            </a:p>
          </p:txBody>
        </p:sp>
        <p:sp>
          <p:nvSpPr>
            <p:cNvPr id="20" name="Text 17">
              <a:extLst>
                <a:ext uri="{FF2B5EF4-FFF2-40B4-BE49-F238E27FC236}">
                  <a16:creationId xmlns:a16="http://schemas.microsoft.com/office/drawing/2014/main" id="{86A10630-9752-1B6D-33AE-81495B55BFE6}"/>
                </a:ext>
              </a:extLst>
            </p:cNvPr>
            <p:cNvSpPr/>
            <p:nvPr/>
          </p:nvSpPr>
          <p:spPr>
            <a:xfrm>
              <a:off x="685799" y="3885679"/>
              <a:ext cx="8183881" cy="673674"/>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Big Picture: </a:t>
              </a:r>
              <a:r>
                <a:rPr lang="en-US" dirty="0">
                  <a:solidFill>
                    <a:srgbClr val="2D3436"/>
                  </a:solidFill>
                  <a:latin typeface="Helvetica Neue Light"/>
                  <a:ea typeface="Calibri" pitchFamily="34" charset="-122"/>
                  <a:cs typeface="Calibri" pitchFamily="34" charset="-120"/>
                </a:rPr>
                <a:t>Scaling laws act as the "Moore's Law" of AI progress — they help identify when scaling saturates and motivates innovation beyond brute force (e.g., new architectures, efficiency gains).</a:t>
              </a:r>
              <a:endParaRPr lang="en-US" dirty="0">
                <a:latin typeface="Helvetica Neue Light"/>
              </a:endParaRPr>
            </a:p>
          </p:txBody>
        </p:sp>
      </p:grpSp>
      <p:pic>
        <p:nvPicPr>
          <p:cNvPr id="22" name="Picture 2">
            <a:extLst>
              <a:ext uri="{FF2B5EF4-FFF2-40B4-BE49-F238E27FC236}">
                <a16:creationId xmlns:a16="http://schemas.microsoft.com/office/drawing/2014/main" id="{1CCD51F7-EDED-ABA4-9F35-DC851CBE9A0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072" r="2024"/>
          <a:stretch>
            <a:fillRect/>
          </a:stretch>
        </p:blipFill>
        <p:spPr bwMode="auto">
          <a:xfrm>
            <a:off x="4361635" y="4785773"/>
            <a:ext cx="4615522" cy="191117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089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01CF8-4679-190C-2168-502D06FD2B3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DE79856-4B59-D1D0-2400-D55C8A24DC64}"/>
              </a:ext>
            </a:extLst>
          </p:cNvPr>
          <p:cNvSpPr>
            <a:spLocks noGrp="1"/>
          </p:cNvSpPr>
          <p:nvPr>
            <p:ph type="title"/>
          </p:nvPr>
        </p:nvSpPr>
        <p:spPr>
          <a:xfrm>
            <a:off x="623888" y="3360416"/>
            <a:ext cx="7886700" cy="1202060"/>
          </a:xfrm>
        </p:spPr>
        <p:txBody>
          <a:bodyPr/>
          <a:lstStyle/>
          <a:p>
            <a:r>
              <a:rPr lang="en-US" sz="3200" i="1" dirty="0"/>
              <a:t>Part 3</a:t>
            </a:r>
            <a:br>
              <a:rPr lang="en-US" sz="4800" dirty="0"/>
            </a:br>
            <a:r>
              <a:rPr lang="en-US" sz="4800" dirty="0"/>
              <a:t>	Vector Databases in AI</a:t>
            </a:r>
          </a:p>
        </p:txBody>
      </p:sp>
      <p:sp>
        <p:nvSpPr>
          <p:cNvPr id="2" name="Text Placeholder 1">
            <a:extLst>
              <a:ext uri="{FF2B5EF4-FFF2-40B4-BE49-F238E27FC236}">
                <a16:creationId xmlns:a16="http://schemas.microsoft.com/office/drawing/2014/main" id="{CD35161D-8749-8F72-168A-79BAE5AB11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499479-8815-8EE9-156A-4ABFEF039315}"/>
              </a:ext>
            </a:extLst>
          </p:cNvPr>
          <p:cNvSpPr>
            <a:spLocks noGrp="1"/>
          </p:cNvSpPr>
          <p:nvPr>
            <p:ph type="sldNum" sz="quarter" idx="12"/>
          </p:nvPr>
        </p:nvSpPr>
        <p:spPr/>
        <p:txBody>
          <a:bodyPr/>
          <a:lstStyle/>
          <a:p>
            <a:fld id="{21EF4C0E-91FA-4D94-8941-E22F3A83D5F1}" type="slidenum">
              <a:rPr lang="en-US" smtClean="0"/>
              <a:t>15</a:t>
            </a:fld>
            <a:endParaRPr lang="en-US"/>
          </a:p>
        </p:txBody>
      </p:sp>
    </p:spTree>
    <p:extLst>
      <p:ext uri="{BB962C8B-B14F-4D97-AF65-F5344CB8AC3E}">
        <p14:creationId xmlns:p14="http://schemas.microsoft.com/office/powerpoint/2010/main" val="4073000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229600" cy="592213"/>
          </a:xfrm>
        </p:spPr>
        <p:txBody>
          <a:bodyPr/>
          <a:lstStyle/>
          <a:p>
            <a:r>
              <a:rPr lang="en-US" dirty="0"/>
              <a:t>Vector Databases in AI - Video (3:21) </a:t>
            </a:r>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16</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574035" y="6679342"/>
            <a:ext cx="2477095" cy="215444"/>
          </a:xfrm>
          <a:prstGeom prst="rect">
            <a:avLst/>
          </a:prstGeom>
          <a:noFill/>
        </p:spPr>
        <p:txBody>
          <a:bodyPr wrap="square">
            <a:spAutoFit/>
          </a:bodyPr>
          <a:lstStyle/>
          <a:p>
            <a:r>
              <a:rPr lang="en-US" sz="800" dirty="0">
                <a:solidFill>
                  <a:schemeClr val="bg2">
                    <a:lumMod val="90000"/>
                  </a:schemeClr>
                </a:solidFill>
              </a:rPr>
              <a:t>https://www.youtube.com/watch?v=klTvEwg3oJ4</a:t>
            </a:r>
          </a:p>
        </p:txBody>
      </p:sp>
      <p:pic>
        <p:nvPicPr>
          <p:cNvPr id="3" name="Online Media 2" title="Vector databases are so hot right now. WTF are they?">
            <a:hlinkClick r:id="" action="ppaction://media"/>
            <a:extLst>
              <a:ext uri="{FF2B5EF4-FFF2-40B4-BE49-F238E27FC236}">
                <a16:creationId xmlns:a16="http://schemas.microsoft.com/office/drawing/2014/main" id="{147E8075-2DBD-AF7F-E3D4-CD4A1611FE8E}"/>
              </a:ext>
            </a:extLst>
          </p:cNvPr>
          <p:cNvPicPr>
            <a:picLocks noRot="1" noChangeAspect="1"/>
          </p:cNvPicPr>
          <p:nvPr>
            <a:videoFile r:link="rId1"/>
          </p:nvPr>
        </p:nvPicPr>
        <p:blipFill>
          <a:blip r:embed="rId3"/>
          <a:stretch>
            <a:fillRect/>
          </a:stretch>
        </p:blipFill>
        <p:spPr>
          <a:xfrm>
            <a:off x="578069" y="1579424"/>
            <a:ext cx="8229600" cy="4646295"/>
          </a:xfrm>
          <a:prstGeom prst="rect">
            <a:avLst/>
          </a:prstGeom>
        </p:spPr>
      </p:pic>
      <p:sp>
        <p:nvSpPr>
          <p:cNvPr id="4" name="Text 5">
            <a:extLst>
              <a:ext uri="{FF2B5EF4-FFF2-40B4-BE49-F238E27FC236}">
                <a16:creationId xmlns:a16="http://schemas.microsoft.com/office/drawing/2014/main" id="{9DD1B121-E646-46F2-BEF4-08E235B915D8}"/>
              </a:ext>
            </a:extLst>
          </p:cNvPr>
          <p:cNvSpPr/>
          <p:nvPr/>
        </p:nvSpPr>
        <p:spPr>
          <a:xfrm>
            <a:off x="582141" y="1139064"/>
            <a:ext cx="6157705" cy="365760"/>
          </a:xfrm>
          <a:prstGeom prst="rect">
            <a:avLst/>
          </a:prstGeom>
          <a:noFill/>
          <a:ln/>
        </p:spPr>
        <p:txBody>
          <a:bodyPr wrap="square" rtlCol="0" anchor="ctr"/>
          <a:lstStyle/>
          <a:p>
            <a:pPr marL="0" indent="0">
              <a:buNone/>
            </a:pPr>
            <a:r>
              <a:rPr lang="en-US" i="1" dirty="0">
                <a:solidFill>
                  <a:srgbClr val="E8F4F8"/>
                </a:solidFill>
                <a:latin typeface="Helvetica Neue Light"/>
                <a:ea typeface="Calibri" pitchFamily="34" charset="-122"/>
                <a:cs typeface="Calibri" pitchFamily="34" charset="-120"/>
              </a:rPr>
              <a:t>Fireship explains vector databases and their role in AI</a:t>
            </a:r>
          </a:p>
        </p:txBody>
      </p:sp>
    </p:spTree>
    <p:extLst>
      <p:ext uri="{BB962C8B-B14F-4D97-AF65-F5344CB8AC3E}">
        <p14:creationId xmlns:p14="http://schemas.microsoft.com/office/powerpoint/2010/main" val="164236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2ADDE76D-35ED-B310-CCD7-81F2A554A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9BBCC-DA92-C775-2F54-E833A9597B59}"/>
              </a:ext>
            </a:extLst>
          </p:cNvPr>
          <p:cNvSpPr>
            <a:spLocks noGrp="1"/>
          </p:cNvSpPr>
          <p:nvPr>
            <p:ph type="title"/>
          </p:nvPr>
        </p:nvSpPr>
        <p:spPr>
          <a:xfrm>
            <a:off x="457200" y="365126"/>
            <a:ext cx="8229600" cy="536622"/>
          </a:xfrm>
        </p:spPr>
        <p:txBody>
          <a:bodyPr/>
          <a:lstStyle/>
          <a:p>
            <a:r>
              <a:rPr lang="en-US" sz="3200" dirty="0"/>
              <a:t>What They Are &amp; Why AI Needs Them</a:t>
            </a:r>
          </a:p>
        </p:txBody>
      </p:sp>
      <p:sp>
        <p:nvSpPr>
          <p:cNvPr id="5" name="Slide Number Placeholder 4">
            <a:extLst>
              <a:ext uri="{FF2B5EF4-FFF2-40B4-BE49-F238E27FC236}">
                <a16:creationId xmlns:a16="http://schemas.microsoft.com/office/drawing/2014/main" id="{1E7CCF3F-2CC0-F103-6B34-9EF364652FA5}"/>
              </a:ext>
            </a:extLst>
          </p:cNvPr>
          <p:cNvSpPr>
            <a:spLocks noGrp="1"/>
          </p:cNvSpPr>
          <p:nvPr>
            <p:ph type="sldNum" sz="quarter" idx="12"/>
          </p:nvPr>
        </p:nvSpPr>
        <p:spPr/>
        <p:txBody>
          <a:bodyPr/>
          <a:lstStyle/>
          <a:p>
            <a:fld id="{21EF4C0E-91FA-4D94-8941-E22F3A83D5F1}" type="slidenum">
              <a:rPr lang="en-US" smtClean="0"/>
              <a:t>17</a:t>
            </a:fld>
            <a:endParaRPr lang="en-US"/>
          </a:p>
        </p:txBody>
      </p:sp>
      <p:sp>
        <p:nvSpPr>
          <p:cNvPr id="6" name="TextBox 5">
            <a:extLst>
              <a:ext uri="{FF2B5EF4-FFF2-40B4-BE49-F238E27FC236}">
                <a16:creationId xmlns:a16="http://schemas.microsoft.com/office/drawing/2014/main" id="{0A5E3C04-80FE-53EA-ACD4-389C6F78C9F9}"/>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050DB97D-D752-6732-BF02-EF423279FC81}"/>
              </a:ext>
            </a:extLst>
          </p:cNvPr>
          <p:cNvGrpSpPr/>
          <p:nvPr/>
        </p:nvGrpSpPr>
        <p:grpSpPr>
          <a:xfrm>
            <a:off x="457200" y="1234440"/>
            <a:ext cx="8365332" cy="5258434"/>
            <a:chOff x="457200" y="1234440"/>
            <a:chExt cx="8229600" cy="3200400"/>
          </a:xfrm>
        </p:grpSpPr>
        <p:sp>
          <p:nvSpPr>
            <p:cNvPr id="4" name="Shape 3">
              <a:extLst>
                <a:ext uri="{FF2B5EF4-FFF2-40B4-BE49-F238E27FC236}">
                  <a16:creationId xmlns:a16="http://schemas.microsoft.com/office/drawing/2014/main" id="{6532AD17-FA36-FB68-B7C8-5D795C375D2A}"/>
                </a:ext>
              </a:extLst>
            </p:cNvPr>
            <p:cNvSpPr/>
            <p:nvPr/>
          </p:nvSpPr>
          <p:spPr>
            <a:xfrm>
              <a:off x="457200" y="1234440"/>
              <a:ext cx="8229600" cy="10058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0BE26DAA-B32A-41BC-9CF7-0E4B7EF45A6C}"/>
                </a:ext>
              </a:extLst>
            </p:cNvPr>
            <p:cNvSpPr/>
            <p:nvPr/>
          </p:nvSpPr>
          <p:spPr>
            <a:xfrm>
              <a:off x="457200" y="1234440"/>
              <a:ext cx="54864" cy="100584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2E093B1F-673E-0FE5-75EC-4BD36FB9E0C4}"/>
                </a:ext>
              </a:extLst>
            </p:cNvPr>
            <p:cNvSpPr/>
            <p:nvPr/>
          </p:nvSpPr>
          <p:spPr>
            <a:xfrm>
              <a:off x="619035" y="1237696"/>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Core Definition:</a:t>
              </a:r>
              <a:endParaRPr lang="en-US" dirty="0">
                <a:latin typeface="Helvetica Neue Light"/>
              </a:endParaRPr>
            </a:p>
          </p:txBody>
        </p:sp>
        <p:sp>
          <p:nvSpPr>
            <p:cNvPr id="9" name="Text 6">
              <a:extLst>
                <a:ext uri="{FF2B5EF4-FFF2-40B4-BE49-F238E27FC236}">
                  <a16:creationId xmlns:a16="http://schemas.microsoft.com/office/drawing/2014/main" id="{2E996878-055F-BD11-7991-045F62404537}"/>
                </a:ext>
              </a:extLst>
            </p:cNvPr>
            <p:cNvSpPr/>
            <p:nvPr/>
          </p:nvSpPr>
          <p:spPr>
            <a:xfrm>
              <a:off x="685800" y="1554480"/>
              <a:ext cx="7772400" cy="5943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Vector databases are specialized storage systems designed to efficiently store, index, and search high-dimensional numerical representations (vectors) of data. In AI contexts, these vectors are "embeddings" — numerical representations of text, images, audio, or other data that capture semantic meaning.</a:t>
              </a:r>
              <a:endParaRPr lang="en-US" sz="1600" dirty="0">
                <a:latin typeface="Helvetica Neue Light"/>
              </a:endParaRPr>
            </a:p>
          </p:txBody>
        </p:sp>
        <p:sp>
          <p:nvSpPr>
            <p:cNvPr id="10" name="Text 7">
              <a:extLst>
                <a:ext uri="{FF2B5EF4-FFF2-40B4-BE49-F238E27FC236}">
                  <a16:creationId xmlns:a16="http://schemas.microsoft.com/office/drawing/2014/main" id="{758CBAB7-5940-608F-B6E7-AB93D24F3F4D}"/>
                </a:ext>
              </a:extLst>
            </p:cNvPr>
            <p:cNvSpPr/>
            <p:nvPr/>
          </p:nvSpPr>
          <p:spPr>
            <a:xfrm>
              <a:off x="457200" y="237744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The Key Insight:</a:t>
              </a:r>
              <a:endParaRPr lang="en-US" sz="2000" dirty="0">
                <a:latin typeface="Helvetica Neue Light"/>
              </a:endParaRPr>
            </a:p>
          </p:txBody>
        </p:sp>
        <p:sp>
          <p:nvSpPr>
            <p:cNvPr id="11" name="Text 8">
              <a:extLst>
                <a:ext uri="{FF2B5EF4-FFF2-40B4-BE49-F238E27FC236}">
                  <a16:creationId xmlns:a16="http://schemas.microsoft.com/office/drawing/2014/main" id="{6D7B8CA2-5491-D8F1-ACAD-9AB15F061908}"/>
                </a:ext>
              </a:extLst>
            </p:cNvPr>
            <p:cNvSpPr/>
            <p:nvPr/>
          </p:nvSpPr>
          <p:spPr>
            <a:xfrm>
              <a:off x="457200" y="2697480"/>
              <a:ext cx="8229600" cy="274320"/>
            </a:xfrm>
            <a:prstGeom prst="rect">
              <a:avLst/>
            </a:prstGeom>
            <a:noFill/>
            <a:ln/>
          </p:spPr>
          <p:txBody>
            <a:bodyPr wrap="square" rtlCol="0" anchor="ctr"/>
            <a:lstStyle/>
            <a:p>
              <a:pPr marL="0" indent="0">
                <a:buNone/>
              </a:pPr>
              <a:r>
                <a:rPr lang="en-US" i="1" dirty="0">
                  <a:solidFill>
                    <a:srgbClr val="1C7293"/>
                  </a:solidFill>
                  <a:latin typeface="Helvetica Neue Light"/>
                  <a:ea typeface="Calibri" pitchFamily="34" charset="-122"/>
                  <a:cs typeface="Calibri" pitchFamily="34" charset="-120"/>
                </a:rPr>
                <a:t>Similar things have similar vector representations</a:t>
              </a:r>
              <a:endParaRPr lang="en-US" dirty="0">
                <a:latin typeface="Helvetica Neue Light"/>
              </a:endParaRPr>
            </a:p>
          </p:txBody>
        </p:sp>
        <p:sp>
          <p:nvSpPr>
            <p:cNvPr id="12" name="Shape 9">
              <a:extLst>
                <a:ext uri="{FF2B5EF4-FFF2-40B4-BE49-F238E27FC236}">
                  <a16:creationId xmlns:a16="http://schemas.microsoft.com/office/drawing/2014/main" id="{DA0C394C-3566-2E40-D823-6D3853E3414B}"/>
                </a:ext>
              </a:extLst>
            </p:cNvPr>
            <p:cNvSpPr/>
            <p:nvPr/>
          </p:nvSpPr>
          <p:spPr>
            <a:xfrm>
              <a:off x="457200" y="3063240"/>
              <a:ext cx="3931920" cy="411480"/>
            </a:xfrm>
            <a:prstGeom prst="rect">
              <a:avLst/>
            </a:prstGeom>
            <a:solidFill>
              <a:srgbClr val="FFFFFF"/>
            </a:solidFill>
            <a:ln/>
          </p:spPr>
          <p:txBody>
            <a:bodyPr/>
            <a:lstStyle/>
            <a:p>
              <a:endParaRPr lang="en-US" sz="2800">
                <a:latin typeface="Helvetica Neue Light"/>
              </a:endParaRPr>
            </a:p>
          </p:txBody>
        </p:sp>
        <p:sp>
          <p:nvSpPr>
            <p:cNvPr id="13" name="Text 10">
              <a:extLst>
                <a:ext uri="{FF2B5EF4-FFF2-40B4-BE49-F238E27FC236}">
                  <a16:creationId xmlns:a16="http://schemas.microsoft.com/office/drawing/2014/main" id="{9AB40284-1DA7-95AF-33E4-AFFB54A79EAE}"/>
                </a:ext>
              </a:extLst>
            </p:cNvPr>
            <p:cNvSpPr/>
            <p:nvPr/>
          </p:nvSpPr>
          <p:spPr>
            <a:xfrm>
              <a:off x="548640" y="3108960"/>
              <a:ext cx="3749040" cy="3200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"Cat" and "kitten"</a:t>
              </a:r>
              <a:endParaRPr lang="en-US" dirty="0">
                <a:latin typeface="Helvetica Neue Light"/>
              </a:endParaRPr>
            </a:p>
          </p:txBody>
        </p:sp>
        <p:sp>
          <p:nvSpPr>
            <p:cNvPr id="14" name="Text 11">
              <a:extLst>
                <a:ext uri="{FF2B5EF4-FFF2-40B4-BE49-F238E27FC236}">
                  <a16:creationId xmlns:a16="http://schemas.microsoft.com/office/drawing/2014/main" id="{4F1BDE3D-7628-D5DF-9FC4-4CFBE50A78C6}"/>
                </a:ext>
              </a:extLst>
            </p:cNvPr>
            <p:cNvSpPr/>
            <p:nvPr/>
          </p:nvSpPr>
          <p:spPr>
            <a:xfrm>
              <a:off x="4480560" y="3063240"/>
              <a:ext cx="365760" cy="411480"/>
            </a:xfrm>
            <a:prstGeom prst="rect">
              <a:avLst/>
            </a:prstGeom>
            <a:noFill/>
            <a:ln/>
          </p:spPr>
          <p:txBody>
            <a:bodyPr wrap="square" rtlCol="0" anchor="ctr"/>
            <a:lstStyle/>
            <a:p>
              <a:pPr marL="0" indent="0" algn="ctr">
                <a:buNone/>
              </a:pPr>
              <a:r>
                <a:rPr lang="en-US" sz="2400" dirty="0">
                  <a:solidFill>
                    <a:srgbClr val="1C7293"/>
                  </a:solidFill>
                  <a:latin typeface="Helvetica Neue Light"/>
                </a:rPr>
                <a:t>→</a:t>
              </a:r>
              <a:endParaRPr lang="en-US" sz="2400" dirty="0">
                <a:latin typeface="Helvetica Neue Light"/>
              </a:endParaRPr>
            </a:p>
          </p:txBody>
        </p:sp>
        <p:sp>
          <p:nvSpPr>
            <p:cNvPr id="15" name="Shape 12">
              <a:extLst>
                <a:ext uri="{FF2B5EF4-FFF2-40B4-BE49-F238E27FC236}">
                  <a16:creationId xmlns:a16="http://schemas.microsoft.com/office/drawing/2014/main" id="{2C6351AC-21D5-78F8-4324-2676844A88F8}"/>
                </a:ext>
              </a:extLst>
            </p:cNvPr>
            <p:cNvSpPr/>
            <p:nvPr/>
          </p:nvSpPr>
          <p:spPr>
            <a:xfrm>
              <a:off x="4937760" y="3063240"/>
              <a:ext cx="3749040" cy="411480"/>
            </a:xfrm>
            <a:prstGeom prst="rect">
              <a:avLst/>
            </a:prstGeom>
            <a:solidFill>
              <a:srgbClr val="84B59F">
                <a:alpha val="70000"/>
              </a:srgbClr>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79A27C7B-9A3F-4D0C-463E-A608C1263B9C}"/>
                </a:ext>
              </a:extLst>
            </p:cNvPr>
            <p:cNvSpPr/>
            <p:nvPr/>
          </p:nvSpPr>
          <p:spPr>
            <a:xfrm>
              <a:off x="5029200" y="3108960"/>
              <a:ext cx="3566160" cy="3200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vectors close together in space</a:t>
              </a:r>
              <a:endParaRPr lang="en-US" dirty="0">
                <a:latin typeface="Helvetica Neue Light"/>
              </a:endParaRPr>
            </a:p>
          </p:txBody>
        </p:sp>
        <p:sp>
          <p:nvSpPr>
            <p:cNvPr id="17" name="Shape 14">
              <a:extLst>
                <a:ext uri="{FF2B5EF4-FFF2-40B4-BE49-F238E27FC236}">
                  <a16:creationId xmlns:a16="http://schemas.microsoft.com/office/drawing/2014/main" id="{E56A7FEF-32AD-16E8-F6AD-7CE10C08A0B7}"/>
                </a:ext>
              </a:extLst>
            </p:cNvPr>
            <p:cNvSpPr/>
            <p:nvPr/>
          </p:nvSpPr>
          <p:spPr>
            <a:xfrm>
              <a:off x="457200" y="3566160"/>
              <a:ext cx="3931920" cy="411480"/>
            </a:xfrm>
            <a:prstGeom prst="rect">
              <a:avLst/>
            </a:prstGeom>
            <a:solidFill>
              <a:srgbClr val="FFFFFF"/>
            </a:solidFill>
            <a:ln/>
          </p:spPr>
          <p:txBody>
            <a:bodyPr/>
            <a:lstStyle/>
            <a:p>
              <a:endParaRPr lang="en-US" sz="2800">
                <a:latin typeface="Helvetica Neue Light"/>
              </a:endParaRPr>
            </a:p>
          </p:txBody>
        </p:sp>
        <p:sp>
          <p:nvSpPr>
            <p:cNvPr id="18" name="Text 15">
              <a:extLst>
                <a:ext uri="{FF2B5EF4-FFF2-40B4-BE49-F238E27FC236}">
                  <a16:creationId xmlns:a16="http://schemas.microsoft.com/office/drawing/2014/main" id="{B96583D2-A2CC-4D73-0B40-F2B4D4F3E0A6}"/>
                </a:ext>
              </a:extLst>
            </p:cNvPr>
            <p:cNvSpPr/>
            <p:nvPr/>
          </p:nvSpPr>
          <p:spPr>
            <a:xfrm>
              <a:off x="548640" y="3611880"/>
              <a:ext cx="3749040" cy="3200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"Cat" and "airplane"</a:t>
              </a:r>
              <a:endParaRPr lang="en-US" dirty="0">
                <a:latin typeface="Helvetica Neue Light"/>
              </a:endParaRPr>
            </a:p>
          </p:txBody>
        </p:sp>
        <p:sp>
          <p:nvSpPr>
            <p:cNvPr id="19" name="Text 16">
              <a:extLst>
                <a:ext uri="{FF2B5EF4-FFF2-40B4-BE49-F238E27FC236}">
                  <a16:creationId xmlns:a16="http://schemas.microsoft.com/office/drawing/2014/main" id="{9068E741-3784-8E0D-485E-5F13AAC07258}"/>
                </a:ext>
              </a:extLst>
            </p:cNvPr>
            <p:cNvSpPr/>
            <p:nvPr/>
          </p:nvSpPr>
          <p:spPr>
            <a:xfrm>
              <a:off x="4480560" y="3566160"/>
              <a:ext cx="365760" cy="411480"/>
            </a:xfrm>
            <a:prstGeom prst="rect">
              <a:avLst/>
            </a:prstGeom>
            <a:noFill/>
            <a:ln/>
          </p:spPr>
          <p:txBody>
            <a:bodyPr wrap="square" rtlCol="0" anchor="ctr"/>
            <a:lstStyle/>
            <a:p>
              <a:pPr marL="0" indent="0" algn="ctr">
                <a:buNone/>
              </a:pPr>
              <a:r>
                <a:rPr lang="en-US" sz="2400" dirty="0">
                  <a:solidFill>
                    <a:srgbClr val="1C7293"/>
                  </a:solidFill>
                  <a:latin typeface="Helvetica Neue Light"/>
                </a:rPr>
                <a:t>→</a:t>
              </a:r>
              <a:endParaRPr lang="en-US" sz="2400" dirty="0">
                <a:latin typeface="Helvetica Neue Light"/>
              </a:endParaRPr>
            </a:p>
          </p:txBody>
        </p:sp>
        <p:sp>
          <p:nvSpPr>
            <p:cNvPr id="20" name="Shape 17">
              <a:extLst>
                <a:ext uri="{FF2B5EF4-FFF2-40B4-BE49-F238E27FC236}">
                  <a16:creationId xmlns:a16="http://schemas.microsoft.com/office/drawing/2014/main" id="{F21EA7C6-620B-A90B-CB6C-83E453E84816}"/>
                </a:ext>
              </a:extLst>
            </p:cNvPr>
            <p:cNvSpPr/>
            <p:nvPr/>
          </p:nvSpPr>
          <p:spPr>
            <a:xfrm>
              <a:off x="4937760" y="3566160"/>
              <a:ext cx="3749040" cy="411480"/>
            </a:xfrm>
            <a:prstGeom prst="rect">
              <a:avLst/>
            </a:prstGeom>
            <a:solidFill>
              <a:srgbClr val="E07A5F">
                <a:alpha val="70000"/>
              </a:srgbClr>
            </a:solidFill>
            <a:ln/>
          </p:spPr>
          <p:txBody>
            <a:bodyPr/>
            <a:lstStyle/>
            <a:p>
              <a:endParaRPr lang="en-US" sz="2800">
                <a:latin typeface="Helvetica Neue Light"/>
              </a:endParaRPr>
            </a:p>
          </p:txBody>
        </p:sp>
        <p:sp>
          <p:nvSpPr>
            <p:cNvPr id="21" name="Text 18">
              <a:extLst>
                <a:ext uri="{FF2B5EF4-FFF2-40B4-BE49-F238E27FC236}">
                  <a16:creationId xmlns:a16="http://schemas.microsoft.com/office/drawing/2014/main" id="{226BC32E-5586-A5DA-D07D-7EAD9E368E42}"/>
                </a:ext>
              </a:extLst>
            </p:cNvPr>
            <p:cNvSpPr/>
            <p:nvPr/>
          </p:nvSpPr>
          <p:spPr>
            <a:xfrm>
              <a:off x="5029200" y="3611880"/>
              <a:ext cx="3566160" cy="3200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vectors far apart</a:t>
              </a:r>
              <a:endParaRPr lang="en-US" dirty="0">
                <a:latin typeface="Helvetica Neue Light"/>
              </a:endParaRPr>
            </a:p>
          </p:txBody>
        </p:sp>
        <p:sp>
          <p:nvSpPr>
            <p:cNvPr id="22" name="Text 19">
              <a:extLst>
                <a:ext uri="{FF2B5EF4-FFF2-40B4-BE49-F238E27FC236}">
                  <a16:creationId xmlns:a16="http://schemas.microsoft.com/office/drawing/2014/main" id="{455DC4A5-5844-341C-E96E-244973832706}"/>
                </a:ext>
              </a:extLst>
            </p:cNvPr>
            <p:cNvSpPr/>
            <p:nvPr/>
          </p:nvSpPr>
          <p:spPr>
            <a:xfrm>
              <a:off x="457200" y="4114800"/>
              <a:ext cx="8229600" cy="320040"/>
            </a:xfrm>
            <a:prstGeom prst="rect">
              <a:avLst/>
            </a:prstGeom>
            <a:noFill/>
            <a:ln/>
          </p:spPr>
          <p:txBody>
            <a:bodyPr wrap="square" rtlCol="0" anchor="ctr"/>
            <a:lstStyle/>
            <a:p>
              <a:pPr marL="0" indent="0">
                <a:buNone/>
              </a:pPr>
              <a:r>
                <a:rPr lang="en-US" b="1" i="1" dirty="0">
                  <a:solidFill>
                    <a:srgbClr val="636E72"/>
                  </a:solidFill>
                  <a:latin typeface="Helvetica Neue Light"/>
                  <a:ea typeface="Calibri" pitchFamily="34" charset="-122"/>
                  <a:cs typeface="Calibri" pitchFamily="34" charset="-120"/>
                </a:rPr>
                <a:t>This works for any data type: text, images, code, audio</a:t>
              </a:r>
              <a:endParaRPr lang="en-US" b="1" dirty="0">
                <a:latin typeface="Helvetica Neue Light"/>
              </a:endParaRPr>
            </a:p>
          </p:txBody>
        </p:sp>
      </p:grpSp>
    </p:spTree>
    <p:extLst>
      <p:ext uri="{BB962C8B-B14F-4D97-AF65-F5344CB8AC3E}">
        <p14:creationId xmlns:p14="http://schemas.microsoft.com/office/powerpoint/2010/main" val="3694041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F9F0FB1-0F64-E45D-7376-B3B3A30B8B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08460-9BF9-A3FF-E727-8C6961BBD0E4}"/>
              </a:ext>
            </a:extLst>
          </p:cNvPr>
          <p:cNvSpPr>
            <a:spLocks noGrp="1"/>
          </p:cNvSpPr>
          <p:nvPr>
            <p:ph type="title"/>
          </p:nvPr>
        </p:nvSpPr>
        <p:spPr>
          <a:xfrm>
            <a:off x="457200" y="365126"/>
            <a:ext cx="8229600" cy="592213"/>
          </a:xfrm>
        </p:spPr>
        <p:txBody>
          <a:bodyPr/>
          <a:lstStyle/>
          <a:p>
            <a:r>
              <a:rPr lang="en-US" dirty="0"/>
              <a:t>Why Traditional Databases Fall Short</a:t>
            </a:r>
          </a:p>
        </p:txBody>
      </p:sp>
      <p:sp>
        <p:nvSpPr>
          <p:cNvPr id="5" name="Slide Number Placeholder 4">
            <a:extLst>
              <a:ext uri="{FF2B5EF4-FFF2-40B4-BE49-F238E27FC236}">
                <a16:creationId xmlns:a16="http://schemas.microsoft.com/office/drawing/2014/main" id="{7E87ECF4-4F0B-A2CE-0B99-9698067CE2BA}"/>
              </a:ext>
            </a:extLst>
          </p:cNvPr>
          <p:cNvSpPr>
            <a:spLocks noGrp="1"/>
          </p:cNvSpPr>
          <p:nvPr>
            <p:ph type="sldNum" sz="quarter" idx="12"/>
          </p:nvPr>
        </p:nvSpPr>
        <p:spPr/>
        <p:txBody>
          <a:bodyPr/>
          <a:lstStyle/>
          <a:p>
            <a:fld id="{21EF4C0E-91FA-4D94-8941-E22F3A83D5F1}" type="slidenum">
              <a:rPr lang="en-US" smtClean="0"/>
              <a:t>18</a:t>
            </a:fld>
            <a:endParaRPr lang="en-US"/>
          </a:p>
        </p:txBody>
      </p:sp>
      <p:sp>
        <p:nvSpPr>
          <p:cNvPr id="6" name="TextBox 5">
            <a:extLst>
              <a:ext uri="{FF2B5EF4-FFF2-40B4-BE49-F238E27FC236}">
                <a16:creationId xmlns:a16="http://schemas.microsoft.com/office/drawing/2014/main" id="{6823B95B-D59C-1F13-2F5A-7D925EE2076D}"/>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97363F7E-2CC0-785D-122A-947419E0E760}"/>
              </a:ext>
            </a:extLst>
          </p:cNvPr>
          <p:cNvGrpSpPr/>
          <p:nvPr/>
        </p:nvGrpSpPr>
        <p:grpSpPr>
          <a:xfrm>
            <a:off x="590764" y="1106500"/>
            <a:ext cx="8686800" cy="3722671"/>
            <a:chOff x="457200" y="1234440"/>
            <a:chExt cx="8229600" cy="3039609"/>
          </a:xfrm>
        </p:grpSpPr>
        <p:sp>
          <p:nvSpPr>
            <p:cNvPr id="4" name="Shape 3">
              <a:extLst>
                <a:ext uri="{FF2B5EF4-FFF2-40B4-BE49-F238E27FC236}">
                  <a16:creationId xmlns:a16="http://schemas.microsoft.com/office/drawing/2014/main" id="{0168E335-6128-012F-B63A-81D2A0468C0B}"/>
                </a:ext>
              </a:extLst>
            </p:cNvPr>
            <p:cNvSpPr/>
            <p:nvPr/>
          </p:nvSpPr>
          <p:spPr>
            <a:xfrm>
              <a:off x="457200" y="1234440"/>
              <a:ext cx="3931920" cy="11887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BC47A766-0193-4042-00C1-AB7438D187B2}"/>
                </a:ext>
              </a:extLst>
            </p:cNvPr>
            <p:cNvSpPr/>
            <p:nvPr/>
          </p:nvSpPr>
          <p:spPr>
            <a:xfrm>
              <a:off x="457200" y="1234440"/>
              <a:ext cx="54864" cy="1188720"/>
            </a:xfrm>
            <a:prstGeom prst="rect">
              <a:avLst/>
            </a:prstGeom>
            <a:solidFill>
              <a:srgbClr val="636E72"/>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54431323-83B4-F903-CEEC-C8D5A51D3B61}"/>
                </a:ext>
              </a:extLst>
            </p:cNvPr>
            <p:cNvSpPr/>
            <p:nvPr/>
          </p:nvSpPr>
          <p:spPr>
            <a:xfrm>
              <a:off x="685800" y="1278616"/>
              <a:ext cx="347472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SQL/NoSQL Databases</a:t>
              </a:r>
              <a:endParaRPr lang="en-US" dirty="0">
                <a:latin typeface="Helvetica Neue Light"/>
              </a:endParaRPr>
            </a:p>
          </p:txBody>
        </p:sp>
        <p:sp>
          <p:nvSpPr>
            <p:cNvPr id="9" name="Text 6">
              <a:extLst>
                <a:ext uri="{FF2B5EF4-FFF2-40B4-BE49-F238E27FC236}">
                  <a16:creationId xmlns:a16="http://schemas.microsoft.com/office/drawing/2014/main" id="{30520A0F-DDB1-6DA6-B630-0DB0D4FA0D76}"/>
                </a:ext>
              </a:extLst>
            </p:cNvPr>
            <p:cNvSpPr/>
            <p:nvPr/>
          </p:nvSpPr>
          <p:spPr>
            <a:xfrm>
              <a:off x="685800" y="1645920"/>
              <a:ext cx="3669632" cy="6858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Search by exact matches or predefined criteria</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"Find documents WHERE title = 'climate'"</a:t>
              </a:r>
              <a:endParaRPr lang="en-US" sz="1600" dirty="0">
                <a:latin typeface="Helvetica Neue Light"/>
              </a:endParaRPr>
            </a:p>
          </p:txBody>
        </p:sp>
        <p:sp>
          <p:nvSpPr>
            <p:cNvPr id="10" name="Shape 7">
              <a:extLst>
                <a:ext uri="{FF2B5EF4-FFF2-40B4-BE49-F238E27FC236}">
                  <a16:creationId xmlns:a16="http://schemas.microsoft.com/office/drawing/2014/main" id="{06DD16C8-C2C1-08E0-FB4A-41AEB2F471D9}"/>
                </a:ext>
              </a:extLst>
            </p:cNvPr>
            <p:cNvSpPr/>
            <p:nvPr/>
          </p:nvSpPr>
          <p:spPr>
            <a:xfrm>
              <a:off x="4754880" y="1234440"/>
              <a:ext cx="3931920" cy="11887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8B7839D6-603F-71BB-8A1B-796FAC5D8380}"/>
                </a:ext>
              </a:extLst>
            </p:cNvPr>
            <p:cNvSpPr/>
            <p:nvPr/>
          </p:nvSpPr>
          <p:spPr>
            <a:xfrm>
              <a:off x="4754880" y="1234440"/>
              <a:ext cx="54864" cy="1188720"/>
            </a:xfrm>
            <a:prstGeom prst="rect">
              <a:avLst/>
            </a:prstGeom>
            <a:solidFill>
              <a:srgbClr val="1C7293"/>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1F79F179-BD45-49A5-E59E-77FD99A25856}"/>
                </a:ext>
              </a:extLst>
            </p:cNvPr>
            <p:cNvSpPr/>
            <p:nvPr/>
          </p:nvSpPr>
          <p:spPr>
            <a:xfrm>
              <a:off x="4983480" y="1278616"/>
              <a:ext cx="347472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Vector Databases</a:t>
              </a:r>
              <a:endParaRPr lang="en-US" dirty="0">
                <a:latin typeface="Helvetica Neue Light"/>
              </a:endParaRPr>
            </a:p>
          </p:txBody>
        </p:sp>
        <p:sp>
          <p:nvSpPr>
            <p:cNvPr id="13" name="Text 10">
              <a:extLst>
                <a:ext uri="{FF2B5EF4-FFF2-40B4-BE49-F238E27FC236}">
                  <a16:creationId xmlns:a16="http://schemas.microsoft.com/office/drawing/2014/main" id="{C8941913-9ABD-72B3-286D-3CCDF283CC4B}"/>
                </a:ext>
              </a:extLst>
            </p:cNvPr>
            <p:cNvSpPr/>
            <p:nvPr/>
          </p:nvSpPr>
          <p:spPr>
            <a:xfrm>
              <a:off x="4983479" y="1645920"/>
              <a:ext cx="3625453" cy="6858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Search by meaning, context, similarity</a:t>
              </a: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"Find documents about climate change" (works even without exact phrase)</a:t>
              </a:r>
              <a:endParaRPr lang="en-US" sz="1600" dirty="0">
                <a:latin typeface="Helvetica Neue Light"/>
              </a:endParaRPr>
            </a:p>
          </p:txBody>
        </p:sp>
        <p:sp>
          <p:nvSpPr>
            <p:cNvPr id="14" name="Text 11">
              <a:extLst>
                <a:ext uri="{FF2B5EF4-FFF2-40B4-BE49-F238E27FC236}">
                  <a16:creationId xmlns:a16="http://schemas.microsoft.com/office/drawing/2014/main" id="{3E8A7E14-98A6-A4A1-A6EC-059EE360A3EC}"/>
                </a:ext>
              </a:extLst>
            </p:cNvPr>
            <p:cNvSpPr/>
            <p:nvPr/>
          </p:nvSpPr>
          <p:spPr>
            <a:xfrm>
              <a:off x="457200" y="260604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Core Capabilities:</a:t>
              </a:r>
              <a:endParaRPr lang="en-US" sz="2000" dirty="0">
                <a:latin typeface="Helvetica Neue Light"/>
              </a:endParaRPr>
            </a:p>
          </p:txBody>
        </p:sp>
        <p:sp>
          <p:nvSpPr>
            <p:cNvPr id="15" name="Shape 12">
              <a:extLst>
                <a:ext uri="{FF2B5EF4-FFF2-40B4-BE49-F238E27FC236}">
                  <a16:creationId xmlns:a16="http://schemas.microsoft.com/office/drawing/2014/main" id="{0CA9506B-CA2B-3701-E0E8-AC0DBB2BCA56}"/>
                </a:ext>
              </a:extLst>
            </p:cNvPr>
            <p:cNvSpPr/>
            <p:nvPr/>
          </p:nvSpPr>
          <p:spPr>
            <a:xfrm>
              <a:off x="457200" y="2977755"/>
              <a:ext cx="374736" cy="290453"/>
            </a:xfrm>
            <a:prstGeom prst="ellipse">
              <a:avLst/>
            </a:prstGeom>
            <a:solidFill>
              <a:srgbClr val="1C7293"/>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FC809A0A-5992-A397-3789-F85FA7A830D8}"/>
                </a:ext>
              </a:extLst>
            </p:cNvPr>
            <p:cNvSpPr/>
            <p:nvPr/>
          </p:nvSpPr>
          <p:spPr>
            <a:xfrm>
              <a:off x="914400" y="2948167"/>
              <a:ext cx="201168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Semantic Search:</a:t>
              </a:r>
              <a:endParaRPr lang="en-US" dirty="0">
                <a:latin typeface="Helvetica Neue Light"/>
              </a:endParaRPr>
            </a:p>
          </p:txBody>
        </p:sp>
        <p:sp>
          <p:nvSpPr>
            <p:cNvPr id="17" name="Text 14">
              <a:extLst>
                <a:ext uri="{FF2B5EF4-FFF2-40B4-BE49-F238E27FC236}">
                  <a16:creationId xmlns:a16="http://schemas.microsoft.com/office/drawing/2014/main" id="{A0F8BB33-2B56-0D33-BDFC-90148CB03558}"/>
                </a:ext>
              </a:extLst>
            </p:cNvPr>
            <p:cNvSpPr/>
            <p:nvPr/>
          </p:nvSpPr>
          <p:spPr>
            <a:xfrm>
              <a:off x="2926080" y="2948167"/>
              <a:ext cx="576072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Find similar items based on meaning, not keywords</a:t>
              </a:r>
              <a:endParaRPr lang="en-US" sz="1600" dirty="0">
                <a:latin typeface="Helvetica Neue Light"/>
              </a:endParaRPr>
            </a:p>
          </p:txBody>
        </p:sp>
        <p:sp>
          <p:nvSpPr>
            <p:cNvPr id="18" name="Shape 15">
              <a:extLst>
                <a:ext uri="{FF2B5EF4-FFF2-40B4-BE49-F238E27FC236}">
                  <a16:creationId xmlns:a16="http://schemas.microsoft.com/office/drawing/2014/main" id="{8D616C12-4FF5-9214-156A-FA0543FB7352}"/>
                </a:ext>
              </a:extLst>
            </p:cNvPr>
            <p:cNvSpPr/>
            <p:nvPr/>
          </p:nvSpPr>
          <p:spPr>
            <a:xfrm>
              <a:off x="457200" y="3480675"/>
              <a:ext cx="374736" cy="290453"/>
            </a:xfrm>
            <a:prstGeom prst="ellipse">
              <a:avLst/>
            </a:prstGeom>
            <a:solidFill>
              <a:srgbClr val="1C7293"/>
            </a:solidFill>
            <a:ln/>
          </p:spPr>
          <p:txBody>
            <a:bodyPr/>
            <a:lstStyle/>
            <a:p>
              <a:endParaRPr lang="en-US" sz="2800">
                <a:latin typeface="Helvetica Neue Light"/>
              </a:endParaRPr>
            </a:p>
          </p:txBody>
        </p:sp>
        <p:sp>
          <p:nvSpPr>
            <p:cNvPr id="19" name="Text 16">
              <a:extLst>
                <a:ext uri="{FF2B5EF4-FFF2-40B4-BE49-F238E27FC236}">
                  <a16:creationId xmlns:a16="http://schemas.microsoft.com/office/drawing/2014/main" id="{7102DF9D-4B9A-2B93-C11D-39EAEE806A9B}"/>
                </a:ext>
              </a:extLst>
            </p:cNvPr>
            <p:cNvSpPr/>
            <p:nvPr/>
          </p:nvSpPr>
          <p:spPr>
            <a:xfrm>
              <a:off x="914400" y="3451087"/>
              <a:ext cx="201168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Nearest Neighbor:</a:t>
              </a:r>
              <a:endParaRPr lang="en-US" dirty="0">
                <a:latin typeface="Helvetica Neue Light"/>
              </a:endParaRPr>
            </a:p>
          </p:txBody>
        </p:sp>
        <p:sp>
          <p:nvSpPr>
            <p:cNvPr id="20" name="Text 17">
              <a:extLst>
                <a:ext uri="{FF2B5EF4-FFF2-40B4-BE49-F238E27FC236}">
                  <a16:creationId xmlns:a16="http://schemas.microsoft.com/office/drawing/2014/main" id="{8C864369-BA99-0F71-EA56-37C89349EF4C}"/>
                </a:ext>
              </a:extLst>
            </p:cNvPr>
            <p:cNvSpPr/>
            <p:nvPr/>
          </p:nvSpPr>
          <p:spPr>
            <a:xfrm>
              <a:off x="2926080" y="3451087"/>
              <a:ext cx="576072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Quickly find the most similar vectors among millions</a:t>
              </a:r>
              <a:endParaRPr lang="en-US" sz="1600" dirty="0">
                <a:latin typeface="Helvetica Neue Light"/>
              </a:endParaRPr>
            </a:p>
          </p:txBody>
        </p:sp>
        <p:sp>
          <p:nvSpPr>
            <p:cNvPr id="21" name="Shape 18">
              <a:extLst>
                <a:ext uri="{FF2B5EF4-FFF2-40B4-BE49-F238E27FC236}">
                  <a16:creationId xmlns:a16="http://schemas.microsoft.com/office/drawing/2014/main" id="{24C13C2B-BC61-62D4-5D2A-F64FDDCD5879}"/>
                </a:ext>
              </a:extLst>
            </p:cNvPr>
            <p:cNvSpPr/>
            <p:nvPr/>
          </p:nvSpPr>
          <p:spPr>
            <a:xfrm>
              <a:off x="457200" y="3983594"/>
              <a:ext cx="374736" cy="290453"/>
            </a:xfrm>
            <a:prstGeom prst="ellipse">
              <a:avLst/>
            </a:prstGeom>
            <a:solidFill>
              <a:srgbClr val="1C7293"/>
            </a:solidFill>
            <a:ln/>
          </p:spPr>
          <p:txBody>
            <a:bodyPr/>
            <a:lstStyle/>
            <a:p>
              <a:endParaRPr lang="en-US" sz="2800">
                <a:latin typeface="Helvetica Neue Light"/>
              </a:endParaRPr>
            </a:p>
          </p:txBody>
        </p:sp>
        <p:sp>
          <p:nvSpPr>
            <p:cNvPr id="22" name="Text 19">
              <a:extLst>
                <a:ext uri="{FF2B5EF4-FFF2-40B4-BE49-F238E27FC236}">
                  <a16:creationId xmlns:a16="http://schemas.microsoft.com/office/drawing/2014/main" id="{F2BEB559-062A-941D-D432-3796D34FAF8C}"/>
                </a:ext>
              </a:extLst>
            </p:cNvPr>
            <p:cNvSpPr/>
            <p:nvPr/>
          </p:nvSpPr>
          <p:spPr>
            <a:xfrm>
              <a:off x="914400" y="3954009"/>
              <a:ext cx="201168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Hybrid Search:</a:t>
              </a:r>
              <a:endParaRPr lang="en-US" dirty="0">
                <a:latin typeface="Helvetica Neue Light"/>
              </a:endParaRPr>
            </a:p>
          </p:txBody>
        </p:sp>
        <p:sp>
          <p:nvSpPr>
            <p:cNvPr id="23" name="Text 20">
              <a:extLst>
                <a:ext uri="{FF2B5EF4-FFF2-40B4-BE49-F238E27FC236}">
                  <a16:creationId xmlns:a16="http://schemas.microsoft.com/office/drawing/2014/main" id="{09D37C76-360D-D408-88A4-C7C7A8EA1223}"/>
                </a:ext>
              </a:extLst>
            </p:cNvPr>
            <p:cNvSpPr/>
            <p:nvPr/>
          </p:nvSpPr>
          <p:spPr>
            <a:xfrm>
              <a:off x="2926080" y="3954009"/>
              <a:ext cx="576072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Combine vector similarity with traditional filters (date, tags)</a:t>
              </a:r>
              <a:endParaRPr lang="en-US" sz="1600" dirty="0">
                <a:latin typeface="Helvetica Neue Light"/>
              </a:endParaRPr>
            </a:p>
          </p:txBody>
        </p:sp>
      </p:grpSp>
      <p:sp>
        <p:nvSpPr>
          <p:cNvPr id="24" name="TextBox 23">
            <a:extLst>
              <a:ext uri="{FF2B5EF4-FFF2-40B4-BE49-F238E27FC236}">
                <a16:creationId xmlns:a16="http://schemas.microsoft.com/office/drawing/2014/main" id="{B158625A-A448-D7A2-AD2B-7360D65BC327}"/>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https://share.google/images/J95G3xrZDLQGXeJwk</a:t>
            </a:r>
          </a:p>
        </p:txBody>
      </p:sp>
      <p:pic>
        <p:nvPicPr>
          <p:cNvPr id="25" name="Picture 2" descr="Understanding AI Similarity Search | by Kane Hooper | Artificial  Intelligence in Plain English">
            <a:extLst>
              <a:ext uri="{FF2B5EF4-FFF2-40B4-BE49-F238E27FC236}">
                <a16:creationId xmlns:a16="http://schemas.microsoft.com/office/drawing/2014/main" id="{9ACF704C-8B47-44E7-32CC-0DE0893DE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319" y="4923145"/>
            <a:ext cx="6542432" cy="1934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979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4ED183A4-D2BB-5E97-11A8-133100BD1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AC9EA-E430-8DBC-27FF-2083BA832DA2}"/>
              </a:ext>
            </a:extLst>
          </p:cNvPr>
          <p:cNvSpPr>
            <a:spLocks noGrp="1"/>
          </p:cNvSpPr>
          <p:nvPr>
            <p:ph type="title"/>
          </p:nvPr>
        </p:nvSpPr>
        <p:spPr>
          <a:xfrm>
            <a:off x="457200" y="365126"/>
            <a:ext cx="8229600" cy="592213"/>
          </a:xfrm>
        </p:spPr>
        <p:txBody>
          <a:bodyPr/>
          <a:lstStyle/>
          <a:p>
            <a:r>
              <a:rPr lang="en-US" dirty="0"/>
              <a:t>Applications &amp; Challenges</a:t>
            </a:r>
          </a:p>
        </p:txBody>
      </p:sp>
      <p:sp>
        <p:nvSpPr>
          <p:cNvPr id="5" name="Slide Number Placeholder 4">
            <a:extLst>
              <a:ext uri="{FF2B5EF4-FFF2-40B4-BE49-F238E27FC236}">
                <a16:creationId xmlns:a16="http://schemas.microsoft.com/office/drawing/2014/main" id="{6B4CCE9F-02CC-F961-24F3-34CCF5C2D44D}"/>
              </a:ext>
            </a:extLst>
          </p:cNvPr>
          <p:cNvSpPr>
            <a:spLocks noGrp="1"/>
          </p:cNvSpPr>
          <p:nvPr>
            <p:ph type="sldNum" sz="quarter" idx="12"/>
          </p:nvPr>
        </p:nvSpPr>
        <p:spPr/>
        <p:txBody>
          <a:bodyPr/>
          <a:lstStyle/>
          <a:p>
            <a:fld id="{21EF4C0E-91FA-4D94-8941-E22F3A83D5F1}" type="slidenum">
              <a:rPr lang="en-US" smtClean="0"/>
              <a:t>19</a:t>
            </a:fld>
            <a:endParaRPr lang="en-US"/>
          </a:p>
        </p:txBody>
      </p:sp>
      <p:grpSp>
        <p:nvGrpSpPr>
          <p:cNvPr id="3" name="Group 2">
            <a:extLst>
              <a:ext uri="{FF2B5EF4-FFF2-40B4-BE49-F238E27FC236}">
                <a16:creationId xmlns:a16="http://schemas.microsoft.com/office/drawing/2014/main" id="{AD3B27A1-9AE9-F283-3604-A265A09DFCF2}"/>
              </a:ext>
            </a:extLst>
          </p:cNvPr>
          <p:cNvGrpSpPr/>
          <p:nvPr/>
        </p:nvGrpSpPr>
        <p:grpSpPr>
          <a:xfrm>
            <a:off x="457200" y="1188719"/>
            <a:ext cx="8229600" cy="5099064"/>
            <a:chOff x="457200" y="1188720"/>
            <a:chExt cx="8229600" cy="2376004"/>
          </a:xfrm>
        </p:grpSpPr>
        <p:sp>
          <p:nvSpPr>
            <p:cNvPr id="4" name="Shape 3">
              <a:extLst>
                <a:ext uri="{FF2B5EF4-FFF2-40B4-BE49-F238E27FC236}">
                  <a16:creationId xmlns:a16="http://schemas.microsoft.com/office/drawing/2014/main" id="{78845DA7-56E4-93EE-D95A-73B4A5D15B8E}"/>
                </a:ext>
              </a:extLst>
            </p:cNvPr>
            <p:cNvSpPr/>
            <p:nvPr/>
          </p:nvSpPr>
          <p:spPr>
            <a:xfrm>
              <a:off x="457200" y="1188720"/>
              <a:ext cx="4023360" cy="2376004"/>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7" name="Shape 4">
              <a:extLst>
                <a:ext uri="{FF2B5EF4-FFF2-40B4-BE49-F238E27FC236}">
                  <a16:creationId xmlns:a16="http://schemas.microsoft.com/office/drawing/2014/main" id="{CBB3F419-8F3D-F94B-F483-253195368EE1}"/>
                </a:ext>
              </a:extLst>
            </p:cNvPr>
            <p:cNvSpPr/>
            <p:nvPr/>
          </p:nvSpPr>
          <p:spPr>
            <a:xfrm>
              <a:off x="457200" y="1188720"/>
              <a:ext cx="54864" cy="2103120"/>
            </a:xfrm>
            <a:prstGeom prst="rect">
              <a:avLst/>
            </a:prstGeom>
            <a:solidFill>
              <a:srgbClr val="1C7293"/>
            </a:solidFill>
            <a:ln/>
          </p:spPr>
          <p:txBody>
            <a:bodyPr/>
            <a:lstStyle/>
            <a:p>
              <a:endParaRPr lang="en-US" sz="3600">
                <a:latin typeface="Helvetica Neue Light"/>
              </a:endParaRPr>
            </a:p>
          </p:txBody>
        </p:sp>
        <p:sp>
          <p:nvSpPr>
            <p:cNvPr id="8" name="Text 5">
              <a:extLst>
                <a:ext uri="{FF2B5EF4-FFF2-40B4-BE49-F238E27FC236}">
                  <a16:creationId xmlns:a16="http://schemas.microsoft.com/office/drawing/2014/main" id="{620BA21B-7AB8-F54D-BBFE-56C357510AFE}"/>
                </a:ext>
              </a:extLst>
            </p:cNvPr>
            <p:cNvSpPr/>
            <p:nvPr/>
          </p:nvSpPr>
          <p:spPr>
            <a:xfrm>
              <a:off x="685800" y="1235876"/>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Current Applications in AI</a:t>
              </a:r>
              <a:endParaRPr lang="en-US" sz="2000" dirty="0">
                <a:latin typeface="Helvetica Neue Light"/>
              </a:endParaRPr>
            </a:p>
          </p:txBody>
        </p:sp>
        <p:sp>
          <p:nvSpPr>
            <p:cNvPr id="9" name="Text 6">
              <a:extLst>
                <a:ext uri="{FF2B5EF4-FFF2-40B4-BE49-F238E27FC236}">
                  <a16:creationId xmlns:a16="http://schemas.microsoft.com/office/drawing/2014/main" id="{F8B6ED18-D9AD-60CD-BF28-D5B9287B7F77}"/>
                </a:ext>
              </a:extLst>
            </p:cNvPr>
            <p:cNvSpPr/>
            <p:nvPr/>
          </p:nvSpPr>
          <p:spPr>
            <a:xfrm>
              <a:off x="685800" y="1600200"/>
              <a:ext cx="3657600" cy="1600200"/>
            </a:xfrm>
            <a:prstGeom prst="rect">
              <a:avLst/>
            </a:prstGeom>
            <a:noFill/>
            <a:ln/>
          </p:spPr>
          <p:txBody>
            <a:bodyPr wrap="square" rtlCol="0" anchor="ctr"/>
            <a:lstStyle/>
            <a:p>
              <a:r>
                <a:rPr lang="en-US" sz="1600" b="1" dirty="0">
                  <a:solidFill>
                    <a:srgbClr val="2D3436"/>
                  </a:solidFill>
                  <a:latin typeface="Helvetica Neue Light"/>
                  <a:ea typeface="Calibri" pitchFamily="34" charset="-122"/>
                  <a:cs typeface="Calibri" pitchFamily="34" charset="-120"/>
                </a:rPr>
                <a:t>RAG: </a:t>
              </a:r>
              <a:r>
                <a:rPr lang="en-US" sz="1600" dirty="0">
                  <a:solidFill>
                    <a:srgbClr val="2D3436"/>
                  </a:solidFill>
                  <a:latin typeface="Helvetica Neue Light"/>
                  <a:ea typeface="Calibri" pitchFamily="34" charset="-122"/>
                  <a:cs typeface="Calibri" pitchFamily="34" charset="-120"/>
                </a:rPr>
                <a:t>LLMs accessing external knowledge to reduce hallucinations</a:t>
              </a:r>
            </a:p>
            <a:p>
              <a:endParaRPr lang="en-US" sz="1600" dirty="0">
                <a:latin typeface="Helvetica Neue Light"/>
              </a:endParaRPr>
            </a:p>
            <a:p>
              <a:r>
                <a:rPr lang="en-US" sz="1600" b="1" dirty="0">
                  <a:solidFill>
                    <a:srgbClr val="2D3436"/>
                  </a:solidFill>
                  <a:latin typeface="Helvetica Neue Light"/>
                  <a:ea typeface="Calibri" pitchFamily="34" charset="-122"/>
                  <a:cs typeface="Calibri" pitchFamily="34" charset="-120"/>
                </a:rPr>
                <a:t>Semantic Memory: </a:t>
              </a:r>
              <a:r>
                <a:rPr lang="en-US" sz="1600" dirty="0">
                  <a:solidFill>
                    <a:srgbClr val="2D3436"/>
                  </a:solidFill>
                  <a:latin typeface="Helvetica Neue Light"/>
                  <a:ea typeface="Calibri" pitchFamily="34" charset="-122"/>
                  <a:cs typeface="Calibri" pitchFamily="34" charset="-120"/>
                </a:rPr>
                <a:t>Storing/retrieving past interactions for AI agents</a:t>
              </a:r>
            </a:p>
            <a:p>
              <a:endParaRPr lang="en-US" sz="1600" dirty="0">
                <a:latin typeface="Helvetica Neue Light"/>
              </a:endParaRPr>
            </a:p>
            <a:p>
              <a:r>
                <a:rPr lang="en-US" sz="1600" b="1" dirty="0">
                  <a:solidFill>
                    <a:srgbClr val="2D3436"/>
                  </a:solidFill>
                  <a:latin typeface="Helvetica Neue Light"/>
                  <a:ea typeface="Calibri" pitchFamily="34" charset="-122"/>
                  <a:cs typeface="Calibri" pitchFamily="34" charset="-120"/>
                </a:rPr>
                <a:t>Multimodal Search: </a:t>
              </a:r>
              <a:r>
                <a:rPr lang="en-US" sz="1600" dirty="0">
                  <a:solidFill>
                    <a:srgbClr val="2D3436"/>
                  </a:solidFill>
                  <a:latin typeface="Helvetica Neue Light"/>
                  <a:ea typeface="Calibri" pitchFamily="34" charset="-122"/>
                  <a:cs typeface="Calibri" pitchFamily="34" charset="-120"/>
                </a:rPr>
                <a:t>Finding images from text descriptions</a:t>
              </a:r>
            </a:p>
            <a:p>
              <a:endParaRPr lang="en-US" sz="1600" dirty="0">
                <a:latin typeface="Helvetica Neue Light"/>
              </a:endParaRPr>
            </a:p>
            <a:p>
              <a:r>
                <a:rPr lang="en-US" sz="1600" b="1" dirty="0">
                  <a:solidFill>
                    <a:srgbClr val="2D3436"/>
                  </a:solidFill>
                  <a:latin typeface="Helvetica Neue Light"/>
                  <a:ea typeface="Calibri" pitchFamily="34" charset="-122"/>
                  <a:cs typeface="Calibri" pitchFamily="34" charset="-120"/>
                </a:rPr>
                <a:t>Personalization: </a:t>
              </a:r>
              <a:r>
                <a:rPr lang="en-US" sz="1600" dirty="0">
                  <a:solidFill>
                    <a:srgbClr val="2D3436"/>
                  </a:solidFill>
                  <a:latin typeface="Helvetica Neue Light"/>
                  <a:ea typeface="Calibri" pitchFamily="34" charset="-122"/>
                  <a:cs typeface="Calibri" pitchFamily="34" charset="-120"/>
                </a:rPr>
                <a:t>Netflix/Spotify recommendations</a:t>
              </a:r>
            </a:p>
            <a:p>
              <a:endParaRPr lang="en-US" sz="1600" dirty="0">
                <a:latin typeface="Helvetica Neue Light"/>
              </a:endParaRPr>
            </a:p>
            <a:p>
              <a:r>
                <a:rPr lang="en-US" sz="1600" b="1" dirty="0">
                  <a:solidFill>
                    <a:srgbClr val="2D3436"/>
                  </a:solidFill>
                  <a:latin typeface="Helvetica Neue Light"/>
                  <a:ea typeface="Calibri" pitchFamily="34" charset="-122"/>
                  <a:cs typeface="Calibri" pitchFamily="34" charset="-120"/>
                </a:rPr>
                <a:t>Enterprise AI: </a:t>
              </a:r>
              <a:r>
                <a:rPr lang="en-US" sz="1600" dirty="0">
                  <a:solidFill>
                    <a:srgbClr val="2D3436"/>
                  </a:solidFill>
                  <a:latin typeface="Helvetica Neue Light"/>
                  <a:ea typeface="Calibri" pitchFamily="34" charset="-122"/>
                  <a:cs typeface="Calibri" pitchFamily="34" charset="-120"/>
                </a:rPr>
                <a:t>Searching internal docs by meaning</a:t>
              </a:r>
              <a:endParaRPr lang="en-US" sz="1600" dirty="0">
                <a:latin typeface="Helvetica Neue Light"/>
              </a:endParaRPr>
            </a:p>
          </p:txBody>
        </p:sp>
        <p:sp>
          <p:nvSpPr>
            <p:cNvPr id="10" name="Shape 7">
              <a:extLst>
                <a:ext uri="{FF2B5EF4-FFF2-40B4-BE49-F238E27FC236}">
                  <a16:creationId xmlns:a16="http://schemas.microsoft.com/office/drawing/2014/main" id="{83FF9E60-23A2-CD8B-FBF3-8F89DD217336}"/>
                </a:ext>
              </a:extLst>
            </p:cNvPr>
            <p:cNvSpPr/>
            <p:nvPr/>
          </p:nvSpPr>
          <p:spPr>
            <a:xfrm>
              <a:off x="4663440" y="1188720"/>
              <a:ext cx="4023360" cy="2376004"/>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11" name="Shape 8">
              <a:extLst>
                <a:ext uri="{FF2B5EF4-FFF2-40B4-BE49-F238E27FC236}">
                  <a16:creationId xmlns:a16="http://schemas.microsoft.com/office/drawing/2014/main" id="{E643B18F-4902-4EF8-7A2A-5C743E7E729B}"/>
                </a:ext>
              </a:extLst>
            </p:cNvPr>
            <p:cNvSpPr/>
            <p:nvPr/>
          </p:nvSpPr>
          <p:spPr>
            <a:xfrm>
              <a:off x="4663440" y="1188720"/>
              <a:ext cx="54864" cy="2103120"/>
            </a:xfrm>
            <a:prstGeom prst="rect">
              <a:avLst/>
            </a:prstGeom>
            <a:solidFill>
              <a:srgbClr val="E07A5F"/>
            </a:solidFill>
            <a:ln/>
          </p:spPr>
          <p:txBody>
            <a:bodyPr/>
            <a:lstStyle/>
            <a:p>
              <a:endParaRPr lang="en-US" sz="3600">
                <a:latin typeface="Helvetica Neue Light"/>
              </a:endParaRPr>
            </a:p>
          </p:txBody>
        </p:sp>
        <p:sp>
          <p:nvSpPr>
            <p:cNvPr id="12" name="Text 9">
              <a:extLst>
                <a:ext uri="{FF2B5EF4-FFF2-40B4-BE49-F238E27FC236}">
                  <a16:creationId xmlns:a16="http://schemas.microsoft.com/office/drawing/2014/main" id="{3B8F06EE-E6C0-7164-0371-70C718703913}"/>
                </a:ext>
              </a:extLst>
            </p:cNvPr>
            <p:cNvSpPr/>
            <p:nvPr/>
          </p:nvSpPr>
          <p:spPr>
            <a:xfrm>
              <a:off x="4892040" y="1235876"/>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Critical Problems &amp; Limitations</a:t>
              </a:r>
              <a:endParaRPr lang="en-US" sz="2000" dirty="0">
                <a:latin typeface="Helvetica Neue Light"/>
              </a:endParaRPr>
            </a:p>
          </p:txBody>
        </p:sp>
        <p:sp>
          <p:nvSpPr>
            <p:cNvPr id="13" name="Text 10">
              <a:extLst>
                <a:ext uri="{FF2B5EF4-FFF2-40B4-BE49-F238E27FC236}">
                  <a16:creationId xmlns:a16="http://schemas.microsoft.com/office/drawing/2014/main" id="{A8FE1291-597C-EC3E-5C87-F0E3464D62BB}"/>
                </a:ext>
              </a:extLst>
            </p:cNvPr>
            <p:cNvSpPr/>
            <p:nvPr/>
          </p:nvSpPr>
          <p:spPr>
            <a:xfrm>
              <a:off x="4892040" y="1560463"/>
              <a:ext cx="3657600" cy="1799456"/>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Curse of Dimensionality: </a:t>
              </a:r>
              <a:r>
                <a:rPr lang="en-US" sz="1600" dirty="0">
                  <a:solidFill>
                    <a:srgbClr val="2D3436"/>
                  </a:solidFill>
                  <a:latin typeface="Helvetica Neue Light"/>
                  <a:ea typeface="Calibri" pitchFamily="34" charset="-122"/>
                  <a:cs typeface="Calibri" pitchFamily="34" charset="-120"/>
                </a:rPr>
                <a:t>Performance degrades as dimensions increase</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Storage &amp; Compute: </a:t>
              </a:r>
              <a:r>
                <a:rPr lang="en-US" sz="1600" dirty="0">
                  <a:solidFill>
                    <a:srgbClr val="2D3436"/>
                  </a:solidFill>
                  <a:latin typeface="Helvetica Neue Light"/>
                  <a:ea typeface="Calibri" pitchFamily="34" charset="-122"/>
                  <a:cs typeface="Calibri" pitchFamily="34" charset="-120"/>
                </a:rPr>
                <a:t>Vectors are large; similarity calculations expensive</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Embedding Quality: </a:t>
              </a:r>
              <a:r>
                <a:rPr lang="en-US" sz="1600" dirty="0">
                  <a:solidFill>
                    <a:srgbClr val="2D3436"/>
                  </a:solidFill>
                  <a:latin typeface="Helvetica Neue Light"/>
                  <a:ea typeface="Calibri" pitchFamily="34" charset="-122"/>
                  <a:cs typeface="Calibri" pitchFamily="34" charset="-120"/>
                </a:rPr>
                <a:t>Garbage in, garbage out</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Update Complexity: </a:t>
              </a:r>
              <a:r>
                <a:rPr lang="en-US" sz="1600" dirty="0">
                  <a:solidFill>
                    <a:srgbClr val="2D3436"/>
                  </a:solidFill>
                  <a:latin typeface="Helvetica Neue Light"/>
                  <a:ea typeface="Calibri" pitchFamily="34" charset="-122"/>
                  <a:cs typeface="Calibri" pitchFamily="34" charset="-120"/>
                </a:rPr>
                <a:t>Changing embedding models = re-index everything</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Approximate vs Exact: </a:t>
              </a:r>
              <a:r>
                <a:rPr lang="en-US" sz="1600" dirty="0">
                  <a:solidFill>
                    <a:srgbClr val="2D3436"/>
                  </a:solidFill>
                  <a:latin typeface="Helvetica Neue Light"/>
                  <a:ea typeface="Calibri" pitchFamily="34" charset="-122"/>
                  <a:cs typeface="Calibri" pitchFamily="34" charset="-120"/>
                </a:rPr>
                <a:t>Fast search trades accuracy</a:t>
              </a:r>
              <a:endParaRPr lang="en-US" sz="1600" dirty="0">
                <a:latin typeface="Helvetica Neue Light"/>
              </a:endParaRPr>
            </a:p>
          </p:txBody>
        </p:sp>
      </p:grpSp>
    </p:spTree>
    <p:extLst>
      <p:ext uri="{BB962C8B-B14F-4D97-AF65-F5344CB8AC3E}">
        <p14:creationId xmlns:p14="http://schemas.microsoft.com/office/powerpoint/2010/main" val="461857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2FB4F-FFD6-9F35-AE38-2DEA89B302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A340537-D1C6-EB85-6814-9705CAD908D3}"/>
              </a:ext>
            </a:extLst>
          </p:cNvPr>
          <p:cNvSpPr>
            <a:spLocks noGrp="1"/>
          </p:cNvSpPr>
          <p:nvPr>
            <p:ph type="title"/>
          </p:nvPr>
        </p:nvSpPr>
        <p:spPr>
          <a:xfrm>
            <a:off x="623887" y="3028466"/>
            <a:ext cx="8520113" cy="1534010"/>
          </a:xfrm>
        </p:spPr>
        <p:txBody>
          <a:bodyPr/>
          <a:lstStyle/>
          <a:p>
            <a:r>
              <a:rPr lang="en-US" sz="3200" i="1" dirty="0"/>
              <a:t>Part 4: </a:t>
            </a:r>
            <a:br>
              <a:rPr lang="en-US" sz="3200" dirty="0"/>
            </a:br>
            <a:r>
              <a:rPr lang="en-US" sz="3200" dirty="0"/>
              <a:t>	</a:t>
            </a:r>
            <a:r>
              <a:rPr lang="en-US" sz="3600" dirty="0"/>
              <a:t>RAG (Retrieval-Augmented Generation)</a:t>
            </a:r>
            <a:endParaRPr lang="en-US" sz="3200" dirty="0"/>
          </a:p>
        </p:txBody>
      </p:sp>
      <p:sp>
        <p:nvSpPr>
          <p:cNvPr id="2" name="Text Placeholder 1">
            <a:extLst>
              <a:ext uri="{FF2B5EF4-FFF2-40B4-BE49-F238E27FC236}">
                <a16:creationId xmlns:a16="http://schemas.microsoft.com/office/drawing/2014/main" id="{DA2BFAF9-7EA3-6299-43EA-3D626D94F4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CB0B02-8784-885E-BD71-24E4A4650C08}"/>
              </a:ext>
            </a:extLst>
          </p:cNvPr>
          <p:cNvSpPr>
            <a:spLocks noGrp="1"/>
          </p:cNvSpPr>
          <p:nvPr>
            <p:ph type="sldNum" sz="quarter" idx="12"/>
          </p:nvPr>
        </p:nvSpPr>
        <p:spPr/>
        <p:txBody>
          <a:bodyPr/>
          <a:lstStyle/>
          <a:p>
            <a:fld id="{21EF4C0E-91FA-4D94-8941-E22F3A83D5F1}" type="slidenum">
              <a:rPr lang="en-US" smtClean="0"/>
              <a:t>20</a:t>
            </a:fld>
            <a:endParaRPr lang="en-US"/>
          </a:p>
        </p:txBody>
      </p:sp>
    </p:spTree>
    <p:extLst>
      <p:ext uri="{BB962C8B-B14F-4D97-AF65-F5344CB8AC3E}">
        <p14:creationId xmlns:p14="http://schemas.microsoft.com/office/powerpoint/2010/main" val="616105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593930" cy="481094"/>
          </a:xfrm>
        </p:spPr>
        <p:txBody>
          <a:bodyPr/>
          <a:lstStyle/>
          <a:p>
            <a:r>
              <a:rPr lang="en-US" sz="2800" dirty="0"/>
              <a:t>RAG (Retrieval-Augmented Generation) - Video (2:56) </a:t>
            </a:r>
            <a:endParaRPr lang="en-US" dirty="0"/>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21</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574035" y="6679342"/>
            <a:ext cx="2477095" cy="215444"/>
          </a:xfrm>
          <a:prstGeom prst="rect">
            <a:avLst/>
          </a:prstGeom>
          <a:noFill/>
        </p:spPr>
        <p:txBody>
          <a:bodyPr wrap="square">
            <a:spAutoFit/>
          </a:bodyPr>
          <a:lstStyle/>
          <a:p>
            <a:r>
              <a:rPr lang="en-US" sz="800" dirty="0">
                <a:solidFill>
                  <a:schemeClr val="bg2">
                    <a:lumMod val="90000"/>
                  </a:schemeClr>
                </a:solidFill>
              </a:rPr>
              <a:t>https://www.youtube.com/watch?v=tKPSmn-urB4</a:t>
            </a:r>
          </a:p>
        </p:txBody>
      </p:sp>
      <p:pic>
        <p:nvPicPr>
          <p:cNvPr id="4" name="Online Media 3" title="AI Explained: What is RAG - Retrieval Augmented Generation?">
            <a:hlinkClick r:id="" action="ppaction://media"/>
            <a:extLst>
              <a:ext uri="{FF2B5EF4-FFF2-40B4-BE49-F238E27FC236}">
                <a16:creationId xmlns:a16="http://schemas.microsoft.com/office/drawing/2014/main" id="{6C408E8B-9C13-DF46-32D1-54430DE7623B}"/>
              </a:ext>
            </a:extLst>
          </p:cNvPr>
          <p:cNvPicPr>
            <a:picLocks noRot="1" noChangeAspect="1"/>
          </p:cNvPicPr>
          <p:nvPr>
            <a:videoFile r:link="rId1"/>
          </p:nvPr>
        </p:nvPicPr>
        <p:blipFill>
          <a:blip r:embed="rId3"/>
          <a:stretch>
            <a:fillRect/>
          </a:stretch>
        </p:blipFill>
        <p:spPr>
          <a:xfrm>
            <a:off x="546537" y="1611068"/>
            <a:ext cx="8434552" cy="4762008"/>
          </a:xfrm>
          <a:prstGeom prst="rect">
            <a:avLst/>
          </a:prstGeom>
        </p:spPr>
      </p:pic>
      <p:sp>
        <p:nvSpPr>
          <p:cNvPr id="6" name="TextBox 5">
            <a:extLst>
              <a:ext uri="{FF2B5EF4-FFF2-40B4-BE49-F238E27FC236}">
                <a16:creationId xmlns:a16="http://schemas.microsoft.com/office/drawing/2014/main" id="{F16992DA-DD46-461A-C65E-7359881205C4}"/>
              </a:ext>
            </a:extLst>
          </p:cNvPr>
          <p:cNvSpPr txBox="1"/>
          <p:nvPr/>
        </p:nvSpPr>
        <p:spPr>
          <a:xfrm>
            <a:off x="457200" y="1058709"/>
            <a:ext cx="6498404" cy="369332"/>
          </a:xfrm>
          <a:prstGeom prst="rect">
            <a:avLst/>
          </a:prstGeom>
          <a:noFill/>
        </p:spPr>
        <p:txBody>
          <a:bodyPr wrap="square">
            <a:spAutoFit/>
          </a:bodyPr>
          <a:lstStyle/>
          <a:p>
            <a:r>
              <a:rPr lang="en-US" sz="1800" i="1" dirty="0">
                <a:solidFill>
                  <a:srgbClr val="E8F4F8"/>
                </a:solidFill>
                <a:latin typeface="Helvetica Neue Light"/>
                <a:ea typeface="Calibri" pitchFamily="34" charset="-122"/>
                <a:cs typeface="Calibri" pitchFamily="34" charset="-120"/>
              </a:rPr>
              <a:t>Understanding how RAG enhances LLM capabilities</a:t>
            </a:r>
            <a:endParaRPr lang="en-US" dirty="0"/>
          </a:p>
        </p:txBody>
      </p:sp>
    </p:spTree>
    <p:extLst>
      <p:ext uri="{BB962C8B-B14F-4D97-AF65-F5344CB8AC3E}">
        <p14:creationId xmlns:p14="http://schemas.microsoft.com/office/powerpoint/2010/main" val="139893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272BE1D4-4C4F-4AEC-A786-F100CA287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85A4B-4203-0349-A386-49C8BD43532F}"/>
              </a:ext>
            </a:extLst>
          </p:cNvPr>
          <p:cNvSpPr>
            <a:spLocks noGrp="1"/>
          </p:cNvSpPr>
          <p:nvPr>
            <p:ph type="title"/>
          </p:nvPr>
        </p:nvSpPr>
        <p:spPr>
          <a:xfrm>
            <a:off x="457200" y="365126"/>
            <a:ext cx="8229600" cy="592213"/>
          </a:xfrm>
        </p:spPr>
        <p:txBody>
          <a:bodyPr/>
          <a:lstStyle/>
          <a:p>
            <a:r>
              <a:rPr lang="en-US" dirty="0"/>
              <a:t>Giving AI Access to External Knowledge</a:t>
            </a:r>
          </a:p>
        </p:txBody>
      </p:sp>
      <p:sp>
        <p:nvSpPr>
          <p:cNvPr id="5" name="Slide Number Placeholder 4">
            <a:extLst>
              <a:ext uri="{FF2B5EF4-FFF2-40B4-BE49-F238E27FC236}">
                <a16:creationId xmlns:a16="http://schemas.microsoft.com/office/drawing/2014/main" id="{026D75E1-3661-D5F4-6B01-6598F6C42C95}"/>
              </a:ext>
            </a:extLst>
          </p:cNvPr>
          <p:cNvSpPr>
            <a:spLocks noGrp="1"/>
          </p:cNvSpPr>
          <p:nvPr>
            <p:ph type="sldNum" sz="quarter" idx="12"/>
          </p:nvPr>
        </p:nvSpPr>
        <p:spPr/>
        <p:txBody>
          <a:bodyPr/>
          <a:lstStyle/>
          <a:p>
            <a:fld id="{21EF4C0E-91FA-4D94-8941-E22F3A83D5F1}" type="slidenum">
              <a:rPr lang="en-US" smtClean="0"/>
              <a:t>22</a:t>
            </a:fld>
            <a:endParaRPr lang="en-US"/>
          </a:p>
        </p:txBody>
      </p:sp>
      <p:grpSp>
        <p:nvGrpSpPr>
          <p:cNvPr id="3" name="Group 2">
            <a:extLst>
              <a:ext uri="{FF2B5EF4-FFF2-40B4-BE49-F238E27FC236}">
                <a16:creationId xmlns:a16="http://schemas.microsoft.com/office/drawing/2014/main" id="{3FCF7593-105F-7531-D1FF-CB5631A62CF6}"/>
              </a:ext>
            </a:extLst>
          </p:cNvPr>
          <p:cNvGrpSpPr/>
          <p:nvPr/>
        </p:nvGrpSpPr>
        <p:grpSpPr>
          <a:xfrm>
            <a:off x="457200" y="1198386"/>
            <a:ext cx="8686800" cy="4955834"/>
            <a:chOff x="457200" y="1210316"/>
            <a:chExt cx="8686800" cy="3315964"/>
          </a:xfrm>
        </p:grpSpPr>
        <p:sp>
          <p:nvSpPr>
            <p:cNvPr id="4" name="Shape 3">
              <a:extLst>
                <a:ext uri="{FF2B5EF4-FFF2-40B4-BE49-F238E27FC236}">
                  <a16:creationId xmlns:a16="http://schemas.microsoft.com/office/drawing/2014/main" id="{6ECDEC60-756A-F279-A6A6-6B6AA965877F}"/>
                </a:ext>
              </a:extLst>
            </p:cNvPr>
            <p:cNvSpPr/>
            <p:nvPr/>
          </p:nvSpPr>
          <p:spPr>
            <a:xfrm>
              <a:off x="457200" y="1234440"/>
              <a:ext cx="822960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4C98C36F-B70E-A7B5-310F-FC1D8702BBC0}"/>
                </a:ext>
              </a:extLst>
            </p:cNvPr>
            <p:cNvSpPr/>
            <p:nvPr/>
          </p:nvSpPr>
          <p:spPr>
            <a:xfrm>
              <a:off x="457200" y="1234440"/>
              <a:ext cx="54864" cy="91440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71EB9DC5-6D60-99AD-320A-E63AB4C6EB00}"/>
                </a:ext>
              </a:extLst>
            </p:cNvPr>
            <p:cNvSpPr/>
            <p:nvPr/>
          </p:nvSpPr>
          <p:spPr>
            <a:xfrm>
              <a:off x="685800" y="1210316"/>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Core Definition:</a:t>
              </a:r>
              <a:endParaRPr lang="en-US" dirty="0">
                <a:latin typeface="Helvetica Neue Light"/>
              </a:endParaRPr>
            </a:p>
          </p:txBody>
        </p:sp>
        <p:sp>
          <p:nvSpPr>
            <p:cNvPr id="9" name="Text 6">
              <a:extLst>
                <a:ext uri="{FF2B5EF4-FFF2-40B4-BE49-F238E27FC236}">
                  <a16:creationId xmlns:a16="http://schemas.microsoft.com/office/drawing/2014/main" id="{F9AE99DD-D609-0BF0-7865-1FECA5E48B25}"/>
                </a:ext>
              </a:extLst>
            </p:cNvPr>
            <p:cNvSpPr/>
            <p:nvPr/>
          </p:nvSpPr>
          <p:spPr>
            <a:xfrm>
              <a:off x="685800" y="1554480"/>
              <a:ext cx="7772400" cy="50292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RAG is a technique that enhances Large Language Models by allowing them to retrieve and use external information during text generation, rather than relying solely on knowledge "frozen" during training.</a:t>
              </a:r>
              <a:endParaRPr lang="en-US" dirty="0">
                <a:latin typeface="Helvetica Neue Light"/>
              </a:endParaRPr>
            </a:p>
          </p:txBody>
        </p:sp>
        <p:sp>
          <p:nvSpPr>
            <p:cNvPr id="10" name="Text 7">
              <a:extLst>
                <a:ext uri="{FF2B5EF4-FFF2-40B4-BE49-F238E27FC236}">
                  <a16:creationId xmlns:a16="http://schemas.microsoft.com/office/drawing/2014/main" id="{DE12749C-2800-7044-E616-447399122611}"/>
                </a:ext>
              </a:extLst>
            </p:cNvPr>
            <p:cNvSpPr/>
            <p:nvPr/>
          </p:nvSpPr>
          <p:spPr>
            <a:xfrm>
              <a:off x="457200" y="228600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The Key Innovation:</a:t>
              </a:r>
              <a:endParaRPr lang="en-US" sz="2000" dirty="0">
                <a:latin typeface="Helvetica Neue Light"/>
              </a:endParaRPr>
            </a:p>
          </p:txBody>
        </p:sp>
        <p:sp>
          <p:nvSpPr>
            <p:cNvPr id="11" name="Shape 8">
              <a:extLst>
                <a:ext uri="{FF2B5EF4-FFF2-40B4-BE49-F238E27FC236}">
                  <a16:creationId xmlns:a16="http://schemas.microsoft.com/office/drawing/2014/main" id="{D46D4156-9979-203E-F8B4-510A21FAC990}"/>
                </a:ext>
              </a:extLst>
            </p:cNvPr>
            <p:cNvSpPr/>
            <p:nvPr/>
          </p:nvSpPr>
          <p:spPr>
            <a:xfrm>
              <a:off x="457200" y="2651760"/>
              <a:ext cx="4206240" cy="502920"/>
            </a:xfrm>
            <a:prstGeom prst="rect">
              <a:avLst/>
            </a:prstGeom>
            <a:solidFill>
              <a:srgbClr val="636E72">
                <a:alpha val="80000"/>
              </a:srgbClr>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1CAEC13D-E569-0B8B-4F3D-C05A5E492F76}"/>
                </a:ext>
              </a:extLst>
            </p:cNvPr>
            <p:cNvSpPr/>
            <p:nvPr/>
          </p:nvSpPr>
          <p:spPr>
            <a:xfrm>
              <a:off x="548640" y="2721529"/>
              <a:ext cx="4206240" cy="365760"/>
            </a:xfrm>
            <a:prstGeom prst="rect">
              <a:avLst/>
            </a:prstGeom>
            <a:noFill/>
            <a:ln/>
          </p:spPr>
          <p:txBody>
            <a:bodyPr wrap="square" rtlCol="0" anchor="ctr"/>
            <a:lstStyle/>
            <a:p>
              <a:pPr marL="0" indent="0">
                <a:buNone/>
              </a:pPr>
              <a:r>
                <a:rPr lang="en-US" b="1" dirty="0">
                  <a:solidFill>
                    <a:schemeClr val="bg1"/>
                  </a:solidFill>
                  <a:latin typeface="Helvetica Neue Light"/>
                  <a:ea typeface="Calibri" pitchFamily="34" charset="-122"/>
                  <a:cs typeface="Calibri" pitchFamily="34" charset="-120"/>
                </a:rPr>
                <a:t>Traditional LLM: </a:t>
              </a:r>
              <a:r>
                <a:rPr lang="en-US" dirty="0">
                  <a:solidFill>
                    <a:schemeClr val="bg1"/>
                  </a:solidFill>
                  <a:latin typeface="Helvetica Neue Light"/>
                  <a:ea typeface="Calibri" pitchFamily="34" charset="-122"/>
                  <a:cs typeface="Calibri" pitchFamily="34" charset="-120"/>
                </a:rPr>
                <a:t>General knowledge only</a:t>
              </a:r>
              <a:endParaRPr lang="en-US" dirty="0">
                <a:solidFill>
                  <a:schemeClr val="bg1"/>
                </a:solidFill>
                <a:latin typeface="Helvetica Neue Light"/>
              </a:endParaRPr>
            </a:p>
          </p:txBody>
        </p:sp>
        <p:sp>
          <p:nvSpPr>
            <p:cNvPr id="13" name="Shape 10">
              <a:extLst>
                <a:ext uri="{FF2B5EF4-FFF2-40B4-BE49-F238E27FC236}">
                  <a16:creationId xmlns:a16="http://schemas.microsoft.com/office/drawing/2014/main" id="{F9631CBF-4FEB-AC4A-21FD-EA84493A2B32}"/>
                </a:ext>
              </a:extLst>
            </p:cNvPr>
            <p:cNvSpPr/>
            <p:nvPr/>
          </p:nvSpPr>
          <p:spPr>
            <a:xfrm>
              <a:off x="4754880" y="2651760"/>
              <a:ext cx="4206240" cy="502920"/>
            </a:xfrm>
            <a:prstGeom prst="rect">
              <a:avLst/>
            </a:prstGeom>
            <a:solidFill>
              <a:srgbClr val="1C7293">
                <a:alpha val="80000"/>
              </a:srgbClr>
            </a:solidFill>
            <a:ln/>
          </p:spPr>
          <p:txBody>
            <a:bodyPr/>
            <a:lstStyle/>
            <a:p>
              <a:endParaRPr lang="en-US" sz="2800">
                <a:latin typeface="Helvetica Neue Light"/>
              </a:endParaRPr>
            </a:p>
          </p:txBody>
        </p:sp>
        <p:sp>
          <p:nvSpPr>
            <p:cNvPr id="14" name="Text 11">
              <a:extLst>
                <a:ext uri="{FF2B5EF4-FFF2-40B4-BE49-F238E27FC236}">
                  <a16:creationId xmlns:a16="http://schemas.microsoft.com/office/drawing/2014/main" id="{87313D07-74FD-60F5-BA9B-051C7FE2BBDA}"/>
                </a:ext>
              </a:extLst>
            </p:cNvPr>
            <p:cNvSpPr/>
            <p:nvPr/>
          </p:nvSpPr>
          <p:spPr>
            <a:xfrm>
              <a:off x="4846320" y="2715768"/>
              <a:ext cx="3976212" cy="365760"/>
            </a:xfrm>
            <a:prstGeom prst="rect">
              <a:avLst/>
            </a:prstGeom>
            <a:noFill/>
            <a:ln/>
          </p:spPr>
          <p:txBody>
            <a:bodyPr wrap="square" rtlCol="0" anchor="ctr"/>
            <a:lstStyle/>
            <a:p>
              <a:pPr marL="0" indent="0">
                <a:buNone/>
              </a:pPr>
              <a:r>
                <a:rPr lang="en-US" b="1" dirty="0">
                  <a:solidFill>
                    <a:schemeClr val="bg1"/>
                  </a:solidFill>
                  <a:latin typeface="Helvetica Neue Light"/>
                  <a:ea typeface="Calibri" pitchFamily="34" charset="-122"/>
                  <a:cs typeface="Calibri" pitchFamily="34" charset="-120"/>
                </a:rPr>
                <a:t>RAG-Enhanced LLM: </a:t>
              </a:r>
              <a:r>
                <a:rPr lang="en-US" dirty="0">
                  <a:solidFill>
                    <a:schemeClr val="bg1"/>
                  </a:solidFill>
                  <a:latin typeface="Helvetica Neue Light"/>
                  <a:ea typeface="Calibri" pitchFamily="34" charset="-122"/>
                  <a:cs typeface="Calibri" pitchFamily="34" charset="-120"/>
                </a:rPr>
                <a:t>Specialized, 	current knowledge</a:t>
              </a:r>
              <a:endParaRPr lang="en-US" dirty="0">
                <a:solidFill>
                  <a:schemeClr val="bg1"/>
                </a:solidFill>
                <a:latin typeface="Helvetica Neue Light"/>
              </a:endParaRPr>
            </a:p>
          </p:txBody>
        </p:sp>
        <p:sp>
          <p:nvSpPr>
            <p:cNvPr id="15" name="Text 12">
              <a:extLst>
                <a:ext uri="{FF2B5EF4-FFF2-40B4-BE49-F238E27FC236}">
                  <a16:creationId xmlns:a16="http://schemas.microsoft.com/office/drawing/2014/main" id="{06DE0855-F784-BBFE-0E47-160F11EACE32}"/>
                </a:ext>
              </a:extLst>
            </p:cNvPr>
            <p:cNvSpPr/>
            <p:nvPr/>
          </p:nvSpPr>
          <p:spPr>
            <a:xfrm>
              <a:off x="457200" y="333756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Core Components:</a:t>
              </a:r>
              <a:endParaRPr lang="en-US" sz="2000" dirty="0">
                <a:latin typeface="Helvetica Neue Light"/>
              </a:endParaRPr>
            </a:p>
          </p:txBody>
        </p:sp>
        <p:sp>
          <p:nvSpPr>
            <p:cNvPr id="16" name="Shape 13">
              <a:extLst>
                <a:ext uri="{FF2B5EF4-FFF2-40B4-BE49-F238E27FC236}">
                  <a16:creationId xmlns:a16="http://schemas.microsoft.com/office/drawing/2014/main" id="{6FA09A28-C435-C1A1-EBA7-F743E5C62093}"/>
                </a:ext>
              </a:extLst>
            </p:cNvPr>
            <p:cNvSpPr/>
            <p:nvPr/>
          </p:nvSpPr>
          <p:spPr>
            <a:xfrm>
              <a:off x="457200" y="3703320"/>
              <a:ext cx="2011680" cy="822960"/>
            </a:xfrm>
            <a:prstGeom prst="rect">
              <a:avLst/>
            </a:prstGeom>
            <a:solidFill>
              <a:srgbClr val="FFFFFF"/>
            </a:solidFill>
            <a:ln w="12700">
              <a:solidFill>
                <a:srgbClr val="1C7293"/>
              </a:solidFill>
              <a:prstDash val="solid"/>
            </a:ln>
          </p:spPr>
          <p:txBody>
            <a:bodyPr/>
            <a:lstStyle/>
            <a:p>
              <a:endParaRPr lang="en-US" sz="2800">
                <a:latin typeface="Helvetica Neue Light"/>
              </a:endParaRPr>
            </a:p>
          </p:txBody>
        </p:sp>
        <p:sp>
          <p:nvSpPr>
            <p:cNvPr id="17" name="Text 14">
              <a:extLst>
                <a:ext uri="{FF2B5EF4-FFF2-40B4-BE49-F238E27FC236}">
                  <a16:creationId xmlns:a16="http://schemas.microsoft.com/office/drawing/2014/main" id="{8886A770-E73F-EE15-1389-8B3723A9FC66}"/>
                </a:ext>
              </a:extLst>
            </p:cNvPr>
            <p:cNvSpPr/>
            <p:nvPr/>
          </p:nvSpPr>
          <p:spPr>
            <a:xfrm>
              <a:off x="548640" y="3749040"/>
              <a:ext cx="1828800" cy="320040"/>
            </a:xfrm>
            <a:prstGeom prst="rect">
              <a:avLst/>
            </a:prstGeom>
            <a:noFill/>
            <a:ln/>
          </p:spPr>
          <p:txBody>
            <a:bodyPr wrap="square" rtlCol="0" anchor="ctr"/>
            <a:lstStyle/>
            <a:p>
              <a:pPr marL="0" indent="0" algn="ctr">
                <a:buNone/>
              </a:pPr>
              <a:r>
                <a:rPr lang="en-US" sz="1600" b="1" dirty="0">
                  <a:solidFill>
                    <a:srgbClr val="065A82"/>
                  </a:solidFill>
                  <a:latin typeface="Helvetica Neue Light"/>
                  <a:ea typeface="Calibri" pitchFamily="34" charset="-122"/>
                  <a:cs typeface="Calibri" pitchFamily="34" charset="-120"/>
                </a:rPr>
                <a:t>Knowledge Base</a:t>
              </a:r>
              <a:endParaRPr lang="en-US" sz="1600" dirty="0">
                <a:latin typeface="Helvetica Neue Light"/>
              </a:endParaRPr>
            </a:p>
          </p:txBody>
        </p:sp>
        <p:sp>
          <p:nvSpPr>
            <p:cNvPr id="18" name="Text 15">
              <a:extLst>
                <a:ext uri="{FF2B5EF4-FFF2-40B4-BE49-F238E27FC236}">
                  <a16:creationId xmlns:a16="http://schemas.microsoft.com/office/drawing/2014/main" id="{38470A5A-76F2-52D4-2F6B-F85105A3C2C4}"/>
                </a:ext>
              </a:extLst>
            </p:cNvPr>
            <p:cNvSpPr/>
            <p:nvPr/>
          </p:nvSpPr>
          <p:spPr>
            <a:xfrm>
              <a:off x="457200" y="4069080"/>
              <a:ext cx="2103120" cy="411480"/>
            </a:xfrm>
            <a:prstGeom prst="rect">
              <a:avLst/>
            </a:prstGeom>
            <a:noFill/>
            <a:ln/>
          </p:spPr>
          <p:txBody>
            <a:bodyPr wrap="square" rtlCol="0" anchor="ctr"/>
            <a:lstStyle/>
            <a:p>
              <a:pPr marL="0" indent="0" algn="ctr">
                <a:buNone/>
              </a:pPr>
              <a:r>
                <a:rPr lang="en-US" sz="1600" dirty="0">
                  <a:solidFill>
                    <a:srgbClr val="2D3436"/>
                  </a:solidFill>
                  <a:latin typeface="Helvetica Neue Light"/>
                  <a:ea typeface="Calibri" pitchFamily="34" charset="-122"/>
                  <a:cs typeface="Calibri" pitchFamily="34" charset="-120"/>
                </a:rPr>
                <a:t>Your documents, databases, PDFs</a:t>
              </a:r>
              <a:endParaRPr lang="en-US" sz="1600" dirty="0">
                <a:latin typeface="Helvetica Neue Light"/>
              </a:endParaRPr>
            </a:p>
          </p:txBody>
        </p:sp>
        <p:sp>
          <p:nvSpPr>
            <p:cNvPr id="19" name="Shape 16">
              <a:extLst>
                <a:ext uri="{FF2B5EF4-FFF2-40B4-BE49-F238E27FC236}">
                  <a16:creationId xmlns:a16="http://schemas.microsoft.com/office/drawing/2014/main" id="{3DA564DB-2371-FB9B-FC8F-1B30685F379D}"/>
                </a:ext>
              </a:extLst>
            </p:cNvPr>
            <p:cNvSpPr/>
            <p:nvPr/>
          </p:nvSpPr>
          <p:spPr>
            <a:xfrm>
              <a:off x="2651760" y="3703320"/>
              <a:ext cx="2011680" cy="822960"/>
            </a:xfrm>
            <a:prstGeom prst="rect">
              <a:avLst/>
            </a:prstGeom>
            <a:solidFill>
              <a:srgbClr val="FFFFFF"/>
            </a:solidFill>
            <a:ln w="12700">
              <a:solidFill>
                <a:srgbClr val="1C7293"/>
              </a:solidFill>
              <a:prstDash val="solid"/>
            </a:ln>
          </p:spPr>
          <p:txBody>
            <a:bodyPr/>
            <a:lstStyle/>
            <a:p>
              <a:endParaRPr lang="en-US" sz="2800">
                <a:latin typeface="Helvetica Neue Light"/>
              </a:endParaRPr>
            </a:p>
          </p:txBody>
        </p:sp>
        <p:sp>
          <p:nvSpPr>
            <p:cNvPr id="20" name="Text 17">
              <a:extLst>
                <a:ext uri="{FF2B5EF4-FFF2-40B4-BE49-F238E27FC236}">
                  <a16:creationId xmlns:a16="http://schemas.microsoft.com/office/drawing/2014/main" id="{F8F22CB0-F512-DED6-F1A4-ACF0E13949DF}"/>
                </a:ext>
              </a:extLst>
            </p:cNvPr>
            <p:cNvSpPr/>
            <p:nvPr/>
          </p:nvSpPr>
          <p:spPr>
            <a:xfrm>
              <a:off x="2743200" y="3749040"/>
              <a:ext cx="1828800" cy="320040"/>
            </a:xfrm>
            <a:prstGeom prst="rect">
              <a:avLst/>
            </a:prstGeom>
            <a:noFill/>
            <a:ln/>
          </p:spPr>
          <p:txBody>
            <a:bodyPr wrap="square" rtlCol="0" anchor="ctr"/>
            <a:lstStyle/>
            <a:p>
              <a:pPr marL="0" indent="0" algn="ctr">
                <a:buNone/>
              </a:pPr>
              <a:r>
                <a:rPr lang="en-US" sz="1600" b="1" dirty="0">
                  <a:solidFill>
                    <a:srgbClr val="065A82"/>
                  </a:solidFill>
                  <a:latin typeface="Helvetica Neue Light"/>
                  <a:ea typeface="Calibri" pitchFamily="34" charset="-122"/>
                  <a:cs typeface="Calibri" pitchFamily="34" charset="-120"/>
                </a:rPr>
                <a:t>Embedding Model</a:t>
              </a:r>
              <a:endParaRPr lang="en-US" sz="1600" dirty="0">
                <a:latin typeface="Helvetica Neue Light"/>
              </a:endParaRPr>
            </a:p>
          </p:txBody>
        </p:sp>
        <p:sp>
          <p:nvSpPr>
            <p:cNvPr id="21" name="Text 18">
              <a:extLst>
                <a:ext uri="{FF2B5EF4-FFF2-40B4-BE49-F238E27FC236}">
                  <a16:creationId xmlns:a16="http://schemas.microsoft.com/office/drawing/2014/main" id="{B264E267-226F-6998-9D34-8D6992E255A2}"/>
                </a:ext>
              </a:extLst>
            </p:cNvPr>
            <p:cNvSpPr/>
            <p:nvPr/>
          </p:nvSpPr>
          <p:spPr>
            <a:xfrm>
              <a:off x="2651760" y="4069080"/>
              <a:ext cx="2103120" cy="411480"/>
            </a:xfrm>
            <a:prstGeom prst="rect">
              <a:avLst/>
            </a:prstGeom>
            <a:noFill/>
            <a:ln/>
          </p:spPr>
          <p:txBody>
            <a:bodyPr wrap="square" rtlCol="0" anchor="ctr"/>
            <a:lstStyle/>
            <a:p>
              <a:pPr marL="0" indent="0" algn="ctr">
                <a:buNone/>
              </a:pPr>
              <a:r>
                <a:rPr lang="en-US" sz="1600" dirty="0">
                  <a:solidFill>
                    <a:srgbClr val="2D3436"/>
                  </a:solidFill>
                  <a:latin typeface="Helvetica Neue Light"/>
                  <a:ea typeface="Calibri" pitchFamily="34" charset="-122"/>
                  <a:cs typeface="Calibri" pitchFamily="34" charset="-120"/>
                </a:rPr>
                <a:t>Converts text to vectors</a:t>
              </a:r>
              <a:endParaRPr lang="en-US" sz="1600" dirty="0">
                <a:latin typeface="Helvetica Neue Light"/>
              </a:endParaRPr>
            </a:p>
          </p:txBody>
        </p:sp>
        <p:sp>
          <p:nvSpPr>
            <p:cNvPr id="22" name="Shape 19">
              <a:extLst>
                <a:ext uri="{FF2B5EF4-FFF2-40B4-BE49-F238E27FC236}">
                  <a16:creationId xmlns:a16="http://schemas.microsoft.com/office/drawing/2014/main" id="{2E2EA948-B002-5BF6-8A26-1E957554DE65}"/>
                </a:ext>
              </a:extLst>
            </p:cNvPr>
            <p:cNvSpPr/>
            <p:nvPr/>
          </p:nvSpPr>
          <p:spPr>
            <a:xfrm>
              <a:off x="4846320" y="3703320"/>
              <a:ext cx="2011680" cy="822960"/>
            </a:xfrm>
            <a:prstGeom prst="rect">
              <a:avLst/>
            </a:prstGeom>
            <a:solidFill>
              <a:srgbClr val="FFFFFF"/>
            </a:solidFill>
            <a:ln w="12700">
              <a:solidFill>
                <a:srgbClr val="1C7293"/>
              </a:solidFill>
              <a:prstDash val="solid"/>
            </a:ln>
          </p:spPr>
          <p:txBody>
            <a:bodyPr/>
            <a:lstStyle/>
            <a:p>
              <a:endParaRPr lang="en-US" sz="2800">
                <a:latin typeface="Helvetica Neue Light"/>
              </a:endParaRPr>
            </a:p>
          </p:txBody>
        </p:sp>
        <p:sp>
          <p:nvSpPr>
            <p:cNvPr id="23" name="Text 20">
              <a:extLst>
                <a:ext uri="{FF2B5EF4-FFF2-40B4-BE49-F238E27FC236}">
                  <a16:creationId xmlns:a16="http://schemas.microsoft.com/office/drawing/2014/main" id="{DE2DE37C-CD36-111D-442E-BCA1ADBF89C0}"/>
                </a:ext>
              </a:extLst>
            </p:cNvPr>
            <p:cNvSpPr/>
            <p:nvPr/>
          </p:nvSpPr>
          <p:spPr>
            <a:xfrm>
              <a:off x="4937760" y="3749040"/>
              <a:ext cx="1828800" cy="320040"/>
            </a:xfrm>
            <a:prstGeom prst="rect">
              <a:avLst/>
            </a:prstGeom>
            <a:noFill/>
            <a:ln/>
          </p:spPr>
          <p:txBody>
            <a:bodyPr wrap="square" rtlCol="0" anchor="ctr"/>
            <a:lstStyle/>
            <a:p>
              <a:pPr marL="0" indent="0" algn="ctr">
                <a:buNone/>
              </a:pPr>
              <a:r>
                <a:rPr lang="en-US" sz="1600" b="1" dirty="0">
                  <a:solidFill>
                    <a:srgbClr val="065A82"/>
                  </a:solidFill>
                  <a:latin typeface="Helvetica Neue Light"/>
                  <a:ea typeface="Calibri" pitchFamily="34" charset="-122"/>
                  <a:cs typeface="Calibri" pitchFamily="34" charset="-120"/>
                </a:rPr>
                <a:t>Vector Database</a:t>
              </a:r>
              <a:endParaRPr lang="en-US" sz="1600" dirty="0">
                <a:latin typeface="Helvetica Neue Light"/>
              </a:endParaRPr>
            </a:p>
          </p:txBody>
        </p:sp>
        <p:sp>
          <p:nvSpPr>
            <p:cNvPr id="24" name="Text 21">
              <a:extLst>
                <a:ext uri="{FF2B5EF4-FFF2-40B4-BE49-F238E27FC236}">
                  <a16:creationId xmlns:a16="http://schemas.microsoft.com/office/drawing/2014/main" id="{5528C91B-926E-EAE8-5DD9-41ADBCADF1B6}"/>
                </a:ext>
              </a:extLst>
            </p:cNvPr>
            <p:cNvSpPr/>
            <p:nvPr/>
          </p:nvSpPr>
          <p:spPr>
            <a:xfrm>
              <a:off x="4846320" y="4069080"/>
              <a:ext cx="2103120" cy="411480"/>
            </a:xfrm>
            <a:prstGeom prst="rect">
              <a:avLst/>
            </a:prstGeom>
            <a:noFill/>
            <a:ln/>
          </p:spPr>
          <p:txBody>
            <a:bodyPr wrap="square" rtlCol="0" anchor="ctr"/>
            <a:lstStyle/>
            <a:p>
              <a:pPr marL="0" indent="0" algn="ctr">
                <a:buNone/>
              </a:pPr>
              <a:r>
                <a:rPr lang="en-US" sz="1600" dirty="0">
                  <a:solidFill>
                    <a:srgbClr val="2D3436"/>
                  </a:solidFill>
                  <a:latin typeface="Helvetica Neue Light"/>
                  <a:ea typeface="Calibri" pitchFamily="34" charset="-122"/>
                  <a:cs typeface="Calibri" pitchFamily="34" charset="-120"/>
                </a:rPr>
                <a:t>Stores and searches embeddings</a:t>
              </a:r>
              <a:endParaRPr lang="en-US" sz="1600" dirty="0">
                <a:latin typeface="Helvetica Neue Light"/>
              </a:endParaRPr>
            </a:p>
          </p:txBody>
        </p:sp>
        <p:sp>
          <p:nvSpPr>
            <p:cNvPr id="25" name="Shape 22">
              <a:extLst>
                <a:ext uri="{FF2B5EF4-FFF2-40B4-BE49-F238E27FC236}">
                  <a16:creationId xmlns:a16="http://schemas.microsoft.com/office/drawing/2014/main" id="{67A22F81-B2D7-065E-8B5A-3CE1EBBD00F1}"/>
                </a:ext>
              </a:extLst>
            </p:cNvPr>
            <p:cNvSpPr/>
            <p:nvPr/>
          </p:nvSpPr>
          <p:spPr>
            <a:xfrm>
              <a:off x="7040880" y="3703320"/>
              <a:ext cx="2011680" cy="822960"/>
            </a:xfrm>
            <a:prstGeom prst="rect">
              <a:avLst/>
            </a:prstGeom>
            <a:solidFill>
              <a:srgbClr val="FFFFFF"/>
            </a:solidFill>
            <a:ln w="12700">
              <a:solidFill>
                <a:srgbClr val="1C7293"/>
              </a:solidFill>
              <a:prstDash val="solid"/>
            </a:ln>
          </p:spPr>
          <p:txBody>
            <a:bodyPr/>
            <a:lstStyle/>
            <a:p>
              <a:endParaRPr lang="en-US" sz="2800">
                <a:latin typeface="Helvetica Neue Light"/>
              </a:endParaRPr>
            </a:p>
          </p:txBody>
        </p:sp>
        <p:sp>
          <p:nvSpPr>
            <p:cNvPr id="26" name="Text 23">
              <a:extLst>
                <a:ext uri="{FF2B5EF4-FFF2-40B4-BE49-F238E27FC236}">
                  <a16:creationId xmlns:a16="http://schemas.microsoft.com/office/drawing/2014/main" id="{4C21EB5B-F03A-797D-19EE-C15094FE9EC5}"/>
                </a:ext>
              </a:extLst>
            </p:cNvPr>
            <p:cNvSpPr/>
            <p:nvPr/>
          </p:nvSpPr>
          <p:spPr>
            <a:xfrm>
              <a:off x="7132320" y="3749040"/>
              <a:ext cx="1828800" cy="320040"/>
            </a:xfrm>
            <a:prstGeom prst="rect">
              <a:avLst/>
            </a:prstGeom>
            <a:noFill/>
            <a:ln/>
          </p:spPr>
          <p:txBody>
            <a:bodyPr wrap="square" rtlCol="0" anchor="ctr"/>
            <a:lstStyle/>
            <a:p>
              <a:pPr marL="0" indent="0" algn="ctr">
                <a:buNone/>
              </a:pPr>
              <a:r>
                <a:rPr lang="en-US" sz="1600" b="1" dirty="0">
                  <a:solidFill>
                    <a:srgbClr val="065A82"/>
                  </a:solidFill>
                  <a:latin typeface="Helvetica Neue Light"/>
                  <a:ea typeface="Calibri" pitchFamily="34" charset="-122"/>
                  <a:cs typeface="Calibri" pitchFamily="34" charset="-120"/>
                </a:rPr>
                <a:t>LLM</a:t>
              </a:r>
              <a:endParaRPr lang="en-US" sz="1600" dirty="0">
                <a:latin typeface="Helvetica Neue Light"/>
              </a:endParaRPr>
            </a:p>
          </p:txBody>
        </p:sp>
        <p:sp>
          <p:nvSpPr>
            <p:cNvPr id="27" name="Text 24">
              <a:extLst>
                <a:ext uri="{FF2B5EF4-FFF2-40B4-BE49-F238E27FC236}">
                  <a16:creationId xmlns:a16="http://schemas.microsoft.com/office/drawing/2014/main" id="{EA37E2A3-1F87-BDEA-B2EB-CA4976FD159D}"/>
                </a:ext>
              </a:extLst>
            </p:cNvPr>
            <p:cNvSpPr/>
            <p:nvPr/>
          </p:nvSpPr>
          <p:spPr>
            <a:xfrm>
              <a:off x="7040880" y="4069080"/>
              <a:ext cx="2103120" cy="411480"/>
            </a:xfrm>
            <a:prstGeom prst="rect">
              <a:avLst/>
            </a:prstGeom>
            <a:noFill/>
            <a:ln/>
          </p:spPr>
          <p:txBody>
            <a:bodyPr wrap="square" rtlCol="0" anchor="ctr"/>
            <a:lstStyle/>
            <a:p>
              <a:pPr marL="0" indent="0" algn="ctr">
                <a:buNone/>
              </a:pPr>
              <a:r>
                <a:rPr lang="en-US" sz="1600" dirty="0">
                  <a:solidFill>
                    <a:srgbClr val="2D3436"/>
                  </a:solidFill>
                  <a:latin typeface="Helvetica Neue Light"/>
                  <a:ea typeface="Calibri" pitchFamily="34" charset="-122"/>
                  <a:cs typeface="Calibri" pitchFamily="34" charset="-120"/>
                </a:rPr>
                <a:t>Synthesizes retrieved information</a:t>
              </a:r>
              <a:endParaRPr lang="en-US" sz="1600" dirty="0">
                <a:latin typeface="Helvetica Neue Light"/>
              </a:endParaRPr>
            </a:p>
          </p:txBody>
        </p:sp>
      </p:grpSp>
    </p:spTree>
    <p:extLst>
      <p:ext uri="{BB962C8B-B14F-4D97-AF65-F5344CB8AC3E}">
        <p14:creationId xmlns:p14="http://schemas.microsoft.com/office/powerpoint/2010/main" val="3520970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BD7FE5E-28F1-34BB-B148-13CB34A4F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00817-307D-8FA1-E475-D3774E9B50D5}"/>
              </a:ext>
            </a:extLst>
          </p:cNvPr>
          <p:cNvSpPr>
            <a:spLocks noGrp="1"/>
          </p:cNvSpPr>
          <p:nvPr>
            <p:ph type="title"/>
          </p:nvPr>
        </p:nvSpPr>
        <p:spPr>
          <a:xfrm>
            <a:off x="457200" y="365126"/>
            <a:ext cx="8229600" cy="592213"/>
          </a:xfrm>
        </p:spPr>
        <p:txBody>
          <a:bodyPr/>
          <a:lstStyle/>
          <a:p>
            <a:r>
              <a:rPr lang="en-US" dirty="0"/>
              <a:t>How RAG Works (Conceptual Flow)</a:t>
            </a:r>
          </a:p>
        </p:txBody>
      </p:sp>
      <p:sp>
        <p:nvSpPr>
          <p:cNvPr id="5" name="Slide Number Placeholder 4">
            <a:extLst>
              <a:ext uri="{FF2B5EF4-FFF2-40B4-BE49-F238E27FC236}">
                <a16:creationId xmlns:a16="http://schemas.microsoft.com/office/drawing/2014/main" id="{D716EDB6-5A66-A522-E127-5D4DEAA0D231}"/>
              </a:ext>
            </a:extLst>
          </p:cNvPr>
          <p:cNvSpPr>
            <a:spLocks noGrp="1"/>
          </p:cNvSpPr>
          <p:nvPr>
            <p:ph type="sldNum" sz="quarter" idx="12"/>
          </p:nvPr>
        </p:nvSpPr>
        <p:spPr/>
        <p:txBody>
          <a:bodyPr/>
          <a:lstStyle/>
          <a:p>
            <a:fld id="{21EF4C0E-91FA-4D94-8941-E22F3A83D5F1}" type="slidenum">
              <a:rPr lang="en-US" smtClean="0"/>
              <a:t>23</a:t>
            </a:fld>
            <a:endParaRPr lang="en-US"/>
          </a:p>
        </p:txBody>
      </p:sp>
      <p:sp>
        <p:nvSpPr>
          <p:cNvPr id="6" name="TextBox 5">
            <a:extLst>
              <a:ext uri="{FF2B5EF4-FFF2-40B4-BE49-F238E27FC236}">
                <a16:creationId xmlns:a16="http://schemas.microsoft.com/office/drawing/2014/main" id="{8587FB09-479E-FE39-9CAA-A7A2C653A4C6}"/>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22" name="Group 21">
            <a:extLst>
              <a:ext uri="{FF2B5EF4-FFF2-40B4-BE49-F238E27FC236}">
                <a16:creationId xmlns:a16="http://schemas.microsoft.com/office/drawing/2014/main" id="{AC751108-1962-F625-4DAF-31212D621F80}"/>
              </a:ext>
            </a:extLst>
          </p:cNvPr>
          <p:cNvGrpSpPr/>
          <p:nvPr/>
        </p:nvGrpSpPr>
        <p:grpSpPr>
          <a:xfrm>
            <a:off x="457200" y="1234440"/>
            <a:ext cx="7909560" cy="2971800"/>
            <a:chOff x="457200" y="1234440"/>
            <a:chExt cx="7909560" cy="2971800"/>
          </a:xfrm>
        </p:grpSpPr>
        <p:sp>
          <p:nvSpPr>
            <p:cNvPr id="23" name="Text 6">
              <a:extLst>
                <a:ext uri="{FF2B5EF4-FFF2-40B4-BE49-F238E27FC236}">
                  <a16:creationId xmlns:a16="http://schemas.microsoft.com/office/drawing/2014/main" id="{696BC86C-F6CE-64B9-82AF-B16D8F74F8EE}"/>
                </a:ext>
              </a:extLst>
            </p:cNvPr>
            <p:cNvSpPr/>
            <p:nvPr/>
          </p:nvSpPr>
          <p:spPr>
            <a:xfrm>
              <a:off x="1051560" y="1554480"/>
              <a:ext cx="7315200" cy="320040"/>
            </a:xfrm>
            <a:prstGeom prst="rect">
              <a:avLst/>
            </a:prstGeom>
            <a:noFill/>
            <a:ln/>
          </p:spPr>
          <p:txBody>
            <a:bodyPr wrap="square" rtlCol="0" anchor="ctr"/>
            <a:lstStyle/>
            <a:p>
              <a:pPr marL="0" indent="0">
                <a:buNone/>
              </a:pPr>
              <a:r>
                <a:rPr lang="en-US" sz="1600" i="1" dirty="0">
                  <a:solidFill>
                    <a:srgbClr val="2D3436"/>
                  </a:solidFill>
                  <a:latin typeface="Helvetica Neue Light"/>
                  <a:ea typeface="Calibri" pitchFamily="34" charset="-122"/>
                  <a:cs typeface="Calibri" pitchFamily="34" charset="-120"/>
                </a:rPr>
                <a:t>"What's our company's remote work policy?"</a:t>
              </a:r>
              <a:endParaRPr lang="en-US" sz="1600" dirty="0">
                <a:latin typeface="Helvetica Neue Light"/>
              </a:endParaRPr>
            </a:p>
          </p:txBody>
        </p:sp>
        <p:sp>
          <p:nvSpPr>
            <p:cNvPr id="24" name="Text 11">
              <a:extLst>
                <a:ext uri="{FF2B5EF4-FFF2-40B4-BE49-F238E27FC236}">
                  <a16:creationId xmlns:a16="http://schemas.microsoft.com/office/drawing/2014/main" id="{E10DBD3B-611F-31CD-9877-497E7AF152D5}"/>
                </a:ext>
              </a:extLst>
            </p:cNvPr>
            <p:cNvSpPr/>
            <p:nvPr/>
          </p:nvSpPr>
          <p:spPr>
            <a:xfrm>
              <a:off x="1051560" y="2331720"/>
              <a:ext cx="7315200" cy="320040"/>
            </a:xfrm>
            <a:prstGeom prst="rect">
              <a:avLst/>
            </a:prstGeom>
            <a:noFill/>
            <a:ln/>
          </p:spPr>
          <p:txBody>
            <a:bodyPr wrap="square" rtlCol="0" anchor="ctr"/>
            <a:lstStyle/>
            <a:p>
              <a:pPr marL="0" indent="0">
                <a:buNone/>
              </a:pPr>
              <a:r>
                <a:rPr lang="en-US" sz="1600" i="1" dirty="0">
                  <a:solidFill>
                    <a:srgbClr val="2D3436"/>
                  </a:solidFill>
                  <a:latin typeface="Helvetica Neue Light"/>
                  <a:ea typeface="Calibri" pitchFamily="34" charset="-122"/>
                  <a:cs typeface="Calibri" pitchFamily="34" charset="-120"/>
                </a:rPr>
                <a:t>Search knowledge base for policy documents</a:t>
              </a:r>
              <a:endParaRPr lang="en-US" sz="1600" dirty="0">
                <a:latin typeface="Helvetica Neue Light"/>
              </a:endParaRPr>
            </a:p>
          </p:txBody>
        </p:sp>
        <p:sp>
          <p:nvSpPr>
            <p:cNvPr id="25" name="Text 16">
              <a:extLst>
                <a:ext uri="{FF2B5EF4-FFF2-40B4-BE49-F238E27FC236}">
                  <a16:creationId xmlns:a16="http://schemas.microsoft.com/office/drawing/2014/main" id="{CF454AAB-AF75-7C56-ED75-31E2E66AAA39}"/>
                </a:ext>
              </a:extLst>
            </p:cNvPr>
            <p:cNvSpPr/>
            <p:nvPr/>
          </p:nvSpPr>
          <p:spPr>
            <a:xfrm>
              <a:off x="1051560" y="3108960"/>
              <a:ext cx="7315200" cy="320040"/>
            </a:xfrm>
            <a:prstGeom prst="rect">
              <a:avLst/>
            </a:prstGeom>
            <a:noFill/>
            <a:ln/>
          </p:spPr>
          <p:txBody>
            <a:bodyPr wrap="square" rtlCol="0" anchor="ctr"/>
            <a:lstStyle/>
            <a:p>
              <a:pPr marL="0" indent="0">
                <a:buNone/>
              </a:pPr>
              <a:r>
                <a:rPr lang="en-US" sz="1600" i="1" dirty="0">
                  <a:solidFill>
                    <a:srgbClr val="2D3436"/>
                  </a:solidFill>
                  <a:latin typeface="Helvetica Neue Light"/>
                  <a:ea typeface="Calibri" pitchFamily="34" charset="-122"/>
                  <a:cs typeface="Calibri" pitchFamily="34" charset="-120"/>
                </a:rPr>
                <a:t>Inject retrieved docs into LLM's context</a:t>
              </a:r>
              <a:endParaRPr lang="en-US" sz="1600" dirty="0">
                <a:latin typeface="Helvetica Neue Light"/>
              </a:endParaRPr>
            </a:p>
          </p:txBody>
        </p:sp>
        <p:grpSp>
          <p:nvGrpSpPr>
            <p:cNvPr id="26" name="Group 25">
              <a:extLst>
                <a:ext uri="{FF2B5EF4-FFF2-40B4-BE49-F238E27FC236}">
                  <a16:creationId xmlns:a16="http://schemas.microsoft.com/office/drawing/2014/main" id="{0CBC8497-14A1-BABE-69CC-0B560047E032}"/>
                </a:ext>
              </a:extLst>
            </p:cNvPr>
            <p:cNvGrpSpPr/>
            <p:nvPr/>
          </p:nvGrpSpPr>
          <p:grpSpPr>
            <a:xfrm>
              <a:off x="457200" y="1234440"/>
              <a:ext cx="7909560" cy="2971800"/>
              <a:chOff x="457200" y="1234440"/>
              <a:chExt cx="7909560" cy="2971800"/>
            </a:xfrm>
          </p:grpSpPr>
          <p:sp>
            <p:nvSpPr>
              <p:cNvPr id="27" name="Shape 3">
                <a:extLst>
                  <a:ext uri="{FF2B5EF4-FFF2-40B4-BE49-F238E27FC236}">
                    <a16:creationId xmlns:a16="http://schemas.microsoft.com/office/drawing/2014/main" id="{A14D91B6-9269-C2BE-6277-6EF3D59F13E2}"/>
                  </a:ext>
                </a:extLst>
              </p:cNvPr>
              <p:cNvSpPr/>
              <p:nvPr/>
            </p:nvSpPr>
            <p:spPr>
              <a:xfrm>
                <a:off x="457200" y="1234440"/>
                <a:ext cx="457200" cy="457200"/>
              </a:xfrm>
              <a:prstGeom prst="ellipse">
                <a:avLst/>
              </a:prstGeom>
              <a:solidFill>
                <a:srgbClr val="1C7293"/>
              </a:solidFill>
              <a:ln/>
            </p:spPr>
            <p:txBody>
              <a:bodyPr/>
              <a:lstStyle/>
              <a:p>
                <a:endParaRPr lang="en-US" sz="2800">
                  <a:latin typeface="Helvetica Neue Light"/>
                </a:endParaRPr>
              </a:p>
            </p:txBody>
          </p:sp>
          <p:sp>
            <p:nvSpPr>
              <p:cNvPr id="28" name="Text 4">
                <a:extLst>
                  <a:ext uri="{FF2B5EF4-FFF2-40B4-BE49-F238E27FC236}">
                    <a16:creationId xmlns:a16="http://schemas.microsoft.com/office/drawing/2014/main" id="{15F081A3-AE9E-F320-7202-E6CF0DA6DC80}"/>
                  </a:ext>
                </a:extLst>
              </p:cNvPr>
              <p:cNvSpPr/>
              <p:nvPr/>
            </p:nvSpPr>
            <p:spPr>
              <a:xfrm>
                <a:off x="457200" y="1280160"/>
                <a:ext cx="45720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ea typeface="Calibri" pitchFamily="34" charset="-122"/>
                    <a:cs typeface="Calibri" pitchFamily="34" charset="-120"/>
                  </a:rPr>
                  <a:t>1</a:t>
                </a:r>
                <a:endParaRPr lang="en-US" sz="2400" dirty="0">
                  <a:latin typeface="Helvetica Neue Light"/>
                </a:endParaRPr>
              </a:p>
            </p:txBody>
          </p:sp>
          <p:sp>
            <p:nvSpPr>
              <p:cNvPr id="29" name="Text 5">
                <a:extLst>
                  <a:ext uri="{FF2B5EF4-FFF2-40B4-BE49-F238E27FC236}">
                    <a16:creationId xmlns:a16="http://schemas.microsoft.com/office/drawing/2014/main" id="{3A82FE70-C04C-891B-3A0C-415C2EC73076}"/>
                  </a:ext>
                </a:extLst>
              </p:cNvPr>
              <p:cNvSpPr/>
              <p:nvPr/>
            </p:nvSpPr>
            <p:spPr>
              <a:xfrm>
                <a:off x="1051560" y="1234440"/>
                <a:ext cx="32004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User asks a question</a:t>
                </a:r>
                <a:endParaRPr lang="en-US" dirty="0">
                  <a:latin typeface="Helvetica Neue Light"/>
                </a:endParaRPr>
              </a:p>
            </p:txBody>
          </p:sp>
          <p:sp>
            <p:nvSpPr>
              <p:cNvPr id="30" name="Text 7">
                <a:extLst>
                  <a:ext uri="{FF2B5EF4-FFF2-40B4-BE49-F238E27FC236}">
                    <a16:creationId xmlns:a16="http://schemas.microsoft.com/office/drawing/2014/main" id="{A8DD263B-772E-2D75-F3AE-2B1CF3D97D83}"/>
                  </a:ext>
                </a:extLst>
              </p:cNvPr>
              <p:cNvSpPr/>
              <p:nvPr/>
            </p:nvSpPr>
            <p:spPr>
              <a:xfrm>
                <a:off x="457200" y="1737360"/>
                <a:ext cx="457200" cy="274320"/>
              </a:xfrm>
              <a:prstGeom prst="rect">
                <a:avLst/>
              </a:prstGeom>
              <a:noFill/>
              <a:ln/>
            </p:spPr>
            <p:txBody>
              <a:bodyPr wrap="square" rtlCol="0" anchor="ctr"/>
              <a:lstStyle/>
              <a:p>
                <a:pPr marL="0" indent="0" algn="ctr">
                  <a:buNone/>
                </a:pPr>
                <a:r>
                  <a:rPr lang="en-US" sz="2000" dirty="0">
                    <a:solidFill>
                      <a:srgbClr val="636E72"/>
                    </a:solidFill>
                    <a:latin typeface="Helvetica Neue Light"/>
                  </a:rPr>
                  <a:t>↓</a:t>
                </a:r>
                <a:endParaRPr lang="en-US" sz="2000" dirty="0">
                  <a:latin typeface="Helvetica Neue Light"/>
                </a:endParaRPr>
              </a:p>
            </p:txBody>
          </p:sp>
          <p:sp>
            <p:nvSpPr>
              <p:cNvPr id="31" name="Shape 8">
                <a:extLst>
                  <a:ext uri="{FF2B5EF4-FFF2-40B4-BE49-F238E27FC236}">
                    <a16:creationId xmlns:a16="http://schemas.microsoft.com/office/drawing/2014/main" id="{B53FCE6B-905B-4583-6218-3F02D771DB6F}"/>
                  </a:ext>
                </a:extLst>
              </p:cNvPr>
              <p:cNvSpPr/>
              <p:nvPr/>
            </p:nvSpPr>
            <p:spPr>
              <a:xfrm>
                <a:off x="457200" y="2011680"/>
                <a:ext cx="457200" cy="457200"/>
              </a:xfrm>
              <a:prstGeom prst="ellipse">
                <a:avLst/>
              </a:prstGeom>
              <a:solidFill>
                <a:srgbClr val="1C7293"/>
              </a:solidFill>
              <a:ln/>
            </p:spPr>
            <p:txBody>
              <a:bodyPr/>
              <a:lstStyle/>
              <a:p>
                <a:endParaRPr lang="en-US" sz="2800">
                  <a:latin typeface="Helvetica Neue Light"/>
                </a:endParaRPr>
              </a:p>
            </p:txBody>
          </p:sp>
          <p:sp>
            <p:nvSpPr>
              <p:cNvPr id="32" name="Text 9">
                <a:extLst>
                  <a:ext uri="{FF2B5EF4-FFF2-40B4-BE49-F238E27FC236}">
                    <a16:creationId xmlns:a16="http://schemas.microsoft.com/office/drawing/2014/main" id="{D4B7DF69-A0DA-738E-C180-46D1FE5084E5}"/>
                  </a:ext>
                </a:extLst>
              </p:cNvPr>
              <p:cNvSpPr/>
              <p:nvPr/>
            </p:nvSpPr>
            <p:spPr>
              <a:xfrm>
                <a:off x="457200" y="2057400"/>
                <a:ext cx="45720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ea typeface="Calibri" pitchFamily="34" charset="-122"/>
                    <a:cs typeface="Calibri" pitchFamily="34" charset="-120"/>
                  </a:rPr>
                  <a:t>2</a:t>
                </a:r>
                <a:endParaRPr lang="en-US" sz="2400" dirty="0">
                  <a:latin typeface="Helvetica Neue Light"/>
                </a:endParaRPr>
              </a:p>
            </p:txBody>
          </p:sp>
          <p:sp>
            <p:nvSpPr>
              <p:cNvPr id="33" name="Text 10">
                <a:extLst>
                  <a:ext uri="{FF2B5EF4-FFF2-40B4-BE49-F238E27FC236}">
                    <a16:creationId xmlns:a16="http://schemas.microsoft.com/office/drawing/2014/main" id="{6462DB63-0CBA-14E5-1428-D00A4DE4B314}"/>
                  </a:ext>
                </a:extLst>
              </p:cNvPr>
              <p:cNvSpPr/>
              <p:nvPr/>
            </p:nvSpPr>
            <p:spPr>
              <a:xfrm>
                <a:off x="1051560" y="2011680"/>
                <a:ext cx="32004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Retrieve relevant documents</a:t>
                </a:r>
                <a:endParaRPr lang="en-US" dirty="0">
                  <a:latin typeface="Helvetica Neue Light"/>
                </a:endParaRPr>
              </a:p>
            </p:txBody>
          </p:sp>
          <p:sp>
            <p:nvSpPr>
              <p:cNvPr id="34" name="Text 12">
                <a:extLst>
                  <a:ext uri="{FF2B5EF4-FFF2-40B4-BE49-F238E27FC236}">
                    <a16:creationId xmlns:a16="http://schemas.microsoft.com/office/drawing/2014/main" id="{72B7FE0C-9C8D-92CF-6D33-7EAEBD5FF5FE}"/>
                  </a:ext>
                </a:extLst>
              </p:cNvPr>
              <p:cNvSpPr/>
              <p:nvPr/>
            </p:nvSpPr>
            <p:spPr>
              <a:xfrm>
                <a:off x="457200" y="2514600"/>
                <a:ext cx="457200" cy="274320"/>
              </a:xfrm>
              <a:prstGeom prst="rect">
                <a:avLst/>
              </a:prstGeom>
              <a:noFill/>
              <a:ln/>
            </p:spPr>
            <p:txBody>
              <a:bodyPr wrap="square" rtlCol="0" anchor="ctr"/>
              <a:lstStyle/>
              <a:p>
                <a:pPr marL="0" indent="0" algn="ctr">
                  <a:buNone/>
                </a:pPr>
                <a:r>
                  <a:rPr lang="en-US" sz="2000" dirty="0">
                    <a:solidFill>
                      <a:srgbClr val="636E72"/>
                    </a:solidFill>
                    <a:latin typeface="Helvetica Neue Light"/>
                  </a:rPr>
                  <a:t>↓</a:t>
                </a:r>
                <a:endParaRPr lang="en-US" sz="2000" dirty="0">
                  <a:latin typeface="Helvetica Neue Light"/>
                </a:endParaRPr>
              </a:p>
            </p:txBody>
          </p:sp>
          <p:sp>
            <p:nvSpPr>
              <p:cNvPr id="35" name="Shape 13">
                <a:extLst>
                  <a:ext uri="{FF2B5EF4-FFF2-40B4-BE49-F238E27FC236}">
                    <a16:creationId xmlns:a16="http://schemas.microsoft.com/office/drawing/2014/main" id="{8C84B2CF-CB33-E0B8-358D-3A9182CEEB5E}"/>
                  </a:ext>
                </a:extLst>
              </p:cNvPr>
              <p:cNvSpPr/>
              <p:nvPr/>
            </p:nvSpPr>
            <p:spPr>
              <a:xfrm>
                <a:off x="457200" y="2788920"/>
                <a:ext cx="457200" cy="457200"/>
              </a:xfrm>
              <a:prstGeom prst="ellipse">
                <a:avLst/>
              </a:prstGeom>
              <a:solidFill>
                <a:srgbClr val="1C7293"/>
              </a:solidFill>
              <a:ln/>
            </p:spPr>
            <p:txBody>
              <a:bodyPr/>
              <a:lstStyle/>
              <a:p>
                <a:endParaRPr lang="en-US" sz="2800">
                  <a:latin typeface="Helvetica Neue Light"/>
                </a:endParaRPr>
              </a:p>
            </p:txBody>
          </p:sp>
          <p:sp>
            <p:nvSpPr>
              <p:cNvPr id="36" name="Text 14">
                <a:extLst>
                  <a:ext uri="{FF2B5EF4-FFF2-40B4-BE49-F238E27FC236}">
                    <a16:creationId xmlns:a16="http://schemas.microsoft.com/office/drawing/2014/main" id="{720FC6E5-F001-718A-6BF3-19FA807C40EB}"/>
                  </a:ext>
                </a:extLst>
              </p:cNvPr>
              <p:cNvSpPr/>
              <p:nvPr/>
            </p:nvSpPr>
            <p:spPr>
              <a:xfrm>
                <a:off x="457200" y="2834640"/>
                <a:ext cx="45720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ea typeface="Calibri" pitchFamily="34" charset="-122"/>
                    <a:cs typeface="Calibri" pitchFamily="34" charset="-120"/>
                  </a:rPr>
                  <a:t>3</a:t>
                </a:r>
                <a:endParaRPr lang="en-US" sz="2400" dirty="0">
                  <a:latin typeface="Helvetica Neue Light"/>
                </a:endParaRPr>
              </a:p>
            </p:txBody>
          </p:sp>
          <p:sp>
            <p:nvSpPr>
              <p:cNvPr id="37" name="Text 15">
                <a:extLst>
                  <a:ext uri="{FF2B5EF4-FFF2-40B4-BE49-F238E27FC236}">
                    <a16:creationId xmlns:a16="http://schemas.microsoft.com/office/drawing/2014/main" id="{0F05CFB2-7E69-7C2F-B9AC-AD48CC9C75B5}"/>
                  </a:ext>
                </a:extLst>
              </p:cNvPr>
              <p:cNvSpPr/>
              <p:nvPr/>
            </p:nvSpPr>
            <p:spPr>
              <a:xfrm>
                <a:off x="1051560" y="2788920"/>
                <a:ext cx="32004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Augment the prompt</a:t>
                </a:r>
                <a:endParaRPr lang="en-US" dirty="0">
                  <a:latin typeface="Helvetica Neue Light"/>
                </a:endParaRPr>
              </a:p>
            </p:txBody>
          </p:sp>
          <p:sp>
            <p:nvSpPr>
              <p:cNvPr id="38" name="Text 17">
                <a:extLst>
                  <a:ext uri="{FF2B5EF4-FFF2-40B4-BE49-F238E27FC236}">
                    <a16:creationId xmlns:a16="http://schemas.microsoft.com/office/drawing/2014/main" id="{63A36F82-3C4A-52BD-7453-DBA8A668CF35}"/>
                  </a:ext>
                </a:extLst>
              </p:cNvPr>
              <p:cNvSpPr/>
              <p:nvPr/>
            </p:nvSpPr>
            <p:spPr>
              <a:xfrm>
                <a:off x="457200" y="3291840"/>
                <a:ext cx="457200" cy="274320"/>
              </a:xfrm>
              <a:prstGeom prst="rect">
                <a:avLst/>
              </a:prstGeom>
              <a:noFill/>
              <a:ln/>
            </p:spPr>
            <p:txBody>
              <a:bodyPr wrap="square" rtlCol="0" anchor="ctr"/>
              <a:lstStyle/>
              <a:p>
                <a:pPr marL="0" indent="0" algn="ctr">
                  <a:buNone/>
                </a:pPr>
                <a:r>
                  <a:rPr lang="en-US" sz="2000" dirty="0">
                    <a:solidFill>
                      <a:srgbClr val="636E72"/>
                    </a:solidFill>
                    <a:latin typeface="Helvetica Neue Light"/>
                  </a:rPr>
                  <a:t>↓</a:t>
                </a:r>
                <a:endParaRPr lang="en-US" sz="2000" dirty="0">
                  <a:latin typeface="Helvetica Neue Light"/>
                </a:endParaRPr>
              </a:p>
            </p:txBody>
          </p:sp>
          <p:sp>
            <p:nvSpPr>
              <p:cNvPr id="39" name="Shape 18">
                <a:extLst>
                  <a:ext uri="{FF2B5EF4-FFF2-40B4-BE49-F238E27FC236}">
                    <a16:creationId xmlns:a16="http://schemas.microsoft.com/office/drawing/2014/main" id="{00B389E2-28BE-B7E5-D5D8-0AF4B6CDE7BF}"/>
                  </a:ext>
                </a:extLst>
              </p:cNvPr>
              <p:cNvSpPr/>
              <p:nvPr/>
            </p:nvSpPr>
            <p:spPr>
              <a:xfrm>
                <a:off x="457200" y="3566160"/>
                <a:ext cx="457200" cy="457200"/>
              </a:xfrm>
              <a:prstGeom prst="ellipse">
                <a:avLst/>
              </a:prstGeom>
              <a:solidFill>
                <a:srgbClr val="1C7293"/>
              </a:solidFill>
              <a:ln/>
            </p:spPr>
            <p:txBody>
              <a:bodyPr/>
              <a:lstStyle/>
              <a:p>
                <a:endParaRPr lang="en-US" sz="2800">
                  <a:latin typeface="Helvetica Neue Light"/>
                </a:endParaRPr>
              </a:p>
            </p:txBody>
          </p:sp>
          <p:sp>
            <p:nvSpPr>
              <p:cNvPr id="40" name="Text 19">
                <a:extLst>
                  <a:ext uri="{FF2B5EF4-FFF2-40B4-BE49-F238E27FC236}">
                    <a16:creationId xmlns:a16="http://schemas.microsoft.com/office/drawing/2014/main" id="{497E5E06-6424-C6F8-6082-C73BECB40755}"/>
                  </a:ext>
                </a:extLst>
              </p:cNvPr>
              <p:cNvSpPr/>
              <p:nvPr/>
            </p:nvSpPr>
            <p:spPr>
              <a:xfrm>
                <a:off x="457200" y="3611880"/>
                <a:ext cx="45720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ea typeface="Calibri" pitchFamily="34" charset="-122"/>
                    <a:cs typeface="Calibri" pitchFamily="34" charset="-120"/>
                  </a:rPr>
                  <a:t>4</a:t>
                </a:r>
                <a:endParaRPr lang="en-US" sz="2400" dirty="0">
                  <a:latin typeface="Helvetica Neue Light"/>
                </a:endParaRPr>
              </a:p>
            </p:txBody>
          </p:sp>
          <p:sp>
            <p:nvSpPr>
              <p:cNvPr id="41" name="Text 20">
                <a:extLst>
                  <a:ext uri="{FF2B5EF4-FFF2-40B4-BE49-F238E27FC236}">
                    <a16:creationId xmlns:a16="http://schemas.microsoft.com/office/drawing/2014/main" id="{0B4D41C0-D8F9-FC8F-5313-EAA6E1A39777}"/>
                  </a:ext>
                </a:extLst>
              </p:cNvPr>
              <p:cNvSpPr/>
              <p:nvPr/>
            </p:nvSpPr>
            <p:spPr>
              <a:xfrm>
                <a:off x="1051560" y="3566160"/>
                <a:ext cx="32004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Generate informed response</a:t>
                </a:r>
                <a:endParaRPr lang="en-US" dirty="0">
                  <a:latin typeface="Helvetica Neue Light"/>
                </a:endParaRPr>
              </a:p>
            </p:txBody>
          </p:sp>
          <p:sp>
            <p:nvSpPr>
              <p:cNvPr id="42" name="Text 21">
                <a:extLst>
                  <a:ext uri="{FF2B5EF4-FFF2-40B4-BE49-F238E27FC236}">
                    <a16:creationId xmlns:a16="http://schemas.microsoft.com/office/drawing/2014/main" id="{9AAA31A8-2D75-A0B5-8DD9-7096392021A8}"/>
                  </a:ext>
                </a:extLst>
              </p:cNvPr>
              <p:cNvSpPr/>
              <p:nvPr/>
            </p:nvSpPr>
            <p:spPr>
              <a:xfrm>
                <a:off x="1051560" y="3886200"/>
                <a:ext cx="7315200" cy="320040"/>
              </a:xfrm>
              <a:prstGeom prst="rect">
                <a:avLst/>
              </a:prstGeom>
              <a:noFill/>
              <a:ln/>
            </p:spPr>
            <p:txBody>
              <a:bodyPr wrap="square" rtlCol="0" anchor="ctr"/>
              <a:lstStyle/>
              <a:p>
                <a:pPr marL="0" indent="0">
                  <a:buNone/>
                </a:pPr>
                <a:r>
                  <a:rPr lang="en-US" sz="1600" i="1" dirty="0">
                    <a:solidFill>
                      <a:srgbClr val="2D3436"/>
                    </a:solidFill>
                    <a:latin typeface="Helvetica Neue Light"/>
                    <a:ea typeface="Calibri" pitchFamily="34" charset="-122"/>
                    <a:cs typeface="Calibri" pitchFamily="34" charset="-120"/>
                  </a:rPr>
                  <a:t>LLM answers using both training + retrieved facts</a:t>
                </a:r>
                <a:endParaRPr lang="en-US" sz="1600" dirty="0">
                  <a:latin typeface="Helvetica Neue Light"/>
                </a:endParaRPr>
              </a:p>
            </p:txBody>
          </p:sp>
        </p:grpSp>
      </p:grpSp>
      <p:sp>
        <p:nvSpPr>
          <p:cNvPr id="43" name="TextBox 42">
            <a:extLst>
              <a:ext uri="{FF2B5EF4-FFF2-40B4-BE49-F238E27FC236}">
                <a16:creationId xmlns:a16="http://schemas.microsoft.com/office/drawing/2014/main" id="{4A03DE29-EB71-DD8B-B0C5-E65956F22580}"/>
              </a:ext>
            </a:extLst>
          </p:cNvPr>
          <p:cNvSpPr txBox="1"/>
          <p:nvPr/>
        </p:nvSpPr>
        <p:spPr>
          <a:xfrm>
            <a:off x="6629400" y="6642556"/>
            <a:ext cx="2477095" cy="215444"/>
          </a:xfrm>
          <a:prstGeom prst="rect">
            <a:avLst/>
          </a:prstGeom>
          <a:noFill/>
        </p:spPr>
        <p:txBody>
          <a:bodyPr wrap="square">
            <a:spAutoFit/>
          </a:bodyPr>
          <a:lstStyle/>
          <a:p>
            <a:r>
              <a:rPr lang="en-US" sz="800" dirty="0">
                <a:solidFill>
                  <a:schemeClr val="bg2">
                    <a:lumMod val="90000"/>
                  </a:schemeClr>
                </a:solidFill>
              </a:rPr>
              <a:t>https://share.google/images/yWo1UsHP046ppe4vr</a:t>
            </a:r>
          </a:p>
        </p:txBody>
      </p:sp>
      <p:pic>
        <p:nvPicPr>
          <p:cNvPr id="44" name="Picture 2" descr="Retrieval Augmented Generation (RAG) for LLMs | Prompt Engineering  Guide&lt;!-- --&gt;">
            <a:extLst>
              <a:ext uri="{FF2B5EF4-FFF2-40B4-BE49-F238E27FC236}">
                <a16:creationId xmlns:a16="http://schemas.microsoft.com/office/drawing/2014/main" id="{309FC504-7BF6-8D54-0FE5-5F6893786E5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750" t="35318" r="5000" b="3883"/>
          <a:stretch>
            <a:fillRect/>
          </a:stretch>
        </p:blipFill>
        <p:spPr bwMode="auto">
          <a:xfrm>
            <a:off x="1263046" y="4343400"/>
            <a:ext cx="6291470" cy="24700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596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7D6FEB95-B9AA-28C5-4543-156E0B0D0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04B2-B39C-0920-919B-7575D25DA747}"/>
              </a:ext>
            </a:extLst>
          </p:cNvPr>
          <p:cNvSpPr>
            <a:spLocks noGrp="1"/>
          </p:cNvSpPr>
          <p:nvPr>
            <p:ph type="title"/>
          </p:nvPr>
        </p:nvSpPr>
        <p:spPr>
          <a:xfrm>
            <a:off x="457200" y="365126"/>
            <a:ext cx="8229600" cy="592213"/>
          </a:xfrm>
        </p:spPr>
        <p:txBody>
          <a:bodyPr/>
          <a:lstStyle/>
          <a:p>
            <a:r>
              <a:rPr lang="en-US" dirty="0"/>
              <a:t>Problems Solved &amp; Applications</a:t>
            </a:r>
          </a:p>
        </p:txBody>
      </p:sp>
      <p:sp>
        <p:nvSpPr>
          <p:cNvPr id="5" name="Slide Number Placeholder 4">
            <a:extLst>
              <a:ext uri="{FF2B5EF4-FFF2-40B4-BE49-F238E27FC236}">
                <a16:creationId xmlns:a16="http://schemas.microsoft.com/office/drawing/2014/main" id="{04D1696D-DABF-E7F4-09A5-73841C566ABF}"/>
              </a:ext>
            </a:extLst>
          </p:cNvPr>
          <p:cNvSpPr>
            <a:spLocks noGrp="1"/>
          </p:cNvSpPr>
          <p:nvPr>
            <p:ph type="sldNum" sz="quarter" idx="12"/>
          </p:nvPr>
        </p:nvSpPr>
        <p:spPr/>
        <p:txBody>
          <a:bodyPr/>
          <a:lstStyle/>
          <a:p>
            <a:fld id="{21EF4C0E-91FA-4D94-8941-E22F3A83D5F1}" type="slidenum">
              <a:rPr lang="en-US" smtClean="0"/>
              <a:t>24</a:t>
            </a:fld>
            <a:endParaRPr lang="en-US"/>
          </a:p>
        </p:txBody>
      </p:sp>
      <p:sp>
        <p:nvSpPr>
          <p:cNvPr id="6" name="TextBox 5">
            <a:extLst>
              <a:ext uri="{FF2B5EF4-FFF2-40B4-BE49-F238E27FC236}">
                <a16:creationId xmlns:a16="http://schemas.microsoft.com/office/drawing/2014/main" id="{E8C7980C-D2F4-0CAF-80F4-684D5A7C3947}"/>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C9BD62F7-EAB7-6996-83C4-320084D081EB}"/>
              </a:ext>
            </a:extLst>
          </p:cNvPr>
          <p:cNvGrpSpPr/>
          <p:nvPr/>
        </p:nvGrpSpPr>
        <p:grpSpPr>
          <a:xfrm>
            <a:off x="457200" y="1028258"/>
            <a:ext cx="8467344" cy="3848928"/>
            <a:chOff x="457200" y="1101076"/>
            <a:chExt cx="8467344" cy="2102279"/>
          </a:xfrm>
        </p:grpSpPr>
        <p:sp>
          <p:nvSpPr>
            <p:cNvPr id="4" name="Shape 3">
              <a:extLst>
                <a:ext uri="{FF2B5EF4-FFF2-40B4-BE49-F238E27FC236}">
                  <a16:creationId xmlns:a16="http://schemas.microsoft.com/office/drawing/2014/main" id="{AE3FC56F-5737-98E2-12CD-83E206363615}"/>
                </a:ext>
              </a:extLst>
            </p:cNvPr>
            <p:cNvSpPr/>
            <p:nvPr/>
          </p:nvSpPr>
          <p:spPr>
            <a:xfrm>
              <a:off x="457200" y="1188720"/>
              <a:ext cx="4023360" cy="1988236"/>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D6DCCF06-5554-3025-27CF-8D193027471A}"/>
                </a:ext>
              </a:extLst>
            </p:cNvPr>
            <p:cNvSpPr/>
            <p:nvPr/>
          </p:nvSpPr>
          <p:spPr>
            <a:xfrm>
              <a:off x="457200" y="1188720"/>
              <a:ext cx="54864" cy="164592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1AE128B5-C549-8E05-D112-8EA7CA92AFB4}"/>
                </a:ext>
              </a:extLst>
            </p:cNvPr>
            <p:cNvSpPr/>
            <p:nvPr/>
          </p:nvSpPr>
          <p:spPr>
            <a:xfrm>
              <a:off x="795528" y="1124327"/>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Problems RAG Solves</a:t>
              </a:r>
              <a:endParaRPr lang="en-US" sz="2000" dirty="0">
                <a:latin typeface="Helvetica Neue Light"/>
              </a:endParaRPr>
            </a:p>
          </p:txBody>
        </p:sp>
        <p:sp>
          <p:nvSpPr>
            <p:cNvPr id="9" name="Text 6">
              <a:extLst>
                <a:ext uri="{FF2B5EF4-FFF2-40B4-BE49-F238E27FC236}">
                  <a16:creationId xmlns:a16="http://schemas.microsoft.com/office/drawing/2014/main" id="{AC322CDD-33BA-787D-1F7B-8977173C654F}"/>
                </a:ext>
              </a:extLst>
            </p:cNvPr>
            <p:cNvSpPr/>
            <p:nvPr/>
          </p:nvSpPr>
          <p:spPr>
            <a:xfrm>
              <a:off x="694944" y="1383322"/>
              <a:ext cx="3657600" cy="1576756"/>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Knowledge Cutoff: </a:t>
              </a:r>
              <a:r>
                <a:rPr lang="en-US" sz="1600" dirty="0">
                  <a:solidFill>
                    <a:srgbClr val="2D3436"/>
                  </a:solidFill>
                  <a:latin typeface="Helvetica Neue Light"/>
                  <a:ea typeface="Calibri" pitchFamily="34" charset="-122"/>
                  <a:cs typeface="Calibri" pitchFamily="34" charset="-120"/>
                </a:rPr>
                <a:t>LLMs only know   </a:t>
              </a:r>
            </a:p>
            <a:p>
              <a:pPr marL="0" indent="0">
                <a:buNone/>
              </a:pPr>
              <a:r>
                <a:rPr lang="en-US" sz="1600" dirty="0">
                  <a:solidFill>
                    <a:srgbClr val="2D3436"/>
                  </a:solidFill>
                  <a:latin typeface="Helvetica Neue Light"/>
                  <a:ea typeface="Calibri" pitchFamily="34" charset="-122"/>
                  <a:cs typeface="Calibri" pitchFamily="34" charset="-120"/>
                </a:rPr>
                <a:t>            training data (often months old)</a:t>
              </a:r>
            </a:p>
            <a:p>
              <a:pPr marL="0" indent="0">
                <a:buNone/>
              </a:pP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Hallucination: </a:t>
              </a:r>
              <a:r>
                <a:rPr lang="en-US" sz="1600" dirty="0">
                  <a:solidFill>
                    <a:srgbClr val="2D3436"/>
                  </a:solidFill>
                  <a:latin typeface="Helvetica Neue Light"/>
                  <a:ea typeface="Calibri" pitchFamily="34" charset="-122"/>
                  <a:cs typeface="Calibri" pitchFamily="34" charset="-120"/>
                </a:rPr>
                <a:t>LLMs make up facts 	when uncertain</a:t>
              </a:r>
            </a:p>
            <a:p>
              <a:pPr marL="0" indent="0">
                <a:buNone/>
              </a:pP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Black Box: </a:t>
              </a:r>
              <a:r>
                <a:rPr lang="en-US" sz="1600" dirty="0">
                  <a:solidFill>
                    <a:srgbClr val="2D3436"/>
                  </a:solidFill>
                  <a:latin typeface="Helvetica Neue Light"/>
                  <a:ea typeface="Calibri" pitchFamily="34" charset="-122"/>
                  <a:cs typeface="Calibri" pitchFamily="34" charset="-120"/>
                </a:rPr>
                <a:t>Can't verify what LLM 	"knows“</a:t>
              </a:r>
            </a:p>
            <a:p>
              <a:pPr marL="0" indent="0">
                <a:buNone/>
              </a:pP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Specialized Domains: </a:t>
              </a:r>
              <a:r>
                <a:rPr lang="en-US" sz="1600" dirty="0">
                  <a:solidFill>
                    <a:srgbClr val="2D3436"/>
                  </a:solidFill>
                  <a:latin typeface="Helvetica Neue Light"/>
                  <a:ea typeface="Calibri" pitchFamily="34" charset="-122"/>
                  <a:cs typeface="Calibri" pitchFamily="34" charset="-120"/>
                </a:rPr>
                <a:t>Generic models 	lack org-specific knowledge</a:t>
              </a:r>
              <a:endParaRPr lang="en-US" sz="1600" dirty="0">
                <a:latin typeface="Helvetica Neue Light"/>
              </a:endParaRPr>
            </a:p>
          </p:txBody>
        </p:sp>
        <p:sp>
          <p:nvSpPr>
            <p:cNvPr id="10" name="Shape 7">
              <a:extLst>
                <a:ext uri="{FF2B5EF4-FFF2-40B4-BE49-F238E27FC236}">
                  <a16:creationId xmlns:a16="http://schemas.microsoft.com/office/drawing/2014/main" id="{3F444418-E1BC-F483-84AE-E932F491E3E8}"/>
                </a:ext>
              </a:extLst>
            </p:cNvPr>
            <p:cNvSpPr/>
            <p:nvPr/>
          </p:nvSpPr>
          <p:spPr>
            <a:xfrm>
              <a:off x="4901184" y="1215119"/>
              <a:ext cx="4023360" cy="1988236"/>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44F41395-B837-9798-BB57-85F733CCB396}"/>
                </a:ext>
              </a:extLst>
            </p:cNvPr>
            <p:cNvSpPr/>
            <p:nvPr/>
          </p:nvSpPr>
          <p:spPr>
            <a:xfrm>
              <a:off x="4663440" y="1188720"/>
              <a:ext cx="54864" cy="1645920"/>
            </a:xfrm>
            <a:prstGeom prst="rect">
              <a:avLst/>
            </a:prstGeom>
            <a:solidFill>
              <a:srgbClr val="1C7293"/>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B3C3F430-F45A-5753-54E0-DD9A4B96C2A8}"/>
                </a:ext>
              </a:extLst>
            </p:cNvPr>
            <p:cNvSpPr/>
            <p:nvPr/>
          </p:nvSpPr>
          <p:spPr>
            <a:xfrm>
              <a:off x="4892040" y="1101076"/>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Current Applications</a:t>
              </a:r>
              <a:endParaRPr lang="en-US" sz="2000" dirty="0">
                <a:latin typeface="Helvetica Neue Light"/>
              </a:endParaRPr>
            </a:p>
          </p:txBody>
        </p:sp>
        <p:sp>
          <p:nvSpPr>
            <p:cNvPr id="13" name="Text 10">
              <a:extLst>
                <a:ext uri="{FF2B5EF4-FFF2-40B4-BE49-F238E27FC236}">
                  <a16:creationId xmlns:a16="http://schemas.microsoft.com/office/drawing/2014/main" id="{CF9AF423-8C5A-D23D-9481-964DAEF08A2C}"/>
                </a:ext>
              </a:extLst>
            </p:cNvPr>
            <p:cNvSpPr/>
            <p:nvPr/>
          </p:nvSpPr>
          <p:spPr>
            <a:xfrm>
              <a:off x="4892040" y="1600200"/>
              <a:ext cx="3657600" cy="11430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Enterprise AI Assistants</a:t>
              </a:r>
            </a:p>
            <a:p>
              <a:pPr marL="0" indent="0">
                <a:buNone/>
              </a:pP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Customer Support Chatbots</a:t>
              </a:r>
            </a:p>
            <a:p>
              <a:pPr marL="0" indent="0">
                <a:buNone/>
              </a:pP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Legal/Medical AI (citing sources)</a:t>
              </a:r>
            </a:p>
            <a:p>
              <a:pPr marL="0" indent="0">
                <a:buNone/>
              </a:pP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Academic Research Assistants</a:t>
              </a:r>
            </a:p>
            <a:p>
              <a:pPr marL="0" indent="0">
                <a:buNone/>
              </a:pP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Personal AI (ChatGPT web search)</a:t>
              </a:r>
            </a:p>
            <a:p>
              <a:pPr marL="0" indent="0">
                <a:buNone/>
              </a:pPr>
              <a:endParaRPr lang="en-US" sz="1600" dirty="0">
                <a:latin typeface="Helvetica Neue Light"/>
              </a:endParaRPr>
            </a:p>
            <a:p>
              <a:pPr marL="0" indent="0">
                <a:buNone/>
              </a:pPr>
              <a:r>
                <a:rPr lang="en-US" sz="1600" dirty="0">
                  <a:solidFill>
                    <a:srgbClr val="2D3436"/>
                  </a:solidFill>
                  <a:latin typeface="Helvetica Neue Light"/>
                  <a:ea typeface="Calibri" pitchFamily="34" charset="-122"/>
                  <a:cs typeface="Calibri" pitchFamily="34" charset="-120"/>
                </a:rPr>
                <a:t>Code Generation (GitHub Copilot)</a:t>
              </a:r>
              <a:endParaRPr lang="en-US" sz="1600" dirty="0">
                <a:latin typeface="Helvetica Neue Light"/>
              </a:endParaRPr>
            </a:p>
          </p:txBody>
        </p:sp>
      </p:grpSp>
    </p:spTree>
    <p:extLst>
      <p:ext uri="{BB962C8B-B14F-4D97-AF65-F5344CB8AC3E}">
        <p14:creationId xmlns:p14="http://schemas.microsoft.com/office/powerpoint/2010/main" val="2900907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F0608F8-1853-65B3-7B7C-80F451B30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67F11-55BE-38A8-9B0F-316F5913044D}"/>
              </a:ext>
            </a:extLst>
          </p:cNvPr>
          <p:cNvSpPr>
            <a:spLocks noGrp="1"/>
          </p:cNvSpPr>
          <p:nvPr>
            <p:ph type="title"/>
          </p:nvPr>
        </p:nvSpPr>
        <p:spPr>
          <a:xfrm>
            <a:off x="457200" y="365126"/>
            <a:ext cx="8229600" cy="592213"/>
          </a:xfrm>
        </p:spPr>
        <p:txBody>
          <a:bodyPr/>
          <a:lstStyle/>
          <a:p>
            <a:r>
              <a:rPr lang="en-US" dirty="0"/>
              <a:t>Challenges &amp; Key Insights</a:t>
            </a:r>
          </a:p>
        </p:txBody>
      </p:sp>
      <p:sp>
        <p:nvSpPr>
          <p:cNvPr id="5" name="Slide Number Placeholder 4">
            <a:extLst>
              <a:ext uri="{FF2B5EF4-FFF2-40B4-BE49-F238E27FC236}">
                <a16:creationId xmlns:a16="http://schemas.microsoft.com/office/drawing/2014/main" id="{074AF911-66B8-5744-9179-6CC16DE435D9}"/>
              </a:ext>
            </a:extLst>
          </p:cNvPr>
          <p:cNvSpPr>
            <a:spLocks noGrp="1"/>
          </p:cNvSpPr>
          <p:nvPr>
            <p:ph type="sldNum" sz="quarter" idx="12"/>
          </p:nvPr>
        </p:nvSpPr>
        <p:spPr/>
        <p:txBody>
          <a:bodyPr/>
          <a:lstStyle/>
          <a:p>
            <a:fld id="{21EF4C0E-91FA-4D94-8941-E22F3A83D5F1}" type="slidenum">
              <a:rPr lang="en-US" smtClean="0"/>
              <a:t>25</a:t>
            </a:fld>
            <a:endParaRPr lang="en-US"/>
          </a:p>
        </p:txBody>
      </p:sp>
      <p:sp>
        <p:nvSpPr>
          <p:cNvPr id="6" name="TextBox 5">
            <a:extLst>
              <a:ext uri="{FF2B5EF4-FFF2-40B4-BE49-F238E27FC236}">
                <a16:creationId xmlns:a16="http://schemas.microsoft.com/office/drawing/2014/main" id="{058D540B-CF6C-B665-F270-F766D6DF5C55}"/>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D65F353E-2A3B-FC8B-2D16-42020A937E36}"/>
              </a:ext>
            </a:extLst>
          </p:cNvPr>
          <p:cNvGrpSpPr/>
          <p:nvPr/>
        </p:nvGrpSpPr>
        <p:grpSpPr>
          <a:xfrm>
            <a:off x="457200" y="1233132"/>
            <a:ext cx="8458200" cy="4376557"/>
            <a:chOff x="457200" y="1124713"/>
            <a:chExt cx="8458200" cy="3035807"/>
          </a:xfrm>
        </p:grpSpPr>
        <p:sp>
          <p:nvSpPr>
            <p:cNvPr id="4" name="Text 3">
              <a:extLst>
                <a:ext uri="{FF2B5EF4-FFF2-40B4-BE49-F238E27FC236}">
                  <a16:creationId xmlns:a16="http://schemas.microsoft.com/office/drawing/2014/main" id="{D808EC17-CBC0-849C-376C-88380839A015}"/>
                </a:ext>
              </a:extLst>
            </p:cNvPr>
            <p:cNvSpPr/>
            <p:nvPr/>
          </p:nvSpPr>
          <p:spPr>
            <a:xfrm>
              <a:off x="457200" y="1124713"/>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Critical Challenges:</a:t>
              </a:r>
              <a:endParaRPr lang="en-US" sz="2000" dirty="0">
                <a:latin typeface="Helvetica Neue Light"/>
              </a:endParaRPr>
            </a:p>
          </p:txBody>
        </p:sp>
        <p:sp>
          <p:nvSpPr>
            <p:cNvPr id="7" name="Shape 4">
              <a:extLst>
                <a:ext uri="{FF2B5EF4-FFF2-40B4-BE49-F238E27FC236}">
                  <a16:creationId xmlns:a16="http://schemas.microsoft.com/office/drawing/2014/main" id="{4DE62005-859F-64F9-DAB9-70CD59631E7A}"/>
                </a:ext>
              </a:extLst>
            </p:cNvPr>
            <p:cNvSpPr/>
            <p:nvPr/>
          </p:nvSpPr>
          <p:spPr>
            <a:xfrm>
              <a:off x="457200" y="1583645"/>
              <a:ext cx="274320" cy="185918"/>
            </a:xfrm>
            <a:prstGeom prst="ellipse">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61B6691F-C414-6372-E0EA-541E44EF6E6B}"/>
                </a:ext>
              </a:extLst>
            </p:cNvPr>
            <p:cNvSpPr/>
            <p:nvPr/>
          </p:nvSpPr>
          <p:spPr>
            <a:xfrm>
              <a:off x="822960" y="1536192"/>
              <a:ext cx="18288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Context Window Limits:</a:t>
              </a:r>
              <a:endParaRPr lang="en-US" dirty="0">
                <a:latin typeface="Helvetica Neue Light"/>
              </a:endParaRPr>
            </a:p>
          </p:txBody>
        </p:sp>
        <p:sp>
          <p:nvSpPr>
            <p:cNvPr id="9" name="Text 6">
              <a:extLst>
                <a:ext uri="{FF2B5EF4-FFF2-40B4-BE49-F238E27FC236}">
                  <a16:creationId xmlns:a16="http://schemas.microsoft.com/office/drawing/2014/main" id="{69FB49BD-38F0-AA37-F1C3-7F049A5A62FC}"/>
                </a:ext>
              </a:extLst>
            </p:cNvPr>
            <p:cNvSpPr/>
            <p:nvPr/>
          </p:nvSpPr>
          <p:spPr>
            <a:xfrm>
              <a:off x="2573673" y="1536192"/>
              <a:ext cx="22860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Can only inject limited information</a:t>
              </a:r>
              <a:endParaRPr lang="en-US" sz="1600" dirty="0">
                <a:latin typeface="Helvetica Neue Light"/>
              </a:endParaRPr>
            </a:p>
          </p:txBody>
        </p:sp>
        <p:sp>
          <p:nvSpPr>
            <p:cNvPr id="10" name="Shape 7">
              <a:extLst>
                <a:ext uri="{FF2B5EF4-FFF2-40B4-BE49-F238E27FC236}">
                  <a16:creationId xmlns:a16="http://schemas.microsoft.com/office/drawing/2014/main" id="{6CB09D81-5F90-4F45-9175-2560BAAD553B}"/>
                </a:ext>
              </a:extLst>
            </p:cNvPr>
            <p:cNvSpPr/>
            <p:nvPr/>
          </p:nvSpPr>
          <p:spPr>
            <a:xfrm>
              <a:off x="457200" y="2086567"/>
              <a:ext cx="274320" cy="185918"/>
            </a:xfrm>
            <a:prstGeom prst="ellipse">
              <a:avLst/>
            </a:prstGeom>
            <a:solidFill>
              <a:srgbClr val="E07A5F"/>
            </a:solidFill>
            <a:ln/>
          </p:spPr>
          <p:txBody>
            <a:bodyPr/>
            <a:lstStyle/>
            <a:p>
              <a:endParaRPr lang="en-US" sz="3200">
                <a:latin typeface="Helvetica Neue Light"/>
              </a:endParaRPr>
            </a:p>
          </p:txBody>
        </p:sp>
        <p:sp>
          <p:nvSpPr>
            <p:cNvPr id="11" name="Text 8">
              <a:extLst>
                <a:ext uri="{FF2B5EF4-FFF2-40B4-BE49-F238E27FC236}">
                  <a16:creationId xmlns:a16="http://schemas.microsoft.com/office/drawing/2014/main" id="{41763D04-9F9E-90B8-1C4C-08F7065ACB4D}"/>
                </a:ext>
              </a:extLst>
            </p:cNvPr>
            <p:cNvSpPr/>
            <p:nvPr/>
          </p:nvSpPr>
          <p:spPr>
            <a:xfrm>
              <a:off x="822960" y="2039112"/>
              <a:ext cx="18288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Retrieval Quality:</a:t>
              </a:r>
              <a:endParaRPr lang="en-US" dirty="0">
                <a:latin typeface="Helvetica Neue Light"/>
              </a:endParaRPr>
            </a:p>
          </p:txBody>
        </p:sp>
        <p:sp>
          <p:nvSpPr>
            <p:cNvPr id="12" name="Text 9">
              <a:extLst>
                <a:ext uri="{FF2B5EF4-FFF2-40B4-BE49-F238E27FC236}">
                  <a16:creationId xmlns:a16="http://schemas.microsoft.com/office/drawing/2014/main" id="{F8FEE7C7-5233-A022-FE68-BA342F6BA2B0}"/>
                </a:ext>
              </a:extLst>
            </p:cNvPr>
            <p:cNvSpPr/>
            <p:nvPr/>
          </p:nvSpPr>
          <p:spPr>
            <a:xfrm>
              <a:off x="2573673" y="2039112"/>
              <a:ext cx="22860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Wrong documents = wrong answers</a:t>
              </a:r>
              <a:endParaRPr lang="en-US" sz="1600" dirty="0">
                <a:latin typeface="Helvetica Neue Light"/>
              </a:endParaRPr>
            </a:p>
          </p:txBody>
        </p:sp>
        <p:sp>
          <p:nvSpPr>
            <p:cNvPr id="13" name="Shape 10">
              <a:extLst>
                <a:ext uri="{FF2B5EF4-FFF2-40B4-BE49-F238E27FC236}">
                  <a16:creationId xmlns:a16="http://schemas.microsoft.com/office/drawing/2014/main" id="{79B405E9-95C3-F494-6BBE-3ADE908C478C}"/>
                </a:ext>
              </a:extLst>
            </p:cNvPr>
            <p:cNvSpPr/>
            <p:nvPr/>
          </p:nvSpPr>
          <p:spPr>
            <a:xfrm>
              <a:off x="457200" y="2589484"/>
              <a:ext cx="274320" cy="185918"/>
            </a:xfrm>
            <a:prstGeom prst="ellipse">
              <a:avLst/>
            </a:prstGeom>
            <a:solidFill>
              <a:srgbClr val="E07A5F"/>
            </a:solidFill>
            <a:ln/>
          </p:spPr>
          <p:txBody>
            <a:bodyPr/>
            <a:lstStyle/>
            <a:p>
              <a:endParaRPr lang="en-US" sz="3200">
                <a:latin typeface="Helvetica Neue Light"/>
              </a:endParaRPr>
            </a:p>
          </p:txBody>
        </p:sp>
        <p:sp>
          <p:nvSpPr>
            <p:cNvPr id="14" name="Text 11">
              <a:extLst>
                <a:ext uri="{FF2B5EF4-FFF2-40B4-BE49-F238E27FC236}">
                  <a16:creationId xmlns:a16="http://schemas.microsoft.com/office/drawing/2014/main" id="{65FD4035-05BC-ACC4-1C88-6D91E5A86BE3}"/>
                </a:ext>
              </a:extLst>
            </p:cNvPr>
            <p:cNvSpPr/>
            <p:nvPr/>
          </p:nvSpPr>
          <p:spPr>
            <a:xfrm>
              <a:off x="822960" y="2542032"/>
              <a:ext cx="18288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Latency:</a:t>
              </a:r>
              <a:endParaRPr lang="en-US" dirty="0">
                <a:latin typeface="Helvetica Neue Light"/>
              </a:endParaRPr>
            </a:p>
          </p:txBody>
        </p:sp>
        <p:sp>
          <p:nvSpPr>
            <p:cNvPr id="15" name="Text 12">
              <a:extLst>
                <a:ext uri="{FF2B5EF4-FFF2-40B4-BE49-F238E27FC236}">
                  <a16:creationId xmlns:a16="http://schemas.microsoft.com/office/drawing/2014/main" id="{42FA8944-0C0C-FBFF-8F5F-2F984B9A0CF8}"/>
                </a:ext>
              </a:extLst>
            </p:cNvPr>
            <p:cNvSpPr/>
            <p:nvPr/>
          </p:nvSpPr>
          <p:spPr>
            <a:xfrm>
              <a:off x="2573673" y="2542032"/>
              <a:ext cx="22860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Search adds delay to responses</a:t>
              </a:r>
              <a:endParaRPr lang="en-US" sz="1600" dirty="0">
                <a:latin typeface="Helvetica Neue Light"/>
              </a:endParaRPr>
            </a:p>
          </p:txBody>
        </p:sp>
        <p:sp>
          <p:nvSpPr>
            <p:cNvPr id="16" name="Shape 13">
              <a:extLst>
                <a:ext uri="{FF2B5EF4-FFF2-40B4-BE49-F238E27FC236}">
                  <a16:creationId xmlns:a16="http://schemas.microsoft.com/office/drawing/2014/main" id="{B7CA1204-09B6-27AC-F590-C00830DAF1C1}"/>
                </a:ext>
              </a:extLst>
            </p:cNvPr>
            <p:cNvSpPr/>
            <p:nvPr/>
          </p:nvSpPr>
          <p:spPr>
            <a:xfrm>
              <a:off x="4800600" y="1583645"/>
              <a:ext cx="274320" cy="185918"/>
            </a:xfrm>
            <a:prstGeom prst="ellipse">
              <a:avLst/>
            </a:prstGeom>
            <a:solidFill>
              <a:srgbClr val="E07A5F"/>
            </a:solidFill>
            <a:ln/>
          </p:spPr>
          <p:txBody>
            <a:bodyPr/>
            <a:lstStyle/>
            <a:p>
              <a:endParaRPr lang="en-US" sz="3200">
                <a:latin typeface="Helvetica Neue Light"/>
              </a:endParaRPr>
            </a:p>
          </p:txBody>
        </p:sp>
        <p:sp>
          <p:nvSpPr>
            <p:cNvPr id="17" name="Text 14">
              <a:extLst>
                <a:ext uri="{FF2B5EF4-FFF2-40B4-BE49-F238E27FC236}">
                  <a16:creationId xmlns:a16="http://schemas.microsoft.com/office/drawing/2014/main" id="{66A80199-565B-6A76-D4FF-A076BDD3C99E}"/>
                </a:ext>
              </a:extLst>
            </p:cNvPr>
            <p:cNvSpPr/>
            <p:nvPr/>
          </p:nvSpPr>
          <p:spPr>
            <a:xfrm>
              <a:off x="5166360" y="1536192"/>
              <a:ext cx="18288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Information Conflicts:</a:t>
              </a:r>
              <a:endParaRPr lang="en-US" dirty="0">
                <a:latin typeface="Helvetica Neue Light"/>
              </a:endParaRPr>
            </a:p>
          </p:txBody>
        </p:sp>
        <p:sp>
          <p:nvSpPr>
            <p:cNvPr id="18" name="Text 15">
              <a:extLst>
                <a:ext uri="{FF2B5EF4-FFF2-40B4-BE49-F238E27FC236}">
                  <a16:creationId xmlns:a16="http://schemas.microsoft.com/office/drawing/2014/main" id="{8F1241DB-0428-EB40-6CA9-B3647515B33C}"/>
                </a:ext>
              </a:extLst>
            </p:cNvPr>
            <p:cNvSpPr/>
            <p:nvPr/>
          </p:nvSpPr>
          <p:spPr>
            <a:xfrm>
              <a:off x="6629400" y="1536192"/>
              <a:ext cx="22860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Retrieved docs may contradict each other</a:t>
              </a:r>
              <a:endParaRPr lang="en-US" sz="1600" dirty="0">
                <a:latin typeface="Helvetica Neue Light"/>
              </a:endParaRPr>
            </a:p>
          </p:txBody>
        </p:sp>
        <p:sp>
          <p:nvSpPr>
            <p:cNvPr id="19" name="Shape 16">
              <a:extLst>
                <a:ext uri="{FF2B5EF4-FFF2-40B4-BE49-F238E27FC236}">
                  <a16:creationId xmlns:a16="http://schemas.microsoft.com/office/drawing/2014/main" id="{20ACF9E4-0295-0CCF-9829-20C71FEDF172}"/>
                </a:ext>
              </a:extLst>
            </p:cNvPr>
            <p:cNvSpPr/>
            <p:nvPr/>
          </p:nvSpPr>
          <p:spPr>
            <a:xfrm>
              <a:off x="4800600" y="2086567"/>
              <a:ext cx="274320" cy="185918"/>
            </a:xfrm>
            <a:prstGeom prst="ellipse">
              <a:avLst/>
            </a:prstGeom>
            <a:solidFill>
              <a:srgbClr val="E07A5F"/>
            </a:solidFill>
            <a:ln/>
          </p:spPr>
          <p:txBody>
            <a:bodyPr/>
            <a:lstStyle/>
            <a:p>
              <a:endParaRPr lang="en-US" sz="3200">
                <a:latin typeface="Helvetica Neue Light"/>
              </a:endParaRPr>
            </a:p>
          </p:txBody>
        </p:sp>
        <p:sp>
          <p:nvSpPr>
            <p:cNvPr id="20" name="Text 17">
              <a:extLst>
                <a:ext uri="{FF2B5EF4-FFF2-40B4-BE49-F238E27FC236}">
                  <a16:creationId xmlns:a16="http://schemas.microsoft.com/office/drawing/2014/main" id="{8400D6DF-4E3F-E74F-DDDA-7D55F373C958}"/>
                </a:ext>
              </a:extLst>
            </p:cNvPr>
            <p:cNvSpPr/>
            <p:nvPr/>
          </p:nvSpPr>
          <p:spPr>
            <a:xfrm>
              <a:off x="5166360" y="2039112"/>
              <a:ext cx="18288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Cost:</a:t>
              </a:r>
              <a:endParaRPr lang="en-US" dirty="0">
                <a:latin typeface="Helvetica Neue Light"/>
              </a:endParaRPr>
            </a:p>
          </p:txBody>
        </p:sp>
        <p:sp>
          <p:nvSpPr>
            <p:cNvPr id="21" name="Text 18">
              <a:extLst>
                <a:ext uri="{FF2B5EF4-FFF2-40B4-BE49-F238E27FC236}">
                  <a16:creationId xmlns:a16="http://schemas.microsoft.com/office/drawing/2014/main" id="{3C2333C6-107B-E804-98B9-D375607FA36E}"/>
                </a:ext>
              </a:extLst>
            </p:cNvPr>
            <p:cNvSpPr/>
            <p:nvPr/>
          </p:nvSpPr>
          <p:spPr>
            <a:xfrm>
              <a:off x="6629400" y="2039112"/>
              <a:ext cx="22860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Every retrieval + longer context = more API cost</a:t>
              </a:r>
              <a:endParaRPr lang="en-US" sz="1600" dirty="0">
                <a:latin typeface="Helvetica Neue Light"/>
              </a:endParaRPr>
            </a:p>
          </p:txBody>
        </p:sp>
        <p:sp>
          <p:nvSpPr>
            <p:cNvPr id="22" name="Shape 19">
              <a:extLst>
                <a:ext uri="{FF2B5EF4-FFF2-40B4-BE49-F238E27FC236}">
                  <a16:creationId xmlns:a16="http://schemas.microsoft.com/office/drawing/2014/main" id="{4CF9FADB-68AC-BFF0-120A-C5BD3CEC79E8}"/>
                </a:ext>
              </a:extLst>
            </p:cNvPr>
            <p:cNvSpPr/>
            <p:nvPr/>
          </p:nvSpPr>
          <p:spPr>
            <a:xfrm>
              <a:off x="4800600" y="2589484"/>
              <a:ext cx="274320" cy="185918"/>
            </a:xfrm>
            <a:prstGeom prst="ellipse">
              <a:avLst/>
            </a:prstGeom>
            <a:solidFill>
              <a:srgbClr val="E07A5F"/>
            </a:solidFill>
            <a:ln/>
          </p:spPr>
          <p:txBody>
            <a:bodyPr/>
            <a:lstStyle/>
            <a:p>
              <a:endParaRPr lang="en-US" sz="3200">
                <a:latin typeface="Helvetica Neue Light"/>
              </a:endParaRPr>
            </a:p>
          </p:txBody>
        </p:sp>
        <p:sp>
          <p:nvSpPr>
            <p:cNvPr id="23" name="Text 20">
              <a:extLst>
                <a:ext uri="{FF2B5EF4-FFF2-40B4-BE49-F238E27FC236}">
                  <a16:creationId xmlns:a16="http://schemas.microsoft.com/office/drawing/2014/main" id="{81962AE4-28E7-250C-9A57-C199D536B500}"/>
                </a:ext>
              </a:extLst>
            </p:cNvPr>
            <p:cNvSpPr/>
            <p:nvPr/>
          </p:nvSpPr>
          <p:spPr>
            <a:xfrm>
              <a:off x="5166360" y="2542032"/>
              <a:ext cx="18288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Security:</a:t>
              </a:r>
              <a:endParaRPr lang="en-US" dirty="0">
                <a:latin typeface="Helvetica Neue Light"/>
              </a:endParaRPr>
            </a:p>
          </p:txBody>
        </p:sp>
        <p:sp>
          <p:nvSpPr>
            <p:cNvPr id="24" name="Text 21">
              <a:extLst>
                <a:ext uri="{FF2B5EF4-FFF2-40B4-BE49-F238E27FC236}">
                  <a16:creationId xmlns:a16="http://schemas.microsoft.com/office/drawing/2014/main" id="{9ACB83BC-3B02-9466-CD19-2EAF16313D02}"/>
                </a:ext>
              </a:extLst>
            </p:cNvPr>
            <p:cNvSpPr/>
            <p:nvPr/>
          </p:nvSpPr>
          <p:spPr>
            <a:xfrm>
              <a:off x="6629400" y="2542032"/>
              <a:ext cx="22860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Ensuring users only access authorized docs</a:t>
              </a:r>
              <a:endParaRPr lang="en-US" sz="1600" dirty="0">
                <a:latin typeface="Helvetica Neue Light"/>
              </a:endParaRPr>
            </a:p>
          </p:txBody>
        </p:sp>
        <p:sp>
          <p:nvSpPr>
            <p:cNvPr id="25" name="Shape 22">
              <a:extLst>
                <a:ext uri="{FF2B5EF4-FFF2-40B4-BE49-F238E27FC236}">
                  <a16:creationId xmlns:a16="http://schemas.microsoft.com/office/drawing/2014/main" id="{05B2E9A7-86FD-B104-E214-FDEB145C9F83}"/>
                </a:ext>
              </a:extLst>
            </p:cNvPr>
            <p:cNvSpPr/>
            <p:nvPr/>
          </p:nvSpPr>
          <p:spPr>
            <a:xfrm>
              <a:off x="457200" y="3154680"/>
              <a:ext cx="8229600" cy="10058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26" name="Shape 23">
              <a:extLst>
                <a:ext uri="{FF2B5EF4-FFF2-40B4-BE49-F238E27FC236}">
                  <a16:creationId xmlns:a16="http://schemas.microsoft.com/office/drawing/2014/main" id="{B20D203C-4B56-A681-0BCA-3BA372606AC4}"/>
                </a:ext>
              </a:extLst>
            </p:cNvPr>
            <p:cNvSpPr/>
            <p:nvPr/>
          </p:nvSpPr>
          <p:spPr>
            <a:xfrm>
              <a:off x="457200" y="3154680"/>
              <a:ext cx="54864" cy="1005840"/>
            </a:xfrm>
            <a:prstGeom prst="rect">
              <a:avLst/>
            </a:prstGeom>
            <a:solidFill>
              <a:srgbClr val="065A82"/>
            </a:solidFill>
            <a:ln/>
          </p:spPr>
          <p:txBody>
            <a:bodyPr/>
            <a:lstStyle/>
            <a:p>
              <a:endParaRPr lang="en-US" sz="3200">
                <a:latin typeface="Helvetica Neue Light"/>
              </a:endParaRPr>
            </a:p>
          </p:txBody>
        </p:sp>
        <p:sp>
          <p:nvSpPr>
            <p:cNvPr id="27" name="Text 24">
              <a:extLst>
                <a:ext uri="{FF2B5EF4-FFF2-40B4-BE49-F238E27FC236}">
                  <a16:creationId xmlns:a16="http://schemas.microsoft.com/office/drawing/2014/main" id="{6714AA4A-5862-6FDE-49C6-98B082826379}"/>
                </a:ext>
              </a:extLst>
            </p:cNvPr>
            <p:cNvSpPr/>
            <p:nvPr/>
          </p:nvSpPr>
          <p:spPr>
            <a:xfrm>
              <a:off x="685800" y="3193641"/>
              <a:ext cx="77724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Key Insight: Closed-Book vs. Open-Book Exam</a:t>
              </a:r>
              <a:endParaRPr lang="en-US" sz="2000" dirty="0">
                <a:latin typeface="Helvetica Neue Light"/>
              </a:endParaRPr>
            </a:p>
          </p:txBody>
        </p:sp>
        <p:sp>
          <p:nvSpPr>
            <p:cNvPr id="28" name="Text 25">
              <a:extLst>
                <a:ext uri="{FF2B5EF4-FFF2-40B4-BE49-F238E27FC236}">
                  <a16:creationId xmlns:a16="http://schemas.microsoft.com/office/drawing/2014/main" id="{CD3FD218-29D1-0512-76FA-75E34A19BB7A}"/>
                </a:ext>
              </a:extLst>
            </p:cNvPr>
            <p:cNvSpPr/>
            <p:nvPr/>
          </p:nvSpPr>
          <p:spPr>
            <a:xfrm>
              <a:off x="685800" y="3520440"/>
              <a:ext cx="7772400" cy="5486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RAG gives AI the ability to cite sources, stay current, and acknowledge what it doesn't know — making AI systems more trustworthy, verifiable, and useful for real-world applications where accuracy and timeliness are crucial.</a:t>
              </a:r>
              <a:endParaRPr lang="en-US" dirty="0">
                <a:latin typeface="Helvetica Neue Light"/>
              </a:endParaRPr>
            </a:p>
          </p:txBody>
        </p:sp>
      </p:grpSp>
    </p:spTree>
    <p:extLst>
      <p:ext uri="{BB962C8B-B14F-4D97-AF65-F5344CB8AC3E}">
        <p14:creationId xmlns:p14="http://schemas.microsoft.com/office/powerpoint/2010/main" val="3306090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BF47B-6E6B-C3D2-4CCF-ECA7ED2E35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26E4346-1D5F-0E00-5F04-6F5634EB98AB}"/>
              </a:ext>
            </a:extLst>
          </p:cNvPr>
          <p:cNvSpPr>
            <a:spLocks noGrp="1"/>
          </p:cNvSpPr>
          <p:nvPr>
            <p:ph type="title"/>
          </p:nvPr>
        </p:nvSpPr>
        <p:spPr>
          <a:xfrm>
            <a:off x="623888" y="3415944"/>
            <a:ext cx="7886700" cy="1146532"/>
          </a:xfrm>
        </p:spPr>
        <p:txBody>
          <a:bodyPr/>
          <a:lstStyle/>
          <a:p>
            <a:r>
              <a:rPr lang="en-US" sz="3200" i="1" dirty="0"/>
              <a:t>Part 5</a:t>
            </a:r>
            <a:br>
              <a:rPr lang="en-US" sz="4400" dirty="0"/>
            </a:br>
            <a:r>
              <a:rPr lang="en-US" sz="4400" dirty="0"/>
              <a:t>	Context Window in AI</a:t>
            </a:r>
          </a:p>
        </p:txBody>
      </p:sp>
      <p:sp>
        <p:nvSpPr>
          <p:cNvPr id="2" name="Text Placeholder 1">
            <a:extLst>
              <a:ext uri="{FF2B5EF4-FFF2-40B4-BE49-F238E27FC236}">
                <a16:creationId xmlns:a16="http://schemas.microsoft.com/office/drawing/2014/main" id="{A3CC18E0-8ACD-138E-2101-4A7056505E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BE2871-B974-4DE1-9BA1-E52A04FB7C95}"/>
              </a:ext>
            </a:extLst>
          </p:cNvPr>
          <p:cNvSpPr>
            <a:spLocks noGrp="1"/>
          </p:cNvSpPr>
          <p:nvPr>
            <p:ph type="sldNum" sz="quarter" idx="12"/>
          </p:nvPr>
        </p:nvSpPr>
        <p:spPr/>
        <p:txBody>
          <a:bodyPr/>
          <a:lstStyle/>
          <a:p>
            <a:fld id="{21EF4C0E-91FA-4D94-8941-E22F3A83D5F1}" type="slidenum">
              <a:rPr lang="en-US" smtClean="0"/>
              <a:t>26</a:t>
            </a:fld>
            <a:endParaRPr lang="en-US"/>
          </a:p>
        </p:txBody>
      </p:sp>
    </p:spTree>
    <p:extLst>
      <p:ext uri="{BB962C8B-B14F-4D97-AF65-F5344CB8AC3E}">
        <p14:creationId xmlns:p14="http://schemas.microsoft.com/office/powerpoint/2010/main" val="3449923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229600" cy="592213"/>
          </a:xfrm>
        </p:spPr>
        <p:txBody>
          <a:bodyPr/>
          <a:lstStyle/>
          <a:p>
            <a:r>
              <a:rPr lang="en-US" dirty="0"/>
              <a:t>Context Window in AI - Video (3:09) </a:t>
            </a:r>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27</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574035" y="6679342"/>
            <a:ext cx="2477095" cy="215444"/>
          </a:xfrm>
          <a:prstGeom prst="rect">
            <a:avLst/>
          </a:prstGeom>
          <a:noFill/>
        </p:spPr>
        <p:txBody>
          <a:bodyPr wrap="square">
            <a:spAutoFit/>
          </a:bodyPr>
          <a:lstStyle/>
          <a:p>
            <a:r>
              <a:rPr lang="en-US" sz="800" dirty="0">
                <a:solidFill>
                  <a:schemeClr val="bg2">
                    <a:lumMod val="90000"/>
                  </a:schemeClr>
                </a:solidFill>
              </a:rPr>
              <a:t>https://www.youtube.com/watch?v=MmSMAYooRas</a:t>
            </a:r>
          </a:p>
        </p:txBody>
      </p:sp>
      <p:pic>
        <p:nvPicPr>
          <p:cNvPr id="3" name="Online Media 2" title="How does GPT4's context window work">
            <a:hlinkClick r:id="" action="ppaction://media"/>
            <a:extLst>
              <a:ext uri="{FF2B5EF4-FFF2-40B4-BE49-F238E27FC236}">
                <a16:creationId xmlns:a16="http://schemas.microsoft.com/office/drawing/2014/main" id="{828A070E-52BD-7B9E-641C-46FA333F5B1B}"/>
              </a:ext>
            </a:extLst>
          </p:cNvPr>
          <p:cNvPicPr>
            <a:picLocks noRot="1" noChangeAspect="1"/>
          </p:cNvPicPr>
          <p:nvPr>
            <a:videoFile r:link="rId1"/>
          </p:nvPr>
        </p:nvPicPr>
        <p:blipFill>
          <a:blip r:embed="rId3"/>
          <a:stretch>
            <a:fillRect/>
          </a:stretch>
        </p:blipFill>
        <p:spPr>
          <a:xfrm>
            <a:off x="457200" y="1701197"/>
            <a:ext cx="8487103" cy="4791677"/>
          </a:xfrm>
          <a:prstGeom prst="rect">
            <a:avLst/>
          </a:prstGeom>
        </p:spPr>
      </p:pic>
      <p:sp>
        <p:nvSpPr>
          <p:cNvPr id="6" name="TextBox 5">
            <a:extLst>
              <a:ext uri="{FF2B5EF4-FFF2-40B4-BE49-F238E27FC236}">
                <a16:creationId xmlns:a16="http://schemas.microsoft.com/office/drawing/2014/main" id="{1304F571-2911-24E3-7918-F51A57CBC17D}"/>
              </a:ext>
            </a:extLst>
          </p:cNvPr>
          <p:cNvSpPr txBox="1"/>
          <p:nvPr/>
        </p:nvSpPr>
        <p:spPr>
          <a:xfrm>
            <a:off x="457200" y="1238305"/>
            <a:ext cx="4572000" cy="369332"/>
          </a:xfrm>
          <a:prstGeom prst="rect">
            <a:avLst/>
          </a:prstGeom>
          <a:noFill/>
        </p:spPr>
        <p:txBody>
          <a:bodyPr wrap="square">
            <a:spAutoFit/>
          </a:bodyPr>
          <a:lstStyle/>
          <a:p>
            <a:r>
              <a:rPr lang="en-US" i="1" dirty="0">
                <a:latin typeface="Helvetica Neue Light"/>
              </a:rPr>
              <a:t>Understanding AI's "working memory"</a:t>
            </a:r>
          </a:p>
        </p:txBody>
      </p:sp>
    </p:spTree>
    <p:extLst>
      <p:ext uri="{BB962C8B-B14F-4D97-AF65-F5344CB8AC3E}">
        <p14:creationId xmlns:p14="http://schemas.microsoft.com/office/powerpoint/2010/main" val="292768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DDDA2AE5-E8A2-7F68-CF38-B09934718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D18FA-1327-C645-2241-4A7F70DFB5B9}"/>
              </a:ext>
            </a:extLst>
          </p:cNvPr>
          <p:cNvSpPr>
            <a:spLocks noGrp="1"/>
          </p:cNvSpPr>
          <p:nvPr>
            <p:ph type="title"/>
          </p:nvPr>
        </p:nvSpPr>
        <p:spPr>
          <a:xfrm>
            <a:off x="457200" y="365126"/>
            <a:ext cx="8686800" cy="536622"/>
          </a:xfrm>
        </p:spPr>
        <p:txBody>
          <a:bodyPr/>
          <a:lstStyle/>
          <a:p>
            <a:r>
              <a:rPr lang="en-US" sz="3200" dirty="0"/>
              <a:t>The Memory Span That Defines AI Capabilities</a:t>
            </a:r>
          </a:p>
        </p:txBody>
      </p:sp>
      <p:sp>
        <p:nvSpPr>
          <p:cNvPr id="5" name="Slide Number Placeholder 4">
            <a:extLst>
              <a:ext uri="{FF2B5EF4-FFF2-40B4-BE49-F238E27FC236}">
                <a16:creationId xmlns:a16="http://schemas.microsoft.com/office/drawing/2014/main" id="{09198223-EAAD-5194-D9B4-3CE83D373276}"/>
              </a:ext>
            </a:extLst>
          </p:cNvPr>
          <p:cNvSpPr>
            <a:spLocks noGrp="1"/>
          </p:cNvSpPr>
          <p:nvPr>
            <p:ph type="sldNum" sz="quarter" idx="12"/>
          </p:nvPr>
        </p:nvSpPr>
        <p:spPr/>
        <p:txBody>
          <a:bodyPr/>
          <a:lstStyle/>
          <a:p>
            <a:fld id="{21EF4C0E-91FA-4D94-8941-E22F3A83D5F1}" type="slidenum">
              <a:rPr lang="en-US" smtClean="0"/>
              <a:t>28</a:t>
            </a:fld>
            <a:endParaRPr lang="en-US"/>
          </a:p>
        </p:txBody>
      </p:sp>
      <p:sp>
        <p:nvSpPr>
          <p:cNvPr id="6" name="TextBox 5">
            <a:extLst>
              <a:ext uri="{FF2B5EF4-FFF2-40B4-BE49-F238E27FC236}">
                <a16:creationId xmlns:a16="http://schemas.microsoft.com/office/drawing/2014/main" id="{02FC07C1-E761-0998-CC62-E25D9BEB8B5B}"/>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5D05D3DC-0825-8D9C-8137-A3437F171DC0}"/>
              </a:ext>
            </a:extLst>
          </p:cNvPr>
          <p:cNvGrpSpPr/>
          <p:nvPr/>
        </p:nvGrpSpPr>
        <p:grpSpPr>
          <a:xfrm>
            <a:off x="457200" y="1234440"/>
            <a:ext cx="8229600" cy="5166360"/>
            <a:chOff x="457200" y="1234440"/>
            <a:chExt cx="8229600" cy="2971800"/>
          </a:xfrm>
        </p:grpSpPr>
        <p:sp>
          <p:nvSpPr>
            <p:cNvPr id="4" name="Shape 3">
              <a:extLst>
                <a:ext uri="{FF2B5EF4-FFF2-40B4-BE49-F238E27FC236}">
                  <a16:creationId xmlns:a16="http://schemas.microsoft.com/office/drawing/2014/main" id="{8F3B2EA8-915B-4653-6951-72FEA5E14EBD}"/>
                </a:ext>
              </a:extLst>
            </p:cNvPr>
            <p:cNvSpPr/>
            <p:nvPr/>
          </p:nvSpPr>
          <p:spPr>
            <a:xfrm>
              <a:off x="457200" y="1234440"/>
              <a:ext cx="822960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33D6CC7F-ED2E-89D3-455C-9D046A1CEA8C}"/>
                </a:ext>
              </a:extLst>
            </p:cNvPr>
            <p:cNvSpPr/>
            <p:nvPr/>
          </p:nvSpPr>
          <p:spPr>
            <a:xfrm>
              <a:off x="457200" y="1234440"/>
              <a:ext cx="54864" cy="91440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52B02A3C-049E-AF6E-C52B-035B4E8B4B39}"/>
                </a:ext>
              </a:extLst>
            </p:cNvPr>
            <p:cNvSpPr/>
            <p:nvPr/>
          </p:nvSpPr>
          <p:spPr>
            <a:xfrm>
              <a:off x="685800" y="1302069"/>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Definition:</a:t>
              </a:r>
              <a:endParaRPr lang="en-US" sz="2000" dirty="0">
                <a:latin typeface="Helvetica Neue Light"/>
              </a:endParaRPr>
            </a:p>
          </p:txBody>
        </p:sp>
        <p:sp>
          <p:nvSpPr>
            <p:cNvPr id="9" name="Text 6">
              <a:extLst>
                <a:ext uri="{FF2B5EF4-FFF2-40B4-BE49-F238E27FC236}">
                  <a16:creationId xmlns:a16="http://schemas.microsoft.com/office/drawing/2014/main" id="{C5E4E2C8-AEE6-12E0-9CBC-F8DF5C5F571A}"/>
                </a:ext>
              </a:extLst>
            </p:cNvPr>
            <p:cNvSpPr/>
            <p:nvPr/>
          </p:nvSpPr>
          <p:spPr>
            <a:xfrm>
              <a:off x="685800" y="1554480"/>
              <a:ext cx="7772400" cy="502920"/>
            </a:xfrm>
            <a:prstGeom prst="rect">
              <a:avLst/>
            </a:prstGeom>
            <a:noFill/>
            <a:ln/>
          </p:spPr>
          <p:txBody>
            <a:bodyPr wrap="square" rtlCol="0" anchor="ctr"/>
            <a:lstStyle/>
            <a:p>
              <a:pPr marL="0" indent="0">
                <a:buNone/>
              </a:pPr>
              <a:r>
                <a:rPr lang="en-US" sz="2000" dirty="0">
                  <a:solidFill>
                    <a:srgbClr val="2D3436"/>
                  </a:solidFill>
                  <a:latin typeface="Helvetica Neue Light"/>
                  <a:ea typeface="Calibri" pitchFamily="34" charset="-122"/>
                  <a:cs typeface="Calibri" pitchFamily="34" charset="-120"/>
                </a:rPr>
                <a:t>The context window is the maximum amount of text (measured in tokens (1 token ≈ ¾ word) that an AI model can "see" and process at once — think of it as the AI's "working memory" or "attention span."</a:t>
              </a:r>
              <a:endParaRPr lang="en-US" sz="2000" dirty="0">
                <a:latin typeface="Helvetica Neue Light"/>
              </a:endParaRPr>
            </a:p>
          </p:txBody>
        </p:sp>
        <p:sp>
          <p:nvSpPr>
            <p:cNvPr id="10" name="Text 7">
              <a:extLst>
                <a:ext uri="{FF2B5EF4-FFF2-40B4-BE49-F238E27FC236}">
                  <a16:creationId xmlns:a16="http://schemas.microsoft.com/office/drawing/2014/main" id="{1D966B95-740A-2789-9A2E-86EDF90C9C54}"/>
                </a:ext>
              </a:extLst>
            </p:cNvPr>
            <p:cNvSpPr/>
            <p:nvPr/>
          </p:nvSpPr>
          <p:spPr>
            <a:xfrm>
              <a:off x="457200" y="2286000"/>
              <a:ext cx="8229600" cy="320040"/>
            </a:xfrm>
            <a:prstGeom prst="rect">
              <a:avLst/>
            </a:prstGeom>
            <a:noFill/>
            <a:ln/>
          </p:spPr>
          <p:txBody>
            <a:bodyPr wrap="square" rtlCol="0" anchor="ctr"/>
            <a:lstStyle/>
            <a:p>
              <a:pPr marL="0" indent="0">
                <a:buNone/>
              </a:pPr>
              <a:r>
                <a:rPr lang="en-US" sz="2400" b="1" dirty="0">
                  <a:solidFill>
                    <a:srgbClr val="065A82"/>
                  </a:solidFill>
                  <a:latin typeface="Helvetica Neue Light"/>
                  <a:ea typeface="Georgia" pitchFamily="34" charset="-122"/>
                  <a:cs typeface="Georgia" pitchFamily="34" charset="-120"/>
                </a:rPr>
                <a:t>The Core Concept: Like Human Short-Term Memory</a:t>
              </a:r>
              <a:endParaRPr lang="en-US" sz="2400" dirty="0">
                <a:latin typeface="Helvetica Neue Light"/>
              </a:endParaRPr>
            </a:p>
          </p:txBody>
        </p:sp>
        <p:sp>
          <p:nvSpPr>
            <p:cNvPr id="11" name="Shape 8">
              <a:extLst>
                <a:ext uri="{FF2B5EF4-FFF2-40B4-BE49-F238E27FC236}">
                  <a16:creationId xmlns:a16="http://schemas.microsoft.com/office/drawing/2014/main" id="{C171C9E6-5F50-77E1-DDD2-6147927C4FEE}"/>
                </a:ext>
              </a:extLst>
            </p:cNvPr>
            <p:cNvSpPr/>
            <p:nvPr/>
          </p:nvSpPr>
          <p:spPr>
            <a:xfrm>
              <a:off x="457200" y="2651760"/>
              <a:ext cx="393192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2" name="Shape 9">
              <a:extLst>
                <a:ext uri="{FF2B5EF4-FFF2-40B4-BE49-F238E27FC236}">
                  <a16:creationId xmlns:a16="http://schemas.microsoft.com/office/drawing/2014/main" id="{6DA5EB55-C5D7-B091-E1EC-85AAAF863519}"/>
                </a:ext>
              </a:extLst>
            </p:cNvPr>
            <p:cNvSpPr/>
            <p:nvPr/>
          </p:nvSpPr>
          <p:spPr>
            <a:xfrm>
              <a:off x="457200" y="2651760"/>
              <a:ext cx="54864" cy="914400"/>
            </a:xfrm>
            <a:prstGeom prst="rect">
              <a:avLst/>
            </a:prstGeom>
            <a:solidFill>
              <a:srgbClr val="636E72"/>
            </a:solidFill>
            <a:ln/>
          </p:spPr>
          <p:txBody>
            <a:bodyPr/>
            <a:lstStyle/>
            <a:p>
              <a:endParaRPr lang="en-US" sz="3200">
                <a:latin typeface="Helvetica Neue Light"/>
              </a:endParaRPr>
            </a:p>
          </p:txBody>
        </p:sp>
        <p:sp>
          <p:nvSpPr>
            <p:cNvPr id="13" name="Text 10">
              <a:extLst>
                <a:ext uri="{FF2B5EF4-FFF2-40B4-BE49-F238E27FC236}">
                  <a16:creationId xmlns:a16="http://schemas.microsoft.com/office/drawing/2014/main" id="{146C723C-7C40-6461-14A4-0A76CEBE6AFE}"/>
                </a:ext>
              </a:extLst>
            </p:cNvPr>
            <p:cNvSpPr/>
            <p:nvPr/>
          </p:nvSpPr>
          <p:spPr>
            <a:xfrm>
              <a:off x="685800" y="2743200"/>
              <a:ext cx="347472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Humans</a:t>
              </a:r>
              <a:endParaRPr lang="en-US" sz="2000" dirty="0">
                <a:latin typeface="Helvetica Neue Light"/>
              </a:endParaRPr>
            </a:p>
          </p:txBody>
        </p:sp>
        <p:sp>
          <p:nvSpPr>
            <p:cNvPr id="14" name="Text 11">
              <a:extLst>
                <a:ext uri="{FF2B5EF4-FFF2-40B4-BE49-F238E27FC236}">
                  <a16:creationId xmlns:a16="http://schemas.microsoft.com/office/drawing/2014/main" id="{58C3C281-F807-E167-0440-89DFED81208C}"/>
                </a:ext>
              </a:extLst>
            </p:cNvPr>
            <p:cNvSpPr/>
            <p:nvPr/>
          </p:nvSpPr>
          <p:spPr>
            <a:xfrm>
              <a:off x="685800" y="3017520"/>
              <a:ext cx="3474720" cy="45720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Can hold ~7 items in working memory while reasoning</a:t>
              </a:r>
              <a:endParaRPr lang="en-US" dirty="0">
                <a:latin typeface="Helvetica Neue Light"/>
              </a:endParaRPr>
            </a:p>
          </p:txBody>
        </p:sp>
        <p:sp>
          <p:nvSpPr>
            <p:cNvPr id="15" name="Shape 12">
              <a:extLst>
                <a:ext uri="{FF2B5EF4-FFF2-40B4-BE49-F238E27FC236}">
                  <a16:creationId xmlns:a16="http://schemas.microsoft.com/office/drawing/2014/main" id="{D09CC857-6298-B5A4-FBC7-3F9DD530C598}"/>
                </a:ext>
              </a:extLst>
            </p:cNvPr>
            <p:cNvSpPr/>
            <p:nvPr/>
          </p:nvSpPr>
          <p:spPr>
            <a:xfrm>
              <a:off x="4754880" y="2651760"/>
              <a:ext cx="393192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6" name="Shape 13">
              <a:extLst>
                <a:ext uri="{FF2B5EF4-FFF2-40B4-BE49-F238E27FC236}">
                  <a16:creationId xmlns:a16="http://schemas.microsoft.com/office/drawing/2014/main" id="{BCA86ABF-9563-8F79-F876-C795F86D54C2}"/>
                </a:ext>
              </a:extLst>
            </p:cNvPr>
            <p:cNvSpPr/>
            <p:nvPr/>
          </p:nvSpPr>
          <p:spPr>
            <a:xfrm>
              <a:off x="4754880" y="2651760"/>
              <a:ext cx="54864" cy="914400"/>
            </a:xfrm>
            <a:prstGeom prst="rect">
              <a:avLst/>
            </a:prstGeom>
            <a:solidFill>
              <a:srgbClr val="1C7293"/>
            </a:solidFill>
            <a:ln/>
          </p:spPr>
          <p:txBody>
            <a:bodyPr/>
            <a:lstStyle/>
            <a:p>
              <a:endParaRPr lang="en-US" sz="3200">
                <a:latin typeface="Helvetica Neue Light"/>
              </a:endParaRPr>
            </a:p>
          </p:txBody>
        </p:sp>
        <p:sp>
          <p:nvSpPr>
            <p:cNvPr id="17" name="Text 14">
              <a:extLst>
                <a:ext uri="{FF2B5EF4-FFF2-40B4-BE49-F238E27FC236}">
                  <a16:creationId xmlns:a16="http://schemas.microsoft.com/office/drawing/2014/main" id="{A0031914-8117-B347-CC66-9615925C585E}"/>
                </a:ext>
              </a:extLst>
            </p:cNvPr>
            <p:cNvSpPr/>
            <p:nvPr/>
          </p:nvSpPr>
          <p:spPr>
            <a:xfrm>
              <a:off x="4983480" y="2743200"/>
              <a:ext cx="347472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AI Models</a:t>
              </a:r>
              <a:endParaRPr lang="en-US" sz="2000" dirty="0">
                <a:latin typeface="Helvetica Neue Light"/>
              </a:endParaRPr>
            </a:p>
          </p:txBody>
        </p:sp>
        <p:sp>
          <p:nvSpPr>
            <p:cNvPr id="18" name="Text 15">
              <a:extLst>
                <a:ext uri="{FF2B5EF4-FFF2-40B4-BE49-F238E27FC236}">
                  <a16:creationId xmlns:a16="http://schemas.microsoft.com/office/drawing/2014/main" id="{5C0A8FAE-775C-1D50-CEB5-F15FCB329BF3}"/>
                </a:ext>
              </a:extLst>
            </p:cNvPr>
            <p:cNvSpPr/>
            <p:nvPr/>
          </p:nvSpPr>
          <p:spPr>
            <a:xfrm>
              <a:off x="4983480" y="3017520"/>
              <a:ext cx="3474720" cy="45720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Can hold 4K to 2M+ tokens while generating responses</a:t>
              </a:r>
              <a:endParaRPr lang="en-US" dirty="0">
                <a:latin typeface="Helvetica Neue Light"/>
              </a:endParaRPr>
            </a:p>
          </p:txBody>
        </p:sp>
        <p:sp>
          <p:nvSpPr>
            <p:cNvPr id="19" name="Shape 16">
              <a:extLst>
                <a:ext uri="{FF2B5EF4-FFF2-40B4-BE49-F238E27FC236}">
                  <a16:creationId xmlns:a16="http://schemas.microsoft.com/office/drawing/2014/main" id="{114FD383-0DA5-E58F-50D8-AEE258D8996C}"/>
                </a:ext>
              </a:extLst>
            </p:cNvPr>
            <p:cNvSpPr/>
            <p:nvPr/>
          </p:nvSpPr>
          <p:spPr>
            <a:xfrm>
              <a:off x="457200" y="3749040"/>
              <a:ext cx="8229600" cy="457200"/>
            </a:xfrm>
            <a:prstGeom prst="rect">
              <a:avLst/>
            </a:prstGeom>
            <a:solidFill>
              <a:srgbClr val="21295C"/>
            </a:solidFill>
            <a:ln/>
          </p:spPr>
          <p:txBody>
            <a:bodyPr/>
            <a:lstStyle/>
            <a:p>
              <a:endParaRPr lang="en-US" sz="3200">
                <a:latin typeface="Helvetica Neue Light"/>
              </a:endParaRPr>
            </a:p>
          </p:txBody>
        </p:sp>
        <p:sp>
          <p:nvSpPr>
            <p:cNvPr id="20" name="Text 17">
              <a:extLst>
                <a:ext uri="{FF2B5EF4-FFF2-40B4-BE49-F238E27FC236}">
                  <a16:creationId xmlns:a16="http://schemas.microsoft.com/office/drawing/2014/main" id="{37EBC730-7077-AEC1-C284-11F5D0D85FAB}"/>
                </a:ext>
              </a:extLst>
            </p:cNvPr>
            <p:cNvSpPr/>
            <p:nvPr/>
          </p:nvSpPr>
          <p:spPr>
            <a:xfrm>
              <a:off x="594360" y="3840480"/>
              <a:ext cx="7955280" cy="274320"/>
            </a:xfrm>
            <a:prstGeom prst="rect">
              <a:avLst/>
            </a:prstGeom>
            <a:noFill/>
            <a:ln/>
          </p:spPr>
          <p:txBody>
            <a:bodyPr wrap="square" rtlCol="0" anchor="ctr"/>
            <a:lstStyle/>
            <a:p>
              <a:pPr marL="0" indent="0" algn="ctr">
                <a:buNone/>
              </a:pPr>
              <a:r>
                <a:rPr lang="en-US" sz="2000" dirty="0">
                  <a:solidFill>
                    <a:srgbClr val="FFFFFF"/>
                  </a:solidFill>
                  <a:latin typeface="Helvetica Neue Light"/>
                  <a:ea typeface="Calibri" pitchFamily="34" charset="-122"/>
                  <a:cs typeface="Calibri" pitchFamily="34" charset="-120"/>
                </a:rPr>
                <a:t>Everything outside this window is "forgotten" during processing</a:t>
              </a:r>
              <a:endParaRPr lang="en-US" sz="2000" dirty="0">
                <a:latin typeface="Helvetica Neue Light"/>
              </a:endParaRPr>
            </a:p>
          </p:txBody>
        </p:sp>
      </p:grpSp>
    </p:spTree>
    <p:extLst>
      <p:ext uri="{BB962C8B-B14F-4D97-AF65-F5344CB8AC3E}">
        <p14:creationId xmlns:p14="http://schemas.microsoft.com/office/powerpoint/2010/main" val="2731402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2FC3AD5-0F2B-DE6C-7CA3-6A74D144D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7843C-F303-7FEF-FA9D-CA6F9F6A3BD7}"/>
              </a:ext>
            </a:extLst>
          </p:cNvPr>
          <p:cNvSpPr>
            <a:spLocks noGrp="1"/>
          </p:cNvSpPr>
          <p:nvPr>
            <p:ph type="title"/>
          </p:nvPr>
        </p:nvSpPr>
        <p:spPr>
          <a:xfrm>
            <a:off x="457200" y="365126"/>
            <a:ext cx="8229600" cy="592213"/>
          </a:xfrm>
        </p:spPr>
        <p:txBody>
          <a:bodyPr/>
          <a:lstStyle/>
          <a:p>
            <a:r>
              <a:rPr lang="en-US" dirty="0"/>
              <a:t>Evolution &amp; What It Enables</a:t>
            </a:r>
          </a:p>
        </p:txBody>
      </p:sp>
      <p:sp>
        <p:nvSpPr>
          <p:cNvPr id="5" name="Slide Number Placeholder 4">
            <a:extLst>
              <a:ext uri="{FF2B5EF4-FFF2-40B4-BE49-F238E27FC236}">
                <a16:creationId xmlns:a16="http://schemas.microsoft.com/office/drawing/2014/main" id="{F6604A5D-768A-FAEE-4887-2CCDFF70F86B}"/>
              </a:ext>
            </a:extLst>
          </p:cNvPr>
          <p:cNvSpPr>
            <a:spLocks noGrp="1"/>
          </p:cNvSpPr>
          <p:nvPr>
            <p:ph type="sldNum" sz="quarter" idx="12"/>
          </p:nvPr>
        </p:nvSpPr>
        <p:spPr/>
        <p:txBody>
          <a:bodyPr/>
          <a:lstStyle/>
          <a:p>
            <a:fld id="{21EF4C0E-91FA-4D94-8941-E22F3A83D5F1}" type="slidenum">
              <a:rPr lang="en-US" smtClean="0"/>
              <a:t>29</a:t>
            </a:fld>
            <a:endParaRPr lang="en-US"/>
          </a:p>
        </p:txBody>
      </p:sp>
      <p:sp>
        <p:nvSpPr>
          <p:cNvPr id="6" name="TextBox 5">
            <a:extLst>
              <a:ext uri="{FF2B5EF4-FFF2-40B4-BE49-F238E27FC236}">
                <a16:creationId xmlns:a16="http://schemas.microsoft.com/office/drawing/2014/main" id="{C661D2E7-DA07-5379-BCB7-532868422CE2}"/>
              </a:ext>
            </a:extLst>
          </p:cNvPr>
          <p:cNvSpPr txBox="1"/>
          <p:nvPr/>
        </p:nvSpPr>
        <p:spPr>
          <a:xfrm>
            <a:off x="6516528" y="6492874"/>
            <a:ext cx="2536032" cy="230832"/>
          </a:xfrm>
          <a:prstGeom prst="rect">
            <a:avLst/>
          </a:prstGeom>
          <a:noFill/>
        </p:spPr>
        <p:txBody>
          <a:bodyPr wrap="square">
            <a:spAutoFit/>
          </a:bodyPr>
          <a:lstStyle/>
          <a:p>
            <a:r>
              <a:rPr lang="en-US" sz="900" dirty="0">
                <a:solidFill>
                  <a:schemeClr val="bg2">
                    <a:lumMod val="90000"/>
                  </a:schemeClr>
                </a:solidFill>
              </a:rPr>
              <a:t>https://share.google/9Dtfgt7hWSNNKhBYO</a:t>
            </a:r>
          </a:p>
        </p:txBody>
      </p:sp>
      <p:grpSp>
        <p:nvGrpSpPr>
          <p:cNvPr id="3" name="Group 2">
            <a:extLst>
              <a:ext uri="{FF2B5EF4-FFF2-40B4-BE49-F238E27FC236}">
                <a16:creationId xmlns:a16="http://schemas.microsoft.com/office/drawing/2014/main" id="{6137D9D4-424C-3475-5159-9E6D13984055}"/>
              </a:ext>
            </a:extLst>
          </p:cNvPr>
          <p:cNvGrpSpPr/>
          <p:nvPr/>
        </p:nvGrpSpPr>
        <p:grpSpPr>
          <a:xfrm>
            <a:off x="457200" y="995353"/>
            <a:ext cx="8595360" cy="3809247"/>
            <a:chOff x="457200" y="1188720"/>
            <a:chExt cx="8595360" cy="3429000"/>
          </a:xfrm>
        </p:grpSpPr>
        <p:sp>
          <p:nvSpPr>
            <p:cNvPr id="4" name="Text 3">
              <a:extLst>
                <a:ext uri="{FF2B5EF4-FFF2-40B4-BE49-F238E27FC236}">
                  <a16:creationId xmlns:a16="http://schemas.microsoft.com/office/drawing/2014/main" id="{BEFF095C-3445-BC01-C9EB-E60A73DCBC1F}"/>
                </a:ext>
              </a:extLst>
            </p:cNvPr>
            <p:cNvSpPr/>
            <p:nvPr/>
          </p:nvSpPr>
          <p:spPr>
            <a:xfrm>
              <a:off x="457200" y="118872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Context Window Evolution:</a:t>
              </a:r>
              <a:endParaRPr lang="en-US" sz="2000" dirty="0">
                <a:latin typeface="Helvetica Neue Light"/>
              </a:endParaRPr>
            </a:p>
          </p:txBody>
        </p:sp>
        <p:sp>
          <p:nvSpPr>
            <p:cNvPr id="7" name="Shape 4">
              <a:extLst>
                <a:ext uri="{FF2B5EF4-FFF2-40B4-BE49-F238E27FC236}">
                  <a16:creationId xmlns:a16="http://schemas.microsoft.com/office/drawing/2014/main" id="{129F0169-5BC9-D667-5D01-733E014272B2}"/>
                </a:ext>
              </a:extLst>
            </p:cNvPr>
            <p:cNvSpPr/>
            <p:nvPr/>
          </p:nvSpPr>
          <p:spPr>
            <a:xfrm>
              <a:off x="457200" y="1554480"/>
              <a:ext cx="2743200" cy="914400"/>
            </a:xfrm>
            <a:prstGeom prst="rect">
              <a:avLst/>
            </a:prstGeom>
            <a:solidFill>
              <a:srgbClr val="FFFFFF"/>
            </a:solidFill>
            <a:ln w="25400">
              <a:solidFill>
                <a:srgbClr val="1C7293"/>
              </a:solidFill>
              <a:prstDash val="solid"/>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E95DAE72-C554-9313-7EFE-DCC7BF90EFCC}"/>
                </a:ext>
              </a:extLst>
            </p:cNvPr>
            <p:cNvSpPr/>
            <p:nvPr/>
          </p:nvSpPr>
          <p:spPr>
            <a:xfrm>
              <a:off x="548640" y="1600200"/>
              <a:ext cx="2560320" cy="228600"/>
            </a:xfrm>
            <a:prstGeom prst="rect">
              <a:avLst/>
            </a:prstGeom>
            <a:noFill/>
            <a:ln/>
          </p:spPr>
          <p:txBody>
            <a:bodyPr wrap="square" rtlCol="0" anchor="ctr"/>
            <a:lstStyle/>
            <a:p>
              <a:pPr marL="0" indent="0">
                <a:buNone/>
              </a:pPr>
              <a:r>
                <a:rPr lang="en-US" sz="1600" b="1" dirty="0">
                  <a:solidFill>
                    <a:srgbClr val="1C7293"/>
                  </a:solidFill>
                  <a:latin typeface="Helvetica Neue Light"/>
                  <a:ea typeface="Calibri" pitchFamily="34" charset="-122"/>
                  <a:cs typeface="Calibri" pitchFamily="34" charset="-120"/>
                </a:rPr>
                <a:t>2020</a:t>
              </a:r>
              <a:endParaRPr lang="en-US" sz="1600" dirty="0">
                <a:latin typeface="Helvetica Neue Light"/>
              </a:endParaRPr>
            </a:p>
          </p:txBody>
        </p:sp>
        <p:sp>
          <p:nvSpPr>
            <p:cNvPr id="9" name="Text 6">
              <a:extLst>
                <a:ext uri="{FF2B5EF4-FFF2-40B4-BE49-F238E27FC236}">
                  <a16:creationId xmlns:a16="http://schemas.microsoft.com/office/drawing/2014/main" id="{712A0E7F-6A21-F2BC-EA7B-C5B741B7F581}"/>
                </a:ext>
              </a:extLst>
            </p:cNvPr>
            <p:cNvSpPr/>
            <p:nvPr/>
          </p:nvSpPr>
          <p:spPr>
            <a:xfrm>
              <a:off x="548640" y="1828800"/>
              <a:ext cx="256032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GPT-3</a:t>
              </a:r>
              <a:endParaRPr lang="en-US" dirty="0">
                <a:latin typeface="Helvetica Neue Light"/>
              </a:endParaRPr>
            </a:p>
          </p:txBody>
        </p:sp>
        <p:sp>
          <p:nvSpPr>
            <p:cNvPr id="10" name="Text 7">
              <a:extLst>
                <a:ext uri="{FF2B5EF4-FFF2-40B4-BE49-F238E27FC236}">
                  <a16:creationId xmlns:a16="http://schemas.microsoft.com/office/drawing/2014/main" id="{32772D19-78F0-4721-F646-EB1A79989B93}"/>
                </a:ext>
              </a:extLst>
            </p:cNvPr>
            <p:cNvSpPr/>
            <p:nvPr/>
          </p:nvSpPr>
          <p:spPr>
            <a:xfrm>
              <a:off x="548640" y="2057400"/>
              <a:ext cx="2560320" cy="182880"/>
            </a:xfrm>
            <a:prstGeom prst="rect">
              <a:avLst/>
            </a:prstGeom>
            <a:noFill/>
            <a:ln/>
          </p:spPr>
          <p:txBody>
            <a:bodyPr wrap="square" rtlCol="0" anchor="ctr"/>
            <a:lstStyle/>
            <a:p>
              <a:pPr marL="0" indent="0">
                <a:buNone/>
              </a:pPr>
              <a:r>
                <a:rPr lang="en-US" sz="1200" dirty="0">
                  <a:solidFill>
                    <a:srgbClr val="2D3436"/>
                  </a:solidFill>
                  <a:latin typeface="Helvetica Neue Light"/>
                  <a:ea typeface="Calibri" pitchFamily="34" charset="-122"/>
                  <a:cs typeface="Calibri" pitchFamily="34" charset="-120"/>
                </a:rPr>
                <a:t>4K tokens</a:t>
              </a:r>
              <a:endParaRPr lang="en-US" sz="1200" dirty="0">
                <a:latin typeface="Helvetica Neue Light"/>
              </a:endParaRPr>
            </a:p>
          </p:txBody>
        </p:sp>
        <p:sp>
          <p:nvSpPr>
            <p:cNvPr id="11" name="Text 8">
              <a:extLst>
                <a:ext uri="{FF2B5EF4-FFF2-40B4-BE49-F238E27FC236}">
                  <a16:creationId xmlns:a16="http://schemas.microsoft.com/office/drawing/2014/main" id="{B10D11D5-4928-3C9A-2CD5-2E0FA27E3057}"/>
                </a:ext>
              </a:extLst>
            </p:cNvPr>
            <p:cNvSpPr/>
            <p:nvPr/>
          </p:nvSpPr>
          <p:spPr>
            <a:xfrm>
              <a:off x="548640" y="2240280"/>
              <a:ext cx="2560320" cy="182880"/>
            </a:xfrm>
            <a:prstGeom prst="rect">
              <a:avLst/>
            </a:prstGeom>
            <a:noFill/>
            <a:ln/>
          </p:spPr>
          <p:txBody>
            <a:bodyPr wrap="square" rtlCol="0" anchor="ctr"/>
            <a:lstStyle/>
            <a:p>
              <a:pPr marL="0" indent="0">
                <a:buNone/>
              </a:pPr>
              <a:r>
                <a:rPr lang="en-US" sz="1200" i="1" dirty="0">
                  <a:solidFill>
                    <a:srgbClr val="636E72"/>
                  </a:solidFill>
                  <a:latin typeface="Helvetica Neue Light"/>
                  <a:ea typeface="Calibri" pitchFamily="34" charset="-122"/>
                  <a:cs typeface="Calibri" pitchFamily="34" charset="-120"/>
                </a:rPr>
                <a:t>≈ 6 pages</a:t>
              </a:r>
              <a:endParaRPr lang="en-US" sz="1200" dirty="0">
                <a:latin typeface="Helvetica Neue Light"/>
              </a:endParaRPr>
            </a:p>
          </p:txBody>
        </p:sp>
        <p:sp>
          <p:nvSpPr>
            <p:cNvPr id="12" name="Shape 9">
              <a:extLst>
                <a:ext uri="{FF2B5EF4-FFF2-40B4-BE49-F238E27FC236}">
                  <a16:creationId xmlns:a16="http://schemas.microsoft.com/office/drawing/2014/main" id="{88BF3A91-1F73-2237-4A8E-78B9473E134A}"/>
                </a:ext>
              </a:extLst>
            </p:cNvPr>
            <p:cNvSpPr/>
            <p:nvPr/>
          </p:nvSpPr>
          <p:spPr>
            <a:xfrm>
              <a:off x="3383280" y="1554480"/>
              <a:ext cx="2743200" cy="914400"/>
            </a:xfrm>
            <a:prstGeom prst="rect">
              <a:avLst/>
            </a:prstGeom>
            <a:solidFill>
              <a:srgbClr val="FFFFFF"/>
            </a:solidFill>
            <a:ln w="25400">
              <a:solidFill>
                <a:srgbClr val="1C7293"/>
              </a:solidFill>
              <a:prstDash val="solid"/>
            </a:ln>
          </p:spPr>
          <p:txBody>
            <a:bodyPr/>
            <a:lstStyle/>
            <a:p>
              <a:endParaRPr lang="en-US" sz="2800">
                <a:latin typeface="Helvetica Neue Light"/>
              </a:endParaRPr>
            </a:p>
          </p:txBody>
        </p:sp>
        <p:sp>
          <p:nvSpPr>
            <p:cNvPr id="17" name="Shape 14">
              <a:extLst>
                <a:ext uri="{FF2B5EF4-FFF2-40B4-BE49-F238E27FC236}">
                  <a16:creationId xmlns:a16="http://schemas.microsoft.com/office/drawing/2014/main" id="{A616ED3A-BF2F-E1C0-A17A-0A368DBD0751}"/>
                </a:ext>
              </a:extLst>
            </p:cNvPr>
            <p:cNvSpPr/>
            <p:nvPr/>
          </p:nvSpPr>
          <p:spPr>
            <a:xfrm>
              <a:off x="6309360" y="1554480"/>
              <a:ext cx="2743200" cy="914400"/>
            </a:xfrm>
            <a:prstGeom prst="rect">
              <a:avLst/>
            </a:prstGeom>
            <a:solidFill>
              <a:srgbClr val="FFFFFF"/>
            </a:solidFill>
            <a:ln w="25400">
              <a:solidFill>
                <a:srgbClr val="E07A5F"/>
              </a:solidFill>
              <a:prstDash val="solid"/>
            </a:ln>
          </p:spPr>
          <p:txBody>
            <a:bodyPr/>
            <a:lstStyle/>
            <a:p>
              <a:endParaRPr lang="en-US" sz="2800">
                <a:latin typeface="Helvetica Neue Light"/>
              </a:endParaRPr>
            </a:p>
          </p:txBody>
        </p:sp>
        <p:sp>
          <p:nvSpPr>
            <p:cNvPr id="18" name="Text 15">
              <a:extLst>
                <a:ext uri="{FF2B5EF4-FFF2-40B4-BE49-F238E27FC236}">
                  <a16:creationId xmlns:a16="http://schemas.microsoft.com/office/drawing/2014/main" id="{EAB99CA0-16C5-36D5-3770-3F211ABEA9D5}"/>
                </a:ext>
              </a:extLst>
            </p:cNvPr>
            <p:cNvSpPr/>
            <p:nvPr/>
          </p:nvSpPr>
          <p:spPr>
            <a:xfrm>
              <a:off x="6400800" y="1600200"/>
              <a:ext cx="2560320" cy="228600"/>
            </a:xfrm>
            <a:prstGeom prst="rect">
              <a:avLst/>
            </a:prstGeom>
            <a:noFill/>
            <a:ln/>
          </p:spPr>
          <p:txBody>
            <a:bodyPr wrap="square" rtlCol="0" anchor="ctr"/>
            <a:lstStyle/>
            <a:p>
              <a:pPr marL="0" indent="0">
                <a:buNone/>
              </a:pPr>
              <a:r>
                <a:rPr lang="en-US" sz="1600" b="1" dirty="0">
                  <a:solidFill>
                    <a:srgbClr val="1C7293"/>
                  </a:solidFill>
                  <a:latin typeface="Helvetica Neue Light"/>
                  <a:ea typeface="Calibri" pitchFamily="34" charset="-122"/>
                  <a:cs typeface="Calibri" pitchFamily="34" charset="-120"/>
                </a:rPr>
                <a:t>20255</a:t>
              </a:r>
              <a:endParaRPr lang="en-US" sz="1600" dirty="0">
                <a:latin typeface="Helvetica Neue Light"/>
              </a:endParaRPr>
            </a:p>
          </p:txBody>
        </p:sp>
        <p:sp>
          <p:nvSpPr>
            <p:cNvPr id="19" name="Text 16">
              <a:extLst>
                <a:ext uri="{FF2B5EF4-FFF2-40B4-BE49-F238E27FC236}">
                  <a16:creationId xmlns:a16="http://schemas.microsoft.com/office/drawing/2014/main" id="{CBA19DDC-E30D-3EFA-7B71-8D4D96016A69}"/>
                </a:ext>
              </a:extLst>
            </p:cNvPr>
            <p:cNvSpPr/>
            <p:nvPr/>
          </p:nvSpPr>
          <p:spPr>
            <a:xfrm>
              <a:off x="6400800" y="1828800"/>
              <a:ext cx="256032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GPT 4.1/Llama 4 Scout</a:t>
              </a:r>
              <a:endParaRPr lang="en-US" dirty="0">
                <a:latin typeface="Helvetica Neue Light"/>
              </a:endParaRPr>
            </a:p>
          </p:txBody>
        </p:sp>
        <p:sp>
          <p:nvSpPr>
            <p:cNvPr id="20" name="Text 17">
              <a:extLst>
                <a:ext uri="{FF2B5EF4-FFF2-40B4-BE49-F238E27FC236}">
                  <a16:creationId xmlns:a16="http://schemas.microsoft.com/office/drawing/2014/main" id="{3AFF978C-62C9-72BF-16A0-95A0DA605086}"/>
                </a:ext>
              </a:extLst>
            </p:cNvPr>
            <p:cNvSpPr/>
            <p:nvPr/>
          </p:nvSpPr>
          <p:spPr>
            <a:xfrm>
              <a:off x="6400800" y="2057400"/>
              <a:ext cx="2560320" cy="182880"/>
            </a:xfrm>
            <a:prstGeom prst="rect">
              <a:avLst/>
            </a:prstGeom>
            <a:noFill/>
            <a:ln/>
          </p:spPr>
          <p:txBody>
            <a:bodyPr wrap="square" rtlCol="0" anchor="ctr"/>
            <a:lstStyle/>
            <a:p>
              <a:pPr marL="0" indent="0">
                <a:buNone/>
              </a:pPr>
              <a:r>
                <a:rPr lang="en-US" sz="1200" dirty="0">
                  <a:solidFill>
                    <a:srgbClr val="2D3436"/>
                  </a:solidFill>
                  <a:latin typeface="Helvetica Neue Light"/>
                  <a:ea typeface="Calibri" pitchFamily="34" charset="-122"/>
                  <a:cs typeface="Calibri" pitchFamily="34" charset="-120"/>
                </a:rPr>
                <a:t>1-10M</a:t>
              </a:r>
              <a:endParaRPr lang="en-US" sz="1200" dirty="0">
                <a:latin typeface="Helvetica Neue Light"/>
              </a:endParaRPr>
            </a:p>
          </p:txBody>
        </p:sp>
        <p:sp>
          <p:nvSpPr>
            <p:cNvPr id="21" name="Text 18">
              <a:extLst>
                <a:ext uri="{FF2B5EF4-FFF2-40B4-BE49-F238E27FC236}">
                  <a16:creationId xmlns:a16="http://schemas.microsoft.com/office/drawing/2014/main" id="{EB41A01B-08BB-0EAC-4B8D-8A152BA4B2A5}"/>
                </a:ext>
              </a:extLst>
            </p:cNvPr>
            <p:cNvSpPr/>
            <p:nvPr/>
          </p:nvSpPr>
          <p:spPr>
            <a:xfrm>
              <a:off x="6400800" y="2240280"/>
              <a:ext cx="2560320" cy="182880"/>
            </a:xfrm>
            <a:prstGeom prst="rect">
              <a:avLst/>
            </a:prstGeom>
            <a:noFill/>
            <a:ln/>
          </p:spPr>
          <p:txBody>
            <a:bodyPr wrap="square" rtlCol="0" anchor="ctr"/>
            <a:lstStyle/>
            <a:p>
              <a:pPr marL="0" indent="0">
                <a:buNone/>
              </a:pPr>
              <a:r>
                <a:rPr lang="en-US" sz="1200" i="1" dirty="0">
                  <a:solidFill>
                    <a:srgbClr val="636E72"/>
                  </a:solidFill>
                  <a:latin typeface="Helvetica Neue Light"/>
                  <a:ea typeface="Calibri" pitchFamily="34" charset="-122"/>
                  <a:cs typeface="Calibri" pitchFamily="34" charset="-120"/>
                </a:rPr>
                <a:t>≈ 1,500-15,000 pages</a:t>
              </a:r>
              <a:endParaRPr lang="en-US" sz="1200" dirty="0">
                <a:latin typeface="Helvetica Neue Light"/>
              </a:endParaRPr>
            </a:p>
          </p:txBody>
        </p:sp>
        <p:sp>
          <p:nvSpPr>
            <p:cNvPr id="22" name="Text 19">
              <a:extLst>
                <a:ext uri="{FF2B5EF4-FFF2-40B4-BE49-F238E27FC236}">
                  <a16:creationId xmlns:a16="http://schemas.microsoft.com/office/drawing/2014/main" id="{0B3F9A04-1FE8-5048-B6B9-501066F86E85}"/>
                </a:ext>
              </a:extLst>
            </p:cNvPr>
            <p:cNvSpPr/>
            <p:nvPr/>
          </p:nvSpPr>
          <p:spPr>
            <a:xfrm>
              <a:off x="457200" y="265176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What Larger Context Windows Enable:</a:t>
              </a:r>
              <a:endParaRPr lang="en-US" sz="2000" dirty="0">
                <a:latin typeface="Helvetica Neue Light"/>
              </a:endParaRPr>
            </a:p>
          </p:txBody>
        </p:sp>
        <p:sp>
          <p:nvSpPr>
            <p:cNvPr id="23" name="Text 20">
              <a:extLst>
                <a:ext uri="{FF2B5EF4-FFF2-40B4-BE49-F238E27FC236}">
                  <a16:creationId xmlns:a16="http://schemas.microsoft.com/office/drawing/2014/main" id="{97B4618E-48AB-04D6-655B-5403E8C95401}"/>
                </a:ext>
              </a:extLst>
            </p:cNvPr>
            <p:cNvSpPr/>
            <p:nvPr/>
          </p:nvSpPr>
          <p:spPr>
            <a:xfrm>
              <a:off x="457200" y="3017520"/>
              <a:ext cx="82296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 Long Conversations: Maintaining coherent multi-turn dialogues</a:t>
              </a:r>
              <a:endParaRPr lang="en-US" sz="1600" dirty="0">
                <a:latin typeface="Helvetica Neue Light"/>
              </a:endParaRPr>
            </a:p>
          </p:txBody>
        </p:sp>
        <p:sp>
          <p:nvSpPr>
            <p:cNvPr id="24" name="Text 21">
              <a:extLst>
                <a:ext uri="{FF2B5EF4-FFF2-40B4-BE49-F238E27FC236}">
                  <a16:creationId xmlns:a16="http://schemas.microsoft.com/office/drawing/2014/main" id="{6661966C-A18A-D9F6-4691-4817D5A8C746}"/>
                </a:ext>
              </a:extLst>
            </p:cNvPr>
            <p:cNvSpPr/>
            <p:nvPr/>
          </p:nvSpPr>
          <p:spPr>
            <a:xfrm>
              <a:off x="457200" y="3337560"/>
              <a:ext cx="82296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 Document Analysis: Processing entire PDFs, codebases, or books</a:t>
              </a:r>
              <a:endParaRPr lang="en-US" sz="1600" dirty="0">
                <a:latin typeface="Helvetica Neue Light"/>
              </a:endParaRPr>
            </a:p>
          </p:txBody>
        </p:sp>
        <p:sp>
          <p:nvSpPr>
            <p:cNvPr id="25" name="Text 22">
              <a:extLst>
                <a:ext uri="{FF2B5EF4-FFF2-40B4-BE49-F238E27FC236}">
                  <a16:creationId xmlns:a16="http://schemas.microsoft.com/office/drawing/2014/main" id="{1F9F9E70-630B-62C3-67BC-E1741DEF780A}"/>
                </a:ext>
              </a:extLst>
            </p:cNvPr>
            <p:cNvSpPr/>
            <p:nvPr/>
          </p:nvSpPr>
          <p:spPr>
            <a:xfrm>
              <a:off x="457200" y="3657600"/>
              <a:ext cx="82296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 In-Context Learning: Providing many examples to guide behavior</a:t>
              </a:r>
              <a:endParaRPr lang="en-US" sz="1600" dirty="0">
                <a:latin typeface="Helvetica Neue Light"/>
              </a:endParaRPr>
            </a:p>
          </p:txBody>
        </p:sp>
        <p:sp>
          <p:nvSpPr>
            <p:cNvPr id="26" name="Text 23">
              <a:extLst>
                <a:ext uri="{FF2B5EF4-FFF2-40B4-BE49-F238E27FC236}">
                  <a16:creationId xmlns:a16="http://schemas.microsoft.com/office/drawing/2014/main" id="{55390614-4905-B642-8C9E-EBBBED416B5B}"/>
                </a:ext>
              </a:extLst>
            </p:cNvPr>
            <p:cNvSpPr/>
            <p:nvPr/>
          </p:nvSpPr>
          <p:spPr>
            <a:xfrm>
              <a:off x="457200" y="3977640"/>
              <a:ext cx="82296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 Complex Reasoning: Holding all relevant information for intricate problems</a:t>
              </a:r>
              <a:endParaRPr lang="en-US" sz="1600" dirty="0">
                <a:latin typeface="Helvetica Neue Light"/>
              </a:endParaRPr>
            </a:p>
          </p:txBody>
        </p:sp>
        <p:sp>
          <p:nvSpPr>
            <p:cNvPr id="27" name="Text 24">
              <a:extLst>
                <a:ext uri="{FF2B5EF4-FFF2-40B4-BE49-F238E27FC236}">
                  <a16:creationId xmlns:a16="http://schemas.microsoft.com/office/drawing/2014/main" id="{408D6F19-741B-5F4C-E5A8-3E1695A27680}"/>
                </a:ext>
              </a:extLst>
            </p:cNvPr>
            <p:cNvSpPr/>
            <p:nvPr/>
          </p:nvSpPr>
          <p:spPr>
            <a:xfrm>
              <a:off x="457200" y="4297680"/>
              <a:ext cx="82296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 RAG Implementation: Injecting retrieved documents for augmented responses</a:t>
              </a:r>
              <a:endParaRPr lang="en-US" sz="1600" dirty="0">
                <a:latin typeface="Helvetica Neue Light"/>
              </a:endParaRPr>
            </a:p>
          </p:txBody>
        </p:sp>
      </p:grpSp>
      <p:pic>
        <p:nvPicPr>
          <p:cNvPr id="29" name="Picture 28" descr="Context Window">
            <a:extLst>
              <a:ext uri="{FF2B5EF4-FFF2-40B4-BE49-F238E27FC236}">
                <a16:creationId xmlns:a16="http://schemas.microsoft.com/office/drawing/2014/main" id="{62B60773-FDA7-527E-EDE7-024E07FF073E}"/>
              </a:ext>
            </a:extLst>
          </p:cNvPr>
          <p:cNvPicPr>
            <a:picLocks noChangeAspect="1"/>
          </p:cNvPicPr>
          <p:nvPr/>
        </p:nvPicPr>
        <p:blipFill>
          <a:blip r:embed="rId2"/>
          <a:stretch>
            <a:fillRect/>
          </a:stretch>
        </p:blipFill>
        <p:spPr>
          <a:xfrm>
            <a:off x="1701235" y="4831406"/>
            <a:ext cx="3364089" cy="1892300"/>
          </a:xfrm>
          <a:prstGeom prst="rect">
            <a:avLst/>
          </a:prstGeom>
        </p:spPr>
      </p:pic>
      <p:sp>
        <p:nvSpPr>
          <p:cNvPr id="31" name="Text 15">
            <a:extLst>
              <a:ext uri="{FF2B5EF4-FFF2-40B4-BE49-F238E27FC236}">
                <a16:creationId xmlns:a16="http://schemas.microsoft.com/office/drawing/2014/main" id="{032B3C50-865C-D3C5-1F5B-142720B47E77}"/>
              </a:ext>
            </a:extLst>
          </p:cNvPr>
          <p:cNvSpPr/>
          <p:nvPr/>
        </p:nvSpPr>
        <p:spPr>
          <a:xfrm>
            <a:off x="3448050" y="1465163"/>
            <a:ext cx="2560320" cy="253950"/>
          </a:xfrm>
          <a:prstGeom prst="rect">
            <a:avLst/>
          </a:prstGeom>
          <a:noFill/>
          <a:ln/>
        </p:spPr>
        <p:txBody>
          <a:bodyPr wrap="square" rtlCol="0" anchor="ctr"/>
          <a:lstStyle/>
          <a:p>
            <a:pPr marL="0" indent="0">
              <a:buNone/>
            </a:pPr>
            <a:r>
              <a:rPr lang="en-US" sz="1600" b="1" dirty="0">
                <a:solidFill>
                  <a:srgbClr val="1C7293"/>
                </a:solidFill>
                <a:latin typeface="Helvetica Neue Light"/>
                <a:ea typeface="Calibri" pitchFamily="34" charset="-122"/>
                <a:cs typeface="Calibri" pitchFamily="34" charset="-120"/>
              </a:rPr>
              <a:t>2024</a:t>
            </a:r>
            <a:endParaRPr lang="en-US" sz="1600" dirty="0">
              <a:latin typeface="Helvetica Neue Light"/>
            </a:endParaRPr>
          </a:p>
        </p:txBody>
      </p:sp>
      <p:sp>
        <p:nvSpPr>
          <p:cNvPr id="33" name="Text 16">
            <a:extLst>
              <a:ext uri="{FF2B5EF4-FFF2-40B4-BE49-F238E27FC236}">
                <a16:creationId xmlns:a16="http://schemas.microsoft.com/office/drawing/2014/main" id="{2B610D6A-4239-5DBD-1476-933214F1F677}"/>
              </a:ext>
            </a:extLst>
          </p:cNvPr>
          <p:cNvSpPr/>
          <p:nvPr/>
        </p:nvSpPr>
        <p:spPr>
          <a:xfrm>
            <a:off x="3448050" y="1719112"/>
            <a:ext cx="2560320" cy="25395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Claude 3.5/Gemini 1.5</a:t>
            </a:r>
            <a:endParaRPr lang="en-US" dirty="0">
              <a:latin typeface="Helvetica Neue Light"/>
            </a:endParaRPr>
          </a:p>
        </p:txBody>
      </p:sp>
      <p:sp>
        <p:nvSpPr>
          <p:cNvPr id="35" name="Text 17">
            <a:extLst>
              <a:ext uri="{FF2B5EF4-FFF2-40B4-BE49-F238E27FC236}">
                <a16:creationId xmlns:a16="http://schemas.microsoft.com/office/drawing/2014/main" id="{12651192-4EEF-9947-F032-44A9D077B3A4}"/>
              </a:ext>
            </a:extLst>
          </p:cNvPr>
          <p:cNvSpPr/>
          <p:nvPr/>
        </p:nvSpPr>
        <p:spPr>
          <a:xfrm>
            <a:off x="3448050" y="1973062"/>
            <a:ext cx="2560320" cy="203160"/>
          </a:xfrm>
          <a:prstGeom prst="rect">
            <a:avLst/>
          </a:prstGeom>
          <a:noFill/>
          <a:ln/>
        </p:spPr>
        <p:txBody>
          <a:bodyPr wrap="square" rtlCol="0" anchor="ctr"/>
          <a:lstStyle/>
          <a:p>
            <a:pPr marL="0" indent="0">
              <a:buNone/>
            </a:pPr>
            <a:r>
              <a:rPr lang="en-US" sz="1200" dirty="0">
                <a:solidFill>
                  <a:srgbClr val="2D3436"/>
                </a:solidFill>
                <a:latin typeface="Helvetica Neue Light"/>
                <a:ea typeface="Calibri" pitchFamily="34" charset="-122"/>
                <a:cs typeface="Calibri" pitchFamily="34" charset="-120"/>
              </a:rPr>
              <a:t>200K-2M</a:t>
            </a:r>
            <a:endParaRPr lang="en-US" sz="1200" dirty="0">
              <a:latin typeface="Helvetica Neue Light"/>
            </a:endParaRPr>
          </a:p>
        </p:txBody>
      </p:sp>
      <p:sp>
        <p:nvSpPr>
          <p:cNvPr id="37" name="Text 18">
            <a:extLst>
              <a:ext uri="{FF2B5EF4-FFF2-40B4-BE49-F238E27FC236}">
                <a16:creationId xmlns:a16="http://schemas.microsoft.com/office/drawing/2014/main" id="{60FCCE09-FC02-79B1-ED18-7E637AE5A677}"/>
              </a:ext>
            </a:extLst>
          </p:cNvPr>
          <p:cNvSpPr/>
          <p:nvPr/>
        </p:nvSpPr>
        <p:spPr>
          <a:xfrm>
            <a:off x="3448050" y="2176222"/>
            <a:ext cx="2560320" cy="203160"/>
          </a:xfrm>
          <a:prstGeom prst="rect">
            <a:avLst/>
          </a:prstGeom>
          <a:noFill/>
          <a:ln/>
        </p:spPr>
        <p:txBody>
          <a:bodyPr wrap="square" rtlCol="0" anchor="ctr"/>
          <a:lstStyle/>
          <a:p>
            <a:pPr marL="0" indent="0">
              <a:buNone/>
            </a:pPr>
            <a:r>
              <a:rPr lang="en-US" sz="1200" i="1" dirty="0">
                <a:solidFill>
                  <a:srgbClr val="636E72"/>
                </a:solidFill>
                <a:latin typeface="Helvetica Neue Light"/>
                <a:ea typeface="Calibri" pitchFamily="34" charset="-122"/>
                <a:cs typeface="Calibri" pitchFamily="34" charset="-120"/>
              </a:rPr>
              <a:t>≈ 300-3,000 pages</a:t>
            </a:r>
            <a:endParaRPr lang="en-US" sz="1200" dirty="0">
              <a:latin typeface="Helvetica Neue Light"/>
            </a:endParaRPr>
          </a:p>
        </p:txBody>
      </p:sp>
    </p:spTree>
    <p:extLst>
      <p:ext uri="{BB962C8B-B14F-4D97-AF65-F5344CB8AC3E}">
        <p14:creationId xmlns:p14="http://schemas.microsoft.com/office/powerpoint/2010/main" val="2610259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9FE63645-4E4C-3691-E7FE-D7F1C4DC3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F546A-CBFE-6A31-6735-2BEFEDF61C63}"/>
              </a:ext>
            </a:extLst>
          </p:cNvPr>
          <p:cNvSpPr>
            <a:spLocks noGrp="1"/>
          </p:cNvSpPr>
          <p:nvPr>
            <p:ph type="title"/>
          </p:nvPr>
        </p:nvSpPr>
        <p:spPr>
          <a:xfrm>
            <a:off x="457200" y="365126"/>
            <a:ext cx="8229600" cy="592213"/>
          </a:xfrm>
        </p:spPr>
        <p:txBody>
          <a:bodyPr/>
          <a:lstStyle/>
          <a:p>
            <a:r>
              <a:rPr lang="en-US" dirty="0"/>
              <a:t>The Critical Limitations</a:t>
            </a:r>
          </a:p>
        </p:txBody>
      </p:sp>
      <p:sp>
        <p:nvSpPr>
          <p:cNvPr id="5" name="Slide Number Placeholder 4">
            <a:extLst>
              <a:ext uri="{FF2B5EF4-FFF2-40B4-BE49-F238E27FC236}">
                <a16:creationId xmlns:a16="http://schemas.microsoft.com/office/drawing/2014/main" id="{55202231-5F3B-124D-EF84-EDC009EA29BE}"/>
              </a:ext>
            </a:extLst>
          </p:cNvPr>
          <p:cNvSpPr>
            <a:spLocks noGrp="1"/>
          </p:cNvSpPr>
          <p:nvPr>
            <p:ph type="sldNum" sz="quarter" idx="12"/>
          </p:nvPr>
        </p:nvSpPr>
        <p:spPr/>
        <p:txBody>
          <a:bodyPr/>
          <a:lstStyle/>
          <a:p>
            <a:fld id="{21EF4C0E-91FA-4D94-8941-E22F3A83D5F1}" type="slidenum">
              <a:rPr lang="en-US" smtClean="0"/>
              <a:t>30</a:t>
            </a:fld>
            <a:endParaRPr lang="en-US"/>
          </a:p>
        </p:txBody>
      </p:sp>
      <p:sp>
        <p:nvSpPr>
          <p:cNvPr id="6" name="TextBox 5">
            <a:extLst>
              <a:ext uri="{FF2B5EF4-FFF2-40B4-BE49-F238E27FC236}">
                <a16:creationId xmlns:a16="http://schemas.microsoft.com/office/drawing/2014/main" id="{43C32233-5A03-E0F5-38DE-1BD17CD84D3E}"/>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397F8BEF-4E3E-8D76-844D-BBC70FA24375}"/>
              </a:ext>
            </a:extLst>
          </p:cNvPr>
          <p:cNvGrpSpPr/>
          <p:nvPr/>
        </p:nvGrpSpPr>
        <p:grpSpPr>
          <a:xfrm>
            <a:off x="457200" y="1188720"/>
            <a:ext cx="8614880" cy="4544260"/>
            <a:chOff x="457200" y="1188720"/>
            <a:chExt cx="8614880" cy="3337560"/>
          </a:xfrm>
        </p:grpSpPr>
        <p:sp>
          <p:nvSpPr>
            <p:cNvPr id="4" name="Text 3">
              <a:extLst>
                <a:ext uri="{FF2B5EF4-FFF2-40B4-BE49-F238E27FC236}">
                  <a16:creationId xmlns:a16="http://schemas.microsoft.com/office/drawing/2014/main" id="{AB8FCEF7-CBA7-88C2-28DC-783219CFDB8A}"/>
                </a:ext>
              </a:extLst>
            </p:cNvPr>
            <p:cNvSpPr/>
            <p:nvPr/>
          </p:nvSpPr>
          <p:spPr>
            <a:xfrm>
              <a:off x="457200" y="118872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Fundamental Trade-offs:</a:t>
              </a:r>
              <a:endParaRPr lang="en-US" sz="2000" dirty="0">
                <a:latin typeface="Helvetica Neue Light"/>
              </a:endParaRPr>
            </a:p>
          </p:txBody>
        </p:sp>
        <p:sp>
          <p:nvSpPr>
            <p:cNvPr id="7" name="Shape 4">
              <a:extLst>
                <a:ext uri="{FF2B5EF4-FFF2-40B4-BE49-F238E27FC236}">
                  <a16:creationId xmlns:a16="http://schemas.microsoft.com/office/drawing/2014/main" id="{25FE8433-1AD4-5991-2650-D572FC9C2057}"/>
                </a:ext>
              </a:extLst>
            </p:cNvPr>
            <p:cNvSpPr/>
            <p:nvPr/>
          </p:nvSpPr>
          <p:spPr>
            <a:xfrm>
              <a:off x="457200" y="1621101"/>
              <a:ext cx="320040" cy="253419"/>
            </a:xfrm>
            <a:prstGeom prst="ellipse">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433AAD42-B4FF-BD79-D9C8-85698338606D}"/>
                </a:ext>
              </a:extLst>
            </p:cNvPr>
            <p:cNvSpPr/>
            <p:nvPr/>
          </p:nvSpPr>
          <p:spPr>
            <a:xfrm>
              <a:off x="914400" y="1554480"/>
              <a:ext cx="22860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Computational Cost:</a:t>
              </a:r>
              <a:endParaRPr lang="en-US" dirty="0">
                <a:latin typeface="Helvetica Neue Light"/>
              </a:endParaRPr>
            </a:p>
          </p:txBody>
        </p:sp>
        <p:sp>
          <p:nvSpPr>
            <p:cNvPr id="9" name="Text 6">
              <a:extLst>
                <a:ext uri="{FF2B5EF4-FFF2-40B4-BE49-F238E27FC236}">
                  <a16:creationId xmlns:a16="http://schemas.microsoft.com/office/drawing/2014/main" id="{4C452B5E-374B-90A3-D54B-21852CA89D65}"/>
                </a:ext>
              </a:extLst>
            </p:cNvPr>
            <p:cNvSpPr/>
            <p:nvPr/>
          </p:nvSpPr>
          <p:spPr>
            <a:xfrm>
              <a:off x="3200399" y="1554480"/>
              <a:ext cx="5871681" cy="3200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Attention scales quadratically — 2x context = 4x compute</a:t>
              </a:r>
              <a:endParaRPr lang="en-US" dirty="0">
                <a:latin typeface="Helvetica Neue Light"/>
              </a:endParaRPr>
            </a:p>
          </p:txBody>
        </p:sp>
        <p:sp>
          <p:nvSpPr>
            <p:cNvPr id="10" name="Shape 7">
              <a:extLst>
                <a:ext uri="{FF2B5EF4-FFF2-40B4-BE49-F238E27FC236}">
                  <a16:creationId xmlns:a16="http://schemas.microsoft.com/office/drawing/2014/main" id="{68AF78D9-FF6A-3D3E-D8EB-B22E4328E68C}"/>
                </a:ext>
              </a:extLst>
            </p:cNvPr>
            <p:cNvSpPr/>
            <p:nvPr/>
          </p:nvSpPr>
          <p:spPr>
            <a:xfrm>
              <a:off x="457200" y="2169741"/>
              <a:ext cx="320040" cy="253419"/>
            </a:xfrm>
            <a:prstGeom prst="ellipse">
              <a:avLst/>
            </a:prstGeom>
            <a:solidFill>
              <a:srgbClr val="E07A5F"/>
            </a:solidFill>
            <a:ln/>
          </p:spPr>
          <p:txBody>
            <a:bodyPr/>
            <a:lstStyle/>
            <a:p>
              <a:endParaRPr lang="en-US" sz="2800">
                <a:latin typeface="Helvetica Neue Light"/>
              </a:endParaRPr>
            </a:p>
          </p:txBody>
        </p:sp>
        <p:sp>
          <p:nvSpPr>
            <p:cNvPr id="11" name="Text 8">
              <a:extLst>
                <a:ext uri="{FF2B5EF4-FFF2-40B4-BE49-F238E27FC236}">
                  <a16:creationId xmlns:a16="http://schemas.microsoft.com/office/drawing/2014/main" id="{C0A1D910-2192-5044-C248-CFE6B45FDD51}"/>
                </a:ext>
              </a:extLst>
            </p:cNvPr>
            <p:cNvSpPr/>
            <p:nvPr/>
          </p:nvSpPr>
          <p:spPr>
            <a:xfrm>
              <a:off x="914400" y="2103120"/>
              <a:ext cx="22860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Lost in the Middle:</a:t>
              </a:r>
              <a:endParaRPr lang="en-US" dirty="0">
                <a:latin typeface="Helvetica Neue Light"/>
              </a:endParaRPr>
            </a:p>
          </p:txBody>
        </p:sp>
        <p:sp>
          <p:nvSpPr>
            <p:cNvPr id="12" name="Text 9">
              <a:extLst>
                <a:ext uri="{FF2B5EF4-FFF2-40B4-BE49-F238E27FC236}">
                  <a16:creationId xmlns:a16="http://schemas.microsoft.com/office/drawing/2014/main" id="{F378AD2E-04E3-E947-9A1A-831C1CC488ED}"/>
                </a:ext>
              </a:extLst>
            </p:cNvPr>
            <p:cNvSpPr/>
            <p:nvPr/>
          </p:nvSpPr>
          <p:spPr>
            <a:xfrm>
              <a:off x="3200400" y="2103120"/>
              <a:ext cx="5486400" cy="3200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Models pay less attention to information in the middle of long contexts</a:t>
              </a:r>
              <a:endParaRPr lang="en-US" dirty="0">
                <a:latin typeface="Helvetica Neue Light"/>
              </a:endParaRPr>
            </a:p>
          </p:txBody>
        </p:sp>
        <p:sp>
          <p:nvSpPr>
            <p:cNvPr id="13" name="Shape 10">
              <a:extLst>
                <a:ext uri="{FF2B5EF4-FFF2-40B4-BE49-F238E27FC236}">
                  <a16:creationId xmlns:a16="http://schemas.microsoft.com/office/drawing/2014/main" id="{3CB9AF4E-A72E-7313-183D-88B1FBF15064}"/>
                </a:ext>
              </a:extLst>
            </p:cNvPr>
            <p:cNvSpPr/>
            <p:nvPr/>
          </p:nvSpPr>
          <p:spPr>
            <a:xfrm>
              <a:off x="457200" y="2718381"/>
              <a:ext cx="320040" cy="253419"/>
            </a:xfrm>
            <a:prstGeom prst="ellipse">
              <a:avLst/>
            </a:prstGeom>
            <a:solidFill>
              <a:srgbClr val="E07A5F"/>
            </a:solidFill>
            <a:ln/>
          </p:spPr>
          <p:txBody>
            <a:bodyPr/>
            <a:lstStyle/>
            <a:p>
              <a:endParaRPr lang="en-US" sz="2800">
                <a:latin typeface="Helvetica Neue Light"/>
              </a:endParaRPr>
            </a:p>
          </p:txBody>
        </p:sp>
        <p:sp>
          <p:nvSpPr>
            <p:cNvPr id="14" name="Text 11">
              <a:extLst>
                <a:ext uri="{FF2B5EF4-FFF2-40B4-BE49-F238E27FC236}">
                  <a16:creationId xmlns:a16="http://schemas.microsoft.com/office/drawing/2014/main" id="{B33FF28C-FC45-2E5C-3195-A08854354F0C}"/>
                </a:ext>
              </a:extLst>
            </p:cNvPr>
            <p:cNvSpPr/>
            <p:nvPr/>
          </p:nvSpPr>
          <p:spPr>
            <a:xfrm>
              <a:off x="914400" y="2651760"/>
              <a:ext cx="22860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Latency:</a:t>
              </a:r>
              <a:endParaRPr lang="en-US" dirty="0">
                <a:latin typeface="Helvetica Neue Light"/>
              </a:endParaRPr>
            </a:p>
          </p:txBody>
        </p:sp>
        <p:sp>
          <p:nvSpPr>
            <p:cNvPr id="15" name="Text 12">
              <a:extLst>
                <a:ext uri="{FF2B5EF4-FFF2-40B4-BE49-F238E27FC236}">
                  <a16:creationId xmlns:a16="http://schemas.microsoft.com/office/drawing/2014/main" id="{52329A60-4E3F-2203-4D7D-D70960DCB937}"/>
                </a:ext>
              </a:extLst>
            </p:cNvPr>
            <p:cNvSpPr/>
            <p:nvPr/>
          </p:nvSpPr>
          <p:spPr>
            <a:xfrm>
              <a:off x="3200400" y="2651760"/>
              <a:ext cx="5486400" cy="3200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Longer contexts = slower responses</a:t>
              </a:r>
              <a:endParaRPr lang="en-US" dirty="0">
                <a:latin typeface="Helvetica Neue Light"/>
              </a:endParaRPr>
            </a:p>
          </p:txBody>
        </p:sp>
        <p:sp>
          <p:nvSpPr>
            <p:cNvPr id="16" name="Shape 13">
              <a:extLst>
                <a:ext uri="{FF2B5EF4-FFF2-40B4-BE49-F238E27FC236}">
                  <a16:creationId xmlns:a16="http://schemas.microsoft.com/office/drawing/2014/main" id="{29BB6065-0675-CBA1-A3A8-9C016168C41E}"/>
                </a:ext>
              </a:extLst>
            </p:cNvPr>
            <p:cNvSpPr/>
            <p:nvPr/>
          </p:nvSpPr>
          <p:spPr>
            <a:xfrm>
              <a:off x="457200" y="3267021"/>
              <a:ext cx="320040" cy="253419"/>
            </a:xfrm>
            <a:prstGeom prst="ellipse">
              <a:avLst/>
            </a:prstGeom>
            <a:solidFill>
              <a:srgbClr val="E07A5F"/>
            </a:solidFill>
            <a:ln/>
          </p:spPr>
          <p:txBody>
            <a:bodyPr/>
            <a:lstStyle/>
            <a:p>
              <a:endParaRPr lang="en-US" sz="2800">
                <a:latin typeface="Helvetica Neue Light"/>
              </a:endParaRPr>
            </a:p>
          </p:txBody>
        </p:sp>
        <p:sp>
          <p:nvSpPr>
            <p:cNvPr id="17" name="Text 14">
              <a:extLst>
                <a:ext uri="{FF2B5EF4-FFF2-40B4-BE49-F238E27FC236}">
                  <a16:creationId xmlns:a16="http://schemas.microsoft.com/office/drawing/2014/main" id="{09E740C5-7011-E3D0-1B1E-E25AEEF7AE31}"/>
                </a:ext>
              </a:extLst>
            </p:cNvPr>
            <p:cNvSpPr/>
            <p:nvPr/>
          </p:nvSpPr>
          <p:spPr>
            <a:xfrm>
              <a:off x="914400" y="3200400"/>
              <a:ext cx="22860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Memory vs. Understanding:</a:t>
              </a:r>
              <a:endParaRPr lang="en-US" dirty="0">
                <a:latin typeface="Helvetica Neue Light"/>
              </a:endParaRPr>
            </a:p>
          </p:txBody>
        </p:sp>
        <p:sp>
          <p:nvSpPr>
            <p:cNvPr id="18" name="Text 15">
              <a:extLst>
                <a:ext uri="{FF2B5EF4-FFF2-40B4-BE49-F238E27FC236}">
                  <a16:creationId xmlns:a16="http://schemas.microsoft.com/office/drawing/2014/main" id="{AEB16A8A-DD81-119F-9EE0-3894F0ECE3FE}"/>
                </a:ext>
              </a:extLst>
            </p:cNvPr>
            <p:cNvSpPr/>
            <p:nvPr/>
          </p:nvSpPr>
          <p:spPr>
            <a:xfrm>
              <a:off x="3200400" y="3200400"/>
              <a:ext cx="5486400" cy="3200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Having access to information ≠ effectively using it</a:t>
              </a:r>
              <a:endParaRPr lang="en-US" dirty="0">
                <a:latin typeface="Helvetica Neue Light"/>
              </a:endParaRPr>
            </a:p>
          </p:txBody>
        </p:sp>
        <p:sp>
          <p:nvSpPr>
            <p:cNvPr id="19" name="Shape 16">
              <a:extLst>
                <a:ext uri="{FF2B5EF4-FFF2-40B4-BE49-F238E27FC236}">
                  <a16:creationId xmlns:a16="http://schemas.microsoft.com/office/drawing/2014/main" id="{CA5E5EF3-478E-E83E-7195-57A49F9F0493}"/>
                </a:ext>
              </a:extLst>
            </p:cNvPr>
            <p:cNvSpPr/>
            <p:nvPr/>
          </p:nvSpPr>
          <p:spPr>
            <a:xfrm>
              <a:off x="457200" y="3794760"/>
              <a:ext cx="8229600" cy="7315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20" name="Shape 17">
              <a:extLst>
                <a:ext uri="{FF2B5EF4-FFF2-40B4-BE49-F238E27FC236}">
                  <a16:creationId xmlns:a16="http://schemas.microsoft.com/office/drawing/2014/main" id="{72835ED4-6800-1C82-DC09-AD6CEF70C1EF}"/>
                </a:ext>
              </a:extLst>
            </p:cNvPr>
            <p:cNvSpPr/>
            <p:nvPr/>
          </p:nvSpPr>
          <p:spPr>
            <a:xfrm>
              <a:off x="457200" y="3794760"/>
              <a:ext cx="54864" cy="731520"/>
            </a:xfrm>
            <a:prstGeom prst="rect">
              <a:avLst/>
            </a:prstGeom>
            <a:solidFill>
              <a:srgbClr val="065A82"/>
            </a:solidFill>
            <a:ln/>
          </p:spPr>
          <p:txBody>
            <a:bodyPr/>
            <a:lstStyle/>
            <a:p>
              <a:endParaRPr lang="en-US" sz="2800">
                <a:latin typeface="Helvetica Neue Light"/>
              </a:endParaRPr>
            </a:p>
          </p:txBody>
        </p:sp>
        <p:sp>
          <p:nvSpPr>
            <p:cNvPr id="21" name="Text 18">
              <a:extLst>
                <a:ext uri="{FF2B5EF4-FFF2-40B4-BE49-F238E27FC236}">
                  <a16:creationId xmlns:a16="http://schemas.microsoft.com/office/drawing/2014/main" id="{BE5D5FC8-89BA-A5CF-A9CF-3C29049C8ADE}"/>
                </a:ext>
              </a:extLst>
            </p:cNvPr>
            <p:cNvSpPr/>
            <p:nvPr/>
          </p:nvSpPr>
          <p:spPr>
            <a:xfrm>
              <a:off x="685800" y="3931920"/>
              <a:ext cx="8001000" cy="411480"/>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Real-World Constraints: </a:t>
              </a:r>
              <a:r>
                <a:rPr lang="en-US" dirty="0">
                  <a:solidFill>
                    <a:srgbClr val="2D3436"/>
                  </a:solidFill>
                  <a:latin typeface="Helvetica Neue Light"/>
                  <a:ea typeface="Calibri" pitchFamily="34" charset="-122"/>
                  <a:cs typeface="Calibri" pitchFamily="34" charset="-120"/>
                </a:rPr>
                <a:t>Cost rises with every token, so a million-token prompt costs hundreds of times more than a short one</a:t>
              </a:r>
              <a:endParaRPr lang="en-US" dirty="0">
                <a:latin typeface="Helvetica Neue Light"/>
              </a:endParaRPr>
            </a:p>
          </p:txBody>
        </p:sp>
      </p:grpSp>
    </p:spTree>
    <p:extLst>
      <p:ext uri="{BB962C8B-B14F-4D97-AF65-F5344CB8AC3E}">
        <p14:creationId xmlns:p14="http://schemas.microsoft.com/office/powerpoint/2010/main" val="1348396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097C71D-1E4C-FBC6-D8DC-BADF48F9D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CE3A1-6D4E-7B24-6F07-A2EFF4786A04}"/>
              </a:ext>
            </a:extLst>
          </p:cNvPr>
          <p:cNvSpPr>
            <a:spLocks noGrp="1"/>
          </p:cNvSpPr>
          <p:nvPr>
            <p:ph type="title"/>
          </p:nvPr>
        </p:nvSpPr>
        <p:spPr>
          <a:xfrm>
            <a:off x="457200" y="365126"/>
            <a:ext cx="8229600" cy="592213"/>
          </a:xfrm>
        </p:spPr>
        <p:txBody>
          <a:bodyPr/>
          <a:lstStyle/>
          <a:p>
            <a:r>
              <a:rPr lang="en-US" dirty="0"/>
              <a:t>The Future of Context Windows</a:t>
            </a:r>
          </a:p>
        </p:txBody>
      </p:sp>
      <p:sp>
        <p:nvSpPr>
          <p:cNvPr id="5" name="Slide Number Placeholder 4">
            <a:extLst>
              <a:ext uri="{FF2B5EF4-FFF2-40B4-BE49-F238E27FC236}">
                <a16:creationId xmlns:a16="http://schemas.microsoft.com/office/drawing/2014/main" id="{7D990E01-EBDF-D015-D99E-723395DABFBE}"/>
              </a:ext>
            </a:extLst>
          </p:cNvPr>
          <p:cNvSpPr>
            <a:spLocks noGrp="1"/>
          </p:cNvSpPr>
          <p:nvPr>
            <p:ph type="sldNum" sz="quarter" idx="12"/>
          </p:nvPr>
        </p:nvSpPr>
        <p:spPr/>
        <p:txBody>
          <a:bodyPr/>
          <a:lstStyle/>
          <a:p>
            <a:fld id="{21EF4C0E-91FA-4D94-8941-E22F3A83D5F1}" type="slidenum">
              <a:rPr lang="en-US" smtClean="0"/>
              <a:t>31</a:t>
            </a:fld>
            <a:endParaRPr lang="en-US"/>
          </a:p>
        </p:txBody>
      </p:sp>
      <p:sp>
        <p:nvSpPr>
          <p:cNvPr id="6" name="TextBox 5">
            <a:extLst>
              <a:ext uri="{FF2B5EF4-FFF2-40B4-BE49-F238E27FC236}">
                <a16:creationId xmlns:a16="http://schemas.microsoft.com/office/drawing/2014/main" id="{35037E5D-0345-B312-236E-9DCC491AC67E}"/>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75276F20-0D02-88EE-B150-81CFE1A8D336}"/>
              </a:ext>
            </a:extLst>
          </p:cNvPr>
          <p:cNvGrpSpPr/>
          <p:nvPr/>
        </p:nvGrpSpPr>
        <p:grpSpPr>
          <a:xfrm>
            <a:off x="457200" y="1166709"/>
            <a:ext cx="8365332" cy="4020251"/>
            <a:chOff x="457200" y="1172198"/>
            <a:chExt cx="8365332" cy="2954347"/>
          </a:xfrm>
        </p:grpSpPr>
        <p:sp>
          <p:nvSpPr>
            <p:cNvPr id="4" name="Shape 3">
              <a:extLst>
                <a:ext uri="{FF2B5EF4-FFF2-40B4-BE49-F238E27FC236}">
                  <a16:creationId xmlns:a16="http://schemas.microsoft.com/office/drawing/2014/main" id="{76715765-EAFE-CC1A-108C-B9D1D54A9191}"/>
                </a:ext>
              </a:extLst>
            </p:cNvPr>
            <p:cNvSpPr/>
            <p:nvPr/>
          </p:nvSpPr>
          <p:spPr>
            <a:xfrm>
              <a:off x="457200" y="1188720"/>
              <a:ext cx="3930492" cy="1939943"/>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033536B1-2C4A-729F-B28D-F6EF0AB33522}"/>
                </a:ext>
              </a:extLst>
            </p:cNvPr>
            <p:cNvSpPr/>
            <p:nvPr/>
          </p:nvSpPr>
          <p:spPr>
            <a:xfrm>
              <a:off x="457200" y="1188720"/>
              <a:ext cx="53598" cy="1939943"/>
            </a:xfrm>
            <a:prstGeom prst="rect">
              <a:avLst/>
            </a:prstGeom>
            <a:solidFill>
              <a:srgbClr val="1C7293"/>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758F9C30-A4A0-6AE9-A381-87171EE7647D}"/>
                </a:ext>
              </a:extLst>
            </p:cNvPr>
            <p:cNvSpPr/>
            <p:nvPr/>
          </p:nvSpPr>
          <p:spPr>
            <a:xfrm>
              <a:off x="685800" y="1172199"/>
              <a:ext cx="365760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Near-Term (1-2 Years)</a:t>
              </a:r>
              <a:endParaRPr lang="en-US" dirty="0">
                <a:latin typeface="Helvetica Neue Light"/>
              </a:endParaRPr>
            </a:p>
          </p:txBody>
        </p:sp>
        <p:sp>
          <p:nvSpPr>
            <p:cNvPr id="9" name="Text 6">
              <a:extLst>
                <a:ext uri="{FF2B5EF4-FFF2-40B4-BE49-F238E27FC236}">
                  <a16:creationId xmlns:a16="http://schemas.microsoft.com/office/drawing/2014/main" id="{8D6C5308-888B-94CA-53F5-591E61A6F8F5}"/>
                </a:ext>
              </a:extLst>
            </p:cNvPr>
            <p:cNvSpPr/>
            <p:nvPr/>
          </p:nvSpPr>
          <p:spPr>
            <a:xfrm>
              <a:off x="644652" y="1673349"/>
              <a:ext cx="3657600" cy="1207009"/>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Efficient Attention: </a:t>
              </a:r>
              <a:r>
                <a:rPr lang="en-US" sz="1600" dirty="0">
                  <a:solidFill>
                    <a:srgbClr val="2D3436"/>
                  </a:solidFill>
                  <a:latin typeface="Helvetica Neue Light"/>
                  <a:ea typeface="Calibri" pitchFamily="34" charset="-122"/>
                  <a:cs typeface="Calibri" pitchFamily="34" charset="-120"/>
                </a:rPr>
                <a:t>New architectures 	breaking quadratic scaling</a:t>
              </a:r>
            </a:p>
            <a:p>
              <a:pPr marL="0" indent="0">
                <a:buNone/>
              </a:pP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Smart Management: </a:t>
              </a:r>
              <a:r>
                <a:rPr lang="en-US" sz="1600" dirty="0">
                  <a:solidFill>
                    <a:srgbClr val="2D3436"/>
                  </a:solidFill>
                  <a:latin typeface="Helvetica Neue Light"/>
                  <a:ea typeface="Calibri" pitchFamily="34" charset="-122"/>
                  <a:cs typeface="Calibri" pitchFamily="34" charset="-120"/>
                </a:rPr>
                <a:t>AI that knows 	what to remember vs. forget</a:t>
              </a:r>
              <a:endParaRPr lang="en-US" sz="1600" dirty="0">
                <a:latin typeface="Helvetica Neue Light"/>
              </a:endParaRPr>
            </a:p>
          </p:txBody>
        </p:sp>
        <p:sp>
          <p:nvSpPr>
            <p:cNvPr id="10" name="Shape 7">
              <a:extLst>
                <a:ext uri="{FF2B5EF4-FFF2-40B4-BE49-F238E27FC236}">
                  <a16:creationId xmlns:a16="http://schemas.microsoft.com/office/drawing/2014/main" id="{7FB75CFC-43E1-20FB-EBB2-1168227C8604}"/>
                </a:ext>
              </a:extLst>
            </p:cNvPr>
            <p:cNvSpPr/>
            <p:nvPr/>
          </p:nvSpPr>
          <p:spPr>
            <a:xfrm>
              <a:off x="4641294" y="1188720"/>
              <a:ext cx="4159092" cy="1939943"/>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E8114480-8FAB-CF8C-F510-DD3244F2F10A}"/>
                </a:ext>
              </a:extLst>
            </p:cNvPr>
            <p:cNvSpPr/>
            <p:nvPr/>
          </p:nvSpPr>
          <p:spPr>
            <a:xfrm>
              <a:off x="4663440" y="1188720"/>
              <a:ext cx="53598" cy="1939943"/>
            </a:xfrm>
            <a:prstGeom prst="rect">
              <a:avLst/>
            </a:prstGeom>
            <a:solidFill>
              <a:srgbClr val="E07A5F"/>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4417D4FC-8B94-8173-4970-D90DD97E2A31}"/>
                </a:ext>
              </a:extLst>
            </p:cNvPr>
            <p:cNvSpPr/>
            <p:nvPr/>
          </p:nvSpPr>
          <p:spPr>
            <a:xfrm>
              <a:off x="4892040" y="1172198"/>
              <a:ext cx="365760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Paradigm Shifts on the Horizon</a:t>
              </a:r>
              <a:endParaRPr lang="en-US" dirty="0">
                <a:latin typeface="Helvetica Neue Light"/>
              </a:endParaRPr>
            </a:p>
          </p:txBody>
        </p:sp>
        <p:sp>
          <p:nvSpPr>
            <p:cNvPr id="13" name="Text 10">
              <a:extLst>
                <a:ext uri="{FF2B5EF4-FFF2-40B4-BE49-F238E27FC236}">
                  <a16:creationId xmlns:a16="http://schemas.microsoft.com/office/drawing/2014/main" id="{E4CE0D16-06BC-8A49-840F-4E8A3AAC09FF}"/>
                </a:ext>
              </a:extLst>
            </p:cNvPr>
            <p:cNvSpPr/>
            <p:nvPr/>
          </p:nvSpPr>
          <p:spPr>
            <a:xfrm>
              <a:off x="4892040" y="1600199"/>
              <a:ext cx="3930492" cy="1316669"/>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From RAG to Full Context: </a:t>
              </a:r>
              <a:r>
                <a:rPr lang="en-US" sz="1600" dirty="0">
                  <a:solidFill>
                    <a:srgbClr val="2D3436"/>
                  </a:solidFill>
                  <a:latin typeface="Helvetica Neue Light"/>
                  <a:ea typeface="Calibri" pitchFamily="34" charset="-122"/>
                  <a:cs typeface="Calibri" pitchFamily="34" charset="-120"/>
                </a:rPr>
                <a:t>Why retrieve 	when you can load everything?</a:t>
              </a:r>
            </a:p>
            <a:p>
              <a:pPr marL="0" indent="0">
                <a:buNone/>
              </a:pP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Persistent Memory: </a:t>
              </a:r>
              <a:r>
                <a:rPr lang="en-US" sz="1600" dirty="0">
                  <a:solidFill>
                    <a:srgbClr val="2D3436"/>
                  </a:solidFill>
                  <a:latin typeface="Helvetica Neue Light"/>
                  <a:ea typeface="Calibri" pitchFamily="34" charset="-122"/>
                  <a:cs typeface="Calibri" pitchFamily="34" charset="-120"/>
                </a:rPr>
                <a:t>Context that spans 	across sessions</a:t>
              </a:r>
            </a:p>
            <a:p>
              <a:pPr marL="0" indent="0">
                <a:buNone/>
              </a:pP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Selective Attention: </a:t>
              </a:r>
              <a:r>
                <a:rPr lang="en-US" sz="1600" dirty="0">
                  <a:solidFill>
                    <a:srgbClr val="2D3436"/>
                  </a:solidFill>
                  <a:latin typeface="Helvetica Neue Light"/>
                  <a:ea typeface="Calibri" pitchFamily="34" charset="-122"/>
                  <a:cs typeface="Calibri" pitchFamily="34" charset="-120"/>
                </a:rPr>
                <a:t>Models dynamically 	focus on relevant portions</a:t>
              </a:r>
              <a:endParaRPr lang="en-US" sz="1600" dirty="0">
                <a:latin typeface="Helvetica Neue Light"/>
              </a:endParaRPr>
            </a:p>
          </p:txBody>
        </p:sp>
        <p:sp>
          <p:nvSpPr>
            <p:cNvPr id="14" name="Shape 11">
              <a:extLst>
                <a:ext uri="{FF2B5EF4-FFF2-40B4-BE49-F238E27FC236}">
                  <a16:creationId xmlns:a16="http://schemas.microsoft.com/office/drawing/2014/main" id="{CB425240-5A87-F6F0-ED33-8A4F5C74C7B5}"/>
                </a:ext>
              </a:extLst>
            </p:cNvPr>
            <p:cNvSpPr/>
            <p:nvPr/>
          </p:nvSpPr>
          <p:spPr>
            <a:xfrm>
              <a:off x="457200" y="3419607"/>
              <a:ext cx="8310468" cy="706938"/>
            </a:xfrm>
            <a:prstGeom prst="rect">
              <a:avLst/>
            </a:prstGeom>
            <a:solidFill>
              <a:srgbClr val="21295C"/>
            </a:solidFill>
            <a:ln/>
          </p:spPr>
          <p:txBody>
            <a:bodyPr/>
            <a:lstStyle/>
            <a:p>
              <a:endParaRPr lang="en-US" sz="2800">
                <a:latin typeface="Helvetica Neue Light"/>
              </a:endParaRPr>
            </a:p>
          </p:txBody>
        </p:sp>
        <p:sp>
          <p:nvSpPr>
            <p:cNvPr id="15" name="Text 12">
              <a:extLst>
                <a:ext uri="{FF2B5EF4-FFF2-40B4-BE49-F238E27FC236}">
                  <a16:creationId xmlns:a16="http://schemas.microsoft.com/office/drawing/2014/main" id="{A61A053D-340F-6B25-8029-8E763422D787}"/>
                </a:ext>
              </a:extLst>
            </p:cNvPr>
            <p:cNvSpPr/>
            <p:nvPr/>
          </p:nvSpPr>
          <p:spPr>
            <a:xfrm>
              <a:off x="594360" y="3442465"/>
              <a:ext cx="7955280" cy="228600"/>
            </a:xfrm>
            <a:prstGeom prst="rect">
              <a:avLst/>
            </a:prstGeom>
            <a:noFill/>
            <a:ln/>
          </p:spPr>
          <p:txBody>
            <a:bodyPr wrap="square" rtlCol="0" anchor="ctr"/>
            <a:lstStyle/>
            <a:p>
              <a:pPr marL="0" indent="0">
                <a:buNone/>
              </a:pPr>
              <a:r>
                <a:rPr lang="en-US" b="1" dirty="0">
                  <a:solidFill>
                    <a:srgbClr val="E07A5F"/>
                  </a:solidFill>
                  <a:latin typeface="Helvetica Neue Light"/>
                  <a:ea typeface="Calibri" pitchFamily="34" charset="-122"/>
                  <a:cs typeface="Calibri" pitchFamily="34" charset="-120"/>
                </a:rPr>
                <a:t>The Ultimate Question:</a:t>
              </a:r>
              <a:endParaRPr lang="en-US" b="1" dirty="0">
                <a:latin typeface="Helvetica Neue Light"/>
              </a:endParaRPr>
            </a:p>
          </p:txBody>
        </p:sp>
        <p:sp>
          <p:nvSpPr>
            <p:cNvPr id="16" name="Text 13">
              <a:extLst>
                <a:ext uri="{FF2B5EF4-FFF2-40B4-BE49-F238E27FC236}">
                  <a16:creationId xmlns:a16="http://schemas.microsoft.com/office/drawing/2014/main" id="{336428B3-4FAD-2DBB-CC15-70CD04A196C5}"/>
                </a:ext>
              </a:extLst>
            </p:cNvPr>
            <p:cNvSpPr/>
            <p:nvPr/>
          </p:nvSpPr>
          <p:spPr>
            <a:xfrm>
              <a:off x="594360" y="3712216"/>
              <a:ext cx="7955280" cy="274320"/>
            </a:xfrm>
            <a:prstGeom prst="rect">
              <a:avLst/>
            </a:prstGeom>
            <a:noFill/>
            <a:ln/>
          </p:spPr>
          <p:txBody>
            <a:bodyPr wrap="square" rtlCol="0" anchor="ctr"/>
            <a:lstStyle/>
            <a:p>
              <a:pPr marL="0" indent="0">
                <a:buNone/>
              </a:pPr>
              <a:r>
                <a:rPr lang="en-US" dirty="0">
                  <a:solidFill>
                    <a:srgbClr val="FFFFFF"/>
                  </a:solidFill>
                  <a:latin typeface="Helvetica Neue Light"/>
                  <a:ea typeface="Calibri" pitchFamily="34" charset="-122"/>
                  <a:cs typeface="Calibri" pitchFamily="34" charset="-120"/>
                </a:rPr>
                <a:t>When AI can "remember" millions of tokens, do we still need databases, or does the model become the database?</a:t>
              </a:r>
              <a:endParaRPr lang="en-US" dirty="0">
                <a:latin typeface="Helvetica Neue Light"/>
              </a:endParaRPr>
            </a:p>
          </p:txBody>
        </p:sp>
      </p:grpSp>
    </p:spTree>
    <p:extLst>
      <p:ext uri="{BB962C8B-B14F-4D97-AF65-F5344CB8AC3E}">
        <p14:creationId xmlns:p14="http://schemas.microsoft.com/office/powerpoint/2010/main" val="34357455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C4051-CACB-0AA1-21A7-7B71E71F3AE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713670E-D755-3998-87F9-41286E320A06}"/>
              </a:ext>
            </a:extLst>
          </p:cNvPr>
          <p:cNvSpPr>
            <a:spLocks noGrp="1"/>
          </p:cNvSpPr>
          <p:nvPr>
            <p:ph type="title"/>
          </p:nvPr>
        </p:nvSpPr>
        <p:spPr>
          <a:xfrm>
            <a:off x="623888" y="3471536"/>
            <a:ext cx="7886700" cy="1090940"/>
          </a:xfrm>
        </p:spPr>
        <p:txBody>
          <a:bodyPr/>
          <a:lstStyle/>
          <a:p>
            <a:r>
              <a:rPr lang="en-US" sz="3200" i="1" dirty="0"/>
              <a:t>Part 6 </a:t>
            </a:r>
            <a:br>
              <a:rPr lang="en-US" sz="4000" dirty="0"/>
            </a:br>
            <a:r>
              <a:rPr lang="en-US" sz="4000" dirty="0"/>
              <a:t>	Knowledge Cutoff Date in AI</a:t>
            </a:r>
          </a:p>
        </p:txBody>
      </p:sp>
      <p:sp>
        <p:nvSpPr>
          <p:cNvPr id="2" name="Text Placeholder 1">
            <a:extLst>
              <a:ext uri="{FF2B5EF4-FFF2-40B4-BE49-F238E27FC236}">
                <a16:creationId xmlns:a16="http://schemas.microsoft.com/office/drawing/2014/main" id="{A7513439-BB66-E77E-0BFD-A7047329A5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15B669-4FD8-F06E-08E9-33831C330F8A}"/>
              </a:ext>
            </a:extLst>
          </p:cNvPr>
          <p:cNvSpPr>
            <a:spLocks noGrp="1"/>
          </p:cNvSpPr>
          <p:nvPr>
            <p:ph type="sldNum" sz="quarter" idx="12"/>
          </p:nvPr>
        </p:nvSpPr>
        <p:spPr/>
        <p:txBody>
          <a:bodyPr/>
          <a:lstStyle/>
          <a:p>
            <a:fld id="{21EF4C0E-91FA-4D94-8941-E22F3A83D5F1}" type="slidenum">
              <a:rPr lang="en-US" smtClean="0"/>
              <a:t>32</a:t>
            </a:fld>
            <a:endParaRPr lang="en-US"/>
          </a:p>
        </p:txBody>
      </p:sp>
    </p:spTree>
    <p:extLst>
      <p:ext uri="{BB962C8B-B14F-4D97-AF65-F5344CB8AC3E}">
        <p14:creationId xmlns:p14="http://schemas.microsoft.com/office/powerpoint/2010/main" val="26210668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229600" cy="592213"/>
          </a:xfrm>
        </p:spPr>
        <p:txBody>
          <a:bodyPr/>
          <a:lstStyle/>
          <a:p>
            <a:r>
              <a:rPr lang="en-US" dirty="0"/>
              <a:t>Knowledge Cutoff Date in AI - Video (3:31) </a:t>
            </a:r>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33</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574035" y="6679342"/>
            <a:ext cx="2477095" cy="215444"/>
          </a:xfrm>
          <a:prstGeom prst="rect">
            <a:avLst/>
          </a:prstGeom>
          <a:noFill/>
        </p:spPr>
        <p:txBody>
          <a:bodyPr wrap="square">
            <a:spAutoFit/>
          </a:bodyPr>
          <a:lstStyle/>
          <a:p>
            <a:r>
              <a:rPr lang="en-US" sz="800" dirty="0">
                <a:solidFill>
                  <a:schemeClr val="bg2">
                    <a:lumMod val="90000"/>
                  </a:schemeClr>
                </a:solidFill>
              </a:rPr>
              <a:t>https://www.youtube.com/watch?v=mTAvGHyz1SE</a:t>
            </a:r>
          </a:p>
        </p:txBody>
      </p:sp>
      <p:pic>
        <p:nvPicPr>
          <p:cNvPr id="4" name="Online Media 3" title="Know Your LLM's Knowledge Cutoff Date">
            <a:hlinkClick r:id="" action="ppaction://media"/>
            <a:extLst>
              <a:ext uri="{FF2B5EF4-FFF2-40B4-BE49-F238E27FC236}">
                <a16:creationId xmlns:a16="http://schemas.microsoft.com/office/drawing/2014/main" id="{46DE9667-E57E-9656-C141-2D731B74F11D}"/>
              </a:ext>
            </a:extLst>
          </p:cNvPr>
          <p:cNvPicPr>
            <a:picLocks noRot="1" noChangeAspect="1"/>
          </p:cNvPicPr>
          <p:nvPr>
            <a:videoFile r:link="rId1"/>
          </p:nvPr>
        </p:nvPicPr>
        <p:blipFill>
          <a:blip r:embed="rId3"/>
          <a:stretch>
            <a:fillRect/>
          </a:stretch>
        </p:blipFill>
        <p:spPr>
          <a:xfrm>
            <a:off x="536972" y="1686549"/>
            <a:ext cx="8345214" cy="4711569"/>
          </a:xfrm>
          <a:prstGeom prst="rect">
            <a:avLst/>
          </a:prstGeom>
        </p:spPr>
      </p:pic>
      <p:sp>
        <p:nvSpPr>
          <p:cNvPr id="6" name="TextBox 5">
            <a:extLst>
              <a:ext uri="{FF2B5EF4-FFF2-40B4-BE49-F238E27FC236}">
                <a16:creationId xmlns:a16="http://schemas.microsoft.com/office/drawing/2014/main" id="{C4CDFB5F-3DBF-D3D7-9AE2-6D6342E83F27}"/>
              </a:ext>
            </a:extLst>
          </p:cNvPr>
          <p:cNvSpPr txBox="1"/>
          <p:nvPr/>
        </p:nvSpPr>
        <p:spPr>
          <a:xfrm>
            <a:off x="457200" y="1137278"/>
            <a:ext cx="4572000" cy="369332"/>
          </a:xfrm>
          <a:prstGeom prst="rect">
            <a:avLst/>
          </a:prstGeom>
          <a:noFill/>
        </p:spPr>
        <p:txBody>
          <a:bodyPr wrap="square">
            <a:spAutoFit/>
          </a:bodyPr>
          <a:lstStyle/>
          <a:p>
            <a:r>
              <a:rPr lang="en-US" i="1" dirty="0">
                <a:latin typeface="Helvetica Neue Light"/>
              </a:rPr>
              <a:t>Understanding when AI's learning stops</a:t>
            </a:r>
          </a:p>
        </p:txBody>
      </p:sp>
    </p:spTree>
    <p:extLst>
      <p:ext uri="{BB962C8B-B14F-4D97-AF65-F5344CB8AC3E}">
        <p14:creationId xmlns:p14="http://schemas.microsoft.com/office/powerpoint/2010/main" val="3638871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84FEDA15-97BC-3629-BB8B-8A355E9EE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CF4CE-D96B-489F-F621-3FA72C5A2BCC}"/>
              </a:ext>
            </a:extLst>
          </p:cNvPr>
          <p:cNvSpPr>
            <a:spLocks noGrp="1"/>
          </p:cNvSpPr>
          <p:nvPr>
            <p:ph type="title"/>
          </p:nvPr>
        </p:nvSpPr>
        <p:spPr>
          <a:xfrm>
            <a:off x="457200" y="365126"/>
            <a:ext cx="8229600" cy="592213"/>
          </a:xfrm>
        </p:spPr>
        <p:txBody>
          <a:bodyPr/>
          <a:lstStyle/>
          <a:p>
            <a:r>
              <a:rPr lang="en-US" dirty="0"/>
              <a:t>When AI's Learning Stopped</a:t>
            </a:r>
          </a:p>
        </p:txBody>
      </p:sp>
      <p:sp>
        <p:nvSpPr>
          <p:cNvPr id="5" name="Slide Number Placeholder 4">
            <a:extLst>
              <a:ext uri="{FF2B5EF4-FFF2-40B4-BE49-F238E27FC236}">
                <a16:creationId xmlns:a16="http://schemas.microsoft.com/office/drawing/2014/main" id="{BE38E028-775E-B302-EA34-E73E79093287}"/>
              </a:ext>
            </a:extLst>
          </p:cNvPr>
          <p:cNvSpPr>
            <a:spLocks noGrp="1"/>
          </p:cNvSpPr>
          <p:nvPr>
            <p:ph type="sldNum" sz="quarter" idx="12"/>
          </p:nvPr>
        </p:nvSpPr>
        <p:spPr/>
        <p:txBody>
          <a:bodyPr/>
          <a:lstStyle/>
          <a:p>
            <a:fld id="{21EF4C0E-91FA-4D94-8941-E22F3A83D5F1}" type="slidenum">
              <a:rPr lang="en-US" smtClean="0"/>
              <a:t>34</a:t>
            </a:fld>
            <a:endParaRPr lang="en-US"/>
          </a:p>
        </p:txBody>
      </p:sp>
      <p:sp>
        <p:nvSpPr>
          <p:cNvPr id="6" name="TextBox 5">
            <a:extLst>
              <a:ext uri="{FF2B5EF4-FFF2-40B4-BE49-F238E27FC236}">
                <a16:creationId xmlns:a16="http://schemas.microsoft.com/office/drawing/2014/main" id="{C8B80093-911B-94C0-65B0-1248A0F4BC9E}"/>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DA2507D8-A06E-B618-E2AC-1F0E6E13DF3D}"/>
              </a:ext>
            </a:extLst>
          </p:cNvPr>
          <p:cNvGrpSpPr/>
          <p:nvPr/>
        </p:nvGrpSpPr>
        <p:grpSpPr>
          <a:xfrm>
            <a:off x="457200" y="1195077"/>
            <a:ext cx="8365332" cy="3500214"/>
            <a:chOff x="457200" y="1203239"/>
            <a:chExt cx="8229600" cy="2774401"/>
          </a:xfrm>
        </p:grpSpPr>
        <p:sp>
          <p:nvSpPr>
            <p:cNvPr id="4" name="Shape 3">
              <a:extLst>
                <a:ext uri="{FF2B5EF4-FFF2-40B4-BE49-F238E27FC236}">
                  <a16:creationId xmlns:a16="http://schemas.microsoft.com/office/drawing/2014/main" id="{6C4710D5-BDE8-CD17-4150-DE71366ACFCA}"/>
                </a:ext>
              </a:extLst>
            </p:cNvPr>
            <p:cNvSpPr/>
            <p:nvPr/>
          </p:nvSpPr>
          <p:spPr>
            <a:xfrm>
              <a:off x="457200" y="1234440"/>
              <a:ext cx="822960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12D645EA-47AC-ACEA-8974-4E08EAACE54E}"/>
                </a:ext>
              </a:extLst>
            </p:cNvPr>
            <p:cNvSpPr/>
            <p:nvPr/>
          </p:nvSpPr>
          <p:spPr>
            <a:xfrm>
              <a:off x="457200" y="1234440"/>
              <a:ext cx="54864" cy="91440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43A4620D-E081-F07B-C47F-442CEB594916}"/>
                </a:ext>
              </a:extLst>
            </p:cNvPr>
            <p:cNvSpPr/>
            <p:nvPr/>
          </p:nvSpPr>
          <p:spPr>
            <a:xfrm>
              <a:off x="685800" y="1203239"/>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Definition:</a:t>
              </a:r>
              <a:endParaRPr lang="en-US" dirty="0">
                <a:latin typeface="Helvetica Neue Light"/>
              </a:endParaRPr>
            </a:p>
          </p:txBody>
        </p:sp>
        <p:sp>
          <p:nvSpPr>
            <p:cNvPr id="9" name="Text 6">
              <a:extLst>
                <a:ext uri="{FF2B5EF4-FFF2-40B4-BE49-F238E27FC236}">
                  <a16:creationId xmlns:a16="http://schemas.microsoft.com/office/drawing/2014/main" id="{35ED5F7C-7EC1-EFE9-DCAC-BE5E9EA60D00}"/>
                </a:ext>
              </a:extLst>
            </p:cNvPr>
            <p:cNvSpPr/>
            <p:nvPr/>
          </p:nvSpPr>
          <p:spPr>
            <a:xfrm>
              <a:off x="685800" y="1554480"/>
              <a:ext cx="800100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The knowledge cutoff date is the point in time when an AI model's training data ends — essentially, the last "day" the AI learned about the world. Everything that happened after this date is unknown to the model unless explicitly provided.</a:t>
              </a:r>
              <a:endParaRPr lang="en-US" sz="1600" dirty="0">
                <a:latin typeface="Helvetica Neue Light"/>
              </a:endParaRPr>
            </a:p>
          </p:txBody>
        </p:sp>
        <p:sp>
          <p:nvSpPr>
            <p:cNvPr id="10" name="Text 7">
              <a:extLst>
                <a:ext uri="{FF2B5EF4-FFF2-40B4-BE49-F238E27FC236}">
                  <a16:creationId xmlns:a16="http://schemas.microsoft.com/office/drawing/2014/main" id="{4CDA7BFA-D460-86DF-2758-C2DAE47EF3DE}"/>
                </a:ext>
              </a:extLst>
            </p:cNvPr>
            <p:cNvSpPr/>
            <p:nvPr/>
          </p:nvSpPr>
          <p:spPr>
            <a:xfrm>
              <a:off x="457200" y="228600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The Temporal Blindness:</a:t>
              </a:r>
              <a:endParaRPr lang="en-US" sz="2000" dirty="0">
                <a:latin typeface="Helvetica Neue Light"/>
              </a:endParaRPr>
            </a:p>
          </p:txBody>
        </p:sp>
        <p:sp>
          <p:nvSpPr>
            <p:cNvPr id="11" name="Shape 8">
              <a:extLst>
                <a:ext uri="{FF2B5EF4-FFF2-40B4-BE49-F238E27FC236}">
                  <a16:creationId xmlns:a16="http://schemas.microsoft.com/office/drawing/2014/main" id="{0617DE56-0CAB-B87C-5124-3CBA84FC22D2}"/>
                </a:ext>
              </a:extLst>
            </p:cNvPr>
            <p:cNvSpPr/>
            <p:nvPr/>
          </p:nvSpPr>
          <p:spPr>
            <a:xfrm>
              <a:off x="457200" y="2707224"/>
              <a:ext cx="320040" cy="264576"/>
            </a:xfrm>
            <a:prstGeom prst="ellipse">
              <a:avLst/>
            </a:prstGeom>
            <a:solidFill>
              <a:srgbClr val="1C7293"/>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5CF79C29-83BE-1F63-1CC0-773AB4780E4E}"/>
                </a:ext>
              </a:extLst>
            </p:cNvPr>
            <p:cNvSpPr/>
            <p:nvPr/>
          </p:nvSpPr>
          <p:spPr>
            <a:xfrm>
              <a:off x="914400" y="2651760"/>
              <a:ext cx="21031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Training Snapshot:</a:t>
              </a:r>
              <a:endParaRPr lang="en-US" dirty="0">
                <a:latin typeface="Helvetica Neue Light"/>
              </a:endParaRPr>
            </a:p>
          </p:txBody>
        </p:sp>
        <p:sp>
          <p:nvSpPr>
            <p:cNvPr id="13" name="Text 10">
              <a:extLst>
                <a:ext uri="{FF2B5EF4-FFF2-40B4-BE49-F238E27FC236}">
                  <a16:creationId xmlns:a16="http://schemas.microsoft.com/office/drawing/2014/main" id="{2F90706C-2388-3EAC-E29C-618C8D165602}"/>
                </a:ext>
              </a:extLst>
            </p:cNvPr>
            <p:cNvSpPr/>
            <p:nvPr/>
          </p:nvSpPr>
          <p:spPr>
            <a:xfrm>
              <a:off x="3017520" y="2651760"/>
              <a:ext cx="5669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Models are trained on data collected up to a specific date</a:t>
              </a:r>
              <a:endParaRPr lang="en-US" sz="1600" dirty="0">
                <a:latin typeface="Helvetica Neue Light"/>
              </a:endParaRPr>
            </a:p>
          </p:txBody>
        </p:sp>
        <p:sp>
          <p:nvSpPr>
            <p:cNvPr id="14" name="Shape 11">
              <a:extLst>
                <a:ext uri="{FF2B5EF4-FFF2-40B4-BE49-F238E27FC236}">
                  <a16:creationId xmlns:a16="http://schemas.microsoft.com/office/drawing/2014/main" id="{94C72DE7-591C-98F7-01BE-A29B76B7F1AF}"/>
                </a:ext>
              </a:extLst>
            </p:cNvPr>
            <p:cNvSpPr/>
            <p:nvPr/>
          </p:nvSpPr>
          <p:spPr>
            <a:xfrm>
              <a:off x="457200" y="3210144"/>
              <a:ext cx="320040" cy="264576"/>
            </a:xfrm>
            <a:prstGeom prst="ellipse">
              <a:avLst/>
            </a:prstGeom>
            <a:solidFill>
              <a:srgbClr val="E07A5F"/>
            </a:solidFill>
            <a:ln/>
          </p:spPr>
          <p:txBody>
            <a:bodyPr/>
            <a:lstStyle/>
            <a:p>
              <a:endParaRPr lang="en-US" sz="2800">
                <a:latin typeface="Helvetica Neue Light"/>
              </a:endParaRPr>
            </a:p>
          </p:txBody>
        </p:sp>
        <p:sp>
          <p:nvSpPr>
            <p:cNvPr id="15" name="Text 12">
              <a:extLst>
                <a:ext uri="{FF2B5EF4-FFF2-40B4-BE49-F238E27FC236}">
                  <a16:creationId xmlns:a16="http://schemas.microsoft.com/office/drawing/2014/main" id="{18A57823-5866-C8B6-0727-3E130F4370CB}"/>
                </a:ext>
              </a:extLst>
            </p:cNvPr>
            <p:cNvSpPr/>
            <p:nvPr/>
          </p:nvSpPr>
          <p:spPr>
            <a:xfrm>
              <a:off x="914400" y="3154680"/>
              <a:ext cx="21031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Frozen in Time:</a:t>
              </a:r>
              <a:endParaRPr lang="en-US" dirty="0">
                <a:latin typeface="Helvetica Neue Light"/>
              </a:endParaRPr>
            </a:p>
          </p:txBody>
        </p:sp>
        <p:sp>
          <p:nvSpPr>
            <p:cNvPr id="16" name="Text 13">
              <a:extLst>
                <a:ext uri="{FF2B5EF4-FFF2-40B4-BE49-F238E27FC236}">
                  <a16:creationId xmlns:a16="http://schemas.microsoft.com/office/drawing/2014/main" id="{31B746A8-02D3-4A2C-F821-04D42199661C}"/>
                </a:ext>
              </a:extLst>
            </p:cNvPr>
            <p:cNvSpPr/>
            <p:nvPr/>
          </p:nvSpPr>
          <p:spPr>
            <a:xfrm>
              <a:off x="3017520" y="3154680"/>
              <a:ext cx="5669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Once training ends, the model has no new "world knowledge"</a:t>
              </a:r>
              <a:endParaRPr lang="en-US" sz="1600" dirty="0">
                <a:latin typeface="Helvetica Neue Light"/>
              </a:endParaRPr>
            </a:p>
          </p:txBody>
        </p:sp>
        <p:sp>
          <p:nvSpPr>
            <p:cNvPr id="17" name="Shape 14">
              <a:extLst>
                <a:ext uri="{FF2B5EF4-FFF2-40B4-BE49-F238E27FC236}">
                  <a16:creationId xmlns:a16="http://schemas.microsoft.com/office/drawing/2014/main" id="{FE264340-CB2F-04B2-63B4-3B9DA8C1EE7E}"/>
                </a:ext>
              </a:extLst>
            </p:cNvPr>
            <p:cNvSpPr/>
            <p:nvPr/>
          </p:nvSpPr>
          <p:spPr>
            <a:xfrm>
              <a:off x="457200" y="3713064"/>
              <a:ext cx="320040" cy="264576"/>
            </a:xfrm>
            <a:prstGeom prst="ellipse">
              <a:avLst/>
            </a:prstGeom>
            <a:solidFill>
              <a:srgbClr val="1C7293"/>
            </a:solidFill>
            <a:ln/>
          </p:spPr>
          <p:txBody>
            <a:bodyPr/>
            <a:lstStyle/>
            <a:p>
              <a:endParaRPr lang="en-US" sz="2800">
                <a:latin typeface="Helvetica Neue Light"/>
              </a:endParaRPr>
            </a:p>
          </p:txBody>
        </p:sp>
        <p:sp>
          <p:nvSpPr>
            <p:cNvPr id="18" name="Text 15">
              <a:extLst>
                <a:ext uri="{FF2B5EF4-FFF2-40B4-BE49-F238E27FC236}">
                  <a16:creationId xmlns:a16="http://schemas.microsoft.com/office/drawing/2014/main" id="{DF7D7974-B2B6-47AA-EF02-1091A23DDCBE}"/>
                </a:ext>
              </a:extLst>
            </p:cNvPr>
            <p:cNvSpPr/>
            <p:nvPr/>
          </p:nvSpPr>
          <p:spPr>
            <a:xfrm>
              <a:off x="914400" y="3657600"/>
              <a:ext cx="21031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Example:</a:t>
              </a:r>
              <a:endParaRPr lang="en-US" dirty="0">
                <a:latin typeface="Helvetica Neue Light"/>
              </a:endParaRPr>
            </a:p>
          </p:txBody>
        </p:sp>
        <p:sp>
          <p:nvSpPr>
            <p:cNvPr id="19" name="Text 16">
              <a:extLst>
                <a:ext uri="{FF2B5EF4-FFF2-40B4-BE49-F238E27FC236}">
                  <a16:creationId xmlns:a16="http://schemas.microsoft.com/office/drawing/2014/main" id="{FC39583E-09ED-4329-5C61-D379915B2CFB}"/>
                </a:ext>
              </a:extLst>
            </p:cNvPr>
            <p:cNvSpPr/>
            <p:nvPr/>
          </p:nvSpPr>
          <p:spPr>
            <a:xfrm>
              <a:off x="3017520" y="3657600"/>
              <a:ext cx="5669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GPT-4's cutoff (Sep 2021) means it doesn't inherently know about events from Oct 2021 onward</a:t>
              </a:r>
              <a:endParaRPr lang="en-US" sz="1600" dirty="0">
                <a:latin typeface="Helvetica Neue Light"/>
              </a:endParaRPr>
            </a:p>
          </p:txBody>
        </p:sp>
      </p:grpSp>
      <p:sp>
        <p:nvSpPr>
          <p:cNvPr id="20" name="TextBox 19">
            <a:extLst>
              <a:ext uri="{FF2B5EF4-FFF2-40B4-BE49-F238E27FC236}">
                <a16:creationId xmlns:a16="http://schemas.microsoft.com/office/drawing/2014/main" id="{3F205F8D-23B4-0F1F-EBB6-1A1809631A72}"/>
              </a:ext>
            </a:extLst>
          </p:cNvPr>
          <p:cNvSpPr txBox="1"/>
          <p:nvPr/>
        </p:nvSpPr>
        <p:spPr>
          <a:xfrm>
            <a:off x="6033052" y="6642035"/>
            <a:ext cx="3073443" cy="215444"/>
          </a:xfrm>
          <a:prstGeom prst="rect">
            <a:avLst/>
          </a:prstGeom>
          <a:noFill/>
        </p:spPr>
        <p:txBody>
          <a:bodyPr wrap="square">
            <a:spAutoFit/>
          </a:bodyPr>
          <a:lstStyle/>
          <a:p>
            <a:r>
              <a:rPr lang="en-US" sz="800" dirty="0">
                <a:solidFill>
                  <a:schemeClr val="bg2">
                    <a:lumMod val="90000"/>
                  </a:schemeClr>
                </a:solidFill>
              </a:rPr>
              <a:t>https://wpadvancedads.com/chatgpt-provides-current-data/</a:t>
            </a:r>
          </a:p>
        </p:txBody>
      </p:sp>
      <p:pic>
        <p:nvPicPr>
          <p:cNvPr id="21" name="Picture 2" descr="A timeline diagram showing several key releases of OpenAI’s GPT products and the Knowledge Cutoff, illustrating how current ChatGPT data is.">
            <a:extLst>
              <a:ext uri="{FF2B5EF4-FFF2-40B4-BE49-F238E27FC236}">
                <a16:creationId xmlns:a16="http://schemas.microsoft.com/office/drawing/2014/main" id="{DA93F8D1-900F-BBA8-0D31-8CCE74C51E0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196" t="11739" r="3369" b="31353"/>
          <a:stretch>
            <a:fillRect/>
          </a:stretch>
        </p:blipFill>
        <p:spPr bwMode="auto">
          <a:xfrm>
            <a:off x="607404" y="4892572"/>
            <a:ext cx="5425648" cy="19204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101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D0CADBA7-5ECA-405C-D7BD-0532A4646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CC1BA-5A32-C078-2572-B58BF7916FB7}"/>
              </a:ext>
            </a:extLst>
          </p:cNvPr>
          <p:cNvSpPr>
            <a:spLocks noGrp="1"/>
          </p:cNvSpPr>
          <p:nvPr>
            <p:ph type="title"/>
          </p:nvPr>
        </p:nvSpPr>
        <p:spPr>
          <a:xfrm>
            <a:off x="457200" y="365126"/>
            <a:ext cx="8229600" cy="592213"/>
          </a:xfrm>
        </p:spPr>
        <p:txBody>
          <a:bodyPr/>
          <a:lstStyle/>
          <a:p>
            <a:r>
              <a:rPr lang="en-US" dirty="0"/>
              <a:t>Why Cutoff Dates Exist</a:t>
            </a:r>
          </a:p>
        </p:txBody>
      </p:sp>
      <p:sp>
        <p:nvSpPr>
          <p:cNvPr id="5" name="Slide Number Placeholder 4">
            <a:extLst>
              <a:ext uri="{FF2B5EF4-FFF2-40B4-BE49-F238E27FC236}">
                <a16:creationId xmlns:a16="http://schemas.microsoft.com/office/drawing/2014/main" id="{FE146868-79C5-B240-7CD3-D3EAAEC4D570}"/>
              </a:ext>
            </a:extLst>
          </p:cNvPr>
          <p:cNvSpPr>
            <a:spLocks noGrp="1"/>
          </p:cNvSpPr>
          <p:nvPr>
            <p:ph type="sldNum" sz="quarter" idx="12"/>
          </p:nvPr>
        </p:nvSpPr>
        <p:spPr/>
        <p:txBody>
          <a:bodyPr/>
          <a:lstStyle/>
          <a:p>
            <a:fld id="{21EF4C0E-91FA-4D94-8941-E22F3A83D5F1}" type="slidenum">
              <a:rPr lang="en-US" smtClean="0"/>
              <a:t>35</a:t>
            </a:fld>
            <a:endParaRPr lang="en-US"/>
          </a:p>
        </p:txBody>
      </p:sp>
      <p:sp>
        <p:nvSpPr>
          <p:cNvPr id="6" name="TextBox 5">
            <a:extLst>
              <a:ext uri="{FF2B5EF4-FFF2-40B4-BE49-F238E27FC236}">
                <a16:creationId xmlns:a16="http://schemas.microsoft.com/office/drawing/2014/main" id="{7D570524-316A-4D79-670E-B7C2D7A945EF}"/>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CC6EFDCE-DEFF-39A8-BB3B-2CA6E85B6EBE}"/>
              </a:ext>
            </a:extLst>
          </p:cNvPr>
          <p:cNvGrpSpPr/>
          <p:nvPr/>
        </p:nvGrpSpPr>
        <p:grpSpPr>
          <a:xfrm>
            <a:off x="457200" y="1188720"/>
            <a:ext cx="8229600" cy="3650408"/>
            <a:chOff x="457200" y="1188720"/>
            <a:chExt cx="8229600" cy="2377440"/>
          </a:xfrm>
        </p:grpSpPr>
        <p:sp>
          <p:nvSpPr>
            <p:cNvPr id="7" name="Shape 4">
              <a:extLst>
                <a:ext uri="{FF2B5EF4-FFF2-40B4-BE49-F238E27FC236}">
                  <a16:creationId xmlns:a16="http://schemas.microsoft.com/office/drawing/2014/main" id="{AD5D4992-250B-148D-00E9-8E0F52EBD28B}"/>
                </a:ext>
              </a:extLst>
            </p:cNvPr>
            <p:cNvSpPr/>
            <p:nvPr/>
          </p:nvSpPr>
          <p:spPr>
            <a:xfrm>
              <a:off x="457200" y="1188720"/>
              <a:ext cx="54864" cy="2377440"/>
            </a:xfrm>
            <a:prstGeom prst="rect">
              <a:avLst/>
            </a:prstGeom>
            <a:solidFill>
              <a:srgbClr val="1C7293"/>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0C789274-6069-F89E-2009-5D0EC61554D8}"/>
                </a:ext>
              </a:extLst>
            </p:cNvPr>
            <p:cNvSpPr/>
            <p:nvPr/>
          </p:nvSpPr>
          <p:spPr>
            <a:xfrm>
              <a:off x="685800" y="1216259"/>
              <a:ext cx="365760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Technical Necessities</a:t>
              </a:r>
              <a:endParaRPr lang="en-US" dirty="0">
                <a:latin typeface="Helvetica Neue Light"/>
              </a:endParaRPr>
            </a:p>
          </p:txBody>
        </p:sp>
        <p:sp>
          <p:nvSpPr>
            <p:cNvPr id="9" name="Text 6">
              <a:extLst>
                <a:ext uri="{FF2B5EF4-FFF2-40B4-BE49-F238E27FC236}">
                  <a16:creationId xmlns:a16="http://schemas.microsoft.com/office/drawing/2014/main" id="{4128D672-1065-7F42-77DD-5A7784B41B06}"/>
                </a:ext>
              </a:extLst>
            </p:cNvPr>
            <p:cNvSpPr/>
            <p:nvPr/>
          </p:nvSpPr>
          <p:spPr>
            <a:xfrm>
              <a:off x="685800" y="1600200"/>
              <a:ext cx="3803904" cy="1965960"/>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Training Time: </a:t>
              </a:r>
              <a:r>
                <a:rPr lang="en-US" sz="1600" dirty="0">
                  <a:solidFill>
                    <a:srgbClr val="2D3436"/>
                  </a:solidFill>
                  <a:latin typeface="Helvetica Neue Light"/>
                  <a:ea typeface="Calibri" pitchFamily="34" charset="-122"/>
                  <a:cs typeface="Calibri" pitchFamily="34" charset="-120"/>
                </a:rPr>
                <a:t>Large models take months to train - can't continuously update</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Data Curation: </a:t>
              </a:r>
              <a:r>
                <a:rPr lang="en-US" sz="1600" dirty="0">
                  <a:solidFill>
                    <a:srgbClr val="2D3436"/>
                  </a:solidFill>
                  <a:latin typeface="Helvetica Neue Light"/>
                  <a:ea typeface="Calibri" pitchFamily="34" charset="-122"/>
                  <a:cs typeface="Calibri" pitchFamily="34" charset="-120"/>
                </a:rPr>
                <a:t>Quality datasets require time to collect, clean, and validate</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Model Stability: </a:t>
              </a:r>
              <a:r>
                <a:rPr lang="en-US" sz="1600" dirty="0">
                  <a:solidFill>
                    <a:srgbClr val="2D3436"/>
                  </a:solidFill>
                  <a:latin typeface="Helvetica Neue Light"/>
                  <a:ea typeface="Calibri" pitchFamily="34" charset="-122"/>
                  <a:cs typeface="Calibri" pitchFamily="34" charset="-120"/>
                </a:rPr>
                <a:t>Constant retraining would change model behavior unpredictably</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Computational Cost: </a:t>
              </a:r>
              <a:r>
                <a:rPr lang="en-US" sz="1600" dirty="0">
                  <a:solidFill>
                    <a:srgbClr val="2D3436"/>
                  </a:solidFill>
                  <a:latin typeface="Helvetica Neue Light"/>
                  <a:ea typeface="Calibri" pitchFamily="34" charset="-122"/>
                  <a:cs typeface="Calibri" pitchFamily="34" charset="-120"/>
                </a:rPr>
                <a:t>Training GPT-4 costs ~$100 million - can't retrain daily</a:t>
              </a:r>
              <a:endParaRPr lang="en-US" sz="1600" dirty="0">
                <a:latin typeface="Helvetica Neue Light"/>
              </a:endParaRPr>
            </a:p>
          </p:txBody>
        </p:sp>
        <p:sp>
          <p:nvSpPr>
            <p:cNvPr id="10" name="Shape 7">
              <a:extLst>
                <a:ext uri="{FF2B5EF4-FFF2-40B4-BE49-F238E27FC236}">
                  <a16:creationId xmlns:a16="http://schemas.microsoft.com/office/drawing/2014/main" id="{C1752852-596E-C0DC-4202-2516A6E13840}"/>
                </a:ext>
              </a:extLst>
            </p:cNvPr>
            <p:cNvSpPr/>
            <p:nvPr/>
          </p:nvSpPr>
          <p:spPr>
            <a:xfrm>
              <a:off x="4663440" y="1188720"/>
              <a:ext cx="4023360" cy="23774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C5E8056B-5033-ADAF-7B0F-A9754552AEBE}"/>
                </a:ext>
              </a:extLst>
            </p:cNvPr>
            <p:cNvSpPr/>
            <p:nvPr/>
          </p:nvSpPr>
          <p:spPr>
            <a:xfrm>
              <a:off x="4663440" y="1188720"/>
              <a:ext cx="54864" cy="2377440"/>
            </a:xfrm>
            <a:prstGeom prst="rect">
              <a:avLst/>
            </a:prstGeom>
            <a:solidFill>
              <a:srgbClr val="E07A5F"/>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C9E3DE5D-D479-DEDC-2095-2E203F54575D}"/>
                </a:ext>
              </a:extLst>
            </p:cNvPr>
            <p:cNvSpPr/>
            <p:nvPr/>
          </p:nvSpPr>
          <p:spPr>
            <a:xfrm>
              <a:off x="4892040" y="1216259"/>
              <a:ext cx="365760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Knowledge Gap Timeline</a:t>
              </a:r>
              <a:endParaRPr lang="en-US" dirty="0">
                <a:latin typeface="Helvetica Neue Light"/>
              </a:endParaRPr>
            </a:p>
          </p:txBody>
        </p:sp>
        <p:sp>
          <p:nvSpPr>
            <p:cNvPr id="13" name="Text 10">
              <a:extLst>
                <a:ext uri="{FF2B5EF4-FFF2-40B4-BE49-F238E27FC236}">
                  <a16:creationId xmlns:a16="http://schemas.microsoft.com/office/drawing/2014/main" id="{9C5A76F5-40FE-2999-A039-5A2FF2BD15BA}"/>
                </a:ext>
              </a:extLst>
            </p:cNvPr>
            <p:cNvSpPr/>
            <p:nvPr/>
          </p:nvSpPr>
          <p:spPr>
            <a:xfrm>
              <a:off x="4892040" y="1600200"/>
              <a:ext cx="3657600" cy="1828800"/>
            </a:xfrm>
            <a:prstGeom prst="rect">
              <a:avLst/>
            </a:prstGeom>
            <a:noFill/>
            <a:ln/>
          </p:spPr>
          <p:txBody>
            <a:bodyPr wrap="square" rtlCol="0" anchor="t"/>
            <a:lstStyle/>
            <a:p>
              <a:pPr marL="342900" indent="-342900">
                <a:buFont typeface="+mj-lt"/>
                <a:buAutoNum type="arabicPeriod"/>
              </a:pPr>
              <a:r>
                <a:rPr lang="en-US" sz="1600" b="1" dirty="0">
                  <a:solidFill>
                    <a:srgbClr val="2D3436"/>
                  </a:solidFill>
                  <a:latin typeface="Helvetica Neue Light"/>
                  <a:ea typeface="Calibri" pitchFamily="34" charset="-122"/>
                  <a:cs typeface="Calibri" pitchFamily="34" charset="-120"/>
                </a:rPr>
                <a:t>Data Collection </a:t>
              </a:r>
              <a:r>
                <a:rPr lang="en-US" sz="1600" dirty="0">
                  <a:solidFill>
                    <a:srgbClr val="2D3436"/>
                  </a:solidFill>
                  <a:latin typeface="Helvetica Neue Light"/>
                  <a:ea typeface="Calibri" pitchFamily="34" charset="-122"/>
                  <a:cs typeface="Calibri" pitchFamily="34" charset="-120"/>
                </a:rPr>
                <a:t>(Months)</a:t>
              </a:r>
              <a:endParaRPr lang="en-US" sz="1600" dirty="0">
                <a:latin typeface="Helvetica Neue Light"/>
              </a:endParaRPr>
            </a:p>
            <a:p>
              <a:pPr marL="342900" indent="-342900">
                <a:buFont typeface="+mj-lt"/>
                <a:buAutoNum type="arabicPeriod"/>
              </a:pPr>
              <a:r>
                <a:rPr lang="en-US" sz="1600" b="1" dirty="0">
                  <a:solidFill>
                    <a:srgbClr val="2D3436"/>
                  </a:solidFill>
                  <a:latin typeface="Helvetica Neue Light"/>
                  <a:ea typeface="Calibri" pitchFamily="34" charset="-122"/>
                  <a:cs typeface="Calibri" pitchFamily="34" charset="-120"/>
                </a:rPr>
                <a:t>Training </a:t>
              </a:r>
              <a:r>
                <a:rPr lang="en-US" sz="1600" dirty="0">
                  <a:solidFill>
                    <a:srgbClr val="2D3436"/>
                  </a:solidFill>
                  <a:latin typeface="Helvetica Neue Light"/>
                  <a:ea typeface="Calibri" pitchFamily="34" charset="-122"/>
                  <a:cs typeface="Calibri" pitchFamily="34" charset="-120"/>
                </a:rPr>
                <a:t>(3-6 months)</a:t>
              </a:r>
              <a:endParaRPr lang="en-US" sz="1600" dirty="0">
                <a:latin typeface="Helvetica Neue Light"/>
              </a:endParaRPr>
            </a:p>
            <a:p>
              <a:pPr marL="342900" indent="-342900">
                <a:buFont typeface="+mj-lt"/>
                <a:buAutoNum type="arabicPeriod"/>
              </a:pPr>
              <a:r>
                <a:rPr lang="en-US" sz="1600" b="1" dirty="0">
                  <a:solidFill>
                    <a:srgbClr val="2D3436"/>
                  </a:solidFill>
                  <a:latin typeface="Helvetica Neue Light"/>
                  <a:ea typeface="Calibri" pitchFamily="34" charset="-122"/>
                  <a:cs typeface="Calibri" pitchFamily="34" charset="-120"/>
                </a:rPr>
                <a:t>Testing/Safety </a:t>
              </a:r>
              <a:r>
                <a:rPr lang="en-US" sz="1600" dirty="0">
                  <a:solidFill>
                    <a:srgbClr val="2D3436"/>
                  </a:solidFill>
                  <a:latin typeface="Helvetica Neue Light"/>
                  <a:ea typeface="Calibri" pitchFamily="34" charset="-122"/>
                  <a:cs typeface="Calibri" pitchFamily="34" charset="-120"/>
                </a:rPr>
                <a:t>(2-3 months)</a:t>
              </a:r>
              <a:endParaRPr lang="en-US" sz="1600" dirty="0">
                <a:latin typeface="Helvetica Neue Light"/>
              </a:endParaRPr>
            </a:p>
            <a:p>
              <a:pPr marL="342900" indent="-342900">
                <a:buFont typeface="+mj-lt"/>
                <a:buAutoNum type="arabicPeriod"/>
              </a:pPr>
              <a:r>
                <a:rPr lang="en-US" sz="1600" b="1" dirty="0">
                  <a:solidFill>
                    <a:srgbClr val="2D3436"/>
                  </a:solidFill>
                  <a:latin typeface="Helvetica Neue Light"/>
                  <a:ea typeface="Calibri" pitchFamily="34" charset="-122"/>
                  <a:cs typeface="Calibri" pitchFamily="34" charset="-120"/>
                </a:rPr>
                <a:t>Deployment </a:t>
              </a:r>
              <a:r>
                <a:rPr lang="en-US" sz="1600" dirty="0">
                  <a:solidFill>
                    <a:srgbClr val="2D3436"/>
                  </a:solidFill>
                  <a:latin typeface="Helvetica Neue Light"/>
                  <a:ea typeface="Calibri" pitchFamily="34" charset="-122"/>
                  <a:cs typeface="Calibri" pitchFamily="34" charset="-120"/>
                </a:rPr>
                <a:t>= Models are typically 6-12 months "out of date" on release</a:t>
              </a:r>
              <a:endParaRPr lang="en-US" sz="1600" dirty="0">
                <a:latin typeface="Helvetica Neue Light"/>
              </a:endParaRPr>
            </a:p>
          </p:txBody>
        </p:sp>
      </p:grpSp>
    </p:spTree>
    <p:extLst>
      <p:ext uri="{BB962C8B-B14F-4D97-AF65-F5344CB8AC3E}">
        <p14:creationId xmlns:p14="http://schemas.microsoft.com/office/powerpoint/2010/main" val="4272481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E6240D6-DD14-725E-3482-8B2A5CEB8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481FB-20C8-9561-63CE-8B3820501DEB}"/>
              </a:ext>
            </a:extLst>
          </p:cNvPr>
          <p:cNvSpPr>
            <a:spLocks noGrp="1"/>
          </p:cNvSpPr>
          <p:nvPr>
            <p:ph type="title"/>
          </p:nvPr>
        </p:nvSpPr>
        <p:spPr>
          <a:xfrm>
            <a:off x="457200" y="365126"/>
            <a:ext cx="8229600" cy="592213"/>
          </a:xfrm>
        </p:spPr>
        <p:txBody>
          <a:bodyPr/>
          <a:lstStyle/>
          <a:p>
            <a:r>
              <a:rPr lang="en-US" dirty="0"/>
              <a:t>How We Bridge the Gap Today</a:t>
            </a:r>
          </a:p>
        </p:txBody>
      </p:sp>
      <p:sp>
        <p:nvSpPr>
          <p:cNvPr id="5" name="Slide Number Placeholder 4">
            <a:extLst>
              <a:ext uri="{FF2B5EF4-FFF2-40B4-BE49-F238E27FC236}">
                <a16:creationId xmlns:a16="http://schemas.microsoft.com/office/drawing/2014/main" id="{C6315B0D-9D53-2850-A09E-FC5151FEC3BB}"/>
              </a:ext>
            </a:extLst>
          </p:cNvPr>
          <p:cNvSpPr>
            <a:spLocks noGrp="1"/>
          </p:cNvSpPr>
          <p:nvPr>
            <p:ph type="sldNum" sz="quarter" idx="12"/>
          </p:nvPr>
        </p:nvSpPr>
        <p:spPr/>
        <p:txBody>
          <a:bodyPr/>
          <a:lstStyle/>
          <a:p>
            <a:fld id="{21EF4C0E-91FA-4D94-8941-E22F3A83D5F1}" type="slidenum">
              <a:rPr lang="en-US" smtClean="0"/>
              <a:t>36</a:t>
            </a:fld>
            <a:endParaRPr lang="en-US"/>
          </a:p>
        </p:txBody>
      </p:sp>
      <p:sp>
        <p:nvSpPr>
          <p:cNvPr id="6" name="TextBox 5">
            <a:extLst>
              <a:ext uri="{FF2B5EF4-FFF2-40B4-BE49-F238E27FC236}">
                <a16:creationId xmlns:a16="http://schemas.microsoft.com/office/drawing/2014/main" id="{A3E3D6B4-8C51-44FE-208B-B9694DCC3267}"/>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AAC4C976-8F6C-3A9B-FB58-4231BB4F8B78}"/>
              </a:ext>
            </a:extLst>
          </p:cNvPr>
          <p:cNvGrpSpPr/>
          <p:nvPr/>
        </p:nvGrpSpPr>
        <p:grpSpPr>
          <a:xfrm>
            <a:off x="457200" y="1234439"/>
            <a:ext cx="8593932" cy="3899798"/>
            <a:chOff x="457200" y="1234440"/>
            <a:chExt cx="8593932" cy="3657601"/>
          </a:xfrm>
        </p:grpSpPr>
        <p:sp>
          <p:nvSpPr>
            <p:cNvPr id="4" name="Shape 3">
              <a:extLst>
                <a:ext uri="{FF2B5EF4-FFF2-40B4-BE49-F238E27FC236}">
                  <a16:creationId xmlns:a16="http://schemas.microsoft.com/office/drawing/2014/main" id="{E028D93F-0D3F-442D-0DFA-5D13754EAD4D}"/>
                </a:ext>
              </a:extLst>
            </p:cNvPr>
            <p:cNvSpPr/>
            <p:nvPr/>
          </p:nvSpPr>
          <p:spPr>
            <a:xfrm>
              <a:off x="457200" y="1234440"/>
              <a:ext cx="320040" cy="320040"/>
            </a:xfrm>
            <a:prstGeom prst="ellipse">
              <a:avLst/>
            </a:prstGeom>
            <a:solidFill>
              <a:srgbClr val="1C7293"/>
            </a:solidFill>
            <a:ln/>
          </p:spPr>
          <p:txBody>
            <a:bodyPr/>
            <a:lstStyle/>
            <a:p>
              <a:endParaRPr lang="en-US" sz="2800">
                <a:latin typeface="Helvetica Neue Light"/>
              </a:endParaRPr>
            </a:p>
          </p:txBody>
        </p:sp>
        <p:sp>
          <p:nvSpPr>
            <p:cNvPr id="7" name="Text 4">
              <a:extLst>
                <a:ext uri="{FF2B5EF4-FFF2-40B4-BE49-F238E27FC236}">
                  <a16:creationId xmlns:a16="http://schemas.microsoft.com/office/drawing/2014/main" id="{ED3C03BE-D6A5-4AAC-0CF3-DD4A50EA0A82}"/>
                </a:ext>
              </a:extLst>
            </p:cNvPr>
            <p:cNvSpPr/>
            <p:nvPr/>
          </p:nvSpPr>
          <p:spPr>
            <a:xfrm>
              <a:off x="914400" y="123444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RAG:</a:t>
              </a:r>
              <a:endParaRPr lang="en-US" dirty="0">
                <a:latin typeface="Helvetica Neue Light"/>
              </a:endParaRPr>
            </a:p>
          </p:txBody>
        </p:sp>
        <p:sp>
          <p:nvSpPr>
            <p:cNvPr id="8" name="Text 5">
              <a:extLst>
                <a:ext uri="{FF2B5EF4-FFF2-40B4-BE49-F238E27FC236}">
                  <a16:creationId xmlns:a16="http://schemas.microsoft.com/office/drawing/2014/main" id="{4785FC33-80DC-EFE6-03CE-EBCBA087EDD3}"/>
                </a:ext>
              </a:extLst>
            </p:cNvPr>
            <p:cNvSpPr/>
            <p:nvPr/>
          </p:nvSpPr>
          <p:spPr>
            <a:xfrm>
              <a:off x="3474720" y="1234440"/>
              <a:ext cx="52120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Injecting current information into prompts</a:t>
              </a:r>
              <a:endParaRPr lang="en-US" sz="1600" dirty="0">
                <a:latin typeface="Helvetica Neue Light"/>
              </a:endParaRPr>
            </a:p>
          </p:txBody>
        </p:sp>
        <p:sp>
          <p:nvSpPr>
            <p:cNvPr id="9" name="Shape 6">
              <a:extLst>
                <a:ext uri="{FF2B5EF4-FFF2-40B4-BE49-F238E27FC236}">
                  <a16:creationId xmlns:a16="http://schemas.microsoft.com/office/drawing/2014/main" id="{AD8DFC27-35AF-4BBA-B9D7-65B41A45F2BD}"/>
                </a:ext>
              </a:extLst>
            </p:cNvPr>
            <p:cNvSpPr/>
            <p:nvPr/>
          </p:nvSpPr>
          <p:spPr>
            <a:xfrm>
              <a:off x="457200" y="1783080"/>
              <a:ext cx="320040" cy="320040"/>
            </a:xfrm>
            <a:prstGeom prst="ellipse">
              <a:avLst/>
            </a:prstGeom>
            <a:solidFill>
              <a:srgbClr val="E07A5F"/>
            </a:solidFill>
            <a:ln/>
          </p:spPr>
          <p:txBody>
            <a:bodyPr/>
            <a:lstStyle/>
            <a:p>
              <a:endParaRPr lang="en-US" sz="2800">
                <a:latin typeface="Helvetica Neue Light"/>
              </a:endParaRPr>
            </a:p>
          </p:txBody>
        </p:sp>
        <p:sp>
          <p:nvSpPr>
            <p:cNvPr id="10" name="Text 7">
              <a:extLst>
                <a:ext uri="{FF2B5EF4-FFF2-40B4-BE49-F238E27FC236}">
                  <a16:creationId xmlns:a16="http://schemas.microsoft.com/office/drawing/2014/main" id="{4580B865-55B0-2BD1-ADBB-5077E0420140}"/>
                </a:ext>
              </a:extLst>
            </p:cNvPr>
            <p:cNvSpPr/>
            <p:nvPr/>
          </p:nvSpPr>
          <p:spPr>
            <a:xfrm>
              <a:off x="914400" y="178308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Fine-Tuning:</a:t>
              </a:r>
              <a:endParaRPr lang="en-US" dirty="0">
                <a:latin typeface="Helvetica Neue Light"/>
              </a:endParaRPr>
            </a:p>
          </p:txBody>
        </p:sp>
        <p:sp>
          <p:nvSpPr>
            <p:cNvPr id="11" name="Text 8">
              <a:extLst>
                <a:ext uri="{FF2B5EF4-FFF2-40B4-BE49-F238E27FC236}">
                  <a16:creationId xmlns:a16="http://schemas.microsoft.com/office/drawing/2014/main" id="{B568CFD1-A7AE-DD3B-C322-21DEF8258AE5}"/>
                </a:ext>
              </a:extLst>
            </p:cNvPr>
            <p:cNvSpPr/>
            <p:nvPr/>
          </p:nvSpPr>
          <p:spPr>
            <a:xfrm>
              <a:off x="3474720" y="1783080"/>
              <a:ext cx="5576408"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Updating specific knowledge domains without full retraining</a:t>
              </a:r>
              <a:endParaRPr lang="en-US" sz="1600" dirty="0">
                <a:latin typeface="Helvetica Neue Light"/>
              </a:endParaRPr>
            </a:p>
          </p:txBody>
        </p:sp>
        <p:sp>
          <p:nvSpPr>
            <p:cNvPr id="12" name="Shape 9">
              <a:extLst>
                <a:ext uri="{FF2B5EF4-FFF2-40B4-BE49-F238E27FC236}">
                  <a16:creationId xmlns:a16="http://schemas.microsoft.com/office/drawing/2014/main" id="{7077C5A9-B71E-1FB3-FBD4-0992BF2EA366}"/>
                </a:ext>
              </a:extLst>
            </p:cNvPr>
            <p:cNvSpPr/>
            <p:nvPr/>
          </p:nvSpPr>
          <p:spPr>
            <a:xfrm>
              <a:off x="457200" y="2331720"/>
              <a:ext cx="320040" cy="320040"/>
            </a:xfrm>
            <a:prstGeom prst="ellipse">
              <a:avLst/>
            </a:prstGeom>
            <a:solidFill>
              <a:srgbClr val="1C7293"/>
            </a:solidFill>
            <a:ln/>
          </p:spPr>
          <p:txBody>
            <a:bodyPr/>
            <a:lstStyle/>
            <a:p>
              <a:endParaRPr lang="en-US" sz="2800">
                <a:latin typeface="Helvetica Neue Light"/>
              </a:endParaRPr>
            </a:p>
          </p:txBody>
        </p:sp>
        <p:sp>
          <p:nvSpPr>
            <p:cNvPr id="13" name="Text 10">
              <a:extLst>
                <a:ext uri="{FF2B5EF4-FFF2-40B4-BE49-F238E27FC236}">
                  <a16:creationId xmlns:a16="http://schemas.microsoft.com/office/drawing/2014/main" id="{53BDF840-E240-5A01-9A92-E960FE87E00F}"/>
                </a:ext>
              </a:extLst>
            </p:cNvPr>
            <p:cNvSpPr/>
            <p:nvPr/>
          </p:nvSpPr>
          <p:spPr>
            <a:xfrm>
              <a:off x="914400" y="233172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Prompt Engineering:</a:t>
              </a:r>
              <a:endParaRPr lang="en-US" dirty="0">
                <a:latin typeface="Helvetica Neue Light"/>
              </a:endParaRPr>
            </a:p>
          </p:txBody>
        </p:sp>
        <p:sp>
          <p:nvSpPr>
            <p:cNvPr id="14" name="Text 11">
              <a:extLst>
                <a:ext uri="{FF2B5EF4-FFF2-40B4-BE49-F238E27FC236}">
                  <a16:creationId xmlns:a16="http://schemas.microsoft.com/office/drawing/2014/main" id="{C3BAAD60-BF17-36B0-0D98-B71F8B16364F}"/>
                </a:ext>
              </a:extLst>
            </p:cNvPr>
            <p:cNvSpPr/>
            <p:nvPr/>
          </p:nvSpPr>
          <p:spPr>
            <a:xfrm>
              <a:off x="3474720" y="2331720"/>
              <a:ext cx="52120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Users explicitly providing recent context</a:t>
              </a:r>
              <a:endParaRPr lang="en-US" sz="1600" dirty="0">
                <a:latin typeface="Helvetica Neue Light"/>
              </a:endParaRPr>
            </a:p>
          </p:txBody>
        </p:sp>
        <p:sp>
          <p:nvSpPr>
            <p:cNvPr id="15" name="Shape 12">
              <a:extLst>
                <a:ext uri="{FF2B5EF4-FFF2-40B4-BE49-F238E27FC236}">
                  <a16:creationId xmlns:a16="http://schemas.microsoft.com/office/drawing/2014/main" id="{6ABD687C-49B1-9F53-352B-B5C16713EC09}"/>
                </a:ext>
              </a:extLst>
            </p:cNvPr>
            <p:cNvSpPr/>
            <p:nvPr/>
          </p:nvSpPr>
          <p:spPr>
            <a:xfrm>
              <a:off x="457200" y="2880360"/>
              <a:ext cx="320040" cy="320040"/>
            </a:xfrm>
            <a:prstGeom prst="ellipse">
              <a:avLst/>
            </a:prstGeom>
            <a:solidFill>
              <a:srgbClr val="E07A5F"/>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34C40869-FE05-020E-A3A8-F4DE0405D165}"/>
                </a:ext>
              </a:extLst>
            </p:cNvPr>
            <p:cNvSpPr/>
            <p:nvPr/>
          </p:nvSpPr>
          <p:spPr>
            <a:xfrm>
              <a:off x="914400" y="288036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Tool Integration:</a:t>
              </a:r>
              <a:endParaRPr lang="en-US" dirty="0">
                <a:latin typeface="Helvetica Neue Light"/>
              </a:endParaRPr>
            </a:p>
          </p:txBody>
        </p:sp>
        <p:sp>
          <p:nvSpPr>
            <p:cNvPr id="17" name="Text 14">
              <a:extLst>
                <a:ext uri="{FF2B5EF4-FFF2-40B4-BE49-F238E27FC236}">
                  <a16:creationId xmlns:a16="http://schemas.microsoft.com/office/drawing/2014/main" id="{8654F069-1EDF-8B7A-63B3-4651317C4E12}"/>
                </a:ext>
              </a:extLst>
            </p:cNvPr>
            <p:cNvSpPr/>
            <p:nvPr/>
          </p:nvSpPr>
          <p:spPr>
            <a:xfrm>
              <a:off x="3474719" y="2880360"/>
              <a:ext cx="5576409"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Web browsing, database access, API calls for real-time data</a:t>
              </a:r>
              <a:endParaRPr lang="en-US" sz="1600" dirty="0">
                <a:latin typeface="Helvetica Neue Light"/>
              </a:endParaRPr>
            </a:p>
          </p:txBody>
        </p:sp>
        <p:sp>
          <p:nvSpPr>
            <p:cNvPr id="18" name="Shape 15">
              <a:extLst>
                <a:ext uri="{FF2B5EF4-FFF2-40B4-BE49-F238E27FC236}">
                  <a16:creationId xmlns:a16="http://schemas.microsoft.com/office/drawing/2014/main" id="{695B252D-49F8-62EA-A644-60F5799C9F5F}"/>
                </a:ext>
              </a:extLst>
            </p:cNvPr>
            <p:cNvSpPr/>
            <p:nvPr/>
          </p:nvSpPr>
          <p:spPr>
            <a:xfrm>
              <a:off x="457200" y="3429000"/>
              <a:ext cx="320040" cy="320040"/>
            </a:xfrm>
            <a:prstGeom prst="ellipse">
              <a:avLst/>
            </a:prstGeom>
            <a:solidFill>
              <a:srgbClr val="1C7293"/>
            </a:solidFill>
            <a:ln/>
          </p:spPr>
          <p:txBody>
            <a:bodyPr/>
            <a:lstStyle/>
            <a:p>
              <a:endParaRPr lang="en-US" sz="2800">
                <a:latin typeface="Helvetica Neue Light"/>
              </a:endParaRPr>
            </a:p>
          </p:txBody>
        </p:sp>
        <p:sp>
          <p:nvSpPr>
            <p:cNvPr id="19" name="Text 16">
              <a:extLst>
                <a:ext uri="{FF2B5EF4-FFF2-40B4-BE49-F238E27FC236}">
                  <a16:creationId xmlns:a16="http://schemas.microsoft.com/office/drawing/2014/main" id="{97221112-53FC-4E59-18AF-1768107C6709}"/>
                </a:ext>
              </a:extLst>
            </p:cNvPr>
            <p:cNvSpPr/>
            <p:nvPr/>
          </p:nvSpPr>
          <p:spPr>
            <a:xfrm>
              <a:off x="914400" y="342900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Disclaimer Practices:</a:t>
              </a:r>
              <a:endParaRPr lang="en-US" dirty="0">
                <a:latin typeface="Helvetica Neue Light"/>
              </a:endParaRPr>
            </a:p>
          </p:txBody>
        </p:sp>
        <p:sp>
          <p:nvSpPr>
            <p:cNvPr id="20" name="Text 17">
              <a:extLst>
                <a:ext uri="{FF2B5EF4-FFF2-40B4-BE49-F238E27FC236}">
                  <a16:creationId xmlns:a16="http://schemas.microsoft.com/office/drawing/2014/main" id="{B79152B2-471F-6887-9062-C6C3BA98E216}"/>
                </a:ext>
              </a:extLst>
            </p:cNvPr>
            <p:cNvSpPr/>
            <p:nvPr/>
          </p:nvSpPr>
          <p:spPr>
            <a:xfrm>
              <a:off x="3474720" y="3429000"/>
              <a:ext cx="557641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Models stating their cutoff date and suggesting verification</a:t>
              </a:r>
              <a:endParaRPr lang="en-US" sz="1600" dirty="0">
                <a:latin typeface="Helvetica Neue Light"/>
              </a:endParaRPr>
            </a:p>
          </p:txBody>
        </p:sp>
        <p:sp>
          <p:nvSpPr>
            <p:cNvPr id="21" name="Shape 18">
              <a:extLst>
                <a:ext uri="{FF2B5EF4-FFF2-40B4-BE49-F238E27FC236}">
                  <a16:creationId xmlns:a16="http://schemas.microsoft.com/office/drawing/2014/main" id="{4BFBBA86-EEE2-51F9-3A19-E3683081F602}"/>
                </a:ext>
              </a:extLst>
            </p:cNvPr>
            <p:cNvSpPr/>
            <p:nvPr/>
          </p:nvSpPr>
          <p:spPr>
            <a:xfrm>
              <a:off x="685800" y="3977641"/>
              <a:ext cx="8365332"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22" name="Shape 19">
              <a:extLst>
                <a:ext uri="{FF2B5EF4-FFF2-40B4-BE49-F238E27FC236}">
                  <a16:creationId xmlns:a16="http://schemas.microsoft.com/office/drawing/2014/main" id="{435E9E0D-33C6-99D4-CD09-EC8C0CCC2A7D}"/>
                </a:ext>
              </a:extLst>
            </p:cNvPr>
            <p:cNvSpPr/>
            <p:nvPr/>
          </p:nvSpPr>
          <p:spPr>
            <a:xfrm>
              <a:off x="457200" y="4023360"/>
              <a:ext cx="54864" cy="640080"/>
            </a:xfrm>
            <a:prstGeom prst="rect">
              <a:avLst/>
            </a:prstGeom>
            <a:solidFill>
              <a:srgbClr val="065A82"/>
            </a:solidFill>
            <a:ln/>
          </p:spPr>
          <p:txBody>
            <a:bodyPr/>
            <a:lstStyle/>
            <a:p>
              <a:endParaRPr lang="en-US" sz="2800">
                <a:latin typeface="Helvetica Neue Light"/>
              </a:endParaRPr>
            </a:p>
          </p:txBody>
        </p:sp>
        <p:sp>
          <p:nvSpPr>
            <p:cNvPr id="23" name="Text 20">
              <a:extLst>
                <a:ext uri="{FF2B5EF4-FFF2-40B4-BE49-F238E27FC236}">
                  <a16:creationId xmlns:a16="http://schemas.microsoft.com/office/drawing/2014/main" id="{80E34930-F6D4-32A9-7DF1-017760762BD9}"/>
                </a:ext>
              </a:extLst>
            </p:cNvPr>
            <p:cNvSpPr/>
            <p:nvPr/>
          </p:nvSpPr>
          <p:spPr>
            <a:xfrm>
              <a:off x="685799" y="4114800"/>
              <a:ext cx="8365331" cy="728846"/>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Example: </a:t>
              </a:r>
              <a:r>
                <a:rPr lang="en-US" dirty="0">
                  <a:solidFill>
                    <a:srgbClr val="2D3436"/>
                  </a:solidFill>
                  <a:latin typeface="Helvetica Neue Light"/>
                  <a:ea typeface="Calibri" pitchFamily="34" charset="-122"/>
                  <a:cs typeface="Calibri" pitchFamily="34" charset="-120"/>
                </a:rPr>
                <a:t>User asks "Who won the 2024 Super Bowl?" → AI without tools: "I don’t 	have info past [cutoff]" → AI with web search: "The Kansas City Chiefs 	won Super Bowl LVIII"</a:t>
              </a:r>
              <a:endParaRPr lang="en-US" dirty="0">
                <a:latin typeface="Helvetica Neue Light"/>
              </a:endParaRPr>
            </a:p>
          </p:txBody>
        </p:sp>
      </p:grpSp>
    </p:spTree>
    <p:extLst>
      <p:ext uri="{BB962C8B-B14F-4D97-AF65-F5344CB8AC3E}">
        <p14:creationId xmlns:p14="http://schemas.microsoft.com/office/powerpoint/2010/main" val="2003929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8C5B0DB3-4936-DEDB-301A-95AA2D035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C9D59-B96B-44B6-BAE5-F2A32286BD9C}"/>
              </a:ext>
            </a:extLst>
          </p:cNvPr>
          <p:cNvSpPr>
            <a:spLocks noGrp="1"/>
          </p:cNvSpPr>
          <p:nvPr>
            <p:ph type="title"/>
          </p:nvPr>
        </p:nvSpPr>
        <p:spPr>
          <a:xfrm>
            <a:off x="457200" y="365126"/>
            <a:ext cx="8229600" cy="592213"/>
          </a:xfrm>
        </p:spPr>
        <p:txBody>
          <a:bodyPr/>
          <a:lstStyle/>
          <a:p>
            <a:r>
              <a:rPr lang="en-US" dirty="0"/>
              <a:t>What Future Holds</a:t>
            </a:r>
          </a:p>
        </p:txBody>
      </p:sp>
      <p:sp>
        <p:nvSpPr>
          <p:cNvPr id="5" name="Slide Number Placeholder 4">
            <a:extLst>
              <a:ext uri="{FF2B5EF4-FFF2-40B4-BE49-F238E27FC236}">
                <a16:creationId xmlns:a16="http://schemas.microsoft.com/office/drawing/2014/main" id="{510DEFD7-096A-BBAC-D210-8F5FA5B80F6D}"/>
              </a:ext>
            </a:extLst>
          </p:cNvPr>
          <p:cNvSpPr>
            <a:spLocks noGrp="1"/>
          </p:cNvSpPr>
          <p:nvPr>
            <p:ph type="sldNum" sz="quarter" idx="12"/>
          </p:nvPr>
        </p:nvSpPr>
        <p:spPr/>
        <p:txBody>
          <a:bodyPr/>
          <a:lstStyle/>
          <a:p>
            <a:fld id="{21EF4C0E-91FA-4D94-8941-E22F3A83D5F1}" type="slidenum">
              <a:rPr lang="en-US" smtClean="0"/>
              <a:t>37</a:t>
            </a:fld>
            <a:endParaRPr lang="en-US"/>
          </a:p>
        </p:txBody>
      </p:sp>
      <p:sp>
        <p:nvSpPr>
          <p:cNvPr id="6" name="TextBox 5">
            <a:extLst>
              <a:ext uri="{FF2B5EF4-FFF2-40B4-BE49-F238E27FC236}">
                <a16:creationId xmlns:a16="http://schemas.microsoft.com/office/drawing/2014/main" id="{A36198CF-2476-48A5-75C5-6A7518B1CE76}"/>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13" name="Group 12">
            <a:extLst>
              <a:ext uri="{FF2B5EF4-FFF2-40B4-BE49-F238E27FC236}">
                <a16:creationId xmlns:a16="http://schemas.microsoft.com/office/drawing/2014/main" id="{F338E112-9AD2-2CFE-3971-1E038CDD2FF5}"/>
              </a:ext>
            </a:extLst>
          </p:cNvPr>
          <p:cNvGrpSpPr/>
          <p:nvPr/>
        </p:nvGrpSpPr>
        <p:grpSpPr>
          <a:xfrm>
            <a:off x="457200" y="1188719"/>
            <a:ext cx="8229600" cy="4112747"/>
            <a:chOff x="457200" y="1188720"/>
            <a:chExt cx="8229600" cy="2074159"/>
          </a:xfrm>
        </p:grpSpPr>
        <p:sp>
          <p:nvSpPr>
            <p:cNvPr id="3" name="Shape 3">
              <a:extLst>
                <a:ext uri="{FF2B5EF4-FFF2-40B4-BE49-F238E27FC236}">
                  <a16:creationId xmlns:a16="http://schemas.microsoft.com/office/drawing/2014/main" id="{66813578-D63A-71A0-14C8-499B412D2C3C}"/>
                </a:ext>
              </a:extLst>
            </p:cNvPr>
            <p:cNvSpPr/>
            <p:nvPr/>
          </p:nvSpPr>
          <p:spPr>
            <a:xfrm>
              <a:off x="457200" y="1188720"/>
              <a:ext cx="4023360" cy="2074158"/>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4" name="Shape 4">
              <a:extLst>
                <a:ext uri="{FF2B5EF4-FFF2-40B4-BE49-F238E27FC236}">
                  <a16:creationId xmlns:a16="http://schemas.microsoft.com/office/drawing/2014/main" id="{87243815-3F88-150F-EAFB-C20333DBB3C5}"/>
                </a:ext>
              </a:extLst>
            </p:cNvPr>
            <p:cNvSpPr/>
            <p:nvPr/>
          </p:nvSpPr>
          <p:spPr>
            <a:xfrm>
              <a:off x="457200" y="1188720"/>
              <a:ext cx="54864" cy="1737360"/>
            </a:xfrm>
            <a:prstGeom prst="rect">
              <a:avLst/>
            </a:prstGeom>
            <a:solidFill>
              <a:srgbClr val="1C7293"/>
            </a:solidFill>
            <a:ln/>
          </p:spPr>
          <p:txBody>
            <a:bodyPr/>
            <a:lstStyle/>
            <a:p>
              <a:endParaRPr lang="en-US" sz="3200">
                <a:latin typeface="Helvetica Neue Light"/>
              </a:endParaRPr>
            </a:p>
          </p:txBody>
        </p:sp>
        <p:sp>
          <p:nvSpPr>
            <p:cNvPr id="7" name="Text 5">
              <a:extLst>
                <a:ext uri="{FF2B5EF4-FFF2-40B4-BE49-F238E27FC236}">
                  <a16:creationId xmlns:a16="http://schemas.microsoft.com/office/drawing/2014/main" id="{AFFCEF42-69FF-ED2A-F09D-555216D4EE69}"/>
                </a:ext>
              </a:extLst>
            </p:cNvPr>
            <p:cNvSpPr/>
            <p:nvPr/>
          </p:nvSpPr>
          <p:spPr>
            <a:xfrm>
              <a:off x="685800" y="1280160"/>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Near-Term Solutions (1-2 Years)</a:t>
              </a:r>
              <a:endParaRPr lang="en-US" sz="2000" dirty="0">
                <a:latin typeface="Helvetica Neue Light"/>
              </a:endParaRPr>
            </a:p>
          </p:txBody>
        </p:sp>
        <p:sp>
          <p:nvSpPr>
            <p:cNvPr id="8" name="Text 6">
              <a:extLst>
                <a:ext uri="{FF2B5EF4-FFF2-40B4-BE49-F238E27FC236}">
                  <a16:creationId xmlns:a16="http://schemas.microsoft.com/office/drawing/2014/main" id="{4076BCCA-3ACD-E55A-AF6F-35C95276EB7A}"/>
                </a:ext>
              </a:extLst>
            </p:cNvPr>
            <p:cNvSpPr/>
            <p:nvPr/>
          </p:nvSpPr>
          <p:spPr>
            <a:xfrm>
              <a:off x="685800" y="1600200"/>
              <a:ext cx="3657600" cy="1482417"/>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Continuous Learning: </a:t>
              </a:r>
              <a:r>
                <a:rPr lang="en-US" sz="1600" dirty="0">
                  <a:solidFill>
                    <a:srgbClr val="2D3436"/>
                  </a:solidFill>
                  <a:latin typeface="Helvetica Neue Light"/>
                  <a:ea typeface="Calibri" pitchFamily="34" charset="-122"/>
                  <a:cs typeface="Calibri" pitchFamily="34" charset="-120"/>
                </a:rPr>
                <a:t>Models that update incrementally</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Modular Knowledge: </a:t>
              </a:r>
              <a:r>
                <a:rPr lang="en-US" sz="1600" dirty="0">
                  <a:solidFill>
                    <a:srgbClr val="2D3436"/>
                  </a:solidFill>
                  <a:latin typeface="Helvetica Neue Light"/>
                  <a:ea typeface="Calibri" pitchFamily="34" charset="-122"/>
                  <a:cs typeface="Calibri" pitchFamily="34" charset="-120"/>
                </a:rPr>
                <a:t>Separating stable knowledge (math) from dynamic (news)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Hybrid Architectures: </a:t>
              </a:r>
              <a:r>
                <a:rPr lang="en-US" sz="1600" dirty="0">
                  <a:solidFill>
                    <a:srgbClr val="2D3436"/>
                  </a:solidFill>
                  <a:latin typeface="Helvetica Neue Light"/>
                  <a:ea typeface="Calibri" pitchFamily="34" charset="-122"/>
                  <a:cs typeface="Calibri" pitchFamily="34" charset="-120"/>
                </a:rPr>
                <a:t>Core model + constantly updated knowledge modules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Streaming Updates: </a:t>
              </a:r>
              <a:r>
                <a:rPr lang="en-US" sz="1600" dirty="0">
                  <a:solidFill>
                    <a:srgbClr val="2D3436"/>
                  </a:solidFill>
                  <a:latin typeface="Helvetica Neue Light"/>
                  <a:ea typeface="Calibri" pitchFamily="34" charset="-122"/>
                  <a:cs typeface="Calibri" pitchFamily="34" charset="-120"/>
                </a:rPr>
                <a:t>Real-time information feeds for specific domains</a:t>
              </a:r>
              <a:endParaRPr lang="en-US" sz="1600" dirty="0">
                <a:latin typeface="Helvetica Neue Light"/>
              </a:endParaRPr>
            </a:p>
          </p:txBody>
        </p:sp>
        <p:sp>
          <p:nvSpPr>
            <p:cNvPr id="9" name="Shape 7">
              <a:extLst>
                <a:ext uri="{FF2B5EF4-FFF2-40B4-BE49-F238E27FC236}">
                  <a16:creationId xmlns:a16="http://schemas.microsoft.com/office/drawing/2014/main" id="{09C05589-B1B6-E7F5-2440-4C703E9D41F0}"/>
                </a:ext>
              </a:extLst>
            </p:cNvPr>
            <p:cNvSpPr/>
            <p:nvPr/>
          </p:nvSpPr>
          <p:spPr>
            <a:xfrm>
              <a:off x="4663440" y="1188720"/>
              <a:ext cx="4023360" cy="2074159"/>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0" name="Shape 8">
              <a:extLst>
                <a:ext uri="{FF2B5EF4-FFF2-40B4-BE49-F238E27FC236}">
                  <a16:creationId xmlns:a16="http://schemas.microsoft.com/office/drawing/2014/main" id="{2C822D56-4EA0-0AC9-A114-4DD9EDC6A40C}"/>
                </a:ext>
              </a:extLst>
            </p:cNvPr>
            <p:cNvSpPr/>
            <p:nvPr/>
          </p:nvSpPr>
          <p:spPr>
            <a:xfrm>
              <a:off x="4663440" y="1188720"/>
              <a:ext cx="54864" cy="1737360"/>
            </a:xfrm>
            <a:prstGeom prst="rect">
              <a:avLst/>
            </a:prstGeom>
            <a:solidFill>
              <a:srgbClr val="E07A5F"/>
            </a:solidFill>
            <a:ln/>
          </p:spPr>
          <p:txBody>
            <a:bodyPr/>
            <a:lstStyle/>
            <a:p>
              <a:endParaRPr lang="en-US" sz="3200">
                <a:latin typeface="Helvetica Neue Light"/>
              </a:endParaRPr>
            </a:p>
          </p:txBody>
        </p:sp>
        <p:sp>
          <p:nvSpPr>
            <p:cNvPr id="11" name="Text 9">
              <a:extLst>
                <a:ext uri="{FF2B5EF4-FFF2-40B4-BE49-F238E27FC236}">
                  <a16:creationId xmlns:a16="http://schemas.microsoft.com/office/drawing/2014/main" id="{7A426D05-11A1-D5DB-6AB7-4E53CEC533DB}"/>
                </a:ext>
              </a:extLst>
            </p:cNvPr>
            <p:cNvSpPr/>
            <p:nvPr/>
          </p:nvSpPr>
          <p:spPr>
            <a:xfrm>
              <a:off x="4892040" y="1280160"/>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Long-Term Vision (3-5 Years)</a:t>
              </a:r>
              <a:endParaRPr lang="en-US" sz="2000" dirty="0">
                <a:latin typeface="Helvetica Neue Light"/>
              </a:endParaRPr>
            </a:p>
          </p:txBody>
        </p:sp>
        <p:sp>
          <p:nvSpPr>
            <p:cNvPr id="12" name="Text 10">
              <a:extLst>
                <a:ext uri="{FF2B5EF4-FFF2-40B4-BE49-F238E27FC236}">
                  <a16:creationId xmlns:a16="http://schemas.microsoft.com/office/drawing/2014/main" id="{67A9B8DF-5374-C936-586A-1E2AC1BEBF31}"/>
                </a:ext>
              </a:extLst>
            </p:cNvPr>
            <p:cNvSpPr/>
            <p:nvPr/>
          </p:nvSpPr>
          <p:spPr>
            <a:xfrm>
              <a:off x="4892040" y="1600199"/>
              <a:ext cx="3657600" cy="1600500"/>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Self-Updating Models: </a:t>
              </a:r>
              <a:r>
                <a:rPr lang="en-US" sz="1600" dirty="0">
                  <a:solidFill>
                    <a:srgbClr val="2D3436"/>
                  </a:solidFill>
                  <a:latin typeface="Helvetica Neue Light"/>
                  <a:ea typeface="Calibri" pitchFamily="34" charset="-122"/>
                  <a:cs typeface="Calibri" pitchFamily="34" charset="-120"/>
                </a:rPr>
                <a:t>AI that actively seeks and integrates new information</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Temporal Awareness: </a:t>
              </a:r>
              <a:r>
                <a:rPr lang="en-US" sz="1600" dirty="0">
                  <a:solidFill>
                    <a:srgbClr val="2D3436"/>
                  </a:solidFill>
                  <a:latin typeface="Helvetica Neue Light"/>
                  <a:ea typeface="Calibri" pitchFamily="34" charset="-122"/>
                  <a:cs typeface="Calibri" pitchFamily="34" charset="-120"/>
                </a:rPr>
                <a:t>Models that understand what they should/shouldn't know</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Knowledge Versioning: </a:t>
              </a:r>
              <a:r>
                <a:rPr lang="en-US" sz="1600" dirty="0">
                  <a:solidFill>
                    <a:srgbClr val="2D3436"/>
                  </a:solidFill>
                  <a:latin typeface="Helvetica Neue Light"/>
                  <a:ea typeface="Calibri" pitchFamily="34" charset="-122"/>
                  <a:cs typeface="Calibri" pitchFamily="34" charset="-120"/>
                </a:rPr>
                <a:t>Ability to reason with different temporal states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Elimination of Cutoffs: </a:t>
              </a:r>
              <a:r>
                <a:rPr lang="en-US" sz="1600" dirty="0">
                  <a:solidFill>
                    <a:srgbClr val="2D3436"/>
                  </a:solidFill>
                  <a:latin typeface="Helvetica Neue Light"/>
                  <a:ea typeface="Calibri" pitchFamily="34" charset="-122"/>
                  <a:cs typeface="Calibri" pitchFamily="34" charset="-120"/>
                </a:rPr>
                <a:t>True continuous learning systems</a:t>
              </a:r>
              <a:endParaRPr lang="en-US" sz="1600" dirty="0">
                <a:latin typeface="Helvetica Neue Light"/>
              </a:endParaRPr>
            </a:p>
          </p:txBody>
        </p:sp>
      </p:grpSp>
    </p:spTree>
    <p:extLst>
      <p:ext uri="{BB962C8B-B14F-4D97-AF65-F5344CB8AC3E}">
        <p14:creationId xmlns:p14="http://schemas.microsoft.com/office/powerpoint/2010/main" val="4002876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3CC59-85BF-0E72-25F0-C71C85D7EFB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0DC399-78DB-5FD5-5CD2-BEB042C56CFD}"/>
              </a:ext>
            </a:extLst>
          </p:cNvPr>
          <p:cNvSpPr>
            <a:spLocks noGrp="1"/>
          </p:cNvSpPr>
          <p:nvPr>
            <p:ph type="title"/>
          </p:nvPr>
        </p:nvSpPr>
        <p:spPr>
          <a:xfrm>
            <a:off x="623888" y="3471536"/>
            <a:ext cx="7886700" cy="1090940"/>
          </a:xfrm>
        </p:spPr>
        <p:txBody>
          <a:bodyPr/>
          <a:lstStyle/>
          <a:p>
            <a:r>
              <a:rPr lang="en-US" sz="3200" i="1" dirty="0"/>
              <a:t>Part 7</a:t>
            </a:r>
            <a:br>
              <a:rPr lang="en-US" sz="4000" dirty="0"/>
            </a:br>
            <a:r>
              <a:rPr lang="en-US" sz="4000" dirty="0"/>
              <a:t>	Chain of Thought (</a:t>
            </a:r>
            <a:r>
              <a:rPr lang="en-US" sz="4000" dirty="0" err="1"/>
              <a:t>CoT</a:t>
            </a:r>
            <a:r>
              <a:rPr lang="en-US" sz="4000" dirty="0"/>
              <a:t>) in AI</a:t>
            </a:r>
          </a:p>
        </p:txBody>
      </p:sp>
      <p:sp>
        <p:nvSpPr>
          <p:cNvPr id="2" name="Text Placeholder 1">
            <a:extLst>
              <a:ext uri="{FF2B5EF4-FFF2-40B4-BE49-F238E27FC236}">
                <a16:creationId xmlns:a16="http://schemas.microsoft.com/office/drawing/2014/main" id="{744C1A6B-3D68-0D10-CD32-BC22943F02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D85551-C250-036C-D62A-232547272870}"/>
              </a:ext>
            </a:extLst>
          </p:cNvPr>
          <p:cNvSpPr>
            <a:spLocks noGrp="1"/>
          </p:cNvSpPr>
          <p:nvPr>
            <p:ph type="sldNum" sz="quarter" idx="12"/>
          </p:nvPr>
        </p:nvSpPr>
        <p:spPr/>
        <p:txBody>
          <a:bodyPr/>
          <a:lstStyle/>
          <a:p>
            <a:fld id="{21EF4C0E-91FA-4D94-8941-E22F3A83D5F1}" type="slidenum">
              <a:rPr lang="en-US" smtClean="0"/>
              <a:t>38</a:t>
            </a:fld>
            <a:endParaRPr lang="en-US"/>
          </a:p>
        </p:txBody>
      </p:sp>
    </p:spTree>
    <p:extLst>
      <p:ext uri="{BB962C8B-B14F-4D97-AF65-F5344CB8AC3E}">
        <p14:creationId xmlns:p14="http://schemas.microsoft.com/office/powerpoint/2010/main" val="3754743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229600" cy="592213"/>
          </a:xfrm>
        </p:spPr>
        <p:txBody>
          <a:bodyPr/>
          <a:lstStyle/>
          <a:p>
            <a:r>
              <a:rPr lang="en-US" dirty="0"/>
              <a:t>Chain of Thought (</a:t>
            </a:r>
            <a:r>
              <a:rPr lang="en-US" dirty="0" err="1"/>
              <a:t>CoT</a:t>
            </a:r>
            <a:r>
              <a:rPr lang="en-US" dirty="0"/>
              <a:t>) (3:04)</a:t>
            </a:r>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39</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531994" y="6642556"/>
            <a:ext cx="2477095" cy="215444"/>
          </a:xfrm>
          <a:prstGeom prst="rect">
            <a:avLst/>
          </a:prstGeom>
          <a:noFill/>
        </p:spPr>
        <p:txBody>
          <a:bodyPr wrap="square">
            <a:spAutoFit/>
          </a:bodyPr>
          <a:lstStyle/>
          <a:p>
            <a:r>
              <a:rPr lang="en-US" sz="800" dirty="0">
                <a:solidFill>
                  <a:schemeClr val="bg2">
                    <a:lumMod val="90000"/>
                  </a:schemeClr>
                </a:solidFill>
              </a:rPr>
              <a:t>https://www.youtube.com/watch?v=Fp-ue4UCE3s</a:t>
            </a:r>
          </a:p>
        </p:txBody>
      </p:sp>
      <p:pic>
        <p:nvPicPr>
          <p:cNvPr id="4" name="Online Media 3" title="What Is Chain-of-Thought Prompting in Generative AI?">
            <a:hlinkClick r:id="" action="ppaction://media"/>
            <a:extLst>
              <a:ext uri="{FF2B5EF4-FFF2-40B4-BE49-F238E27FC236}">
                <a16:creationId xmlns:a16="http://schemas.microsoft.com/office/drawing/2014/main" id="{99B8D51F-939A-EAC9-E87B-0F85D0BA8E07}"/>
              </a:ext>
            </a:extLst>
          </p:cNvPr>
          <p:cNvPicPr>
            <a:picLocks noRot="1" noChangeAspect="1"/>
          </p:cNvPicPr>
          <p:nvPr>
            <a:videoFile r:link="rId1"/>
          </p:nvPr>
        </p:nvPicPr>
        <p:blipFill>
          <a:blip r:embed="rId3"/>
          <a:stretch>
            <a:fillRect/>
          </a:stretch>
        </p:blipFill>
        <p:spPr>
          <a:xfrm>
            <a:off x="509752" y="1765738"/>
            <a:ext cx="8469061" cy="4781491"/>
          </a:xfrm>
          <a:prstGeom prst="rect">
            <a:avLst/>
          </a:prstGeom>
        </p:spPr>
      </p:pic>
      <p:sp>
        <p:nvSpPr>
          <p:cNvPr id="6" name="TextBox 5">
            <a:extLst>
              <a:ext uri="{FF2B5EF4-FFF2-40B4-BE49-F238E27FC236}">
                <a16:creationId xmlns:a16="http://schemas.microsoft.com/office/drawing/2014/main" id="{7047C175-DC68-64A6-0604-A3C612F0A44D}"/>
              </a:ext>
            </a:extLst>
          </p:cNvPr>
          <p:cNvSpPr txBox="1"/>
          <p:nvPr/>
        </p:nvSpPr>
        <p:spPr>
          <a:xfrm>
            <a:off x="509752" y="1301079"/>
            <a:ext cx="4572000" cy="369332"/>
          </a:xfrm>
          <a:prstGeom prst="rect">
            <a:avLst/>
          </a:prstGeom>
          <a:noFill/>
        </p:spPr>
        <p:txBody>
          <a:bodyPr wrap="square">
            <a:spAutoFit/>
          </a:bodyPr>
          <a:lstStyle/>
          <a:p>
            <a:r>
              <a:rPr lang="en-US" i="1" dirty="0">
                <a:latin typeface="Helvetica Neue Light"/>
              </a:rPr>
              <a:t>Higher-level explanation of </a:t>
            </a:r>
            <a:r>
              <a:rPr lang="en-US" i="1" dirty="0" err="1">
                <a:latin typeface="Helvetica Neue Light"/>
              </a:rPr>
              <a:t>CoT</a:t>
            </a:r>
            <a:r>
              <a:rPr lang="en-US" i="1" dirty="0">
                <a:latin typeface="Helvetica Neue Light"/>
              </a:rPr>
              <a:t> prompting</a:t>
            </a:r>
          </a:p>
        </p:txBody>
      </p:sp>
    </p:spTree>
    <p:extLst>
      <p:ext uri="{BB962C8B-B14F-4D97-AF65-F5344CB8AC3E}">
        <p14:creationId xmlns:p14="http://schemas.microsoft.com/office/powerpoint/2010/main" val="265653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229600" cy="592213"/>
          </a:xfrm>
        </p:spPr>
        <p:txBody>
          <a:bodyPr/>
          <a:lstStyle/>
          <a:p>
            <a:r>
              <a:rPr lang="en-US" dirty="0"/>
              <a:t>Chain of Thought (</a:t>
            </a:r>
            <a:r>
              <a:rPr lang="en-US" dirty="0" err="1"/>
              <a:t>CoT</a:t>
            </a:r>
            <a:r>
              <a:rPr lang="en-US" dirty="0"/>
              <a:t>) (4:37)</a:t>
            </a:r>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40</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574035" y="6679342"/>
            <a:ext cx="2477095" cy="215444"/>
          </a:xfrm>
          <a:prstGeom prst="rect">
            <a:avLst/>
          </a:prstGeom>
          <a:noFill/>
        </p:spPr>
        <p:txBody>
          <a:bodyPr wrap="square">
            <a:spAutoFit/>
          </a:bodyPr>
          <a:lstStyle/>
          <a:p>
            <a:r>
              <a:rPr lang="en-US" sz="800" dirty="0">
                <a:solidFill>
                  <a:schemeClr val="bg2">
                    <a:lumMod val="90000"/>
                  </a:schemeClr>
                </a:solidFill>
              </a:rPr>
              <a:t>https://www.youtube.com/watch?v=w9eQJdBRC5o</a:t>
            </a:r>
          </a:p>
        </p:txBody>
      </p:sp>
      <p:pic>
        <p:nvPicPr>
          <p:cNvPr id="3" name="Online Media 2" title="Chain-of-thought explained | Aravind Srinivas and Lex Fridman">
            <a:hlinkClick r:id="" action="ppaction://media"/>
            <a:extLst>
              <a:ext uri="{FF2B5EF4-FFF2-40B4-BE49-F238E27FC236}">
                <a16:creationId xmlns:a16="http://schemas.microsoft.com/office/drawing/2014/main" id="{7DCFC207-DD95-94C0-13FE-251FCA523E9B}"/>
              </a:ext>
            </a:extLst>
          </p:cNvPr>
          <p:cNvPicPr>
            <a:picLocks noRot="1" noChangeAspect="1"/>
          </p:cNvPicPr>
          <p:nvPr>
            <a:videoFile r:link="rId1"/>
          </p:nvPr>
        </p:nvPicPr>
        <p:blipFill>
          <a:blip r:embed="rId3"/>
          <a:stretch>
            <a:fillRect/>
          </a:stretch>
        </p:blipFill>
        <p:spPr>
          <a:xfrm>
            <a:off x="572814" y="1729126"/>
            <a:ext cx="8271641" cy="4670031"/>
          </a:xfrm>
          <a:prstGeom prst="rect">
            <a:avLst/>
          </a:prstGeom>
        </p:spPr>
      </p:pic>
      <p:sp>
        <p:nvSpPr>
          <p:cNvPr id="6" name="TextBox 5">
            <a:extLst>
              <a:ext uri="{FF2B5EF4-FFF2-40B4-BE49-F238E27FC236}">
                <a16:creationId xmlns:a16="http://schemas.microsoft.com/office/drawing/2014/main" id="{6DD4822C-011B-3E5A-68F7-299E329589F5}"/>
              </a:ext>
            </a:extLst>
          </p:cNvPr>
          <p:cNvSpPr txBox="1"/>
          <p:nvPr/>
        </p:nvSpPr>
        <p:spPr>
          <a:xfrm>
            <a:off x="572814" y="1158566"/>
            <a:ext cx="4572000" cy="369332"/>
          </a:xfrm>
          <a:prstGeom prst="rect">
            <a:avLst/>
          </a:prstGeom>
          <a:noFill/>
        </p:spPr>
        <p:txBody>
          <a:bodyPr wrap="square">
            <a:spAutoFit/>
          </a:bodyPr>
          <a:lstStyle/>
          <a:p>
            <a:r>
              <a:rPr lang="en-US" i="1" dirty="0">
                <a:latin typeface="Helvetica Neue Light"/>
              </a:rPr>
              <a:t>Lower-level technical explanation</a:t>
            </a:r>
          </a:p>
        </p:txBody>
      </p:sp>
    </p:spTree>
    <p:extLst>
      <p:ext uri="{BB962C8B-B14F-4D97-AF65-F5344CB8AC3E}">
        <p14:creationId xmlns:p14="http://schemas.microsoft.com/office/powerpoint/2010/main" val="338749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56F13D3-044C-6F18-D0A7-8A2425600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6F80F-29C2-30FF-6685-D39E3E4F93E2}"/>
              </a:ext>
            </a:extLst>
          </p:cNvPr>
          <p:cNvSpPr>
            <a:spLocks noGrp="1"/>
          </p:cNvSpPr>
          <p:nvPr>
            <p:ph type="title"/>
          </p:nvPr>
        </p:nvSpPr>
        <p:spPr>
          <a:xfrm>
            <a:off x="457200" y="365126"/>
            <a:ext cx="8229600" cy="592213"/>
          </a:xfrm>
        </p:spPr>
        <p:txBody>
          <a:bodyPr/>
          <a:lstStyle/>
          <a:p>
            <a:r>
              <a:rPr lang="en-US" dirty="0"/>
              <a:t>From Answer to Reasoning</a:t>
            </a:r>
          </a:p>
        </p:txBody>
      </p:sp>
      <p:sp>
        <p:nvSpPr>
          <p:cNvPr id="5" name="Slide Number Placeholder 4">
            <a:extLst>
              <a:ext uri="{FF2B5EF4-FFF2-40B4-BE49-F238E27FC236}">
                <a16:creationId xmlns:a16="http://schemas.microsoft.com/office/drawing/2014/main" id="{B26EDA90-4383-73C6-48B4-AE4B26A2E5F4}"/>
              </a:ext>
            </a:extLst>
          </p:cNvPr>
          <p:cNvSpPr>
            <a:spLocks noGrp="1"/>
          </p:cNvSpPr>
          <p:nvPr>
            <p:ph type="sldNum" sz="quarter" idx="12"/>
          </p:nvPr>
        </p:nvSpPr>
        <p:spPr/>
        <p:txBody>
          <a:bodyPr/>
          <a:lstStyle/>
          <a:p>
            <a:fld id="{21EF4C0E-91FA-4D94-8941-E22F3A83D5F1}" type="slidenum">
              <a:rPr lang="en-US" smtClean="0"/>
              <a:t>41</a:t>
            </a:fld>
            <a:endParaRPr lang="en-US"/>
          </a:p>
        </p:txBody>
      </p:sp>
      <p:sp>
        <p:nvSpPr>
          <p:cNvPr id="6" name="TextBox 5">
            <a:extLst>
              <a:ext uri="{FF2B5EF4-FFF2-40B4-BE49-F238E27FC236}">
                <a16:creationId xmlns:a16="http://schemas.microsoft.com/office/drawing/2014/main" id="{8F5881AD-D1DB-BBFE-D872-28154BFAB2ED}"/>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B6A63E2F-7667-C58A-6B4B-6D4CE63519AC}"/>
              </a:ext>
            </a:extLst>
          </p:cNvPr>
          <p:cNvGrpSpPr/>
          <p:nvPr/>
        </p:nvGrpSpPr>
        <p:grpSpPr>
          <a:xfrm>
            <a:off x="457200" y="1234440"/>
            <a:ext cx="8229600" cy="3450576"/>
            <a:chOff x="457200" y="1234440"/>
            <a:chExt cx="8229600" cy="2331720"/>
          </a:xfrm>
        </p:grpSpPr>
        <p:sp>
          <p:nvSpPr>
            <p:cNvPr id="4" name="Shape 3">
              <a:extLst>
                <a:ext uri="{FF2B5EF4-FFF2-40B4-BE49-F238E27FC236}">
                  <a16:creationId xmlns:a16="http://schemas.microsoft.com/office/drawing/2014/main" id="{718F3CA0-D746-15F8-C752-7BF4079429FA}"/>
                </a:ext>
              </a:extLst>
            </p:cNvPr>
            <p:cNvSpPr/>
            <p:nvPr/>
          </p:nvSpPr>
          <p:spPr>
            <a:xfrm>
              <a:off x="457200" y="1234440"/>
              <a:ext cx="4114800" cy="15087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D4FC1535-9E6E-0CCF-3F6B-DF755B65B091}"/>
                </a:ext>
              </a:extLst>
            </p:cNvPr>
            <p:cNvSpPr/>
            <p:nvPr/>
          </p:nvSpPr>
          <p:spPr>
            <a:xfrm>
              <a:off x="457200" y="1234440"/>
              <a:ext cx="54864" cy="137160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F216FB55-2653-4608-65C5-D18846C73BC9}"/>
                </a:ext>
              </a:extLst>
            </p:cNvPr>
            <p:cNvSpPr/>
            <p:nvPr/>
          </p:nvSpPr>
          <p:spPr>
            <a:xfrm>
              <a:off x="685800" y="1325880"/>
              <a:ext cx="374904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Definition:</a:t>
              </a:r>
              <a:endParaRPr lang="en-US" dirty="0">
                <a:latin typeface="Helvetica Neue Light"/>
              </a:endParaRPr>
            </a:p>
          </p:txBody>
        </p:sp>
        <p:sp>
          <p:nvSpPr>
            <p:cNvPr id="9" name="Text 6">
              <a:extLst>
                <a:ext uri="{FF2B5EF4-FFF2-40B4-BE49-F238E27FC236}">
                  <a16:creationId xmlns:a16="http://schemas.microsoft.com/office/drawing/2014/main" id="{91378E9C-9DF5-7486-23DC-BD71D0BD4876}"/>
                </a:ext>
              </a:extLst>
            </p:cNvPr>
            <p:cNvSpPr/>
            <p:nvPr/>
          </p:nvSpPr>
          <p:spPr>
            <a:xfrm>
              <a:off x="630936" y="1600200"/>
              <a:ext cx="3749040" cy="1156716"/>
            </a:xfrm>
            <a:prstGeom prst="rect">
              <a:avLst/>
            </a:prstGeom>
            <a:noFill/>
            <a:ln/>
          </p:spPr>
          <p:txBody>
            <a:bodyPr wrap="square" rtlCol="0" anchor="t"/>
            <a:lstStyle/>
            <a:p>
              <a:pPr marL="0" indent="0">
                <a:buNone/>
              </a:pPr>
              <a:r>
                <a:rPr lang="en-US" sz="1600" dirty="0">
                  <a:solidFill>
                    <a:srgbClr val="2D3436"/>
                  </a:solidFill>
                  <a:latin typeface="Helvetica Neue Light"/>
                  <a:ea typeface="Calibri" pitchFamily="34" charset="-122"/>
                  <a:cs typeface="Calibri" pitchFamily="34" charset="-120"/>
                </a:rPr>
                <a:t>CoT is a prompting technique where AI models explicitly generate intermediate reasoning steps before arriving at a final answer, similar to showing your work in a math problem.</a:t>
              </a:r>
              <a:endParaRPr lang="en-US" sz="1600" dirty="0">
                <a:latin typeface="Helvetica Neue Light"/>
              </a:endParaRPr>
            </a:p>
          </p:txBody>
        </p:sp>
        <p:sp>
          <p:nvSpPr>
            <p:cNvPr id="10" name="Shape 7">
              <a:extLst>
                <a:ext uri="{FF2B5EF4-FFF2-40B4-BE49-F238E27FC236}">
                  <a16:creationId xmlns:a16="http://schemas.microsoft.com/office/drawing/2014/main" id="{6158A5D3-DF72-B779-3280-9592934D07AE}"/>
                </a:ext>
              </a:extLst>
            </p:cNvPr>
            <p:cNvSpPr/>
            <p:nvPr/>
          </p:nvSpPr>
          <p:spPr>
            <a:xfrm>
              <a:off x="4754880" y="1234440"/>
              <a:ext cx="3931920" cy="15087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6A70090B-5F5D-00EA-36A5-828236020EB4}"/>
                </a:ext>
              </a:extLst>
            </p:cNvPr>
            <p:cNvSpPr/>
            <p:nvPr/>
          </p:nvSpPr>
          <p:spPr>
            <a:xfrm>
              <a:off x="4754880" y="1234440"/>
              <a:ext cx="54864" cy="1371600"/>
            </a:xfrm>
            <a:prstGeom prst="rect">
              <a:avLst/>
            </a:prstGeom>
            <a:solidFill>
              <a:srgbClr val="1C7293"/>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391740ED-1EC6-D1FB-46AB-2C79B49930E2}"/>
                </a:ext>
              </a:extLst>
            </p:cNvPr>
            <p:cNvSpPr/>
            <p:nvPr/>
          </p:nvSpPr>
          <p:spPr>
            <a:xfrm>
              <a:off x="4983480" y="1325880"/>
              <a:ext cx="356616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Example:</a:t>
              </a:r>
              <a:endParaRPr lang="en-US" dirty="0">
                <a:latin typeface="Helvetica Neue Light"/>
              </a:endParaRPr>
            </a:p>
          </p:txBody>
        </p:sp>
        <p:sp>
          <p:nvSpPr>
            <p:cNvPr id="13" name="Text 10">
              <a:extLst>
                <a:ext uri="{FF2B5EF4-FFF2-40B4-BE49-F238E27FC236}">
                  <a16:creationId xmlns:a16="http://schemas.microsoft.com/office/drawing/2014/main" id="{84778BA9-2064-8210-2E9F-EB63F02A05A4}"/>
                </a:ext>
              </a:extLst>
            </p:cNvPr>
            <p:cNvSpPr/>
            <p:nvPr/>
          </p:nvSpPr>
          <p:spPr>
            <a:xfrm>
              <a:off x="4928616" y="1600200"/>
              <a:ext cx="3566160" cy="100584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Without CoT: </a:t>
              </a:r>
              <a:r>
                <a:rPr lang="en-US" sz="1600" dirty="0">
                  <a:solidFill>
                    <a:srgbClr val="2D3436"/>
                  </a:solidFill>
                  <a:latin typeface="Helvetica Neue Light"/>
                  <a:ea typeface="Calibri" pitchFamily="34" charset="-122"/>
                  <a:cs typeface="Calibri" pitchFamily="34" charset="-120"/>
                </a:rPr>
                <a:t>"235 × 47?" → "11,045“</a:t>
              </a:r>
            </a:p>
            <a:p>
              <a:pPr marL="0" indent="0">
                <a:buNone/>
              </a:pP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With CoT: </a:t>
              </a:r>
              <a:r>
                <a:rPr lang="en-US" sz="1600" dirty="0">
                  <a:solidFill>
                    <a:srgbClr val="2D3436"/>
                  </a:solidFill>
                  <a:latin typeface="Helvetica Neue Light"/>
                  <a:ea typeface="Calibri" pitchFamily="34" charset="-122"/>
                  <a:cs typeface="Calibri" pitchFamily="34" charset="-120"/>
                </a:rPr>
                <a:t>"Let me break this down: 	235 × 40 = 9,400, </a:t>
              </a:r>
            </a:p>
            <a:p>
              <a:pPr marL="0" indent="0">
                <a:buNone/>
              </a:pPr>
              <a:r>
                <a:rPr lang="en-US" sz="1600" dirty="0">
                  <a:solidFill>
                    <a:srgbClr val="2D3436"/>
                  </a:solidFill>
                  <a:latin typeface="Helvetica Neue Light"/>
                  <a:ea typeface="Calibri" pitchFamily="34" charset="-122"/>
                  <a:cs typeface="Calibri" pitchFamily="34" charset="-120"/>
                </a:rPr>
                <a:t>	235 × 7 = 1,645, </a:t>
              </a:r>
            </a:p>
            <a:p>
              <a:pPr marL="0" indent="0">
                <a:buNone/>
              </a:pPr>
              <a:r>
                <a:rPr lang="en-US" sz="1600" dirty="0">
                  <a:solidFill>
                    <a:srgbClr val="2D3436"/>
                  </a:solidFill>
                  <a:latin typeface="Helvetica Neue Light"/>
                  <a:ea typeface="Calibri" pitchFamily="34" charset="-122"/>
                  <a:cs typeface="Calibri" pitchFamily="34" charset="-120"/>
                </a:rPr>
                <a:t>	so 9,400 + 1,645 = 11,045"</a:t>
              </a:r>
              <a:endParaRPr lang="en-US" sz="1600" dirty="0">
                <a:latin typeface="Helvetica Neue Light"/>
              </a:endParaRPr>
            </a:p>
          </p:txBody>
        </p:sp>
        <p:sp>
          <p:nvSpPr>
            <p:cNvPr id="14" name="Text 11">
              <a:extLst>
                <a:ext uri="{FF2B5EF4-FFF2-40B4-BE49-F238E27FC236}">
                  <a16:creationId xmlns:a16="http://schemas.microsoft.com/office/drawing/2014/main" id="{36C15A6D-07B5-0490-1843-561DBD75D0FC}"/>
                </a:ext>
              </a:extLst>
            </p:cNvPr>
            <p:cNvSpPr/>
            <p:nvPr/>
          </p:nvSpPr>
          <p:spPr>
            <a:xfrm>
              <a:off x="457200" y="274320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Chain of Thought Process Flow:</a:t>
              </a:r>
              <a:endParaRPr lang="en-US" sz="2000" dirty="0">
                <a:latin typeface="Helvetica Neue Light"/>
              </a:endParaRPr>
            </a:p>
          </p:txBody>
        </p:sp>
        <p:sp>
          <p:nvSpPr>
            <p:cNvPr id="15" name="Shape 12">
              <a:extLst>
                <a:ext uri="{FF2B5EF4-FFF2-40B4-BE49-F238E27FC236}">
                  <a16:creationId xmlns:a16="http://schemas.microsoft.com/office/drawing/2014/main" id="{67E441CB-E669-E1B7-F83D-BF6E3D7CD84E}"/>
                </a:ext>
              </a:extLst>
            </p:cNvPr>
            <p:cNvSpPr/>
            <p:nvPr/>
          </p:nvSpPr>
          <p:spPr>
            <a:xfrm>
              <a:off x="457200" y="3232182"/>
              <a:ext cx="411480" cy="333978"/>
            </a:xfrm>
            <a:prstGeom prst="ellipse">
              <a:avLst/>
            </a:prstGeom>
            <a:solidFill>
              <a:srgbClr val="1C7293"/>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257779AE-AED5-7EE7-9662-39748FD04A43}"/>
                </a:ext>
              </a:extLst>
            </p:cNvPr>
            <p:cNvSpPr/>
            <p:nvPr/>
          </p:nvSpPr>
          <p:spPr>
            <a:xfrm>
              <a:off x="457200" y="3200400"/>
              <a:ext cx="411480" cy="320040"/>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1</a:t>
              </a:r>
              <a:endParaRPr lang="en-US" sz="2000" dirty="0">
                <a:latin typeface="Helvetica Neue Light"/>
              </a:endParaRPr>
            </a:p>
          </p:txBody>
        </p:sp>
        <p:sp>
          <p:nvSpPr>
            <p:cNvPr id="17" name="Text 14">
              <a:extLst>
                <a:ext uri="{FF2B5EF4-FFF2-40B4-BE49-F238E27FC236}">
                  <a16:creationId xmlns:a16="http://schemas.microsoft.com/office/drawing/2014/main" id="{88EC80D2-E246-3A8B-A229-80CECC093A55}"/>
                </a:ext>
              </a:extLst>
            </p:cNvPr>
            <p:cNvSpPr/>
            <p:nvPr/>
          </p:nvSpPr>
          <p:spPr>
            <a:xfrm>
              <a:off x="960120" y="3154680"/>
              <a:ext cx="1554480" cy="4114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Structure Prompt</a:t>
              </a:r>
              <a:endParaRPr lang="en-US" sz="1600" dirty="0">
                <a:latin typeface="Helvetica Neue Light"/>
              </a:endParaRPr>
            </a:p>
          </p:txBody>
        </p:sp>
        <p:sp>
          <p:nvSpPr>
            <p:cNvPr id="18" name="Shape 15">
              <a:extLst>
                <a:ext uri="{FF2B5EF4-FFF2-40B4-BE49-F238E27FC236}">
                  <a16:creationId xmlns:a16="http://schemas.microsoft.com/office/drawing/2014/main" id="{993179B5-5BEA-45FF-8282-F2FBE7A26ABA}"/>
                </a:ext>
              </a:extLst>
            </p:cNvPr>
            <p:cNvSpPr/>
            <p:nvPr/>
          </p:nvSpPr>
          <p:spPr>
            <a:xfrm>
              <a:off x="2651760" y="3232182"/>
              <a:ext cx="411480" cy="333978"/>
            </a:xfrm>
            <a:prstGeom prst="ellipse">
              <a:avLst/>
            </a:prstGeom>
            <a:solidFill>
              <a:srgbClr val="1C7293"/>
            </a:solidFill>
            <a:ln/>
          </p:spPr>
          <p:txBody>
            <a:bodyPr/>
            <a:lstStyle/>
            <a:p>
              <a:endParaRPr lang="en-US" sz="2800">
                <a:latin typeface="Helvetica Neue Light"/>
              </a:endParaRPr>
            </a:p>
          </p:txBody>
        </p:sp>
        <p:sp>
          <p:nvSpPr>
            <p:cNvPr id="19" name="Text 16">
              <a:extLst>
                <a:ext uri="{FF2B5EF4-FFF2-40B4-BE49-F238E27FC236}">
                  <a16:creationId xmlns:a16="http://schemas.microsoft.com/office/drawing/2014/main" id="{6D958B71-6A46-F14B-C33F-2C4D0EAD06CD}"/>
                </a:ext>
              </a:extLst>
            </p:cNvPr>
            <p:cNvSpPr/>
            <p:nvPr/>
          </p:nvSpPr>
          <p:spPr>
            <a:xfrm>
              <a:off x="2651760" y="3200400"/>
              <a:ext cx="411480" cy="320040"/>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2</a:t>
              </a:r>
              <a:endParaRPr lang="en-US" sz="2000" dirty="0">
                <a:latin typeface="Helvetica Neue Light"/>
              </a:endParaRPr>
            </a:p>
          </p:txBody>
        </p:sp>
        <p:sp>
          <p:nvSpPr>
            <p:cNvPr id="20" name="Text 17">
              <a:extLst>
                <a:ext uri="{FF2B5EF4-FFF2-40B4-BE49-F238E27FC236}">
                  <a16:creationId xmlns:a16="http://schemas.microsoft.com/office/drawing/2014/main" id="{F1CA6E42-8176-7DC6-9D21-15699AE806FC}"/>
                </a:ext>
              </a:extLst>
            </p:cNvPr>
            <p:cNvSpPr/>
            <p:nvPr/>
          </p:nvSpPr>
          <p:spPr>
            <a:xfrm>
              <a:off x="3154680" y="3154680"/>
              <a:ext cx="1554480" cy="4114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AI Breaks Down</a:t>
              </a:r>
              <a:endParaRPr lang="en-US" sz="1600" dirty="0">
                <a:latin typeface="Helvetica Neue Light"/>
              </a:endParaRPr>
            </a:p>
          </p:txBody>
        </p:sp>
        <p:sp>
          <p:nvSpPr>
            <p:cNvPr id="21" name="Shape 18">
              <a:extLst>
                <a:ext uri="{FF2B5EF4-FFF2-40B4-BE49-F238E27FC236}">
                  <a16:creationId xmlns:a16="http://schemas.microsoft.com/office/drawing/2014/main" id="{DEA7F54F-A4B3-91BB-E999-326B4B61E65E}"/>
                </a:ext>
              </a:extLst>
            </p:cNvPr>
            <p:cNvSpPr/>
            <p:nvPr/>
          </p:nvSpPr>
          <p:spPr>
            <a:xfrm>
              <a:off x="4846320" y="3232182"/>
              <a:ext cx="411480" cy="333978"/>
            </a:xfrm>
            <a:prstGeom prst="ellipse">
              <a:avLst/>
            </a:prstGeom>
            <a:solidFill>
              <a:srgbClr val="1C7293"/>
            </a:solidFill>
            <a:ln/>
          </p:spPr>
          <p:txBody>
            <a:bodyPr/>
            <a:lstStyle/>
            <a:p>
              <a:endParaRPr lang="en-US" sz="2800">
                <a:latin typeface="Helvetica Neue Light"/>
              </a:endParaRPr>
            </a:p>
          </p:txBody>
        </p:sp>
        <p:sp>
          <p:nvSpPr>
            <p:cNvPr id="22" name="Text 19">
              <a:extLst>
                <a:ext uri="{FF2B5EF4-FFF2-40B4-BE49-F238E27FC236}">
                  <a16:creationId xmlns:a16="http://schemas.microsoft.com/office/drawing/2014/main" id="{547C8B6F-A815-8D1D-3D3E-B18C9A6BAED3}"/>
                </a:ext>
              </a:extLst>
            </p:cNvPr>
            <p:cNvSpPr/>
            <p:nvPr/>
          </p:nvSpPr>
          <p:spPr>
            <a:xfrm>
              <a:off x="4846320" y="3200400"/>
              <a:ext cx="411480" cy="320040"/>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3</a:t>
              </a:r>
              <a:endParaRPr lang="en-US" sz="2000" dirty="0">
                <a:latin typeface="Helvetica Neue Light"/>
              </a:endParaRPr>
            </a:p>
          </p:txBody>
        </p:sp>
        <p:sp>
          <p:nvSpPr>
            <p:cNvPr id="23" name="Text 20">
              <a:extLst>
                <a:ext uri="{FF2B5EF4-FFF2-40B4-BE49-F238E27FC236}">
                  <a16:creationId xmlns:a16="http://schemas.microsoft.com/office/drawing/2014/main" id="{7DF3590E-A6EA-D9FE-EF57-537C66718DA4}"/>
                </a:ext>
              </a:extLst>
            </p:cNvPr>
            <p:cNvSpPr/>
            <p:nvPr/>
          </p:nvSpPr>
          <p:spPr>
            <a:xfrm>
              <a:off x="5349240" y="3154680"/>
              <a:ext cx="1554480" cy="4114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Transparent Reasoning</a:t>
              </a:r>
              <a:endParaRPr lang="en-US" sz="1600" dirty="0">
                <a:latin typeface="Helvetica Neue Light"/>
              </a:endParaRPr>
            </a:p>
          </p:txBody>
        </p:sp>
        <p:sp>
          <p:nvSpPr>
            <p:cNvPr id="24" name="Shape 21">
              <a:extLst>
                <a:ext uri="{FF2B5EF4-FFF2-40B4-BE49-F238E27FC236}">
                  <a16:creationId xmlns:a16="http://schemas.microsoft.com/office/drawing/2014/main" id="{F78DAC55-E9D7-F1F6-4C8F-E503696FF7A2}"/>
                </a:ext>
              </a:extLst>
            </p:cNvPr>
            <p:cNvSpPr/>
            <p:nvPr/>
          </p:nvSpPr>
          <p:spPr>
            <a:xfrm>
              <a:off x="7040880" y="3232908"/>
              <a:ext cx="411480" cy="333252"/>
            </a:xfrm>
            <a:prstGeom prst="ellipse">
              <a:avLst/>
            </a:prstGeom>
            <a:solidFill>
              <a:srgbClr val="1C7293"/>
            </a:solidFill>
            <a:ln/>
          </p:spPr>
          <p:txBody>
            <a:bodyPr/>
            <a:lstStyle/>
            <a:p>
              <a:endParaRPr lang="en-US" sz="2800">
                <a:latin typeface="Helvetica Neue Light"/>
              </a:endParaRPr>
            </a:p>
          </p:txBody>
        </p:sp>
        <p:sp>
          <p:nvSpPr>
            <p:cNvPr id="25" name="Text 22">
              <a:extLst>
                <a:ext uri="{FF2B5EF4-FFF2-40B4-BE49-F238E27FC236}">
                  <a16:creationId xmlns:a16="http://schemas.microsoft.com/office/drawing/2014/main" id="{5CD7C61C-6BF9-9D44-5A85-C5790232DD9B}"/>
                </a:ext>
              </a:extLst>
            </p:cNvPr>
            <p:cNvSpPr/>
            <p:nvPr/>
          </p:nvSpPr>
          <p:spPr>
            <a:xfrm>
              <a:off x="7040880" y="3232908"/>
              <a:ext cx="411480" cy="287531"/>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4</a:t>
              </a:r>
              <a:endParaRPr lang="en-US" sz="2000" dirty="0">
                <a:latin typeface="Helvetica Neue Light"/>
              </a:endParaRPr>
            </a:p>
          </p:txBody>
        </p:sp>
      </p:grpSp>
    </p:spTree>
    <p:extLst>
      <p:ext uri="{BB962C8B-B14F-4D97-AF65-F5344CB8AC3E}">
        <p14:creationId xmlns:p14="http://schemas.microsoft.com/office/powerpoint/2010/main" val="2631269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580BD8DE-10E1-420C-85C3-E87BA49E1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93FAC-BE05-4018-640D-02CB92219CAC}"/>
              </a:ext>
            </a:extLst>
          </p:cNvPr>
          <p:cNvSpPr>
            <a:spLocks noGrp="1"/>
          </p:cNvSpPr>
          <p:nvPr>
            <p:ph type="title"/>
          </p:nvPr>
        </p:nvSpPr>
        <p:spPr>
          <a:xfrm>
            <a:off x="457200" y="365126"/>
            <a:ext cx="8229600" cy="592213"/>
          </a:xfrm>
        </p:spPr>
        <p:txBody>
          <a:bodyPr/>
          <a:lstStyle/>
          <a:p>
            <a:r>
              <a:rPr lang="en-US" dirty="0"/>
              <a:t>How </a:t>
            </a:r>
            <a:r>
              <a:rPr lang="en-US" dirty="0" err="1"/>
              <a:t>CoT</a:t>
            </a:r>
            <a:r>
              <a:rPr lang="en-US" dirty="0"/>
              <a:t> Works</a:t>
            </a:r>
          </a:p>
        </p:txBody>
      </p:sp>
      <p:sp>
        <p:nvSpPr>
          <p:cNvPr id="5" name="Slide Number Placeholder 4">
            <a:extLst>
              <a:ext uri="{FF2B5EF4-FFF2-40B4-BE49-F238E27FC236}">
                <a16:creationId xmlns:a16="http://schemas.microsoft.com/office/drawing/2014/main" id="{F258F5F8-952A-19D7-45FC-192985602BF9}"/>
              </a:ext>
            </a:extLst>
          </p:cNvPr>
          <p:cNvSpPr>
            <a:spLocks noGrp="1"/>
          </p:cNvSpPr>
          <p:nvPr>
            <p:ph type="sldNum" sz="quarter" idx="12"/>
          </p:nvPr>
        </p:nvSpPr>
        <p:spPr/>
        <p:txBody>
          <a:bodyPr/>
          <a:lstStyle/>
          <a:p>
            <a:fld id="{21EF4C0E-91FA-4D94-8941-E22F3A83D5F1}" type="slidenum">
              <a:rPr lang="en-US" smtClean="0"/>
              <a:t>42</a:t>
            </a:fld>
            <a:endParaRPr lang="en-US"/>
          </a:p>
        </p:txBody>
      </p:sp>
      <p:sp>
        <p:nvSpPr>
          <p:cNvPr id="6" name="TextBox 5">
            <a:extLst>
              <a:ext uri="{FF2B5EF4-FFF2-40B4-BE49-F238E27FC236}">
                <a16:creationId xmlns:a16="http://schemas.microsoft.com/office/drawing/2014/main" id="{6E7A0BE0-2082-EB6F-0C54-92A6B69275C9}"/>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0DB9BED8-545D-F2B0-75D7-ED894218B616}"/>
              </a:ext>
            </a:extLst>
          </p:cNvPr>
          <p:cNvGrpSpPr/>
          <p:nvPr/>
        </p:nvGrpSpPr>
        <p:grpSpPr>
          <a:xfrm>
            <a:off x="457200" y="1234439"/>
            <a:ext cx="8595360" cy="3933460"/>
            <a:chOff x="457200" y="1234440"/>
            <a:chExt cx="8595360" cy="3200399"/>
          </a:xfrm>
        </p:grpSpPr>
        <p:sp>
          <p:nvSpPr>
            <p:cNvPr id="4" name="Text 3">
              <a:extLst>
                <a:ext uri="{FF2B5EF4-FFF2-40B4-BE49-F238E27FC236}">
                  <a16:creationId xmlns:a16="http://schemas.microsoft.com/office/drawing/2014/main" id="{A6FFCF9B-A162-20D7-A45E-2FE0FFDDDBAE}"/>
                </a:ext>
              </a:extLst>
            </p:cNvPr>
            <p:cNvSpPr/>
            <p:nvPr/>
          </p:nvSpPr>
          <p:spPr>
            <a:xfrm>
              <a:off x="457200" y="123444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Decomposition:</a:t>
              </a:r>
              <a:endParaRPr lang="en-US" dirty="0">
                <a:latin typeface="Helvetica Neue Light"/>
              </a:endParaRPr>
            </a:p>
          </p:txBody>
        </p:sp>
        <p:sp>
          <p:nvSpPr>
            <p:cNvPr id="7" name="Text 4">
              <a:extLst>
                <a:ext uri="{FF2B5EF4-FFF2-40B4-BE49-F238E27FC236}">
                  <a16:creationId xmlns:a16="http://schemas.microsoft.com/office/drawing/2014/main" id="{6C17CD2B-5DBD-A0F6-40AA-A59D9DFAE902}"/>
                </a:ext>
              </a:extLst>
            </p:cNvPr>
            <p:cNvSpPr/>
            <p:nvPr/>
          </p:nvSpPr>
          <p:spPr>
            <a:xfrm>
              <a:off x="3017520" y="1234440"/>
              <a:ext cx="5669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Breaking complex problems into smaller steps</a:t>
              </a:r>
              <a:endParaRPr lang="en-US" sz="1600" dirty="0">
                <a:latin typeface="Helvetica Neue Light"/>
              </a:endParaRPr>
            </a:p>
          </p:txBody>
        </p:sp>
        <p:sp>
          <p:nvSpPr>
            <p:cNvPr id="8" name="Text 5">
              <a:extLst>
                <a:ext uri="{FF2B5EF4-FFF2-40B4-BE49-F238E27FC236}">
                  <a16:creationId xmlns:a16="http://schemas.microsoft.com/office/drawing/2014/main" id="{ECF6F07C-3691-91DC-EE82-75E0357AF66B}"/>
                </a:ext>
              </a:extLst>
            </p:cNvPr>
            <p:cNvSpPr/>
            <p:nvPr/>
          </p:nvSpPr>
          <p:spPr>
            <a:xfrm>
              <a:off x="457200" y="173736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Sequential Reasoning:</a:t>
              </a:r>
              <a:endParaRPr lang="en-US" dirty="0">
                <a:latin typeface="Helvetica Neue Light"/>
              </a:endParaRPr>
            </a:p>
          </p:txBody>
        </p:sp>
        <p:sp>
          <p:nvSpPr>
            <p:cNvPr id="9" name="Text 6">
              <a:extLst>
                <a:ext uri="{FF2B5EF4-FFF2-40B4-BE49-F238E27FC236}">
                  <a16:creationId xmlns:a16="http://schemas.microsoft.com/office/drawing/2014/main" id="{8F2E7A1B-3AE2-0573-FD36-D526D898A9DC}"/>
                </a:ext>
              </a:extLst>
            </p:cNvPr>
            <p:cNvSpPr/>
            <p:nvPr/>
          </p:nvSpPr>
          <p:spPr>
            <a:xfrm>
              <a:off x="3017520" y="1737360"/>
              <a:ext cx="5669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Building each step on previous conclusions</a:t>
              </a:r>
              <a:endParaRPr lang="en-US" sz="1600" dirty="0">
                <a:latin typeface="Helvetica Neue Light"/>
              </a:endParaRPr>
            </a:p>
          </p:txBody>
        </p:sp>
        <p:sp>
          <p:nvSpPr>
            <p:cNvPr id="10" name="Text 7">
              <a:extLst>
                <a:ext uri="{FF2B5EF4-FFF2-40B4-BE49-F238E27FC236}">
                  <a16:creationId xmlns:a16="http://schemas.microsoft.com/office/drawing/2014/main" id="{72E77001-15A9-9600-3255-E2ABBC69647A}"/>
                </a:ext>
              </a:extLst>
            </p:cNvPr>
            <p:cNvSpPr/>
            <p:nvPr/>
          </p:nvSpPr>
          <p:spPr>
            <a:xfrm>
              <a:off x="457200" y="224028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Explicit Verbalization:</a:t>
              </a:r>
              <a:endParaRPr lang="en-US" dirty="0">
                <a:latin typeface="Helvetica Neue Light"/>
              </a:endParaRPr>
            </a:p>
          </p:txBody>
        </p:sp>
        <p:sp>
          <p:nvSpPr>
            <p:cNvPr id="11" name="Text 8">
              <a:extLst>
                <a:ext uri="{FF2B5EF4-FFF2-40B4-BE49-F238E27FC236}">
                  <a16:creationId xmlns:a16="http://schemas.microsoft.com/office/drawing/2014/main" id="{F7156C8E-7EF1-A78C-5ECD-7814C308326C}"/>
                </a:ext>
              </a:extLst>
            </p:cNvPr>
            <p:cNvSpPr/>
            <p:nvPr/>
          </p:nvSpPr>
          <p:spPr>
            <a:xfrm>
              <a:off x="3017520" y="2240280"/>
              <a:ext cx="5669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"Thinking out loud" through the problem</a:t>
              </a:r>
              <a:endParaRPr lang="en-US" sz="1600" dirty="0">
                <a:latin typeface="Helvetica Neue Light"/>
              </a:endParaRPr>
            </a:p>
          </p:txBody>
        </p:sp>
        <p:sp>
          <p:nvSpPr>
            <p:cNvPr id="12" name="Text 9">
              <a:extLst>
                <a:ext uri="{FF2B5EF4-FFF2-40B4-BE49-F238E27FC236}">
                  <a16:creationId xmlns:a16="http://schemas.microsoft.com/office/drawing/2014/main" id="{1AA60BFA-E499-D3FF-D6E7-2B93C7771BEF}"/>
                </a:ext>
              </a:extLst>
            </p:cNvPr>
            <p:cNvSpPr/>
            <p:nvPr/>
          </p:nvSpPr>
          <p:spPr>
            <a:xfrm>
              <a:off x="457200" y="274320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Self-Consistency:</a:t>
              </a:r>
              <a:endParaRPr lang="en-US" dirty="0">
                <a:latin typeface="Helvetica Neue Light"/>
              </a:endParaRPr>
            </a:p>
          </p:txBody>
        </p:sp>
        <p:sp>
          <p:nvSpPr>
            <p:cNvPr id="13" name="Text 10">
              <a:extLst>
                <a:ext uri="{FF2B5EF4-FFF2-40B4-BE49-F238E27FC236}">
                  <a16:creationId xmlns:a16="http://schemas.microsoft.com/office/drawing/2014/main" id="{EAA20BB3-CA15-6558-10D3-42E232176A22}"/>
                </a:ext>
              </a:extLst>
            </p:cNvPr>
            <p:cNvSpPr/>
            <p:nvPr/>
          </p:nvSpPr>
          <p:spPr>
            <a:xfrm>
              <a:off x="3017520" y="2743200"/>
              <a:ext cx="5669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Multiple reasoning paths can be compared for reliability</a:t>
              </a:r>
              <a:endParaRPr lang="en-US" sz="1600" dirty="0">
                <a:latin typeface="Helvetica Neue Light"/>
              </a:endParaRPr>
            </a:p>
          </p:txBody>
        </p:sp>
        <p:sp>
          <p:nvSpPr>
            <p:cNvPr id="14" name="Text 11">
              <a:extLst>
                <a:ext uri="{FF2B5EF4-FFF2-40B4-BE49-F238E27FC236}">
                  <a16:creationId xmlns:a16="http://schemas.microsoft.com/office/drawing/2014/main" id="{766C8C1B-CB0D-C471-CDCC-0942C7D33082}"/>
                </a:ext>
              </a:extLst>
            </p:cNvPr>
            <p:cNvSpPr/>
            <p:nvPr/>
          </p:nvSpPr>
          <p:spPr>
            <a:xfrm>
              <a:off x="457200" y="3231421"/>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Why It Works (The Magic):</a:t>
              </a:r>
              <a:endParaRPr lang="en-US" sz="2000" dirty="0">
                <a:latin typeface="Helvetica Neue Light"/>
              </a:endParaRPr>
            </a:p>
          </p:txBody>
        </p:sp>
        <p:sp>
          <p:nvSpPr>
            <p:cNvPr id="15" name="Shape 12">
              <a:extLst>
                <a:ext uri="{FF2B5EF4-FFF2-40B4-BE49-F238E27FC236}">
                  <a16:creationId xmlns:a16="http://schemas.microsoft.com/office/drawing/2014/main" id="{E91B2EA5-6D3C-8E15-6467-73C4AF4D9350}"/>
                </a:ext>
              </a:extLst>
            </p:cNvPr>
            <p:cNvSpPr/>
            <p:nvPr/>
          </p:nvSpPr>
          <p:spPr>
            <a:xfrm>
              <a:off x="457200" y="3749368"/>
              <a:ext cx="274320" cy="228271"/>
            </a:xfrm>
            <a:prstGeom prst="ellipse">
              <a:avLst/>
            </a:prstGeom>
            <a:solidFill>
              <a:srgbClr val="E07A5F"/>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02162AA9-D1F9-AFDD-C73F-6E55994B49B9}"/>
                </a:ext>
              </a:extLst>
            </p:cNvPr>
            <p:cNvSpPr/>
            <p:nvPr/>
          </p:nvSpPr>
          <p:spPr>
            <a:xfrm>
              <a:off x="822960" y="3685032"/>
              <a:ext cx="1828800" cy="274320"/>
            </a:xfrm>
            <a:prstGeom prst="rect">
              <a:avLst/>
            </a:prstGeom>
            <a:noFill/>
            <a:ln/>
          </p:spPr>
          <p:txBody>
            <a:bodyPr wrap="square" rtlCol="0" anchor="ctr"/>
            <a:lstStyle/>
            <a:p>
              <a:pPr marL="0" indent="0">
                <a:buNone/>
              </a:pPr>
              <a:r>
                <a:rPr lang="en-US" sz="1400" b="1" dirty="0">
                  <a:solidFill>
                    <a:srgbClr val="065A82"/>
                  </a:solidFill>
                  <a:latin typeface="Helvetica Neue Light"/>
                  <a:ea typeface="Calibri" pitchFamily="34" charset="-122"/>
                  <a:cs typeface="Calibri" pitchFamily="34" charset="-120"/>
                </a:rPr>
                <a:t>Attention Management:</a:t>
              </a:r>
              <a:endParaRPr lang="en-US" sz="1400" dirty="0">
                <a:latin typeface="Helvetica Neue Light"/>
              </a:endParaRPr>
            </a:p>
          </p:txBody>
        </p:sp>
        <p:sp>
          <p:nvSpPr>
            <p:cNvPr id="17" name="Text 14">
              <a:extLst>
                <a:ext uri="{FF2B5EF4-FFF2-40B4-BE49-F238E27FC236}">
                  <a16:creationId xmlns:a16="http://schemas.microsoft.com/office/drawing/2014/main" id="{DAC33C5F-2FA8-CAA9-BBA9-4DFBF5EEAB47}"/>
                </a:ext>
              </a:extLst>
            </p:cNvPr>
            <p:cNvSpPr/>
            <p:nvPr/>
          </p:nvSpPr>
          <p:spPr>
            <a:xfrm>
              <a:off x="2568539" y="3685032"/>
              <a:ext cx="2500211" cy="27432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Gives the model more "time to think" via computational steps</a:t>
              </a:r>
              <a:endParaRPr lang="en-US" sz="1400" dirty="0">
                <a:latin typeface="Helvetica Neue Light"/>
              </a:endParaRPr>
            </a:p>
          </p:txBody>
        </p:sp>
        <p:sp>
          <p:nvSpPr>
            <p:cNvPr id="18" name="Shape 15">
              <a:extLst>
                <a:ext uri="{FF2B5EF4-FFF2-40B4-BE49-F238E27FC236}">
                  <a16:creationId xmlns:a16="http://schemas.microsoft.com/office/drawing/2014/main" id="{A39EC172-1A2F-49E0-9641-6720157FAC57}"/>
                </a:ext>
              </a:extLst>
            </p:cNvPr>
            <p:cNvSpPr/>
            <p:nvPr/>
          </p:nvSpPr>
          <p:spPr>
            <a:xfrm>
              <a:off x="457200" y="4206568"/>
              <a:ext cx="274320" cy="228271"/>
            </a:xfrm>
            <a:prstGeom prst="ellipse">
              <a:avLst/>
            </a:prstGeom>
            <a:solidFill>
              <a:srgbClr val="E07A5F"/>
            </a:solidFill>
            <a:ln/>
          </p:spPr>
          <p:txBody>
            <a:bodyPr/>
            <a:lstStyle/>
            <a:p>
              <a:endParaRPr lang="en-US" sz="2800">
                <a:latin typeface="Helvetica Neue Light"/>
              </a:endParaRPr>
            </a:p>
          </p:txBody>
        </p:sp>
        <p:sp>
          <p:nvSpPr>
            <p:cNvPr id="19" name="Text 16">
              <a:extLst>
                <a:ext uri="{FF2B5EF4-FFF2-40B4-BE49-F238E27FC236}">
                  <a16:creationId xmlns:a16="http://schemas.microsoft.com/office/drawing/2014/main" id="{AF018FCD-490A-928C-DB55-1B5150628FB0}"/>
                </a:ext>
              </a:extLst>
            </p:cNvPr>
            <p:cNvSpPr/>
            <p:nvPr/>
          </p:nvSpPr>
          <p:spPr>
            <a:xfrm>
              <a:off x="822960" y="4142232"/>
              <a:ext cx="1828800" cy="274320"/>
            </a:xfrm>
            <a:prstGeom prst="rect">
              <a:avLst/>
            </a:prstGeom>
            <a:noFill/>
            <a:ln/>
          </p:spPr>
          <p:txBody>
            <a:bodyPr wrap="square" rtlCol="0" anchor="ctr"/>
            <a:lstStyle/>
            <a:p>
              <a:pPr marL="0" indent="0">
                <a:buNone/>
              </a:pPr>
              <a:r>
                <a:rPr lang="en-US" sz="1400" b="1" dirty="0">
                  <a:solidFill>
                    <a:srgbClr val="065A82"/>
                  </a:solidFill>
                  <a:latin typeface="Helvetica Neue Light"/>
                  <a:ea typeface="Calibri" pitchFamily="34" charset="-122"/>
                  <a:cs typeface="Calibri" pitchFamily="34" charset="-120"/>
                </a:rPr>
                <a:t>Error Reduction:</a:t>
              </a:r>
              <a:endParaRPr lang="en-US" sz="1400" dirty="0">
                <a:latin typeface="Helvetica Neue Light"/>
              </a:endParaRPr>
            </a:p>
          </p:txBody>
        </p:sp>
        <p:sp>
          <p:nvSpPr>
            <p:cNvPr id="20" name="Text 17">
              <a:extLst>
                <a:ext uri="{FF2B5EF4-FFF2-40B4-BE49-F238E27FC236}">
                  <a16:creationId xmlns:a16="http://schemas.microsoft.com/office/drawing/2014/main" id="{553AE84B-2C4A-1D91-FC8B-61C02448CD74}"/>
                </a:ext>
              </a:extLst>
            </p:cNvPr>
            <p:cNvSpPr/>
            <p:nvPr/>
          </p:nvSpPr>
          <p:spPr>
            <a:xfrm>
              <a:off x="2568539" y="4142232"/>
              <a:ext cx="2305005" cy="27432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Mistakes in intermediate steps are easier to catch</a:t>
              </a:r>
              <a:endParaRPr lang="en-US" sz="1400" dirty="0">
                <a:latin typeface="Helvetica Neue Light"/>
              </a:endParaRPr>
            </a:p>
          </p:txBody>
        </p:sp>
        <p:sp>
          <p:nvSpPr>
            <p:cNvPr id="21" name="Shape 18">
              <a:extLst>
                <a:ext uri="{FF2B5EF4-FFF2-40B4-BE49-F238E27FC236}">
                  <a16:creationId xmlns:a16="http://schemas.microsoft.com/office/drawing/2014/main" id="{6A637F81-A2A9-C540-1165-7A2C6457220C}"/>
                </a:ext>
              </a:extLst>
            </p:cNvPr>
            <p:cNvSpPr/>
            <p:nvPr/>
          </p:nvSpPr>
          <p:spPr>
            <a:xfrm>
              <a:off x="5160190" y="3749368"/>
              <a:ext cx="274320" cy="228271"/>
            </a:xfrm>
            <a:prstGeom prst="ellipse">
              <a:avLst/>
            </a:prstGeom>
            <a:solidFill>
              <a:srgbClr val="E07A5F"/>
            </a:solidFill>
            <a:ln/>
          </p:spPr>
          <p:txBody>
            <a:bodyPr/>
            <a:lstStyle/>
            <a:p>
              <a:endParaRPr lang="en-US" sz="2800">
                <a:latin typeface="Helvetica Neue Light"/>
              </a:endParaRPr>
            </a:p>
          </p:txBody>
        </p:sp>
        <p:sp>
          <p:nvSpPr>
            <p:cNvPr id="22" name="Text 19">
              <a:extLst>
                <a:ext uri="{FF2B5EF4-FFF2-40B4-BE49-F238E27FC236}">
                  <a16:creationId xmlns:a16="http://schemas.microsoft.com/office/drawing/2014/main" id="{22F399FC-EAAE-99D9-21C9-6F686835507D}"/>
                </a:ext>
              </a:extLst>
            </p:cNvPr>
            <p:cNvSpPr/>
            <p:nvPr/>
          </p:nvSpPr>
          <p:spPr>
            <a:xfrm>
              <a:off x="5525950" y="3685032"/>
              <a:ext cx="1828800" cy="274320"/>
            </a:xfrm>
            <a:prstGeom prst="rect">
              <a:avLst/>
            </a:prstGeom>
            <a:noFill/>
            <a:ln/>
          </p:spPr>
          <p:txBody>
            <a:bodyPr wrap="square" rtlCol="0" anchor="ctr"/>
            <a:lstStyle/>
            <a:p>
              <a:pPr marL="0" indent="0">
                <a:buNone/>
              </a:pPr>
              <a:r>
                <a:rPr lang="en-US" sz="1400" b="1" dirty="0">
                  <a:solidFill>
                    <a:srgbClr val="065A82"/>
                  </a:solidFill>
                  <a:latin typeface="Helvetica Neue Light"/>
                  <a:ea typeface="Calibri" pitchFamily="34" charset="-122"/>
                  <a:cs typeface="Calibri" pitchFamily="34" charset="-120"/>
                </a:rPr>
                <a:t>Interpretability:</a:t>
              </a:r>
              <a:endParaRPr lang="en-US" sz="1400" dirty="0">
                <a:latin typeface="Helvetica Neue Light"/>
              </a:endParaRPr>
            </a:p>
          </p:txBody>
        </p:sp>
        <p:sp>
          <p:nvSpPr>
            <p:cNvPr id="23" name="Text 20">
              <a:extLst>
                <a:ext uri="{FF2B5EF4-FFF2-40B4-BE49-F238E27FC236}">
                  <a16:creationId xmlns:a16="http://schemas.microsoft.com/office/drawing/2014/main" id="{5E7C6557-5450-E227-02AB-500EEBFF9349}"/>
                </a:ext>
              </a:extLst>
            </p:cNvPr>
            <p:cNvSpPr/>
            <p:nvPr/>
          </p:nvSpPr>
          <p:spPr>
            <a:xfrm>
              <a:off x="6995160" y="3685032"/>
              <a:ext cx="2057400" cy="27432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Humans can follow and verify the reasoning process</a:t>
              </a:r>
              <a:endParaRPr lang="en-US" sz="1400" dirty="0">
                <a:latin typeface="Helvetica Neue Light"/>
              </a:endParaRPr>
            </a:p>
          </p:txBody>
        </p:sp>
        <p:sp>
          <p:nvSpPr>
            <p:cNvPr id="24" name="Shape 21">
              <a:extLst>
                <a:ext uri="{FF2B5EF4-FFF2-40B4-BE49-F238E27FC236}">
                  <a16:creationId xmlns:a16="http://schemas.microsoft.com/office/drawing/2014/main" id="{1394BA83-0724-74A7-254F-5B754F8ABC22}"/>
                </a:ext>
              </a:extLst>
            </p:cNvPr>
            <p:cNvSpPr/>
            <p:nvPr/>
          </p:nvSpPr>
          <p:spPr>
            <a:xfrm>
              <a:off x="5160190" y="4206568"/>
              <a:ext cx="274320" cy="228271"/>
            </a:xfrm>
            <a:prstGeom prst="ellipse">
              <a:avLst/>
            </a:prstGeom>
            <a:solidFill>
              <a:srgbClr val="E07A5F"/>
            </a:solidFill>
            <a:ln/>
          </p:spPr>
          <p:txBody>
            <a:bodyPr/>
            <a:lstStyle/>
            <a:p>
              <a:endParaRPr lang="en-US" sz="2800">
                <a:latin typeface="Helvetica Neue Light"/>
              </a:endParaRPr>
            </a:p>
          </p:txBody>
        </p:sp>
        <p:sp>
          <p:nvSpPr>
            <p:cNvPr id="25" name="Text 22">
              <a:extLst>
                <a:ext uri="{FF2B5EF4-FFF2-40B4-BE49-F238E27FC236}">
                  <a16:creationId xmlns:a16="http://schemas.microsoft.com/office/drawing/2014/main" id="{71D8F3DD-BD1C-28AC-FA4E-B31E96A1D413}"/>
                </a:ext>
              </a:extLst>
            </p:cNvPr>
            <p:cNvSpPr/>
            <p:nvPr/>
          </p:nvSpPr>
          <p:spPr>
            <a:xfrm>
              <a:off x="5525950" y="4142232"/>
              <a:ext cx="1828800" cy="274320"/>
            </a:xfrm>
            <a:prstGeom prst="rect">
              <a:avLst/>
            </a:prstGeom>
            <a:noFill/>
            <a:ln/>
          </p:spPr>
          <p:txBody>
            <a:bodyPr wrap="square" rtlCol="0" anchor="ctr"/>
            <a:lstStyle/>
            <a:p>
              <a:pPr marL="0" indent="0">
                <a:buNone/>
              </a:pPr>
              <a:r>
                <a:rPr lang="en-US" sz="1400" b="1" dirty="0">
                  <a:solidFill>
                    <a:srgbClr val="065A82"/>
                  </a:solidFill>
                  <a:latin typeface="Helvetica Neue Light"/>
                  <a:ea typeface="Calibri" pitchFamily="34" charset="-122"/>
                  <a:cs typeface="Calibri" pitchFamily="34" charset="-120"/>
                </a:rPr>
                <a:t>Complex Problem Solving:</a:t>
              </a:r>
              <a:endParaRPr lang="en-US" sz="1400" dirty="0">
                <a:latin typeface="Helvetica Neue Light"/>
              </a:endParaRPr>
            </a:p>
          </p:txBody>
        </p:sp>
        <p:sp>
          <p:nvSpPr>
            <p:cNvPr id="26" name="Text 23">
              <a:extLst>
                <a:ext uri="{FF2B5EF4-FFF2-40B4-BE49-F238E27FC236}">
                  <a16:creationId xmlns:a16="http://schemas.microsoft.com/office/drawing/2014/main" id="{7A9DA7E0-2176-2105-DDE3-C074565504CC}"/>
                </a:ext>
              </a:extLst>
            </p:cNvPr>
            <p:cNvSpPr/>
            <p:nvPr/>
          </p:nvSpPr>
          <p:spPr>
            <a:xfrm>
              <a:off x="6995160" y="4142232"/>
              <a:ext cx="2057400" cy="27432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Breaks cognitive load into manageable chunks</a:t>
              </a:r>
              <a:endParaRPr lang="en-US" sz="1400" dirty="0">
                <a:latin typeface="Helvetica Neue Light"/>
              </a:endParaRPr>
            </a:p>
          </p:txBody>
        </p:sp>
      </p:grpSp>
    </p:spTree>
    <p:extLst>
      <p:ext uri="{BB962C8B-B14F-4D97-AF65-F5344CB8AC3E}">
        <p14:creationId xmlns:p14="http://schemas.microsoft.com/office/powerpoint/2010/main" val="3468126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B1DA22C-0DDA-7AD6-FF54-B90C21A75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8F24C-33F4-FB84-377F-975F4F1DE49C}"/>
              </a:ext>
            </a:extLst>
          </p:cNvPr>
          <p:cNvSpPr>
            <a:spLocks noGrp="1"/>
          </p:cNvSpPr>
          <p:nvPr>
            <p:ph type="title"/>
          </p:nvPr>
        </p:nvSpPr>
        <p:spPr>
          <a:xfrm>
            <a:off x="457200" y="365646"/>
            <a:ext cx="8229600" cy="592213"/>
          </a:xfrm>
        </p:spPr>
        <p:txBody>
          <a:bodyPr/>
          <a:lstStyle/>
          <a:p>
            <a:r>
              <a:rPr lang="en-US" dirty="0"/>
              <a:t>Why It's a Big Deal</a:t>
            </a:r>
          </a:p>
        </p:txBody>
      </p:sp>
      <p:sp>
        <p:nvSpPr>
          <p:cNvPr id="5" name="Slide Number Placeholder 4">
            <a:extLst>
              <a:ext uri="{FF2B5EF4-FFF2-40B4-BE49-F238E27FC236}">
                <a16:creationId xmlns:a16="http://schemas.microsoft.com/office/drawing/2014/main" id="{E1A8600F-030D-CE35-3496-3280C7478819}"/>
              </a:ext>
            </a:extLst>
          </p:cNvPr>
          <p:cNvSpPr>
            <a:spLocks noGrp="1"/>
          </p:cNvSpPr>
          <p:nvPr>
            <p:ph type="sldNum" sz="quarter" idx="12"/>
          </p:nvPr>
        </p:nvSpPr>
        <p:spPr/>
        <p:txBody>
          <a:bodyPr/>
          <a:lstStyle/>
          <a:p>
            <a:fld id="{21EF4C0E-91FA-4D94-8941-E22F3A83D5F1}" type="slidenum">
              <a:rPr lang="en-US" smtClean="0"/>
              <a:t>43</a:t>
            </a:fld>
            <a:endParaRPr lang="en-US"/>
          </a:p>
        </p:txBody>
      </p:sp>
      <p:sp>
        <p:nvSpPr>
          <p:cNvPr id="6" name="TextBox 5">
            <a:extLst>
              <a:ext uri="{FF2B5EF4-FFF2-40B4-BE49-F238E27FC236}">
                <a16:creationId xmlns:a16="http://schemas.microsoft.com/office/drawing/2014/main" id="{9C395880-A7A9-C84E-2D09-C3C1B7E5406D}"/>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A07D63DD-30E6-3E9E-1C0F-B2B12E3C916F}"/>
              </a:ext>
            </a:extLst>
          </p:cNvPr>
          <p:cNvGrpSpPr/>
          <p:nvPr/>
        </p:nvGrpSpPr>
        <p:grpSpPr>
          <a:xfrm>
            <a:off x="435768" y="1265374"/>
            <a:ext cx="8708232" cy="4108122"/>
            <a:chOff x="457200" y="1234440"/>
            <a:chExt cx="8708232" cy="2651760"/>
          </a:xfrm>
        </p:grpSpPr>
        <p:sp>
          <p:nvSpPr>
            <p:cNvPr id="4" name="Shape 3">
              <a:extLst>
                <a:ext uri="{FF2B5EF4-FFF2-40B4-BE49-F238E27FC236}">
                  <a16:creationId xmlns:a16="http://schemas.microsoft.com/office/drawing/2014/main" id="{3CE01383-6B6C-DD3D-006A-414F846AA1BE}"/>
                </a:ext>
              </a:extLst>
            </p:cNvPr>
            <p:cNvSpPr/>
            <p:nvPr/>
          </p:nvSpPr>
          <p:spPr>
            <a:xfrm>
              <a:off x="457200" y="1234440"/>
              <a:ext cx="4023360" cy="1280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AFCFE1FD-D6C0-7010-DE04-E494644F230C}"/>
                </a:ext>
              </a:extLst>
            </p:cNvPr>
            <p:cNvSpPr/>
            <p:nvPr/>
          </p:nvSpPr>
          <p:spPr>
            <a:xfrm>
              <a:off x="457200" y="1234440"/>
              <a:ext cx="54864" cy="1280160"/>
            </a:xfrm>
            <a:prstGeom prst="rect">
              <a:avLst/>
            </a:prstGeom>
            <a:solidFill>
              <a:srgbClr val="1C7293"/>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74EE7FDA-BB62-C2BB-33D1-19B340CB95DC}"/>
                </a:ext>
              </a:extLst>
            </p:cNvPr>
            <p:cNvSpPr/>
            <p:nvPr/>
          </p:nvSpPr>
          <p:spPr>
            <a:xfrm>
              <a:off x="685800" y="1266192"/>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Performance Gains</a:t>
              </a:r>
              <a:endParaRPr lang="en-US" sz="2000" dirty="0">
                <a:latin typeface="Helvetica Neue Light"/>
              </a:endParaRPr>
            </a:p>
          </p:txBody>
        </p:sp>
        <p:sp>
          <p:nvSpPr>
            <p:cNvPr id="9" name="Text 6">
              <a:extLst>
                <a:ext uri="{FF2B5EF4-FFF2-40B4-BE49-F238E27FC236}">
                  <a16:creationId xmlns:a16="http://schemas.microsoft.com/office/drawing/2014/main" id="{E5D5D148-53CF-2DC6-0533-423DDACE25C6}"/>
                </a:ext>
              </a:extLst>
            </p:cNvPr>
            <p:cNvSpPr/>
            <p:nvPr/>
          </p:nvSpPr>
          <p:spPr>
            <a:xfrm>
              <a:off x="685800" y="1572264"/>
              <a:ext cx="3657600" cy="1020718"/>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Math word problems: </a:t>
              </a:r>
              <a:r>
                <a:rPr lang="en-US" sz="1600" dirty="0">
                  <a:solidFill>
                    <a:srgbClr val="2D3436"/>
                  </a:solidFill>
                  <a:latin typeface="Helvetica Neue Light"/>
                  <a:ea typeface="Calibri" pitchFamily="34" charset="-122"/>
                  <a:cs typeface="Calibri" pitchFamily="34" charset="-120"/>
                </a:rPr>
                <a:t>18% → 57% accuracy (GSM8K, </a:t>
              </a:r>
              <a:r>
                <a:rPr lang="en-US" sz="1600" dirty="0" err="1">
                  <a:solidFill>
                    <a:srgbClr val="2D3436"/>
                  </a:solidFill>
                  <a:latin typeface="Helvetica Neue Light"/>
                  <a:ea typeface="Calibri" pitchFamily="34" charset="-122"/>
                  <a:cs typeface="Calibri" pitchFamily="34" charset="-120"/>
                </a:rPr>
                <a:t>PaLM</a:t>
              </a:r>
              <a:r>
                <a:rPr lang="en-US" sz="1600" dirty="0">
                  <a:solidFill>
                    <a:srgbClr val="2D3436"/>
                  </a:solidFill>
                  <a:latin typeface="Helvetica Neue Light"/>
                  <a:ea typeface="Calibri" pitchFamily="34" charset="-122"/>
                  <a:cs typeface="Calibri" pitchFamily="34" charset="-120"/>
                </a:rPr>
                <a:t> 540B)</a:t>
              </a:r>
              <a:r>
                <a:rPr lang="en-US" sz="1600" baseline="30000" dirty="0">
                  <a:solidFill>
                    <a:srgbClr val="2D3436"/>
                  </a:solidFill>
                  <a:latin typeface="Helvetica Neue Light"/>
                  <a:ea typeface="Calibri" pitchFamily="34" charset="-122"/>
                  <a:cs typeface="Calibri" pitchFamily="34" charset="-120"/>
                </a:rPr>
                <a:t>1</a:t>
              </a:r>
              <a:endParaRPr lang="en-US" sz="1600" baseline="300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Logical puzzles: </a:t>
              </a:r>
              <a:r>
                <a:rPr lang="en-US" sz="1600" dirty="0">
                  <a:solidFill>
                    <a:srgbClr val="2D3436"/>
                  </a:solidFill>
                  <a:latin typeface="Helvetica Neue Light"/>
                  <a:ea typeface="Calibri" pitchFamily="34" charset="-122"/>
                  <a:cs typeface="Calibri" pitchFamily="34" charset="-120"/>
                </a:rPr>
                <a:t>Near-human on previously unsolvable tasks</a:t>
              </a:r>
              <a:endParaRPr lang="en-US" sz="1600" dirty="0">
                <a:latin typeface="Helvetica Neue Light"/>
              </a:endParaRPr>
            </a:p>
          </p:txBody>
        </p:sp>
        <p:sp>
          <p:nvSpPr>
            <p:cNvPr id="10" name="Shape 7">
              <a:extLst>
                <a:ext uri="{FF2B5EF4-FFF2-40B4-BE49-F238E27FC236}">
                  <a16:creationId xmlns:a16="http://schemas.microsoft.com/office/drawing/2014/main" id="{45E3CFDC-C60E-14B5-2645-0F160E74B6AF}"/>
                </a:ext>
              </a:extLst>
            </p:cNvPr>
            <p:cNvSpPr/>
            <p:nvPr/>
          </p:nvSpPr>
          <p:spPr>
            <a:xfrm>
              <a:off x="4663440" y="1234440"/>
              <a:ext cx="4023360" cy="1280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017953BE-4F9C-D760-452F-F650C2716FD7}"/>
                </a:ext>
              </a:extLst>
            </p:cNvPr>
            <p:cNvSpPr/>
            <p:nvPr/>
          </p:nvSpPr>
          <p:spPr>
            <a:xfrm>
              <a:off x="4663440" y="1234440"/>
              <a:ext cx="54864" cy="1280160"/>
            </a:xfrm>
            <a:prstGeom prst="rect">
              <a:avLst/>
            </a:prstGeom>
            <a:solidFill>
              <a:srgbClr val="E07A5F"/>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88F15A28-535C-04C8-EFCC-A5FD8CC40B38}"/>
                </a:ext>
              </a:extLst>
            </p:cNvPr>
            <p:cNvSpPr/>
            <p:nvPr/>
          </p:nvSpPr>
          <p:spPr>
            <a:xfrm>
              <a:off x="4892040" y="1266192"/>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Where CoT Excels</a:t>
              </a:r>
              <a:endParaRPr lang="en-US" sz="2000" dirty="0">
                <a:latin typeface="Helvetica Neue Light"/>
              </a:endParaRPr>
            </a:p>
          </p:txBody>
        </p:sp>
        <p:sp>
          <p:nvSpPr>
            <p:cNvPr id="13" name="Text 10">
              <a:extLst>
                <a:ext uri="{FF2B5EF4-FFF2-40B4-BE49-F238E27FC236}">
                  <a16:creationId xmlns:a16="http://schemas.microsoft.com/office/drawing/2014/main" id="{2DD57186-0AAA-C4C6-8DC8-70B5B9FB95DD}"/>
                </a:ext>
              </a:extLst>
            </p:cNvPr>
            <p:cNvSpPr/>
            <p:nvPr/>
          </p:nvSpPr>
          <p:spPr>
            <a:xfrm>
              <a:off x="4892040" y="1586232"/>
              <a:ext cx="3657600" cy="1006750"/>
            </a:xfrm>
            <a:prstGeom prst="rect">
              <a:avLst/>
            </a:prstGeom>
            <a:noFill/>
            <a:ln/>
          </p:spPr>
          <p:txBody>
            <a:bodyPr wrap="square" rtlCol="0" anchor="t"/>
            <a:lstStyle/>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Mathematical Reasoning</a:t>
              </a: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Code Generation</a:t>
              </a: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Strategic Planning</a:t>
              </a: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Scientific Research</a:t>
              </a: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Educational Tools</a:t>
              </a:r>
              <a:endParaRPr lang="en-US" sz="1600" dirty="0">
                <a:latin typeface="Helvetica Neue Light"/>
              </a:endParaRPr>
            </a:p>
          </p:txBody>
        </p:sp>
        <p:sp>
          <p:nvSpPr>
            <p:cNvPr id="14" name="Text 11">
              <a:extLst>
                <a:ext uri="{FF2B5EF4-FFF2-40B4-BE49-F238E27FC236}">
                  <a16:creationId xmlns:a16="http://schemas.microsoft.com/office/drawing/2014/main" id="{4CABC619-B6FF-8630-8530-C0C634387E38}"/>
                </a:ext>
              </a:extLst>
            </p:cNvPr>
            <p:cNvSpPr/>
            <p:nvPr/>
          </p:nvSpPr>
          <p:spPr>
            <a:xfrm>
              <a:off x="457200" y="2697480"/>
              <a:ext cx="8229600" cy="320040"/>
            </a:xfrm>
            <a:prstGeom prst="rect">
              <a:avLst/>
            </a:prstGeom>
            <a:noFill/>
            <a:ln/>
          </p:spPr>
          <p:txBody>
            <a:bodyPr wrap="square" rtlCol="0" anchor="ctr"/>
            <a:lstStyle/>
            <a:p>
              <a:pPr marL="0" indent="0">
                <a:buNone/>
              </a:pPr>
              <a:r>
                <a:rPr lang="en-US" sz="2400" b="1" dirty="0">
                  <a:solidFill>
                    <a:srgbClr val="065A82"/>
                  </a:solidFill>
                  <a:latin typeface="Helvetica Neue Light"/>
                  <a:ea typeface="Georgia" pitchFamily="34" charset="-122"/>
                  <a:cs typeface="Georgia" pitchFamily="34" charset="-120"/>
                </a:rPr>
                <a:t>Types of Chain of Thought:</a:t>
              </a:r>
              <a:endParaRPr lang="en-US" sz="2400" dirty="0">
                <a:latin typeface="Helvetica Neue Light"/>
              </a:endParaRPr>
            </a:p>
          </p:txBody>
        </p:sp>
        <p:sp>
          <p:nvSpPr>
            <p:cNvPr id="15" name="Text 12">
              <a:extLst>
                <a:ext uri="{FF2B5EF4-FFF2-40B4-BE49-F238E27FC236}">
                  <a16:creationId xmlns:a16="http://schemas.microsoft.com/office/drawing/2014/main" id="{21BE0E80-EF46-7E8E-944E-6DA3F402B044}"/>
                </a:ext>
              </a:extLst>
            </p:cNvPr>
            <p:cNvSpPr/>
            <p:nvPr/>
          </p:nvSpPr>
          <p:spPr>
            <a:xfrm>
              <a:off x="457200" y="3063240"/>
              <a:ext cx="1828800" cy="320040"/>
            </a:xfrm>
            <a:prstGeom prst="rect">
              <a:avLst/>
            </a:prstGeom>
            <a:noFill/>
            <a:ln/>
          </p:spPr>
          <p:txBody>
            <a:bodyPr wrap="square" rtlCol="0" anchor="ctr"/>
            <a:lstStyle/>
            <a:p>
              <a:pPr marL="0" indent="0">
                <a:buNone/>
              </a:pPr>
              <a:r>
                <a:rPr lang="en-US" b="1" dirty="0">
                  <a:solidFill>
                    <a:srgbClr val="1C7293"/>
                  </a:solidFill>
                  <a:latin typeface="Helvetica Neue Light"/>
                  <a:ea typeface="Calibri" pitchFamily="34" charset="-122"/>
                  <a:cs typeface="Calibri" pitchFamily="34" charset="-120"/>
                </a:rPr>
                <a:t>Zero-Shot CoT:</a:t>
              </a:r>
              <a:endParaRPr lang="en-US" dirty="0">
                <a:latin typeface="Helvetica Neue Light"/>
              </a:endParaRPr>
            </a:p>
          </p:txBody>
        </p:sp>
        <p:sp>
          <p:nvSpPr>
            <p:cNvPr id="16" name="Text 13">
              <a:extLst>
                <a:ext uri="{FF2B5EF4-FFF2-40B4-BE49-F238E27FC236}">
                  <a16:creationId xmlns:a16="http://schemas.microsoft.com/office/drawing/2014/main" id="{0E4712F8-9D05-46E2-21FD-F57E29ADCA0F}"/>
                </a:ext>
              </a:extLst>
            </p:cNvPr>
            <p:cNvSpPr/>
            <p:nvPr/>
          </p:nvSpPr>
          <p:spPr>
            <a:xfrm>
              <a:off x="2331720" y="3063240"/>
              <a:ext cx="25146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Simply adding "Let's think step by step"</a:t>
              </a:r>
              <a:endParaRPr lang="en-US" sz="1600" dirty="0">
                <a:latin typeface="Helvetica Neue Light"/>
              </a:endParaRPr>
            </a:p>
          </p:txBody>
        </p:sp>
        <p:sp>
          <p:nvSpPr>
            <p:cNvPr id="17" name="Text 14">
              <a:extLst>
                <a:ext uri="{FF2B5EF4-FFF2-40B4-BE49-F238E27FC236}">
                  <a16:creationId xmlns:a16="http://schemas.microsoft.com/office/drawing/2014/main" id="{33BBB9BE-7BEC-0A07-7CA4-830499E7D5D3}"/>
                </a:ext>
              </a:extLst>
            </p:cNvPr>
            <p:cNvSpPr/>
            <p:nvPr/>
          </p:nvSpPr>
          <p:spPr>
            <a:xfrm>
              <a:off x="457200" y="3566160"/>
              <a:ext cx="1828800" cy="320040"/>
            </a:xfrm>
            <a:prstGeom prst="rect">
              <a:avLst/>
            </a:prstGeom>
            <a:noFill/>
            <a:ln/>
          </p:spPr>
          <p:txBody>
            <a:bodyPr wrap="square" rtlCol="0" anchor="ctr"/>
            <a:lstStyle/>
            <a:p>
              <a:pPr marL="0" indent="0">
                <a:buNone/>
              </a:pPr>
              <a:r>
                <a:rPr lang="en-US" b="1" dirty="0">
                  <a:solidFill>
                    <a:srgbClr val="1C7293"/>
                  </a:solidFill>
                  <a:latin typeface="Helvetica Neue Light"/>
                  <a:ea typeface="Calibri" pitchFamily="34" charset="-122"/>
                  <a:cs typeface="Calibri" pitchFamily="34" charset="-120"/>
                </a:rPr>
                <a:t>Few-Shot CoT:</a:t>
              </a:r>
              <a:endParaRPr lang="en-US" dirty="0">
                <a:latin typeface="Helvetica Neue Light"/>
              </a:endParaRPr>
            </a:p>
          </p:txBody>
        </p:sp>
        <p:sp>
          <p:nvSpPr>
            <p:cNvPr id="18" name="Text 15">
              <a:extLst>
                <a:ext uri="{FF2B5EF4-FFF2-40B4-BE49-F238E27FC236}">
                  <a16:creationId xmlns:a16="http://schemas.microsoft.com/office/drawing/2014/main" id="{AFE7F4EC-4B13-A4BC-640C-CEF4E16F8673}"/>
                </a:ext>
              </a:extLst>
            </p:cNvPr>
            <p:cNvSpPr/>
            <p:nvPr/>
          </p:nvSpPr>
          <p:spPr>
            <a:xfrm>
              <a:off x="2331720" y="3566160"/>
              <a:ext cx="251460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Providing examples of step-by-step reasoning</a:t>
              </a:r>
              <a:endParaRPr lang="en-US" sz="1600" dirty="0">
                <a:latin typeface="Helvetica Neue Light"/>
              </a:endParaRPr>
            </a:p>
          </p:txBody>
        </p:sp>
        <p:sp>
          <p:nvSpPr>
            <p:cNvPr id="19" name="Text 16">
              <a:extLst>
                <a:ext uri="{FF2B5EF4-FFF2-40B4-BE49-F238E27FC236}">
                  <a16:creationId xmlns:a16="http://schemas.microsoft.com/office/drawing/2014/main" id="{249CD9F4-D469-0D13-4D2B-0076297B10CF}"/>
                </a:ext>
              </a:extLst>
            </p:cNvPr>
            <p:cNvSpPr/>
            <p:nvPr/>
          </p:nvSpPr>
          <p:spPr>
            <a:xfrm>
              <a:off x="4663440" y="3063240"/>
              <a:ext cx="1965960" cy="320040"/>
            </a:xfrm>
            <a:prstGeom prst="rect">
              <a:avLst/>
            </a:prstGeom>
            <a:noFill/>
            <a:ln/>
          </p:spPr>
          <p:txBody>
            <a:bodyPr wrap="square" rtlCol="0" anchor="ctr"/>
            <a:lstStyle/>
            <a:p>
              <a:pPr marL="0" indent="0">
                <a:buNone/>
              </a:pPr>
              <a:r>
                <a:rPr lang="en-US" b="1" dirty="0">
                  <a:solidFill>
                    <a:srgbClr val="1C7293"/>
                  </a:solidFill>
                  <a:latin typeface="Helvetica Neue Light"/>
                  <a:ea typeface="Calibri" pitchFamily="34" charset="-122"/>
                  <a:cs typeface="Calibri" pitchFamily="34" charset="-120"/>
                </a:rPr>
                <a:t>Self-Taught CoT:</a:t>
              </a:r>
              <a:endParaRPr lang="en-US" dirty="0">
                <a:latin typeface="Helvetica Neue Light"/>
              </a:endParaRPr>
            </a:p>
          </p:txBody>
        </p:sp>
        <p:sp>
          <p:nvSpPr>
            <p:cNvPr id="20" name="Text 17">
              <a:extLst>
                <a:ext uri="{FF2B5EF4-FFF2-40B4-BE49-F238E27FC236}">
                  <a16:creationId xmlns:a16="http://schemas.microsoft.com/office/drawing/2014/main" id="{504215E9-BB69-C8E4-101E-A71F010396D5}"/>
                </a:ext>
              </a:extLst>
            </p:cNvPr>
            <p:cNvSpPr/>
            <p:nvPr/>
          </p:nvSpPr>
          <p:spPr>
            <a:xfrm>
              <a:off x="6524980" y="3063240"/>
              <a:ext cx="261902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Models generating their own reasoning examples</a:t>
              </a:r>
              <a:endParaRPr lang="en-US" sz="1600" dirty="0">
                <a:latin typeface="Helvetica Neue Light"/>
              </a:endParaRPr>
            </a:p>
          </p:txBody>
        </p:sp>
        <p:sp>
          <p:nvSpPr>
            <p:cNvPr id="21" name="Text 18">
              <a:extLst>
                <a:ext uri="{FF2B5EF4-FFF2-40B4-BE49-F238E27FC236}">
                  <a16:creationId xmlns:a16="http://schemas.microsoft.com/office/drawing/2014/main" id="{21340445-3596-B2A2-F3AF-67385074D33C}"/>
                </a:ext>
              </a:extLst>
            </p:cNvPr>
            <p:cNvSpPr/>
            <p:nvPr/>
          </p:nvSpPr>
          <p:spPr>
            <a:xfrm>
              <a:off x="4663440" y="3566160"/>
              <a:ext cx="1965960" cy="320040"/>
            </a:xfrm>
            <a:prstGeom prst="rect">
              <a:avLst/>
            </a:prstGeom>
            <a:noFill/>
            <a:ln/>
          </p:spPr>
          <p:txBody>
            <a:bodyPr wrap="square" rtlCol="0" anchor="ctr"/>
            <a:lstStyle/>
            <a:p>
              <a:pPr marL="0" indent="0">
                <a:buNone/>
              </a:pPr>
              <a:r>
                <a:rPr lang="en-US" b="1" dirty="0">
                  <a:solidFill>
                    <a:srgbClr val="1C7293"/>
                  </a:solidFill>
                  <a:latin typeface="Helvetica Neue Light"/>
                  <a:ea typeface="Calibri" pitchFamily="34" charset="-122"/>
                  <a:cs typeface="Calibri" pitchFamily="34" charset="-120"/>
                </a:rPr>
                <a:t>Tree of Thought:</a:t>
              </a:r>
              <a:endParaRPr lang="en-US" dirty="0">
                <a:latin typeface="Helvetica Neue Light"/>
              </a:endParaRPr>
            </a:p>
          </p:txBody>
        </p:sp>
        <p:sp>
          <p:nvSpPr>
            <p:cNvPr id="22" name="Text 19">
              <a:extLst>
                <a:ext uri="{FF2B5EF4-FFF2-40B4-BE49-F238E27FC236}">
                  <a16:creationId xmlns:a16="http://schemas.microsoft.com/office/drawing/2014/main" id="{1DEF9580-9AD7-5DFB-B12E-D8160A3C5B6C}"/>
                </a:ext>
              </a:extLst>
            </p:cNvPr>
            <p:cNvSpPr/>
            <p:nvPr/>
          </p:nvSpPr>
          <p:spPr>
            <a:xfrm>
              <a:off x="6524090" y="3566160"/>
              <a:ext cx="2641342"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Exploring multiple reasoning branches simultaneously</a:t>
              </a:r>
              <a:endParaRPr lang="en-US" sz="1600" dirty="0">
                <a:latin typeface="Helvetica Neue Light"/>
              </a:endParaRPr>
            </a:p>
          </p:txBody>
        </p:sp>
      </p:grpSp>
      <p:sp>
        <p:nvSpPr>
          <p:cNvPr id="23" name="TextBox 22">
            <a:extLst>
              <a:ext uri="{FF2B5EF4-FFF2-40B4-BE49-F238E27FC236}">
                <a16:creationId xmlns:a16="http://schemas.microsoft.com/office/drawing/2014/main" id="{2C7C2AA0-6E28-D7CE-1D71-6268578A82BB}"/>
              </a:ext>
            </a:extLst>
          </p:cNvPr>
          <p:cNvSpPr txBox="1"/>
          <p:nvPr/>
        </p:nvSpPr>
        <p:spPr>
          <a:xfrm>
            <a:off x="512064" y="6273224"/>
            <a:ext cx="8229600" cy="369332"/>
          </a:xfrm>
          <a:prstGeom prst="rect">
            <a:avLst/>
          </a:prstGeom>
          <a:noFill/>
        </p:spPr>
        <p:txBody>
          <a:bodyPr wrap="square" rtlCol="0">
            <a:spAutoFit/>
          </a:bodyPr>
          <a:lstStyle/>
          <a:p>
            <a:r>
              <a:rPr lang="en-US" dirty="0"/>
              <a:t>¹ Wei et al., "Chain-of-Thought Prompting Elicits Reasoning in LLMs," 2022</a:t>
            </a:r>
          </a:p>
        </p:txBody>
      </p:sp>
    </p:spTree>
    <p:extLst>
      <p:ext uri="{BB962C8B-B14F-4D97-AF65-F5344CB8AC3E}">
        <p14:creationId xmlns:p14="http://schemas.microsoft.com/office/powerpoint/2010/main" val="2281910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C71CB983-7660-AD3B-504B-5C8EDCF79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7EB5D-6DA7-C667-73E4-23FA9C0BB66D}"/>
              </a:ext>
            </a:extLst>
          </p:cNvPr>
          <p:cNvSpPr>
            <a:spLocks noGrp="1"/>
          </p:cNvSpPr>
          <p:nvPr>
            <p:ph type="title"/>
          </p:nvPr>
        </p:nvSpPr>
        <p:spPr>
          <a:xfrm>
            <a:off x="457200" y="365126"/>
            <a:ext cx="8229600" cy="592213"/>
          </a:xfrm>
        </p:spPr>
        <p:txBody>
          <a:bodyPr/>
          <a:lstStyle/>
          <a:p>
            <a:r>
              <a:rPr lang="en-US" dirty="0"/>
              <a:t>Critical Limitations</a:t>
            </a:r>
          </a:p>
        </p:txBody>
      </p:sp>
      <p:sp>
        <p:nvSpPr>
          <p:cNvPr id="5" name="Slide Number Placeholder 4">
            <a:extLst>
              <a:ext uri="{FF2B5EF4-FFF2-40B4-BE49-F238E27FC236}">
                <a16:creationId xmlns:a16="http://schemas.microsoft.com/office/drawing/2014/main" id="{B58B2419-21F8-6F8E-F99A-478E9BFDE7BE}"/>
              </a:ext>
            </a:extLst>
          </p:cNvPr>
          <p:cNvSpPr>
            <a:spLocks noGrp="1"/>
          </p:cNvSpPr>
          <p:nvPr>
            <p:ph type="sldNum" sz="quarter" idx="12"/>
          </p:nvPr>
        </p:nvSpPr>
        <p:spPr/>
        <p:txBody>
          <a:bodyPr/>
          <a:lstStyle/>
          <a:p>
            <a:fld id="{21EF4C0E-91FA-4D94-8941-E22F3A83D5F1}" type="slidenum">
              <a:rPr lang="en-US" smtClean="0"/>
              <a:t>44</a:t>
            </a:fld>
            <a:endParaRPr lang="en-US"/>
          </a:p>
        </p:txBody>
      </p:sp>
      <p:sp>
        <p:nvSpPr>
          <p:cNvPr id="6" name="TextBox 5">
            <a:extLst>
              <a:ext uri="{FF2B5EF4-FFF2-40B4-BE49-F238E27FC236}">
                <a16:creationId xmlns:a16="http://schemas.microsoft.com/office/drawing/2014/main" id="{CC68ACA6-4BAF-FE4D-F217-A1C287122BE4}"/>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E4985FD4-A752-5984-43C7-1423D717183C}"/>
              </a:ext>
            </a:extLst>
          </p:cNvPr>
          <p:cNvGrpSpPr/>
          <p:nvPr/>
        </p:nvGrpSpPr>
        <p:grpSpPr>
          <a:xfrm>
            <a:off x="457200" y="1198993"/>
            <a:ext cx="8537820" cy="4215500"/>
            <a:chOff x="457200" y="1212756"/>
            <a:chExt cx="8537820" cy="2578552"/>
          </a:xfrm>
        </p:grpSpPr>
        <p:sp>
          <p:nvSpPr>
            <p:cNvPr id="4" name="Shape 3">
              <a:extLst>
                <a:ext uri="{FF2B5EF4-FFF2-40B4-BE49-F238E27FC236}">
                  <a16:creationId xmlns:a16="http://schemas.microsoft.com/office/drawing/2014/main" id="{205F8A0A-36F0-0D24-90E0-8362F94A90A9}"/>
                </a:ext>
              </a:extLst>
            </p:cNvPr>
            <p:cNvSpPr/>
            <p:nvPr/>
          </p:nvSpPr>
          <p:spPr>
            <a:xfrm>
              <a:off x="457200" y="1234439"/>
              <a:ext cx="4238090" cy="201625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77442475-5C3E-08EC-9BFE-ED1F30679E1E}"/>
                </a:ext>
              </a:extLst>
            </p:cNvPr>
            <p:cNvSpPr/>
            <p:nvPr/>
          </p:nvSpPr>
          <p:spPr>
            <a:xfrm>
              <a:off x="472611" y="1227214"/>
              <a:ext cx="48701" cy="198556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484C1283-A01C-A99D-F9B9-309EBAA6FC30}"/>
                </a:ext>
              </a:extLst>
            </p:cNvPr>
            <p:cNvSpPr/>
            <p:nvPr/>
          </p:nvSpPr>
          <p:spPr>
            <a:xfrm>
              <a:off x="685800" y="1212758"/>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When CoT Fails</a:t>
              </a:r>
              <a:endParaRPr lang="en-US" sz="2000" dirty="0">
                <a:latin typeface="Helvetica Neue Light"/>
              </a:endParaRPr>
            </a:p>
          </p:txBody>
        </p:sp>
        <p:sp>
          <p:nvSpPr>
            <p:cNvPr id="9" name="Text 6">
              <a:extLst>
                <a:ext uri="{FF2B5EF4-FFF2-40B4-BE49-F238E27FC236}">
                  <a16:creationId xmlns:a16="http://schemas.microsoft.com/office/drawing/2014/main" id="{63955AA9-59E7-AB05-7E82-A58CD7F22DFF}"/>
                </a:ext>
              </a:extLst>
            </p:cNvPr>
            <p:cNvSpPr/>
            <p:nvPr/>
          </p:nvSpPr>
          <p:spPr>
            <a:xfrm>
              <a:off x="685799" y="1645920"/>
              <a:ext cx="3954627" cy="1516927"/>
            </a:xfrm>
            <a:prstGeom prst="rect">
              <a:avLst/>
            </a:prstGeom>
            <a:noFill/>
            <a:ln/>
          </p:spPr>
          <p:txBody>
            <a:bodyPr wrap="square" rtlCol="0" anchor="ctr"/>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Hallucinated Reasoning: </a:t>
              </a:r>
              <a:r>
                <a:rPr lang="en-US" sz="1600" dirty="0">
                  <a:solidFill>
                    <a:srgbClr val="2D3436"/>
                  </a:solidFill>
                  <a:latin typeface="Helvetica Neue Light"/>
                  <a:ea typeface="Calibri" pitchFamily="34" charset="-122"/>
                  <a:cs typeface="Calibri" pitchFamily="34" charset="-120"/>
                </a:rPr>
                <a:t>Creating convincing but false logical steps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Overthinking: </a:t>
              </a:r>
              <a:r>
                <a:rPr lang="en-US" sz="1600" dirty="0">
                  <a:solidFill>
                    <a:srgbClr val="2D3436"/>
                  </a:solidFill>
                  <a:latin typeface="Helvetica Neue Light"/>
                  <a:ea typeface="Calibri" pitchFamily="34" charset="-122"/>
                  <a:cs typeface="Calibri" pitchFamily="34" charset="-120"/>
                </a:rPr>
                <a:t>Adding unnecessary complexity to basic questions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Computational Cost: </a:t>
              </a:r>
              <a:r>
                <a:rPr lang="en-US" sz="1600" dirty="0">
                  <a:solidFill>
                    <a:srgbClr val="2D3436"/>
                  </a:solidFill>
                  <a:latin typeface="Helvetica Neue Light"/>
                  <a:ea typeface="Calibri" pitchFamily="34" charset="-122"/>
                  <a:cs typeface="Calibri" pitchFamily="34" charset="-120"/>
                </a:rPr>
                <a:t>5-10x more tokens = higher latency and expense</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Inconsistency: </a:t>
              </a:r>
              <a:r>
                <a:rPr lang="en-US" sz="1600" dirty="0">
                  <a:solidFill>
                    <a:srgbClr val="2D3436"/>
                  </a:solidFill>
                  <a:latin typeface="Helvetica Neue Light"/>
                  <a:ea typeface="Calibri" pitchFamily="34" charset="-122"/>
                  <a:cs typeface="Calibri" pitchFamily="34" charset="-120"/>
                </a:rPr>
                <a:t>Different paths can lead to different answers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Verification Problem: </a:t>
              </a:r>
              <a:r>
                <a:rPr lang="en-US" sz="1600" dirty="0">
                  <a:solidFill>
                    <a:srgbClr val="2D3436"/>
                  </a:solidFill>
                  <a:latin typeface="Helvetica Neue Light"/>
                  <a:ea typeface="Calibri" pitchFamily="34" charset="-122"/>
                  <a:cs typeface="Calibri" pitchFamily="34" charset="-120"/>
                </a:rPr>
                <a:t>Wrong reasoning that sounds right is harder to detect</a:t>
              </a:r>
              <a:endParaRPr lang="en-US" sz="1600" dirty="0">
                <a:latin typeface="Helvetica Neue Light"/>
              </a:endParaRPr>
            </a:p>
          </p:txBody>
        </p:sp>
        <p:sp>
          <p:nvSpPr>
            <p:cNvPr id="10" name="Shape 7">
              <a:extLst>
                <a:ext uri="{FF2B5EF4-FFF2-40B4-BE49-F238E27FC236}">
                  <a16:creationId xmlns:a16="http://schemas.microsoft.com/office/drawing/2014/main" id="{AF1A5FE4-5BDC-6E20-E0E9-0E5160EE648C}"/>
                </a:ext>
              </a:extLst>
            </p:cNvPr>
            <p:cNvSpPr/>
            <p:nvPr/>
          </p:nvSpPr>
          <p:spPr>
            <a:xfrm>
              <a:off x="4971660" y="1234439"/>
              <a:ext cx="4023360" cy="2008227"/>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BDA6A32B-5822-2EC0-2AA9-AD97A58D34AF}"/>
                </a:ext>
              </a:extLst>
            </p:cNvPr>
            <p:cNvSpPr/>
            <p:nvPr/>
          </p:nvSpPr>
          <p:spPr>
            <a:xfrm>
              <a:off x="4910016" y="1234440"/>
              <a:ext cx="54864" cy="1985558"/>
            </a:xfrm>
            <a:prstGeom prst="rect">
              <a:avLst/>
            </a:prstGeom>
            <a:solidFill>
              <a:srgbClr val="636E72"/>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BA7B14B7-FF48-406A-E520-51EBEDF5A3A5}"/>
                </a:ext>
              </a:extLst>
            </p:cNvPr>
            <p:cNvSpPr/>
            <p:nvPr/>
          </p:nvSpPr>
          <p:spPr>
            <a:xfrm>
              <a:off x="5200260" y="1212756"/>
              <a:ext cx="3657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The Dark Side</a:t>
              </a:r>
              <a:endParaRPr lang="en-US" sz="2000" dirty="0">
                <a:latin typeface="Helvetica Neue Light"/>
              </a:endParaRPr>
            </a:p>
          </p:txBody>
        </p:sp>
        <p:sp>
          <p:nvSpPr>
            <p:cNvPr id="13" name="Text 10">
              <a:extLst>
                <a:ext uri="{FF2B5EF4-FFF2-40B4-BE49-F238E27FC236}">
                  <a16:creationId xmlns:a16="http://schemas.microsoft.com/office/drawing/2014/main" id="{1B59D7E3-0A5C-E965-DF78-EBA02E0BD58D}"/>
                </a:ext>
              </a:extLst>
            </p:cNvPr>
            <p:cNvSpPr/>
            <p:nvPr/>
          </p:nvSpPr>
          <p:spPr>
            <a:xfrm>
              <a:off x="5200260" y="1645920"/>
              <a:ext cx="3657600" cy="1516927"/>
            </a:xfrm>
            <a:prstGeom prst="rect">
              <a:avLst/>
            </a:prstGeom>
            <a:noFill/>
            <a:ln/>
          </p:spPr>
          <p:txBody>
            <a:bodyPr wrap="square" rtlCol="0" anchor="t"/>
            <a:lstStyle/>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Models can generate post-hoc rationalizations that justify incorrect answers</a:t>
              </a:r>
            </a:p>
            <a:p>
              <a:pPr marL="285750" indent="-285750">
                <a:buFont typeface="Arial" panose="020B0604020202020204" pitchFamily="34" charset="0"/>
                <a:buChar char="•"/>
              </a:pP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Sophisticated-sounding reasoning doesn't guarantee correctness</a:t>
              </a:r>
            </a:p>
            <a:p>
              <a:pPr marL="285750" indent="-285750">
                <a:buFont typeface="Arial" panose="020B0604020202020204" pitchFamily="34" charset="0"/>
                <a:buChar char="•"/>
              </a:pP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Users may trust flawed reasoning because it "sounds logical"</a:t>
              </a:r>
              <a:endParaRPr lang="en-US" sz="1600" dirty="0">
                <a:latin typeface="Helvetica Neue Light"/>
              </a:endParaRPr>
            </a:p>
          </p:txBody>
        </p:sp>
        <p:sp>
          <p:nvSpPr>
            <p:cNvPr id="14" name="Shape 11">
              <a:extLst>
                <a:ext uri="{FF2B5EF4-FFF2-40B4-BE49-F238E27FC236}">
                  <a16:creationId xmlns:a16="http://schemas.microsoft.com/office/drawing/2014/main" id="{BBF3B9A3-D78A-1BA1-6308-A6AC68EA52D8}"/>
                </a:ext>
              </a:extLst>
            </p:cNvPr>
            <p:cNvSpPr/>
            <p:nvPr/>
          </p:nvSpPr>
          <p:spPr>
            <a:xfrm>
              <a:off x="457200" y="3334108"/>
              <a:ext cx="8229600" cy="457200"/>
            </a:xfrm>
            <a:prstGeom prst="rect">
              <a:avLst/>
            </a:prstGeom>
            <a:solidFill>
              <a:srgbClr val="21295C"/>
            </a:solidFill>
            <a:ln/>
          </p:spPr>
          <p:txBody>
            <a:bodyPr/>
            <a:lstStyle/>
            <a:p>
              <a:endParaRPr lang="en-US" sz="3200">
                <a:latin typeface="Helvetica Neue Light"/>
              </a:endParaRPr>
            </a:p>
          </p:txBody>
        </p:sp>
        <p:sp>
          <p:nvSpPr>
            <p:cNvPr id="15" name="Text 12">
              <a:extLst>
                <a:ext uri="{FF2B5EF4-FFF2-40B4-BE49-F238E27FC236}">
                  <a16:creationId xmlns:a16="http://schemas.microsoft.com/office/drawing/2014/main" id="{058B6DE4-D0F8-0D6C-24B5-1907E9D0C8EB}"/>
                </a:ext>
              </a:extLst>
            </p:cNvPr>
            <p:cNvSpPr/>
            <p:nvPr/>
          </p:nvSpPr>
          <p:spPr>
            <a:xfrm>
              <a:off x="594360" y="3425546"/>
              <a:ext cx="7955280" cy="274320"/>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Key Insight: </a:t>
              </a:r>
              <a:r>
                <a:rPr lang="en-US" sz="2000" dirty="0">
                  <a:solidFill>
                    <a:srgbClr val="FFFFFF"/>
                  </a:solidFill>
                  <a:latin typeface="Helvetica Neue Light"/>
                  <a:ea typeface="Calibri" pitchFamily="34" charset="-122"/>
                  <a:cs typeface="Calibri" pitchFamily="34" charset="-120"/>
                </a:rPr>
                <a:t>CoT is not a panacea at present — it's a powerful tool with important limitations</a:t>
              </a:r>
              <a:endParaRPr lang="en-US" sz="2000" dirty="0">
                <a:latin typeface="Helvetica Neue Light"/>
              </a:endParaRPr>
            </a:p>
          </p:txBody>
        </p:sp>
      </p:grpSp>
    </p:spTree>
    <p:extLst>
      <p:ext uri="{BB962C8B-B14F-4D97-AF65-F5344CB8AC3E}">
        <p14:creationId xmlns:p14="http://schemas.microsoft.com/office/powerpoint/2010/main" val="4180202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8B01C15C-7CEA-F082-0C3B-3A4C08987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F3D68-3CA6-A31E-625B-C9F6C7213F15}"/>
              </a:ext>
            </a:extLst>
          </p:cNvPr>
          <p:cNvSpPr>
            <a:spLocks noGrp="1"/>
          </p:cNvSpPr>
          <p:nvPr>
            <p:ph type="title"/>
          </p:nvPr>
        </p:nvSpPr>
        <p:spPr>
          <a:xfrm>
            <a:off x="457200" y="365126"/>
            <a:ext cx="8229600" cy="592213"/>
          </a:xfrm>
        </p:spPr>
        <p:txBody>
          <a:bodyPr/>
          <a:lstStyle/>
          <a:p>
            <a:r>
              <a:rPr lang="en-US" dirty="0"/>
              <a:t>Future Directions</a:t>
            </a:r>
          </a:p>
        </p:txBody>
      </p:sp>
      <p:sp>
        <p:nvSpPr>
          <p:cNvPr id="5" name="Slide Number Placeholder 4">
            <a:extLst>
              <a:ext uri="{FF2B5EF4-FFF2-40B4-BE49-F238E27FC236}">
                <a16:creationId xmlns:a16="http://schemas.microsoft.com/office/drawing/2014/main" id="{8E959655-E196-8D32-A2E5-100186606D15}"/>
              </a:ext>
            </a:extLst>
          </p:cNvPr>
          <p:cNvSpPr>
            <a:spLocks noGrp="1"/>
          </p:cNvSpPr>
          <p:nvPr>
            <p:ph type="sldNum" sz="quarter" idx="12"/>
          </p:nvPr>
        </p:nvSpPr>
        <p:spPr/>
        <p:txBody>
          <a:bodyPr/>
          <a:lstStyle/>
          <a:p>
            <a:fld id="{21EF4C0E-91FA-4D94-8941-E22F3A83D5F1}" type="slidenum">
              <a:rPr lang="en-US" smtClean="0"/>
              <a:t>45</a:t>
            </a:fld>
            <a:endParaRPr lang="en-US"/>
          </a:p>
        </p:txBody>
      </p:sp>
      <p:sp>
        <p:nvSpPr>
          <p:cNvPr id="6" name="TextBox 5">
            <a:extLst>
              <a:ext uri="{FF2B5EF4-FFF2-40B4-BE49-F238E27FC236}">
                <a16:creationId xmlns:a16="http://schemas.microsoft.com/office/drawing/2014/main" id="{017C64B2-4353-8BD5-2309-9876E2C81797}"/>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EF986904-3CBC-952C-8D95-421AF173CBEB}"/>
              </a:ext>
            </a:extLst>
          </p:cNvPr>
          <p:cNvGrpSpPr/>
          <p:nvPr/>
        </p:nvGrpSpPr>
        <p:grpSpPr>
          <a:xfrm>
            <a:off x="457199" y="1234438"/>
            <a:ext cx="8501865" cy="4231397"/>
            <a:chOff x="457200" y="1234439"/>
            <a:chExt cx="8319612" cy="2550854"/>
          </a:xfrm>
        </p:grpSpPr>
        <p:sp>
          <p:nvSpPr>
            <p:cNvPr id="4" name="Shape 3">
              <a:extLst>
                <a:ext uri="{FF2B5EF4-FFF2-40B4-BE49-F238E27FC236}">
                  <a16:creationId xmlns:a16="http://schemas.microsoft.com/office/drawing/2014/main" id="{BB835ECC-C3B3-983A-D74E-6A2B9EEA22C9}"/>
                </a:ext>
              </a:extLst>
            </p:cNvPr>
            <p:cNvSpPr/>
            <p:nvPr/>
          </p:nvSpPr>
          <p:spPr>
            <a:xfrm>
              <a:off x="457200" y="1234439"/>
              <a:ext cx="4023360" cy="1844786"/>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4B2F80C3-4BA9-ACC3-9D91-947C6619F863}"/>
                </a:ext>
              </a:extLst>
            </p:cNvPr>
            <p:cNvSpPr/>
            <p:nvPr/>
          </p:nvSpPr>
          <p:spPr>
            <a:xfrm>
              <a:off x="457200" y="1234440"/>
              <a:ext cx="45720" cy="1844785"/>
            </a:xfrm>
            <a:prstGeom prst="rect">
              <a:avLst/>
            </a:prstGeom>
            <a:solidFill>
              <a:srgbClr val="1C7293"/>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A82BA94D-3707-D1E6-7162-4C4193345AC3}"/>
                </a:ext>
              </a:extLst>
            </p:cNvPr>
            <p:cNvSpPr/>
            <p:nvPr/>
          </p:nvSpPr>
          <p:spPr>
            <a:xfrm>
              <a:off x="685800" y="1325880"/>
              <a:ext cx="365760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Recent Innovations (2024-2025)</a:t>
              </a:r>
              <a:endParaRPr lang="en-US" dirty="0">
                <a:latin typeface="Helvetica Neue Light"/>
              </a:endParaRPr>
            </a:p>
          </p:txBody>
        </p:sp>
        <p:sp>
          <p:nvSpPr>
            <p:cNvPr id="9" name="Text 6">
              <a:extLst>
                <a:ext uri="{FF2B5EF4-FFF2-40B4-BE49-F238E27FC236}">
                  <a16:creationId xmlns:a16="http://schemas.microsoft.com/office/drawing/2014/main" id="{1FE87599-0754-EFA1-852E-9679F9478D8A}"/>
                </a:ext>
              </a:extLst>
            </p:cNvPr>
            <p:cNvSpPr/>
            <p:nvPr/>
          </p:nvSpPr>
          <p:spPr>
            <a:xfrm>
              <a:off x="685800" y="1645919"/>
              <a:ext cx="3657600" cy="1433305"/>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Hidden CoT: </a:t>
              </a:r>
              <a:r>
                <a:rPr lang="en-US" sz="1600" dirty="0">
                  <a:solidFill>
                    <a:srgbClr val="2D3436"/>
                  </a:solidFill>
                  <a:latin typeface="Helvetica Neue Light"/>
                  <a:ea typeface="Calibri" pitchFamily="34" charset="-122"/>
                  <a:cs typeface="Calibri" pitchFamily="34" charset="-120"/>
                </a:rPr>
                <a:t>Reasoning internally without showing steps (OpenAI o1)</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Verified CoT: </a:t>
              </a:r>
              <a:r>
                <a:rPr lang="en-US" sz="1600" dirty="0">
                  <a:solidFill>
                    <a:srgbClr val="2D3436"/>
                  </a:solidFill>
                  <a:latin typeface="Helvetica Neue Light"/>
                  <a:ea typeface="Calibri" pitchFamily="34" charset="-122"/>
                  <a:cs typeface="Calibri" pitchFamily="34" charset="-120"/>
                </a:rPr>
                <a:t>External tools checking each step</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Multimodal CoT: </a:t>
              </a:r>
              <a:r>
                <a:rPr lang="en-US" sz="1600" dirty="0">
                  <a:solidFill>
                    <a:srgbClr val="2D3436"/>
                  </a:solidFill>
                  <a:latin typeface="Helvetica Neue Light"/>
                  <a:ea typeface="Calibri" pitchFamily="34" charset="-122"/>
                  <a:cs typeface="Calibri" pitchFamily="34" charset="-120"/>
                </a:rPr>
                <a:t>Reasoning across text, images, diagrams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Adaptive CoT: </a:t>
              </a:r>
              <a:r>
                <a:rPr lang="en-US" sz="1600" dirty="0">
                  <a:solidFill>
                    <a:srgbClr val="2D3436"/>
                  </a:solidFill>
                  <a:latin typeface="Helvetica Neue Light"/>
                  <a:ea typeface="Calibri" pitchFamily="34" charset="-122"/>
                  <a:cs typeface="Calibri" pitchFamily="34" charset="-120"/>
                </a:rPr>
                <a:t>Models deciding when detailed reasoning is needed</a:t>
              </a:r>
              <a:endParaRPr lang="en-US" sz="1600" dirty="0">
                <a:latin typeface="Helvetica Neue Light"/>
              </a:endParaRPr>
            </a:p>
          </p:txBody>
        </p:sp>
        <p:sp>
          <p:nvSpPr>
            <p:cNvPr id="10" name="Shape 7">
              <a:extLst>
                <a:ext uri="{FF2B5EF4-FFF2-40B4-BE49-F238E27FC236}">
                  <a16:creationId xmlns:a16="http://schemas.microsoft.com/office/drawing/2014/main" id="{FA821423-D5FE-C9EC-462E-6752E8D7D05B}"/>
                </a:ext>
              </a:extLst>
            </p:cNvPr>
            <p:cNvSpPr/>
            <p:nvPr/>
          </p:nvSpPr>
          <p:spPr>
            <a:xfrm>
              <a:off x="4663440" y="1234439"/>
              <a:ext cx="4023360" cy="1844786"/>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0D9F8746-D82D-0FF9-B387-EF69317A4476}"/>
                </a:ext>
              </a:extLst>
            </p:cNvPr>
            <p:cNvSpPr/>
            <p:nvPr/>
          </p:nvSpPr>
          <p:spPr>
            <a:xfrm>
              <a:off x="4663440" y="1234440"/>
              <a:ext cx="45720" cy="1844785"/>
            </a:xfrm>
            <a:prstGeom prst="rect">
              <a:avLst/>
            </a:prstGeom>
            <a:solidFill>
              <a:srgbClr val="E07A5F"/>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33ED0AAF-544A-5BD9-640B-DF0C73005414}"/>
                </a:ext>
              </a:extLst>
            </p:cNvPr>
            <p:cNvSpPr/>
            <p:nvPr/>
          </p:nvSpPr>
          <p:spPr>
            <a:xfrm>
              <a:off x="4892040" y="1325880"/>
              <a:ext cx="3657600" cy="27432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Future Directions (Next 3-5 Years)</a:t>
              </a:r>
              <a:endParaRPr lang="en-US" dirty="0">
                <a:latin typeface="Helvetica Neue Light"/>
              </a:endParaRPr>
            </a:p>
          </p:txBody>
        </p:sp>
        <p:sp>
          <p:nvSpPr>
            <p:cNvPr id="13" name="Text 10">
              <a:extLst>
                <a:ext uri="{FF2B5EF4-FFF2-40B4-BE49-F238E27FC236}">
                  <a16:creationId xmlns:a16="http://schemas.microsoft.com/office/drawing/2014/main" id="{4AD180A8-4F0F-45A0-0F37-FBEAF63EC94D}"/>
                </a:ext>
              </a:extLst>
            </p:cNvPr>
            <p:cNvSpPr/>
            <p:nvPr/>
          </p:nvSpPr>
          <p:spPr>
            <a:xfrm>
              <a:off x="4892040" y="1645919"/>
              <a:ext cx="3884772" cy="1369722"/>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Autonomous Reasoning Depth: </a:t>
              </a:r>
              <a:r>
                <a:rPr lang="en-US" sz="1600" dirty="0">
                  <a:solidFill>
                    <a:srgbClr val="2D3436"/>
                  </a:solidFill>
                  <a:latin typeface="Helvetica Neue Light"/>
                  <a:ea typeface="Calibri" pitchFamily="34" charset="-122"/>
                  <a:cs typeface="Calibri" pitchFamily="34" charset="-120"/>
                </a:rPr>
                <a:t>AI determines optimal complexity per problem</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Cross-Domain Transfer: </a:t>
              </a:r>
              <a:r>
                <a:rPr lang="en-US" sz="1600" dirty="0">
                  <a:solidFill>
                    <a:srgbClr val="2D3436"/>
                  </a:solidFill>
                  <a:latin typeface="Helvetica Neue Light"/>
                  <a:ea typeface="Calibri" pitchFamily="34" charset="-122"/>
                  <a:cs typeface="Calibri" pitchFamily="34" charset="-120"/>
                </a:rPr>
                <a:t>CoT strategies from math applying to law, medicine</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Interactive CoT: </a:t>
              </a:r>
              <a:r>
                <a:rPr lang="en-US" sz="1600" dirty="0">
                  <a:solidFill>
                    <a:srgbClr val="2D3436"/>
                  </a:solidFill>
                  <a:latin typeface="Helvetica Neue Light"/>
                  <a:ea typeface="Calibri" pitchFamily="34" charset="-122"/>
                  <a:cs typeface="Calibri" pitchFamily="34" charset="-120"/>
                </a:rPr>
                <a:t>Users intervening mid-reasoning to correct or redirect</a:t>
              </a:r>
              <a:endParaRPr lang="en-US" sz="1600" dirty="0">
                <a:latin typeface="Helvetica Neue Light"/>
              </a:endParaRPr>
            </a:p>
            <a:p>
              <a:pPr marL="285750" indent="-285750">
                <a:buFont typeface="Arial" panose="020B0604020202020204" pitchFamily="34" charset="0"/>
                <a:buChar char="•"/>
              </a:pPr>
              <a:r>
                <a:rPr lang="en-US" sz="1600" b="1" dirty="0" err="1">
                  <a:solidFill>
                    <a:srgbClr val="2D3436"/>
                  </a:solidFill>
                  <a:latin typeface="Helvetica Neue Light"/>
                  <a:ea typeface="Calibri" pitchFamily="34" charset="-122"/>
                  <a:cs typeface="Calibri" pitchFamily="34" charset="-120"/>
                </a:rPr>
                <a:t>Neurosymbolic</a:t>
              </a:r>
              <a:r>
                <a:rPr lang="en-US" sz="1600" b="1" dirty="0">
                  <a:solidFill>
                    <a:srgbClr val="2D3436"/>
                  </a:solidFill>
                  <a:latin typeface="Helvetica Neue Light"/>
                  <a:ea typeface="Calibri" pitchFamily="34" charset="-122"/>
                  <a:cs typeface="Calibri" pitchFamily="34" charset="-120"/>
                </a:rPr>
                <a:t> Integration: </a:t>
              </a:r>
              <a:r>
                <a:rPr lang="en-US" sz="1600" dirty="0">
                  <a:solidFill>
                    <a:srgbClr val="2D3436"/>
                  </a:solidFill>
                  <a:latin typeface="Helvetica Neue Light"/>
                  <a:ea typeface="Calibri" pitchFamily="34" charset="-122"/>
                  <a:cs typeface="Calibri" pitchFamily="34" charset="-120"/>
                </a:rPr>
                <a:t>Combining neural CoT with formal logic</a:t>
              </a:r>
              <a:endParaRPr lang="en-US" sz="1600" dirty="0">
                <a:latin typeface="Helvetica Neue Light"/>
              </a:endParaRPr>
            </a:p>
          </p:txBody>
        </p:sp>
        <p:sp>
          <p:nvSpPr>
            <p:cNvPr id="14" name="Shape 11">
              <a:extLst>
                <a:ext uri="{FF2B5EF4-FFF2-40B4-BE49-F238E27FC236}">
                  <a16:creationId xmlns:a16="http://schemas.microsoft.com/office/drawing/2014/main" id="{CAFB73FB-01E4-4971-889B-2E2107404C82}"/>
                </a:ext>
              </a:extLst>
            </p:cNvPr>
            <p:cNvSpPr/>
            <p:nvPr/>
          </p:nvSpPr>
          <p:spPr>
            <a:xfrm>
              <a:off x="457200" y="3236653"/>
              <a:ext cx="8229600" cy="548640"/>
            </a:xfrm>
            <a:prstGeom prst="rect">
              <a:avLst/>
            </a:prstGeom>
            <a:solidFill>
              <a:srgbClr val="21295C"/>
            </a:solidFill>
            <a:ln/>
          </p:spPr>
          <p:txBody>
            <a:bodyPr/>
            <a:lstStyle/>
            <a:p>
              <a:endParaRPr lang="en-US" sz="2800">
                <a:latin typeface="Helvetica Neue Light"/>
              </a:endParaRPr>
            </a:p>
          </p:txBody>
        </p:sp>
        <p:sp>
          <p:nvSpPr>
            <p:cNvPr id="15" name="Text 12">
              <a:extLst>
                <a:ext uri="{FF2B5EF4-FFF2-40B4-BE49-F238E27FC236}">
                  <a16:creationId xmlns:a16="http://schemas.microsoft.com/office/drawing/2014/main" id="{81343105-32C0-AC86-757E-1CB69754D6CF}"/>
                </a:ext>
              </a:extLst>
            </p:cNvPr>
            <p:cNvSpPr/>
            <p:nvPr/>
          </p:nvSpPr>
          <p:spPr>
            <a:xfrm>
              <a:off x="594360" y="3328093"/>
              <a:ext cx="7955280" cy="36576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The Ultimate Vision: </a:t>
              </a:r>
              <a:r>
                <a:rPr lang="en-US" dirty="0">
                  <a:solidFill>
                    <a:srgbClr val="FFFFFF"/>
                  </a:solidFill>
                  <a:latin typeface="Helvetica Neue Light"/>
                  <a:ea typeface="Calibri" pitchFamily="34" charset="-122"/>
                  <a:cs typeface="Calibri" pitchFamily="34" charset="-120"/>
                </a:rPr>
                <a:t>From "AI that answers" → "AI that thinks" → "AI that explains its thinking" → "AI that questions its own thinking"</a:t>
              </a:r>
              <a:endParaRPr lang="en-US" dirty="0">
                <a:latin typeface="Helvetica Neue Light"/>
              </a:endParaRPr>
            </a:p>
          </p:txBody>
        </p:sp>
      </p:grpSp>
    </p:spTree>
    <p:extLst>
      <p:ext uri="{BB962C8B-B14F-4D97-AF65-F5344CB8AC3E}">
        <p14:creationId xmlns:p14="http://schemas.microsoft.com/office/powerpoint/2010/main" val="39929402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68F1E-2A5D-C0D6-83B2-26D7BFD6E79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018CAA9-3001-7762-101D-CC293226C527}"/>
              </a:ext>
            </a:extLst>
          </p:cNvPr>
          <p:cNvSpPr>
            <a:spLocks noGrp="1"/>
          </p:cNvSpPr>
          <p:nvPr>
            <p:ph type="title"/>
          </p:nvPr>
        </p:nvSpPr>
        <p:spPr>
          <a:xfrm>
            <a:off x="623888" y="3415944"/>
            <a:ext cx="7886700" cy="1146532"/>
          </a:xfrm>
        </p:spPr>
        <p:txBody>
          <a:bodyPr/>
          <a:lstStyle/>
          <a:p>
            <a:r>
              <a:rPr lang="en-US" sz="3200" i="1" dirty="0"/>
              <a:t>Part 8</a:t>
            </a:r>
            <a:br>
              <a:rPr lang="en-US" sz="4000" dirty="0"/>
            </a:br>
            <a:r>
              <a:rPr lang="en-US" sz="4000" dirty="0"/>
              <a:t>	</a:t>
            </a:r>
            <a:r>
              <a:rPr lang="en-US" sz="4400" dirty="0"/>
              <a:t>Reasoning/Thinking Models </a:t>
            </a:r>
            <a:endParaRPr lang="en-US" sz="4000" dirty="0"/>
          </a:p>
        </p:txBody>
      </p:sp>
      <p:sp>
        <p:nvSpPr>
          <p:cNvPr id="2" name="Text Placeholder 1">
            <a:extLst>
              <a:ext uri="{FF2B5EF4-FFF2-40B4-BE49-F238E27FC236}">
                <a16:creationId xmlns:a16="http://schemas.microsoft.com/office/drawing/2014/main" id="{2D683E80-02D1-780E-D937-34B0D2E226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737F3D-406A-0EBA-DD5F-1C64D51C8360}"/>
              </a:ext>
            </a:extLst>
          </p:cNvPr>
          <p:cNvSpPr>
            <a:spLocks noGrp="1"/>
          </p:cNvSpPr>
          <p:nvPr>
            <p:ph type="sldNum" sz="quarter" idx="12"/>
          </p:nvPr>
        </p:nvSpPr>
        <p:spPr/>
        <p:txBody>
          <a:bodyPr/>
          <a:lstStyle/>
          <a:p>
            <a:fld id="{21EF4C0E-91FA-4D94-8941-E22F3A83D5F1}" type="slidenum">
              <a:rPr lang="en-US" smtClean="0"/>
              <a:t>46</a:t>
            </a:fld>
            <a:endParaRPr lang="en-US"/>
          </a:p>
        </p:txBody>
      </p:sp>
    </p:spTree>
    <p:extLst>
      <p:ext uri="{BB962C8B-B14F-4D97-AF65-F5344CB8AC3E}">
        <p14:creationId xmlns:p14="http://schemas.microsoft.com/office/powerpoint/2010/main" val="1094049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229600" cy="592213"/>
          </a:xfrm>
        </p:spPr>
        <p:txBody>
          <a:bodyPr/>
          <a:lstStyle/>
          <a:p>
            <a:r>
              <a:rPr lang="en-US" dirty="0"/>
              <a:t>Reasoning/Thinking Models (2:26)  </a:t>
            </a:r>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47</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419552" y="6590004"/>
            <a:ext cx="2477095" cy="215444"/>
          </a:xfrm>
          <a:prstGeom prst="rect">
            <a:avLst/>
          </a:prstGeom>
          <a:noFill/>
        </p:spPr>
        <p:txBody>
          <a:bodyPr wrap="square">
            <a:spAutoFit/>
          </a:bodyPr>
          <a:lstStyle/>
          <a:p>
            <a:r>
              <a:rPr lang="en-US" sz="800" dirty="0">
                <a:solidFill>
                  <a:schemeClr val="bg2">
                    <a:lumMod val="90000"/>
                  </a:schemeClr>
                </a:solidFill>
              </a:rPr>
              <a:t>https://www.youtube.com/watch?v=ndNYQz8mmYI</a:t>
            </a:r>
          </a:p>
        </p:txBody>
      </p:sp>
      <p:pic>
        <p:nvPicPr>
          <p:cNvPr id="3" name="Online Media 2" title="In response to Apple's Illusion of Thinking takedown of reasoning models.">
            <a:hlinkClick r:id="" action="ppaction://media"/>
            <a:extLst>
              <a:ext uri="{FF2B5EF4-FFF2-40B4-BE49-F238E27FC236}">
                <a16:creationId xmlns:a16="http://schemas.microsoft.com/office/drawing/2014/main" id="{2D281CE2-4114-0551-C867-2F63D137F756}"/>
              </a:ext>
            </a:extLst>
          </p:cNvPr>
          <p:cNvPicPr>
            <a:picLocks noRot="1" noChangeAspect="1"/>
          </p:cNvPicPr>
          <p:nvPr>
            <a:videoFile r:link="rId1"/>
          </p:nvPr>
        </p:nvPicPr>
        <p:blipFill>
          <a:blip r:embed="rId3"/>
          <a:stretch>
            <a:fillRect/>
          </a:stretch>
        </p:blipFill>
        <p:spPr>
          <a:xfrm>
            <a:off x="530772" y="1490937"/>
            <a:ext cx="8460828" cy="4776842"/>
          </a:xfrm>
          <a:prstGeom prst="rect">
            <a:avLst/>
          </a:prstGeom>
        </p:spPr>
      </p:pic>
      <p:sp>
        <p:nvSpPr>
          <p:cNvPr id="6" name="TextBox 5">
            <a:extLst>
              <a:ext uri="{FF2B5EF4-FFF2-40B4-BE49-F238E27FC236}">
                <a16:creationId xmlns:a16="http://schemas.microsoft.com/office/drawing/2014/main" id="{8CAD4752-06EF-B8CD-7C1D-F10C275740E0}"/>
              </a:ext>
            </a:extLst>
          </p:cNvPr>
          <p:cNvSpPr txBox="1"/>
          <p:nvPr/>
        </p:nvSpPr>
        <p:spPr>
          <a:xfrm>
            <a:off x="457199" y="998778"/>
            <a:ext cx="7587465" cy="369332"/>
          </a:xfrm>
          <a:prstGeom prst="rect">
            <a:avLst/>
          </a:prstGeom>
          <a:noFill/>
        </p:spPr>
        <p:txBody>
          <a:bodyPr wrap="square">
            <a:spAutoFit/>
          </a:bodyPr>
          <a:lstStyle/>
          <a:p>
            <a:r>
              <a:rPr lang="en-US" i="1" dirty="0">
                <a:latin typeface="Helvetica Neue Light"/>
              </a:rPr>
              <a:t>Understanding how reasoning models supercharge AI capabilities</a:t>
            </a:r>
          </a:p>
        </p:txBody>
      </p:sp>
    </p:spTree>
    <p:extLst>
      <p:ext uri="{BB962C8B-B14F-4D97-AF65-F5344CB8AC3E}">
        <p14:creationId xmlns:p14="http://schemas.microsoft.com/office/powerpoint/2010/main" val="374877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F7B32B8F-022B-E78E-62F8-BD87D05FD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908F0-A9DE-3B59-0418-BE1DF0E87FFA}"/>
              </a:ext>
            </a:extLst>
          </p:cNvPr>
          <p:cNvSpPr>
            <a:spLocks noGrp="1"/>
          </p:cNvSpPr>
          <p:nvPr>
            <p:ph type="title"/>
          </p:nvPr>
        </p:nvSpPr>
        <p:spPr>
          <a:xfrm>
            <a:off x="457200" y="365127"/>
            <a:ext cx="8573784" cy="580096"/>
          </a:xfrm>
        </p:spPr>
        <p:txBody>
          <a:bodyPr/>
          <a:lstStyle/>
          <a:p>
            <a:r>
              <a:rPr lang="en-US" dirty="0"/>
              <a:t>The Shift from Fast Answers to Deep Thought</a:t>
            </a:r>
            <a:br>
              <a:rPr lang="en-US" dirty="0"/>
            </a:br>
            <a:endParaRPr lang="en-US" dirty="0"/>
          </a:p>
        </p:txBody>
      </p:sp>
      <p:sp>
        <p:nvSpPr>
          <p:cNvPr id="5" name="Slide Number Placeholder 4">
            <a:extLst>
              <a:ext uri="{FF2B5EF4-FFF2-40B4-BE49-F238E27FC236}">
                <a16:creationId xmlns:a16="http://schemas.microsoft.com/office/drawing/2014/main" id="{B05E309B-3469-8B62-2C1C-1C68DB5C00BC}"/>
              </a:ext>
            </a:extLst>
          </p:cNvPr>
          <p:cNvSpPr>
            <a:spLocks noGrp="1"/>
          </p:cNvSpPr>
          <p:nvPr>
            <p:ph type="sldNum" sz="quarter" idx="12"/>
          </p:nvPr>
        </p:nvSpPr>
        <p:spPr/>
        <p:txBody>
          <a:bodyPr/>
          <a:lstStyle/>
          <a:p>
            <a:fld id="{21EF4C0E-91FA-4D94-8941-E22F3A83D5F1}" type="slidenum">
              <a:rPr lang="en-US" smtClean="0"/>
              <a:t>48</a:t>
            </a:fld>
            <a:endParaRPr lang="en-US"/>
          </a:p>
        </p:txBody>
      </p:sp>
      <p:grpSp>
        <p:nvGrpSpPr>
          <p:cNvPr id="36" name="Group 35">
            <a:extLst>
              <a:ext uri="{FF2B5EF4-FFF2-40B4-BE49-F238E27FC236}">
                <a16:creationId xmlns:a16="http://schemas.microsoft.com/office/drawing/2014/main" id="{C22A81A9-CDA9-5227-D0C1-B4F5D55B7C4F}"/>
              </a:ext>
            </a:extLst>
          </p:cNvPr>
          <p:cNvGrpSpPr/>
          <p:nvPr/>
        </p:nvGrpSpPr>
        <p:grpSpPr>
          <a:xfrm>
            <a:off x="354459" y="1234439"/>
            <a:ext cx="9056668" cy="4799712"/>
            <a:chOff x="457200" y="1234440"/>
            <a:chExt cx="9056668" cy="3044952"/>
          </a:xfrm>
        </p:grpSpPr>
        <p:sp>
          <p:nvSpPr>
            <p:cNvPr id="16" name="Shape 3">
              <a:extLst>
                <a:ext uri="{FF2B5EF4-FFF2-40B4-BE49-F238E27FC236}">
                  <a16:creationId xmlns:a16="http://schemas.microsoft.com/office/drawing/2014/main" id="{1A4EDABE-1910-A4F7-4127-0EFA931B0D87}"/>
                </a:ext>
              </a:extLst>
            </p:cNvPr>
            <p:cNvSpPr/>
            <p:nvPr/>
          </p:nvSpPr>
          <p:spPr>
            <a:xfrm>
              <a:off x="457200" y="1234440"/>
              <a:ext cx="5029200" cy="1280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7" name="Shape 4">
              <a:extLst>
                <a:ext uri="{FF2B5EF4-FFF2-40B4-BE49-F238E27FC236}">
                  <a16:creationId xmlns:a16="http://schemas.microsoft.com/office/drawing/2014/main" id="{37725B73-A0C6-ECC6-991F-07EB1DD22FFB}"/>
                </a:ext>
              </a:extLst>
            </p:cNvPr>
            <p:cNvSpPr/>
            <p:nvPr/>
          </p:nvSpPr>
          <p:spPr>
            <a:xfrm>
              <a:off x="457200" y="1234440"/>
              <a:ext cx="54864" cy="1280160"/>
            </a:xfrm>
            <a:prstGeom prst="rect">
              <a:avLst/>
            </a:prstGeom>
            <a:solidFill>
              <a:srgbClr val="E07A5F"/>
            </a:solidFill>
            <a:ln/>
          </p:spPr>
          <p:txBody>
            <a:bodyPr/>
            <a:lstStyle/>
            <a:p>
              <a:endParaRPr lang="en-US" sz="2800">
                <a:latin typeface="Helvetica Neue Light"/>
              </a:endParaRPr>
            </a:p>
          </p:txBody>
        </p:sp>
        <p:sp>
          <p:nvSpPr>
            <p:cNvPr id="18" name="Text 5">
              <a:extLst>
                <a:ext uri="{FF2B5EF4-FFF2-40B4-BE49-F238E27FC236}">
                  <a16:creationId xmlns:a16="http://schemas.microsoft.com/office/drawing/2014/main" id="{4188517F-C675-616A-39A4-98BA9CAFCC58}"/>
                </a:ext>
              </a:extLst>
            </p:cNvPr>
            <p:cNvSpPr/>
            <p:nvPr/>
          </p:nvSpPr>
          <p:spPr>
            <a:xfrm>
              <a:off x="685800" y="1325880"/>
              <a:ext cx="466344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Definition:</a:t>
              </a:r>
              <a:endParaRPr lang="en-US" sz="2000" dirty="0">
                <a:latin typeface="Helvetica Neue Light"/>
              </a:endParaRPr>
            </a:p>
          </p:txBody>
        </p:sp>
        <p:sp>
          <p:nvSpPr>
            <p:cNvPr id="19" name="Text 6">
              <a:extLst>
                <a:ext uri="{FF2B5EF4-FFF2-40B4-BE49-F238E27FC236}">
                  <a16:creationId xmlns:a16="http://schemas.microsoft.com/office/drawing/2014/main" id="{D6C2C578-5B71-97FF-DA6E-1B95CAF6C037}"/>
                </a:ext>
              </a:extLst>
            </p:cNvPr>
            <p:cNvSpPr/>
            <p:nvPr/>
          </p:nvSpPr>
          <p:spPr>
            <a:xfrm>
              <a:off x="685800" y="1600200"/>
              <a:ext cx="4663440" cy="8229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Reasoning models are AI systems designed to "think" before responding — spending computational resources on internal deliberation, hypothesis testing, and self-correction before generating outputs.</a:t>
              </a:r>
              <a:endParaRPr lang="en-US" sz="1600" dirty="0">
                <a:latin typeface="Helvetica Neue Light"/>
              </a:endParaRPr>
            </a:p>
          </p:txBody>
        </p:sp>
        <p:sp>
          <p:nvSpPr>
            <p:cNvPr id="20" name="Shape 7">
              <a:extLst>
                <a:ext uri="{FF2B5EF4-FFF2-40B4-BE49-F238E27FC236}">
                  <a16:creationId xmlns:a16="http://schemas.microsoft.com/office/drawing/2014/main" id="{4FD35DD8-3CFB-FECE-AE42-5F0E2352A2A2}"/>
                </a:ext>
              </a:extLst>
            </p:cNvPr>
            <p:cNvSpPr/>
            <p:nvPr/>
          </p:nvSpPr>
          <p:spPr>
            <a:xfrm>
              <a:off x="5669280" y="1234440"/>
              <a:ext cx="3464444" cy="1280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21" name="Shape 8">
              <a:extLst>
                <a:ext uri="{FF2B5EF4-FFF2-40B4-BE49-F238E27FC236}">
                  <a16:creationId xmlns:a16="http://schemas.microsoft.com/office/drawing/2014/main" id="{152603DC-AAAE-E003-F398-4FC4552AC9B1}"/>
                </a:ext>
              </a:extLst>
            </p:cNvPr>
            <p:cNvSpPr/>
            <p:nvPr/>
          </p:nvSpPr>
          <p:spPr>
            <a:xfrm>
              <a:off x="5669280" y="1234440"/>
              <a:ext cx="54864" cy="1280160"/>
            </a:xfrm>
            <a:prstGeom prst="rect">
              <a:avLst/>
            </a:prstGeom>
            <a:solidFill>
              <a:srgbClr val="1C7293"/>
            </a:solidFill>
            <a:ln/>
          </p:spPr>
          <p:txBody>
            <a:bodyPr/>
            <a:lstStyle/>
            <a:p>
              <a:endParaRPr lang="en-US" sz="2800">
                <a:latin typeface="Helvetica Neue Light"/>
              </a:endParaRPr>
            </a:p>
          </p:txBody>
        </p:sp>
        <p:sp>
          <p:nvSpPr>
            <p:cNvPr id="22" name="Text 9">
              <a:extLst>
                <a:ext uri="{FF2B5EF4-FFF2-40B4-BE49-F238E27FC236}">
                  <a16:creationId xmlns:a16="http://schemas.microsoft.com/office/drawing/2014/main" id="{87342DC0-8E0B-2ED2-0E85-77A50E5E0625}"/>
                </a:ext>
              </a:extLst>
            </p:cNvPr>
            <p:cNvSpPr/>
            <p:nvPr/>
          </p:nvSpPr>
          <p:spPr>
            <a:xfrm>
              <a:off x="5852160" y="1325880"/>
              <a:ext cx="2651760" cy="228600"/>
            </a:xfrm>
            <a:prstGeom prst="rect">
              <a:avLst/>
            </a:prstGeom>
            <a:noFill/>
            <a:ln/>
          </p:spPr>
          <p:txBody>
            <a:bodyPr wrap="square" rtlCol="0" anchor="ctr"/>
            <a:lstStyle/>
            <a:p>
              <a:pPr marL="0" indent="0" algn="ctr">
                <a:buNone/>
              </a:pPr>
              <a:r>
                <a:rPr lang="en-US" sz="2000" b="1" dirty="0">
                  <a:solidFill>
                    <a:srgbClr val="065A82"/>
                  </a:solidFill>
                  <a:latin typeface="Helvetica Neue Light"/>
                  <a:ea typeface="Calibri" pitchFamily="34" charset="-122"/>
                  <a:cs typeface="Calibri" pitchFamily="34" charset="-120"/>
                </a:rPr>
                <a:t>Regular</a:t>
              </a:r>
              <a:r>
                <a:rPr lang="en-US" b="1" dirty="0">
                  <a:solidFill>
                    <a:srgbClr val="065A82"/>
                  </a:solidFill>
                  <a:latin typeface="Helvetica Neue Light"/>
                  <a:ea typeface="Calibri" pitchFamily="34" charset="-122"/>
                  <a:cs typeface="Calibri" pitchFamily="34" charset="-120"/>
                </a:rPr>
                <a:t> LLM</a:t>
              </a:r>
              <a:endParaRPr lang="en-US" dirty="0">
                <a:latin typeface="Helvetica Neue Light"/>
              </a:endParaRPr>
            </a:p>
          </p:txBody>
        </p:sp>
        <p:sp>
          <p:nvSpPr>
            <p:cNvPr id="23" name="Text 10">
              <a:extLst>
                <a:ext uri="{FF2B5EF4-FFF2-40B4-BE49-F238E27FC236}">
                  <a16:creationId xmlns:a16="http://schemas.microsoft.com/office/drawing/2014/main" id="{9FEA25B9-43CE-C21C-080D-681FC05CE738}"/>
                </a:ext>
              </a:extLst>
            </p:cNvPr>
            <p:cNvSpPr/>
            <p:nvPr/>
          </p:nvSpPr>
          <p:spPr>
            <a:xfrm>
              <a:off x="5852160" y="1600200"/>
              <a:ext cx="2651760" cy="228600"/>
            </a:xfrm>
            <a:prstGeom prst="rect">
              <a:avLst/>
            </a:prstGeom>
            <a:noFill/>
            <a:ln/>
          </p:spPr>
          <p:txBody>
            <a:bodyPr wrap="square" rtlCol="0" anchor="ctr"/>
            <a:lstStyle/>
            <a:p>
              <a:pPr marL="0" indent="0" algn="ctr">
                <a:buNone/>
              </a:pPr>
              <a:r>
                <a:rPr lang="en-US" sz="1600" dirty="0">
                  <a:solidFill>
                    <a:srgbClr val="2D3436"/>
                  </a:solidFill>
                  <a:latin typeface="Helvetica Neue Light"/>
                  <a:ea typeface="Calibri" pitchFamily="34" charset="-122"/>
                  <a:cs typeface="Calibri" pitchFamily="34" charset="-120"/>
                </a:rPr>
                <a:t>Question → Answer</a:t>
              </a:r>
              <a:endParaRPr lang="en-US" sz="1600" dirty="0">
                <a:latin typeface="Helvetica Neue Light"/>
              </a:endParaRPr>
            </a:p>
          </p:txBody>
        </p:sp>
        <p:sp>
          <p:nvSpPr>
            <p:cNvPr id="24" name="Text 11">
              <a:extLst>
                <a:ext uri="{FF2B5EF4-FFF2-40B4-BE49-F238E27FC236}">
                  <a16:creationId xmlns:a16="http://schemas.microsoft.com/office/drawing/2014/main" id="{53EBB422-4B7F-A01D-2120-B2A02CCD395B}"/>
                </a:ext>
              </a:extLst>
            </p:cNvPr>
            <p:cNvSpPr/>
            <p:nvPr/>
          </p:nvSpPr>
          <p:spPr>
            <a:xfrm>
              <a:off x="5852160" y="1920240"/>
              <a:ext cx="2651760" cy="228600"/>
            </a:xfrm>
            <a:prstGeom prst="rect">
              <a:avLst/>
            </a:prstGeom>
            <a:noFill/>
            <a:ln/>
          </p:spPr>
          <p:txBody>
            <a:bodyPr wrap="square" rtlCol="0" anchor="ctr"/>
            <a:lstStyle/>
            <a:p>
              <a:pPr marL="0" indent="0" algn="ctr">
                <a:buNone/>
              </a:pPr>
              <a:r>
                <a:rPr lang="en-US" sz="1600" b="1" dirty="0">
                  <a:solidFill>
                    <a:srgbClr val="E07A5F"/>
                  </a:solidFill>
                  <a:latin typeface="Helvetica Neue Light"/>
                  <a:ea typeface="Calibri" pitchFamily="34" charset="-122"/>
                  <a:cs typeface="Calibri" pitchFamily="34" charset="-120"/>
                </a:rPr>
                <a:t>Reasoning LLM</a:t>
              </a:r>
              <a:endParaRPr lang="en-US" sz="1600" dirty="0">
                <a:latin typeface="Helvetica Neue Light"/>
              </a:endParaRPr>
            </a:p>
          </p:txBody>
        </p:sp>
        <p:sp>
          <p:nvSpPr>
            <p:cNvPr id="25" name="Text 12">
              <a:extLst>
                <a:ext uri="{FF2B5EF4-FFF2-40B4-BE49-F238E27FC236}">
                  <a16:creationId xmlns:a16="http://schemas.microsoft.com/office/drawing/2014/main" id="{D8EEF84B-F2A7-5350-0C94-D0C163BF6075}"/>
                </a:ext>
              </a:extLst>
            </p:cNvPr>
            <p:cNvSpPr/>
            <p:nvPr/>
          </p:nvSpPr>
          <p:spPr>
            <a:xfrm>
              <a:off x="5349239" y="2194560"/>
              <a:ext cx="4164629" cy="228600"/>
            </a:xfrm>
            <a:prstGeom prst="rect">
              <a:avLst/>
            </a:prstGeom>
            <a:noFill/>
            <a:ln/>
          </p:spPr>
          <p:txBody>
            <a:bodyPr wrap="square" rtlCol="0" anchor="ctr"/>
            <a:lstStyle/>
            <a:p>
              <a:pPr marL="0" indent="0" algn="ctr">
                <a:buNone/>
              </a:pPr>
              <a:r>
                <a:rPr lang="en-US" sz="1600" dirty="0">
                  <a:solidFill>
                    <a:srgbClr val="2D3436"/>
                  </a:solidFill>
                  <a:latin typeface="Helvetica Neue Light"/>
                  <a:ea typeface="Calibri" pitchFamily="34" charset="-122"/>
                  <a:cs typeface="Calibri" pitchFamily="34" charset="-120"/>
                </a:rPr>
                <a:t>Question → Think → Think → Answer</a:t>
              </a:r>
              <a:endParaRPr lang="en-US" sz="1600" dirty="0">
                <a:latin typeface="Helvetica Neue Light"/>
              </a:endParaRPr>
            </a:p>
          </p:txBody>
        </p:sp>
        <p:sp>
          <p:nvSpPr>
            <p:cNvPr id="26" name="Text 13">
              <a:extLst>
                <a:ext uri="{FF2B5EF4-FFF2-40B4-BE49-F238E27FC236}">
                  <a16:creationId xmlns:a16="http://schemas.microsoft.com/office/drawing/2014/main" id="{8FE1E001-89AA-CC70-388D-62A6C33D045E}"/>
                </a:ext>
              </a:extLst>
            </p:cNvPr>
            <p:cNvSpPr/>
            <p:nvPr/>
          </p:nvSpPr>
          <p:spPr>
            <a:xfrm>
              <a:off x="457200" y="2670173"/>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Key Innovations:</a:t>
              </a:r>
              <a:endParaRPr lang="en-US" sz="2000" dirty="0">
                <a:latin typeface="Helvetica Neue Light"/>
              </a:endParaRPr>
            </a:p>
          </p:txBody>
        </p:sp>
        <p:sp>
          <p:nvSpPr>
            <p:cNvPr id="27" name="Shape 14">
              <a:extLst>
                <a:ext uri="{FF2B5EF4-FFF2-40B4-BE49-F238E27FC236}">
                  <a16:creationId xmlns:a16="http://schemas.microsoft.com/office/drawing/2014/main" id="{5601E096-A524-B6D0-A144-0977B223376C}"/>
                </a:ext>
              </a:extLst>
            </p:cNvPr>
            <p:cNvSpPr/>
            <p:nvPr/>
          </p:nvSpPr>
          <p:spPr>
            <a:xfrm>
              <a:off x="457200" y="3065008"/>
              <a:ext cx="274320" cy="181205"/>
            </a:xfrm>
            <a:prstGeom prst="ellipse">
              <a:avLst/>
            </a:prstGeom>
            <a:solidFill>
              <a:srgbClr val="1C7293"/>
            </a:solidFill>
            <a:ln/>
          </p:spPr>
          <p:txBody>
            <a:bodyPr/>
            <a:lstStyle/>
            <a:p>
              <a:endParaRPr lang="en-US" sz="2800">
                <a:latin typeface="Helvetica Neue Light"/>
              </a:endParaRPr>
            </a:p>
          </p:txBody>
        </p:sp>
        <p:sp>
          <p:nvSpPr>
            <p:cNvPr id="28" name="Text 15">
              <a:extLst>
                <a:ext uri="{FF2B5EF4-FFF2-40B4-BE49-F238E27FC236}">
                  <a16:creationId xmlns:a16="http://schemas.microsoft.com/office/drawing/2014/main" id="{D978565D-C1EF-FE05-B6F3-F7D94B12C192}"/>
                </a:ext>
              </a:extLst>
            </p:cNvPr>
            <p:cNvSpPr/>
            <p:nvPr/>
          </p:nvSpPr>
          <p:spPr>
            <a:xfrm>
              <a:off x="822960" y="2999232"/>
              <a:ext cx="256032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How They Work:</a:t>
              </a:r>
              <a:endParaRPr lang="en-US" sz="1600" dirty="0">
                <a:latin typeface="Helvetica Neue Light"/>
              </a:endParaRPr>
            </a:p>
          </p:txBody>
        </p:sp>
        <p:sp>
          <p:nvSpPr>
            <p:cNvPr id="29" name="Text 16">
              <a:extLst>
                <a:ext uri="{FF2B5EF4-FFF2-40B4-BE49-F238E27FC236}">
                  <a16:creationId xmlns:a16="http://schemas.microsoft.com/office/drawing/2014/main" id="{BBDA17C5-388B-C5A3-03AC-2050D3693C76}"/>
                </a:ext>
              </a:extLst>
            </p:cNvPr>
            <p:cNvSpPr/>
            <p:nvPr/>
          </p:nvSpPr>
          <p:spPr>
            <a:xfrm>
              <a:off x="3681225" y="2999232"/>
              <a:ext cx="5750445" cy="2743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Leverage CoT to generate internal reasoning chains, explore multiple paths, backtrack from dead ends, verify logic</a:t>
              </a:r>
              <a:endParaRPr lang="en-US" sz="1600" dirty="0">
                <a:latin typeface="Helvetica Neue Light"/>
              </a:endParaRPr>
            </a:p>
          </p:txBody>
        </p:sp>
        <p:sp>
          <p:nvSpPr>
            <p:cNvPr id="30" name="Shape 17">
              <a:extLst>
                <a:ext uri="{FF2B5EF4-FFF2-40B4-BE49-F238E27FC236}">
                  <a16:creationId xmlns:a16="http://schemas.microsoft.com/office/drawing/2014/main" id="{CD23BD4A-7DA4-5A8E-16A5-04C87E300E6F}"/>
                </a:ext>
              </a:extLst>
            </p:cNvPr>
            <p:cNvSpPr/>
            <p:nvPr/>
          </p:nvSpPr>
          <p:spPr>
            <a:xfrm>
              <a:off x="457200" y="3567928"/>
              <a:ext cx="274320" cy="181205"/>
            </a:xfrm>
            <a:prstGeom prst="ellipse">
              <a:avLst/>
            </a:prstGeom>
            <a:solidFill>
              <a:srgbClr val="1C7293"/>
            </a:solidFill>
            <a:ln/>
          </p:spPr>
          <p:txBody>
            <a:bodyPr/>
            <a:lstStyle/>
            <a:p>
              <a:endParaRPr lang="en-US" sz="2800">
                <a:latin typeface="Helvetica Neue Light"/>
              </a:endParaRPr>
            </a:p>
          </p:txBody>
        </p:sp>
        <p:sp>
          <p:nvSpPr>
            <p:cNvPr id="31" name="Text 18">
              <a:extLst>
                <a:ext uri="{FF2B5EF4-FFF2-40B4-BE49-F238E27FC236}">
                  <a16:creationId xmlns:a16="http://schemas.microsoft.com/office/drawing/2014/main" id="{94EFDB4A-EFDB-9957-8DFD-718BC93A0F02}"/>
                </a:ext>
              </a:extLst>
            </p:cNvPr>
            <p:cNvSpPr/>
            <p:nvPr/>
          </p:nvSpPr>
          <p:spPr>
            <a:xfrm>
              <a:off x="822960" y="3502152"/>
              <a:ext cx="256032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Key Innovation:</a:t>
              </a:r>
              <a:endParaRPr lang="en-US" sz="1600" dirty="0">
                <a:latin typeface="Helvetica Neue Light"/>
              </a:endParaRPr>
            </a:p>
          </p:txBody>
        </p:sp>
        <p:sp>
          <p:nvSpPr>
            <p:cNvPr id="32" name="Text 19">
              <a:extLst>
                <a:ext uri="{FF2B5EF4-FFF2-40B4-BE49-F238E27FC236}">
                  <a16:creationId xmlns:a16="http://schemas.microsoft.com/office/drawing/2014/main" id="{80340802-0DD2-07C7-926E-A63F9FE0D4AE}"/>
                </a:ext>
              </a:extLst>
            </p:cNvPr>
            <p:cNvSpPr/>
            <p:nvPr/>
          </p:nvSpPr>
          <p:spPr>
            <a:xfrm>
              <a:off x="3681225" y="3502152"/>
              <a:ext cx="5750445" cy="2743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These models scale thinking time with problem difficulty — seconds for simple tasks, minutes for complex ones</a:t>
              </a:r>
              <a:endParaRPr lang="en-US" sz="1600" dirty="0">
                <a:latin typeface="Helvetica Neue Light"/>
              </a:endParaRPr>
            </a:p>
          </p:txBody>
        </p:sp>
        <p:sp>
          <p:nvSpPr>
            <p:cNvPr id="33" name="Shape 20">
              <a:extLst>
                <a:ext uri="{FF2B5EF4-FFF2-40B4-BE49-F238E27FC236}">
                  <a16:creationId xmlns:a16="http://schemas.microsoft.com/office/drawing/2014/main" id="{0873292C-816D-20CE-0662-C02BC02DDF7B}"/>
                </a:ext>
              </a:extLst>
            </p:cNvPr>
            <p:cNvSpPr/>
            <p:nvPr/>
          </p:nvSpPr>
          <p:spPr>
            <a:xfrm>
              <a:off x="457200" y="4070848"/>
              <a:ext cx="274320" cy="181205"/>
            </a:xfrm>
            <a:prstGeom prst="ellipse">
              <a:avLst/>
            </a:prstGeom>
            <a:solidFill>
              <a:srgbClr val="1C7293"/>
            </a:solidFill>
            <a:ln/>
          </p:spPr>
          <p:txBody>
            <a:bodyPr/>
            <a:lstStyle/>
            <a:p>
              <a:endParaRPr lang="en-US" sz="2800">
                <a:latin typeface="Helvetica Neue Light"/>
              </a:endParaRPr>
            </a:p>
          </p:txBody>
        </p:sp>
        <p:sp>
          <p:nvSpPr>
            <p:cNvPr id="34" name="Text 21">
              <a:extLst>
                <a:ext uri="{FF2B5EF4-FFF2-40B4-BE49-F238E27FC236}">
                  <a16:creationId xmlns:a16="http://schemas.microsoft.com/office/drawing/2014/main" id="{C99DC5F9-23F8-0C9E-BD7B-1E67D4606867}"/>
                </a:ext>
              </a:extLst>
            </p:cNvPr>
            <p:cNvSpPr/>
            <p:nvPr/>
          </p:nvSpPr>
          <p:spPr>
            <a:xfrm>
              <a:off x="822959" y="4005072"/>
              <a:ext cx="2947655"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Test-Time Compute Revolution:</a:t>
              </a:r>
              <a:endParaRPr lang="en-US" sz="1600" dirty="0">
                <a:latin typeface="Helvetica Neue Light"/>
              </a:endParaRPr>
            </a:p>
          </p:txBody>
        </p:sp>
        <p:sp>
          <p:nvSpPr>
            <p:cNvPr id="35" name="Text 22">
              <a:extLst>
                <a:ext uri="{FF2B5EF4-FFF2-40B4-BE49-F238E27FC236}">
                  <a16:creationId xmlns:a16="http://schemas.microsoft.com/office/drawing/2014/main" id="{741A18DA-F280-3B54-50F8-CFACA288F33E}"/>
                </a:ext>
              </a:extLst>
            </p:cNvPr>
            <p:cNvSpPr/>
            <p:nvPr/>
          </p:nvSpPr>
          <p:spPr>
            <a:xfrm>
              <a:off x="3681225" y="4005072"/>
              <a:ext cx="5750445" cy="2743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Smaller models thinking longer can outperform larger models answering instantly</a:t>
              </a:r>
              <a:endParaRPr lang="en-US" sz="1600" dirty="0">
                <a:latin typeface="Helvetica Neue Light"/>
              </a:endParaRPr>
            </a:p>
          </p:txBody>
        </p:sp>
      </p:grpSp>
      <p:pic>
        <p:nvPicPr>
          <p:cNvPr id="37" name="Picture 4" descr="The Reasoning Mirage: Why AI's “Thinking” Models Hit an Unexpected Wall |  by Lakshmi narayana .U | Stackademic">
            <a:extLst>
              <a:ext uri="{FF2B5EF4-FFF2-40B4-BE49-F238E27FC236}">
                <a16:creationId xmlns:a16="http://schemas.microsoft.com/office/drawing/2014/main" id="{011F400C-7078-56D7-0FA0-F0B579846C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53" r="3113" b="1563"/>
          <a:stretch>
            <a:fillRect/>
          </a:stretch>
        </p:blipFill>
        <p:spPr bwMode="auto">
          <a:xfrm>
            <a:off x="338976" y="2459590"/>
            <a:ext cx="6141451" cy="424281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65BC473C-78DF-BE8C-343B-92683298E395}"/>
              </a:ext>
            </a:extLst>
          </p:cNvPr>
          <p:cNvSpPr txBox="1"/>
          <p:nvPr/>
        </p:nvSpPr>
        <p:spPr>
          <a:xfrm>
            <a:off x="6629400" y="6642035"/>
            <a:ext cx="3073443" cy="215444"/>
          </a:xfrm>
          <a:prstGeom prst="rect">
            <a:avLst/>
          </a:prstGeom>
          <a:noFill/>
        </p:spPr>
        <p:txBody>
          <a:bodyPr wrap="square">
            <a:spAutoFit/>
          </a:bodyPr>
          <a:lstStyle/>
          <a:p>
            <a:r>
              <a:rPr lang="en-US" sz="800" dirty="0">
                <a:solidFill>
                  <a:schemeClr val="bg2">
                    <a:lumMod val="90000"/>
                  </a:schemeClr>
                </a:solidFill>
              </a:rPr>
              <a:t>https://share.google/images/horjsjtUDp96GSxEH</a:t>
            </a:r>
          </a:p>
        </p:txBody>
      </p:sp>
    </p:spTree>
    <p:extLst>
      <p:ext uri="{BB962C8B-B14F-4D97-AF65-F5344CB8AC3E}">
        <p14:creationId xmlns:p14="http://schemas.microsoft.com/office/powerpoint/2010/main" val="194177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6C5DE959-340A-4A3A-87A9-F0528C061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7AC87-7525-E79E-1F0F-EA026F74B6DA}"/>
              </a:ext>
            </a:extLst>
          </p:cNvPr>
          <p:cNvSpPr>
            <a:spLocks noGrp="1"/>
          </p:cNvSpPr>
          <p:nvPr>
            <p:ph type="title"/>
          </p:nvPr>
        </p:nvSpPr>
        <p:spPr>
          <a:xfrm>
            <a:off x="457200" y="365126"/>
            <a:ext cx="8229600" cy="592213"/>
          </a:xfrm>
        </p:spPr>
        <p:txBody>
          <a:bodyPr/>
          <a:lstStyle/>
          <a:p>
            <a:r>
              <a:rPr lang="en-US" dirty="0"/>
              <a:t>How Reasoning Models Supercharge </a:t>
            </a:r>
            <a:r>
              <a:rPr lang="en-US" dirty="0" err="1"/>
              <a:t>CoT</a:t>
            </a:r>
            <a:endParaRPr lang="en-US" dirty="0"/>
          </a:p>
        </p:txBody>
      </p:sp>
      <p:sp>
        <p:nvSpPr>
          <p:cNvPr id="5" name="Slide Number Placeholder 4">
            <a:extLst>
              <a:ext uri="{FF2B5EF4-FFF2-40B4-BE49-F238E27FC236}">
                <a16:creationId xmlns:a16="http://schemas.microsoft.com/office/drawing/2014/main" id="{3DE2ABA6-1CDB-1576-962C-039AB9B1FA2F}"/>
              </a:ext>
            </a:extLst>
          </p:cNvPr>
          <p:cNvSpPr>
            <a:spLocks noGrp="1"/>
          </p:cNvSpPr>
          <p:nvPr>
            <p:ph type="sldNum" sz="quarter" idx="12"/>
          </p:nvPr>
        </p:nvSpPr>
        <p:spPr/>
        <p:txBody>
          <a:bodyPr/>
          <a:lstStyle/>
          <a:p>
            <a:fld id="{21EF4C0E-91FA-4D94-8941-E22F3A83D5F1}" type="slidenum">
              <a:rPr lang="en-US" smtClean="0"/>
              <a:t>49</a:t>
            </a:fld>
            <a:endParaRPr lang="en-US"/>
          </a:p>
        </p:txBody>
      </p:sp>
      <p:grpSp>
        <p:nvGrpSpPr>
          <p:cNvPr id="3" name="Group 2">
            <a:extLst>
              <a:ext uri="{FF2B5EF4-FFF2-40B4-BE49-F238E27FC236}">
                <a16:creationId xmlns:a16="http://schemas.microsoft.com/office/drawing/2014/main" id="{B8E38EDE-71CF-1767-EE99-1C0FD03359AC}"/>
              </a:ext>
            </a:extLst>
          </p:cNvPr>
          <p:cNvGrpSpPr/>
          <p:nvPr/>
        </p:nvGrpSpPr>
        <p:grpSpPr>
          <a:xfrm>
            <a:off x="457200" y="1234441"/>
            <a:ext cx="8871732" cy="4787683"/>
            <a:chOff x="457200" y="1234440"/>
            <a:chExt cx="8871732" cy="4410088"/>
          </a:xfrm>
        </p:grpSpPr>
        <p:sp>
          <p:nvSpPr>
            <p:cNvPr id="4" name="Text 3">
              <a:extLst>
                <a:ext uri="{FF2B5EF4-FFF2-40B4-BE49-F238E27FC236}">
                  <a16:creationId xmlns:a16="http://schemas.microsoft.com/office/drawing/2014/main" id="{6A2AF6F9-D151-B7CF-5133-427632C49B84}"/>
                </a:ext>
              </a:extLst>
            </p:cNvPr>
            <p:cNvSpPr/>
            <p:nvPr/>
          </p:nvSpPr>
          <p:spPr>
            <a:xfrm>
              <a:off x="457200" y="1234440"/>
              <a:ext cx="3231222"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Hidden vs. Visible Reasoning:</a:t>
              </a:r>
              <a:endParaRPr lang="en-US" dirty="0">
                <a:latin typeface="Helvetica Neue Light"/>
              </a:endParaRPr>
            </a:p>
          </p:txBody>
        </p:sp>
        <p:sp>
          <p:nvSpPr>
            <p:cNvPr id="7" name="Text 4">
              <a:extLst>
                <a:ext uri="{FF2B5EF4-FFF2-40B4-BE49-F238E27FC236}">
                  <a16:creationId xmlns:a16="http://schemas.microsoft.com/office/drawing/2014/main" id="{290226DD-FABF-8014-AB36-C185942BE459}"/>
                </a:ext>
              </a:extLst>
            </p:cNvPr>
            <p:cNvSpPr/>
            <p:nvPr/>
          </p:nvSpPr>
          <p:spPr>
            <a:xfrm>
              <a:off x="3659652" y="1303020"/>
              <a:ext cx="566928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Trade-off between showing work (educational/verifiable) or hiding it (cleaner UX)</a:t>
              </a:r>
              <a:endParaRPr lang="en-US" sz="1600" dirty="0">
                <a:latin typeface="Helvetica Neue Light"/>
              </a:endParaRPr>
            </a:p>
          </p:txBody>
        </p:sp>
        <p:sp>
          <p:nvSpPr>
            <p:cNvPr id="8" name="Text 5">
              <a:extLst>
                <a:ext uri="{FF2B5EF4-FFF2-40B4-BE49-F238E27FC236}">
                  <a16:creationId xmlns:a16="http://schemas.microsoft.com/office/drawing/2014/main" id="{372F93B3-F894-0423-C2AD-DFEA86FC85FC}"/>
                </a:ext>
              </a:extLst>
            </p:cNvPr>
            <p:cNvSpPr/>
            <p:nvPr/>
          </p:nvSpPr>
          <p:spPr>
            <a:xfrm>
              <a:off x="457200" y="1874520"/>
              <a:ext cx="30175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Performance Breakthroughs:</a:t>
              </a:r>
              <a:endParaRPr lang="en-US" dirty="0">
                <a:latin typeface="Helvetica Neue Light"/>
              </a:endParaRPr>
            </a:p>
          </p:txBody>
        </p:sp>
        <p:sp>
          <p:nvSpPr>
            <p:cNvPr id="9" name="Text 6">
              <a:extLst>
                <a:ext uri="{FF2B5EF4-FFF2-40B4-BE49-F238E27FC236}">
                  <a16:creationId xmlns:a16="http://schemas.microsoft.com/office/drawing/2014/main" id="{B2DF2873-E33F-EBE8-BDBB-EF664E500250}"/>
                </a:ext>
              </a:extLst>
            </p:cNvPr>
            <p:cNvSpPr/>
            <p:nvPr/>
          </p:nvSpPr>
          <p:spPr>
            <a:xfrm>
              <a:off x="3659652" y="1943100"/>
              <a:ext cx="566928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Solving PhD-level math, competitive programming, beating human experts in specialized domains</a:t>
              </a:r>
              <a:endParaRPr lang="en-US" sz="1600" dirty="0">
                <a:latin typeface="Helvetica Neue Light"/>
              </a:endParaRPr>
            </a:p>
          </p:txBody>
        </p:sp>
        <p:sp>
          <p:nvSpPr>
            <p:cNvPr id="10" name="Text 7">
              <a:extLst>
                <a:ext uri="{FF2B5EF4-FFF2-40B4-BE49-F238E27FC236}">
                  <a16:creationId xmlns:a16="http://schemas.microsoft.com/office/drawing/2014/main" id="{FABD2BEE-72FA-428D-F371-22BD99C0010B}"/>
                </a:ext>
              </a:extLst>
            </p:cNvPr>
            <p:cNvSpPr/>
            <p:nvPr/>
          </p:nvSpPr>
          <p:spPr>
            <a:xfrm>
              <a:off x="457200" y="2514600"/>
              <a:ext cx="30175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Training Innovation:</a:t>
              </a:r>
              <a:endParaRPr lang="en-US" dirty="0">
                <a:latin typeface="Helvetica Neue Light"/>
              </a:endParaRPr>
            </a:p>
          </p:txBody>
        </p:sp>
        <p:sp>
          <p:nvSpPr>
            <p:cNvPr id="11" name="Text 8">
              <a:extLst>
                <a:ext uri="{FF2B5EF4-FFF2-40B4-BE49-F238E27FC236}">
                  <a16:creationId xmlns:a16="http://schemas.microsoft.com/office/drawing/2014/main" id="{EB729D3E-F294-E390-C590-17F0FB486C2F}"/>
                </a:ext>
              </a:extLst>
            </p:cNvPr>
            <p:cNvSpPr/>
            <p:nvPr/>
          </p:nvSpPr>
          <p:spPr>
            <a:xfrm>
              <a:off x="3659652" y="2583180"/>
              <a:ext cx="566928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Reinforcement learning rewards correct reasoning processes, not just correct answers</a:t>
              </a:r>
              <a:endParaRPr lang="en-US" sz="1600" dirty="0">
                <a:latin typeface="Helvetica Neue Light"/>
              </a:endParaRPr>
            </a:p>
          </p:txBody>
        </p:sp>
        <p:sp>
          <p:nvSpPr>
            <p:cNvPr id="12" name="Text 9">
              <a:extLst>
                <a:ext uri="{FF2B5EF4-FFF2-40B4-BE49-F238E27FC236}">
                  <a16:creationId xmlns:a16="http://schemas.microsoft.com/office/drawing/2014/main" id="{5BFEEF1F-A689-C273-5455-0ED09D08307A}"/>
                </a:ext>
              </a:extLst>
            </p:cNvPr>
            <p:cNvSpPr/>
            <p:nvPr/>
          </p:nvSpPr>
          <p:spPr>
            <a:xfrm>
              <a:off x="457200" y="3154680"/>
              <a:ext cx="30175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Cost-Performance Trade-off:</a:t>
              </a:r>
              <a:endParaRPr lang="en-US" dirty="0">
                <a:latin typeface="Helvetica Neue Light"/>
              </a:endParaRPr>
            </a:p>
          </p:txBody>
        </p:sp>
        <p:sp>
          <p:nvSpPr>
            <p:cNvPr id="13" name="Text 10">
              <a:extLst>
                <a:ext uri="{FF2B5EF4-FFF2-40B4-BE49-F238E27FC236}">
                  <a16:creationId xmlns:a16="http://schemas.microsoft.com/office/drawing/2014/main" id="{0261DBBE-9C7B-EF16-8168-8DB771C7C6EF}"/>
                </a:ext>
              </a:extLst>
            </p:cNvPr>
            <p:cNvSpPr/>
            <p:nvPr/>
          </p:nvSpPr>
          <p:spPr>
            <a:xfrm>
              <a:off x="3659652" y="3154680"/>
              <a:ext cx="566928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10-100x more expensive per query but dramatically more accurate on hard problems</a:t>
              </a:r>
              <a:endParaRPr lang="en-US" sz="1600" dirty="0">
                <a:latin typeface="Helvetica Neue Light"/>
              </a:endParaRPr>
            </a:p>
          </p:txBody>
        </p:sp>
        <p:sp>
          <p:nvSpPr>
            <p:cNvPr id="14" name="Shape 11">
              <a:extLst>
                <a:ext uri="{FF2B5EF4-FFF2-40B4-BE49-F238E27FC236}">
                  <a16:creationId xmlns:a16="http://schemas.microsoft.com/office/drawing/2014/main" id="{E700D3B6-FF1C-EC0E-13B9-23026854EA2C}"/>
                </a:ext>
              </a:extLst>
            </p:cNvPr>
            <p:cNvSpPr/>
            <p:nvPr/>
          </p:nvSpPr>
          <p:spPr>
            <a:xfrm>
              <a:off x="457200" y="3794759"/>
              <a:ext cx="8229600" cy="1849769"/>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5" name="Shape 12">
              <a:extLst>
                <a:ext uri="{FF2B5EF4-FFF2-40B4-BE49-F238E27FC236}">
                  <a16:creationId xmlns:a16="http://schemas.microsoft.com/office/drawing/2014/main" id="{2261ED78-5D2A-F8F1-9A59-4C693ED4470C}"/>
                </a:ext>
              </a:extLst>
            </p:cNvPr>
            <p:cNvSpPr/>
            <p:nvPr/>
          </p:nvSpPr>
          <p:spPr>
            <a:xfrm>
              <a:off x="457200" y="3886200"/>
              <a:ext cx="45719" cy="1652873"/>
            </a:xfrm>
            <a:prstGeom prst="rect">
              <a:avLst/>
            </a:prstGeom>
            <a:solidFill>
              <a:srgbClr val="1C7293"/>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544F56AA-8D33-BA0E-78AF-D5F5877493BC}"/>
                </a:ext>
              </a:extLst>
            </p:cNvPr>
            <p:cNvSpPr/>
            <p:nvPr/>
          </p:nvSpPr>
          <p:spPr>
            <a:xfrm>
              <a:off x="594359" y="3832718"/>
              <a:ext cx="8001000" cy="1464043"/>
            </a:xfrm>
            <a:prstGeom prst="rect">
              <a:avLst/>
            </a:prstGeom>
            <a:noFill/>
            <a:ln/>
          </p:spPr>
          <p:txBody>
            <a:bodyPr wrap="square" rtlCol="0" anchor="t"/>
            <a:lstStyle/>
            <a:p>
              <a:r>
                <a:rPr lang="en-US" b="1" dirty="0">
                  <a:solidFill>
                    <a:srgbClr val="2D3436"/>
                  </a:solidFill>
                  <a:latin typeface="Helvetica Neue Light"/>
                  <a:ea typeface="Calibri" pitchFamily="34" charset="-122"/>
                  <a:cs typeface="Calibri" pitchFamily="34" charset="-120"/>
                </a:rPr>
                <a:t>Multi-Path Exploration: Tries several solution paths and keeps the best one  </a:t>
              </a:r>
            </a:p>
          </p:txBody>
        </p:sp>
      </p:grpSp>
      <p:pic>
        <p:nvPicPr>
          <p:cNvPr id="17" name="Picture 16">
            <a:extLst>
              <a:ext uri="{FF2B5EF4-FFF2-40B4-BE49-F238E27FC236}">
                <a16:creationId xmlns:a16="http://schemas.microsoft.com/office/drawing/2014/main" id="{1AB1259D-D19B-DB48-1B1D-D0F73A6763C3}"/>
              </a:ext>
            </a:extLst>
          </p:cNvPr>
          <p:cNvPicPr>
            <a:picLocks noChangeAspect="1"/>
          </p:cNvPicPr>
          <p:nvPr/>
        </p:nvPicPr>
        <p:blipFill>
          <a:blip r:embed="rId2"/>
          <a:srcRect l="2807" t="10527" r="8455"/>
          <a:stretch>
            <a:fillRect/>
          </a:stretch>
        </p:blipFill>
        <p:spPr>
          <a:xfrm>
            <a:off x="996593" y="4406095"/>
            <a:ext cx="4818580" cy="1548701"/>
          </a:xfrm>
          <a:prstGeom prst="rect">
            <a:avLst/>
          </a:prstGeom>
          <a:ln>
            <a:noFill/>
          </a:ln>
          <a:effectLst>
            <a:outerShdw blurRad="292100" dist="139700" dir="2700000" algn="tl" rotWithShape="0">
              <a:srgbClr val="333333">
                <a:alpha val="65000"/>
              </a:srgbClr>
            </a:outerShdw>
          </a:effectLst>
        </p:spPr>
      </p:pic>
      <p:sp>
        <p:nvSpPr>
          <p:cNvPr id="18" name="TextBox 17">
            <a:extLst>
              <a:ext uri="{FF2B5EF4-FFF2-40B4-BE49-F238E27FC236}">
                <a16:creationId xmlns:a16="http://schemas.microsoft.com/office/drawing/2014/main" id="{EC500E35-F67C-5EEC-7A08-862C292B73B4}"/>
              </a:ext>
            </a:extLst>
          </p:cNvPr>
          <p:cNvSpPr txBox="1"/>
          <p:nvPr/>
        </p:nvSpPr>
        <p:spPr>
          <a:xfrm>
            <a:off x="3292326" y="6633989"/>
            <a:ext cx="3201966" cy="232577"/>
          </a:xfrm>
          <a:prstGeom prst="rect">
            <a:avLst/>
          </a:prstGeom>
          <a:noFill/>
        </p:spPr>
        <p:txBody>
          <a:bodyPr wrap="square">
            <a:spAutoFit/>
          </a:bodyPr>
          <a:lstStyle/>
          <a:p>
            <a:r>
              <a:rPr lang="en-US" sz="900" dirty="0">
                <a:solidFill>
                  <a:schemeClr val="bg1">
                    <a:lumMod val="65000"/>
                  </a:schemeClr>
                </a:solidFill>
              </a:rPr>
              <a:t>https://images.app.goo.gl/eBWGdYnZvX5uSYXH9</a:t>
            </a:r>
          </a:p>
        </p:txBody>
      </p:sp>
      <p:pic>
        <p:nvPicPr>
          <p:cNvPr id="19" name="Picture 2" descr="OpenAI o1 Reasoning Models. Reasoning models can “think” before… | by Cobus  Greyling | Medium">
            <a:extLst>
              <a:ext uri="{FF2B5EF4-FFF2-40B4-BE49-F238E27FC236}">
                <a16:creationId xmlns:a16="http://schemas.microsoft.com/office/drawing/2014/main" id="{EFA09967-9F84-B518-0FD8-05376F9B3F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59" y="1029973"/>
            <a:ext cx="5480019" cy="296929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55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6CC7907-985E-0553-9662-7EADC54FA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A142C-EE17-0BC5-1CF6-CF834549E2B7}"/>
              </a:ext>
            </a:extLst>
          </p:cNvPr>
          <p:cNvSpPr>
            <a:spLocks noGrp="1"/>
          </p:cNvSpPr>
          <p:nvPr>
            <p:ph type="title"/>
          </p:nvPr>
        </p:nvSpPr>
        <p:spPr>
          <a:xfrm>
            <a:off x="457200" y="365126"/>
            <a:ext cx="8229600" cy="592213"/>
          </a:xfrm>
        </p:spPr>
        <p:txBody>
          <a:bodyPr/>
          <a:lstStyle/>
          <a:p>
            <a:r>
              <a:rPr lang="en-US" dirty="0"/>
              <a:t>Reasoning vs. Standard </a:t>
            </a:r>
            <a:r>
              <a:rPr lang="en-US" dirty="0" err="1"/>
              <a:t>CoT</a:t>
            </a:r>
            <a:endParaRPr lang="en-US" dirty="0"/>
          </a:p>
        </p:txBody>
      </p:sp>
      <p:sp>
        <p:nvSpPr>
          <p:cNvPr id="5" name="Slide Number Placeholder 4">
            <a:extLst>
              <a:ext uri="{FF2B5EF4-FFF2-40B4-BE49-F238E27FC236}">
                <a16:creationId xmlns:a16="http://schemas.microsoft.com/office/drawing/2014/main" id="{8FC1EF63-FF4C-D3AD-BF62-2AC0D2D63855}"/>
              </a:ext>
            </a:extLst>
          </p:cNvPr>
          <p:cNvSpPr>
            <a:spLocks noGrp="1"/>
          </p:cNvSpPr>
          <p:nvPr>
            <p:ph type="sldNum" sz="quarter" idx="12"/>
          </p:nvPr>
        </p:nvSpPr>
        <p:spPr/>
        <p:txBody>
          <a:bodyPr/>
          <a:lstStyle/>
          <a:p>
            <a:fld id="{21EF4C0E-91FA-4D94-8941-E22F3A83D5F1}" type="slidenum">
              <a:rPr lang="en-US" smtClean="0"/>
              <a:t>50</a:t>
            </a:fld>
            <a:endParaRPr lang="en-US"/>
          </a:p>
        </p:txBody>
      </p:sp>
      <p:sp>
        <p:nvSpPr>
          <p:cNvPr id="6" name="TextBox 5">
            <a:extLst>
              <a:ext uri="{FF2B5EF4-FFF2-40B4-BE49-F238E27FC236}">
                <a16:creationId xmlns:a16="http://schemas.microsoft.com/office/drawing/2014/main" id="{FDB3BE49-92ED-CE9D-E546-EB42E0349330}"/>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16" name="Group 15">
            <a:extLst>
              <a:ext uri="{FF2B5EF4-FFF2-40B4-BE49-F238E27FC236}">
                <a16:creationId xmlns:a16="http://schemas.microsoft.com/office/drawing/2014/main" id="{65421F70-EAA6-3BA8-8785-8F58451291D8}"/>
              </a:ext>
            </a:extLst>
          </p:cNvPr>
          <p:cNvGrpSpPr/>
          <p:nvPr/>
        </p:nvGrpSpPr>
        <p:grpSpPr>
          <a:xfrm>
            <a:off x="457200" y="1234439"/>
            <a:ext cx="8584058" cy="5623040"/>
            <a:chOff x="457200" y="1234440"/>
            <a:chExt cx="8229600" cy="4020080"/>
          </a:xfrm>
        </p:grpSpPr>
        <p:sp>
          <p:nvSpPr>
            <p:cNvPr id="17" name="Shape 3">
              <a:extLst>
                <a:ext uri="{FF2B5EF4-FFF2-40B4-BE49-F238E27FC236}">
                  <a16:creationId xmlns:a16="http://schemas.microsoft.com/office/drawing/2014/main" id="{AE0A1CD4-FD96-E1E0-2796-92758D80E06B}"/>
                </a:ext>
              </a:extLst>
            </p:cNvPr>
            <p:cNvSpPr/>
            <p:nvPr/>
          </p:nvSpPr>
          <p:spPr>
            <a:xfrm>
              <a:off x="457200" y="1234440"/>
              <a:ext cx="1371600" cy="320040"/>
            </a:xfrm>
            <a:prstGeom prst="rect">
              <a:avLst/>
            </a:prstGeom>
            <a:solidFill>
              <a:srgbClr val="1C7293"/>
            </a:solidFill>
            <a:ln w="6350">
              <a:solidFill>
                <a:srgbClr val="636E72"/>
              </a:solidFill>
              <a:prstDash val="solid"/>
            </a:ln>
          </p:spPr>
          <p:txBody>
            <a:bodyPr/>
            <a:lstStyle/>
            <a:p>
              <a:endParaRPr lang="en-US" sz="4000">
                <a:latin typeface="Helvetica Neue Light"/>
              </a:endParaRPr>
            </a:p>
          </p:txBody>
        </p:sp>
        <p:sp>
          <p:nvSpPr>
            <p:cNvPr id="18" name="Text 4">
              <a:extLst>
                <a:ext uri="{FF2B5EF4-FFF2-40B4-BE49-F238E27FC236}">
                  <a16:creationId xmlns:a16="http://schemas.microsoft.com/office/drawing/2014/main" id="{F79D4E37-7FC4-B721-1C91-D420F0852159}"/>
                </a:ext>
              </a:extLst>
            </p:cNvPr>
            <p:cNvSpPr/>
            <p:nvPr/>
          </p:nvSpPr>
          <p:spPr>
            <a:xfrm>
              <a:off x="548640" y="1234440"/>
              <a:ext cx="1188720" cy="320040"/>
            </a:xfrm>
            <a:prstGeom prst="rect">
              <a:avLst/>
            </a:prstGeom>
            <a:noFill/>
            <a:ln/>
          </p:spPr>
          <p:txBody>
            <a:bodyPr wrap="square" rtlCol="0" anchor="ctr"/>
            <a:lstStyle/>
            <a:p>
              <a:pPr marL="0" indent="0">
                <a:buNone/>
              </a:pPr>
              <a:r>
                <a:rPr lang="en-US" sz="1600" b="1" dirty="0">
                  <a:solidFill>
                    <a:srgbClr val="FFFFFF"/>
                  </a:solidFill>
                  <a:latin typeface="Helvetica Neue Light"/>
                  <a:ea typeface="Calibri" pitchFamily="34" charset="-122"/>
                  <a:cs typeface="Calibri" pitchFamily="34" charset="-120"/>
                </a:rPr>
                <a:t>Aspect</a:t>
              </a:r>
              <a:endParaRPr lang="en-US" sz="1600" dirty="0">
                <a:latin typeface="Helvetica Neue Light"/>
              </a:endParaRPr>
            </a:p>
          </p:txBody>
        </p:sp>
        <p:sp>
          <p:nvSpPr>
            <p:cNvPr id="19" name="Shape 5">
              <a:extLst>
                <a:ext uri="{FF2B5EF4-FFF2-40B4-BE49-F238E27FC236}">
                  <a16:creationId xmlns:a16="http://schemas.microsoft.com/office/drawing/2014/main" id="{8E3395B5-2A37-6166-EF2B-71012F533ACB}"/>
                </a:ext>
              </a:extLst>
            </p:cNvPr>
            <p:cNvSpPr/>
            <p:nvPr/>
          </p:nvSpPr>
          <p:spPr>
            <a:xfrm>
              <a:off x="1828800" y="1234440"/>
              <a:ext cx="2834640" cy="320040"/>
            </a:xfrm>
            <a:prstGeom prst="rect">
              <a:avLst/>
            </a:prstGeom>
            <a:solidFill>
              <a:srgbClr val="1C7293"/>
            </a:solidFill>
            <a:ln w="6350">
              <a:solidFill>
                <a:srgbClr val="636E72"/>
              </a:solidFill>
              <a:prstDash val="solid"/>
            </a:ln>
          </p:spPr>
          <p:txBody>
            <a:bodyPr/>
            <a:lstStyle/>
            <a:p>
              <a:endParaRPr lang="en-US" sz="4000">
                <a:latin typeface="Helvetica Neue Light"/>
              </a:endParaRPr>
            </a:p>
          </p:txBody>
        </p:sp>
        <p:sp>
          <p:nvSpPr>
            <p:cNvPr id="20" name="Text 6">
              <a:extLst>
                <a:ext uri="{FF2B5EF4-FFF2-40B4-BE49-F238E27FC236}">
                  <a16:creationId xmlns:a16="http://schemas.microsoft.com/office/drawing/2014/main" id="{6B64A9CC-E4F3-1E70-7B1A-1DBD6528924D}"/>
                </a:ext>
              </a:extLst>
            </p:cNvPr>
            <p:cNvSpPr/>
            <p:nvPr/>
          </p:nvSpPr>
          <p:spPr>
            <a:xfrm>
              <a:off x="1920240" y="1234440"/>
              <a:ext cx="2651760" cy="320040"/>
            </a:xfrm>
            <a:prstGeom prst="rect">
              <a:avLst/>
            </a:prstGeom>
            <a:noFill/>
            <a:ln/>
          </p:spPr>
          <p:txBody>
            <a:bodyPr wrap="square" rtlCol="0" anchor="ctr"/>
            <a:lstStyle/>
            <a:p>
              <a:pPr marL="0" indent="0">
                <a:buNone/>
              </a:pPr>
              <a:r>
                <a:rPr lang="en-US" sz="1600" b="1" dirty="0">
                  <a:solidFill>
                    <a:srgbClr val="FFFFFF"/>
                  </a:solidFill>
                  <a:latin typeface="Helvetica Neue Light"/>
                  <a:ea typeface="Calibri" pitchFamily="34" charset="-122"/>
                  <a:cs typeface="Calibri" pitchFamily="34" charset="-120"/>
                </a:rPr>
                <a:t>Standard CoT</a:t>
              </a:r>
              <a:endParaRPr lang="en-US" sz="1600" dirty="0">
                <a:latin typeface="Helvetica Neue Light"/>
              </a:endParaRPr>
            </a:p>
          </p:txBody>
        </p:sp>
        <p:sp>
          <p:nvSpPr>
            <p:cNvPr id="21" name="Shape 7">
              <a:extLst>
                <a:ext uri="{FF2B5EF4-FFF2-40B4-BE49-F238E27FC236}">
                  <a16:creationId xmlns:a16="http://schemas.microsoft.com/office/drawing/2014/main" id="{00AFA275-73D4-4031-EAE7-00A51BC1FE6C}"/>
                </a:ext>
              </a:extLst>
            </p:cNvPr>
            <p:cNvSpPr/>
            <p:nvPr/>
          </p:nvSpPr>
          <p:spPr>
            <a:xfrm>
              <a:off x="4663440" y="1234440"/>
              <a:ext cx="3566160" cy="320040"/>
            </a:xfrm>
            <a:prstGeom prst="rect">
              <a:avLst/>
            </a:prstGeom>
            <a:solidFill>
              <a:srgbClr val="1C7293"/>
            </a:solidFill>
            <a:ln w="6350">
              <a:solidFill>
                <a:srgbClr val="636E72"/>
              </a:solidFill>
              <a:prstDash val="solid"/>
            </a:ln>
          </p:spPr>
          <p:txBody>
            <a:bodyPr/>
            <a:lstStyle/>
            <a:p>
              <a:endParaRPr lang="en-US" sz="4000">
                <a:latin typeface="Helvetica Neue Light"/>
              </a:endParaRPr>
            </a:p>
          </p:txBody>
        </p:sp>
        <p:sp>
          <p:nvSpPr>
            <p:cNvPr id="22" name="Text 8">
              <a:extLst>
                <a:ext uri="{FF2B5EF4-FFF2-40B4-BE49-F238E27FC236}">
                  <a16:creationId xmlns:a16="http://schemas.microsoft.com/office/drawing/2014/main" id="{1FFDFA0F-61CC-91C7-619E-C1E21F37B781}"/>
                </a:ext>
              </a:extLst>
            </p:cNvPr>
            <p:cNvSpPr/>
            <p:nvPr/>
          </p:nvSpPr>
          <p:spPr>
            <a:xfrm>
              <a:off x="4754880" y="1234440"/>
              <a:ext cx="3383280" cy="320040"/>
            </a:xfrm>
            <a:prstGeom prst="rect">
              <a:avLst/>
            </a:prstGeom>
            <a:noFill/>
            <a:ln/>
          </p:spPr>
          <p:txBody>
            <a:bodyPr wrap="square" rtlCol="0" anchor="ctr"/>
            <a:lstStyle/>
            <a:p>
              <a:pPr marL="0" indent="0">
                <a:buNone/>
              </a:pPr>
              <a:r>
                <a:rPr lang="en-US" sz="1600" b="1" dirty="0">
                  <a:solidFill>
                    <a:srgbClr val="FFFFFF"/>
                  </a:solidFill>
                  <a:latin typeface="Helvetica Neue Light"/>
                  <a:ea typeface="Calibri" pitchFamily="34" charset="-122"/>
                  <a:cs typeface="Calibri" pitchFamily="34" charset="-120"/>
                </a:rPr>
                <a:t>Reasoning Models</a:t>
              </a:r>
              <a:endParaRPr lang="en-US" sz="1600" dirty="0">
                <a:latin typeface="Helvetica Neue Light"/>
              </a:endParaRPr>
            </a:p>
          </p:txBody>
        </p:sp>
        <p:sp>
          <p:nvSpPr>
            <p:cNvPr id="23" name="Shape 9">
              <a:extLst>
                <a:ext uri="{FF2B5EF4-FFF2-40B4-BE49-F238E27FC236}">
                  <a16:creationId xmlns:a16="http://schemas.microsoft.com/office/drawing/2014/main" id="{15A8567E-B71B-E9BE-C07F-2CBECCD9825D}"/>
                </a:ext>
              </a:extLst>
            </p:cNvPr>
            <p:cNvSpPr/>
            <p:nvPr/>
          </p:nvSpPr>
          <p:spPr>
            <a:xfrm>
              <a:off x="457200" y="1554480"/>
              <a:ext cx="137160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24" name="Text 10">
              <a:extLst>
                <a:ext uri="{FF2B5EF4-FFF2-40B4-BE49-F238E27FC236}">
                  <a16:creationId xmlns:a16="http://schemas.microsoft.com/office/drawing/2014/main" id="{42F3D659-7B3E-E425-8F58-A103E80692E6}"/>
                </a:ext>
              </a:extLst>
            </p:cNvPr>
            <p:cNvSpPr/>
            <p:nvPr/>
          </p:nvSpPr>
          <p:spPr>
            <a:xfrm>
              <a:off x="548640" y="1554480"/>
              <a:ext cx="1188720" cy="32004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Initiation</a:t>
              </a:r>
              <a:endParaRPr lang="en-US" sz="1600" dirty="0">
                <a:latin typeface="Helvetica Neue Light"/>
              </a:endParaRPr>
            </a:p>
          </p:txBody>
        </p:sp>
        <p:sp>
          <p:nvSpPr>
            <p:cNvPr id="25" name="Shape 11">
              <a:extLst>
                <a:ext uri="{FF2B5EF4-FFF2-40B4-BE49-F238E27FC236}">
                  <a16:creationId xmlns:a16="http://schemas.microsoft.com/office/drawing/2014/main" id="{6C2C5EA1-8156-9D26-D6FE-9CB21852B6DC}"/>
                </a:ext>
              </a:extLst>
            </p:cNvPr>
            <p:cNvSpPr/>
            <p:nvPr/>
          </p:nvSpPr>
          <p:spPr>
            <a:xfrm>
              <a:off x="1828800" y="1554480"/>
              <a:ext cx="283464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26" name="Text 12">
              <a:extLst>
                <a:ext uri="{FF2B5EF4-FFF2-40B4-BE49-F238E27FC236}">
                  <a16:creationId xmlns:a16="http://schemas.microsoft.com/office/drawing/2014/main" id="{C38DD5C8-7236-7E15-E219-BE29C2163C2C}"/>
                </a:ext>
              </a:extLst>
            </p:cNvPr>
            <p:cNvSpPr/>
            <p:nvPr/>
          </p:nvSpPr>
          <p:spPr>
            <a:xfrm>
              <a:off x="1920240" y="1554480"/>
              <a:ext cx="265176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User-prompted</a:t>
              </a:r>
              <a:endParaRPr lang="en-US" sz="1600" dirty="0">
                <a:latin typeface="Helvetica Neue Light"/>
              </a:endParaRPr>
            </a:p>
          </p:txBody>
        </p:sp>
        <p:sp>
          <p:nvSpPr>
            <p:cNvPr id="27" name="Shape 13">
              <a:extLst>
                <a:ext uri="{FF2B5EF4-FFF2-40B4-BE49-F238E27FC236}">
                  <a16:creationId xmlns:a16="http://schemas.microsoft.com/office/drawing/2014/main" id="{03FBA0A5-E4B7-1FFC-6D49-BE1C0E6FEA1D}"/>
                </a:ext>
              </a:extLst>
            </p:cNvPr>
            <p:cNvSpPr/>
            <p:nvPr/>
          </p:nvSpPr>
          <p:spPr>
            <a:xfrm>
              <a:off x="4663440" y="1554480"/>
              <a:ext cx="356616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28" name="Text 14">
              <a:extLst>
                <a:ext uri="{FF2B5EF4-FFF2-40B4-BE49-F238E27FC236}">
                  <a16:creationId xmlns:a16="http://schemas.microsoft.com/office/drawing/2014/main" id="{F0E19232-FC6F-74C4-81E8-2758A39547E3}"/>
                </a:ext>
              </a:extLst>
            </p:cNvPr>
            <p:cNvSpPr/>
            <p:nvPr/>
          </p:nvSpPr>
          <p:spPr>
            <a:xfrm>
              <a:off x="4754880" y="1554480"/>
              <a:ext cx="3383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Automatic</a:t>
              </a:r>
              <a:endParaRPr lang="en-US" sz="1600" dirty="0">
                <a:latin typeface="Helvetica Neue Light"/>
              </a:endParaRPr>
            </a:p>
          </p:txBody>
        </p:sp>
        <p:sp>
          <p:nvSpPr>
            <p:cNvPr id="29" name="Shape 15">
              <a:extLst>
                <a:ext uri="{FF2B5EF4-FFF2-40B4-BE49-F238E27FC236}">
                  <a16:creationId xmlns:a16="http://schemas.microsoft.com/office/drawing/2014/main" id="{C1092D2D-42C4-4B37-0E38-6699C068FA38}"/>
                </a:ext>
              </a:extLst>
            </p:cNvPr>
            <p:cNvSpPr/>
            <p:nvPr/>
          </p:nvSpPr>
          <p:spPr>
            <a:xfrm>
              <a:off x="457200" y="1874520"/>
              <a:ext cx="137160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30" name="Text 16">
              <a:extLst>
                <a:ext uri="{FF2B5EF4-FFF2-40B4-BE49-F238E27FC236}">
                  <a16:creationId xmlns:a16="http://schemas.microsoft.com/office/drawing/2014/main" id="{D1902F97-EDF4-A342-0C16-DA8E33D14C22}"/>
                </a:ext>
              </a:extLst>
            </p:cNvPr>
            <p:cNvSpPr/>
            <p:nvPr/>
          </p:nvSpPr>
          <p:spPr>
            <a:xfrm>
              <a:off x="548640" y="1874520"/>
              <a:ext cx="1188720" cy="32004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Length</a:t>
              </a:r>
              <a:endParaRPr lang="en-US" sz="1600" dirty="0">
                <a:latin typeface="Helvetica Neue Light"/>
              </a:endParaRPr>
            </a:p>
          </p:txBody>
        </p:sp>
        <p:sp>
          <p:nvSpPr>
            <p:cNvPr id="31" name="Shape 17">
              <a:extLst>
                <a:ext uri="{FF2B5EF4-FFF2-40B4-BE49-F238E27FC236}">
                  <a16:creationId xmlns:a16="http://schemas.microsoft.com/office/drawing/2014/main" id="{209D817C-520F-44BE-3F60-6781E7C12771}"/>
                </a:ext>
              </a:extLst>
            </p:cNvPr>
            <p:cNvSpPr/>
            <p:nvPr/>
          </p:nvSpPr>
          <p:spPr>
            <a:xfrm>
              <a:off x="1828800" y="1874520"/>
              <a:ext cx="283464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32" name="Text 18">
              <a:extLst>
                <a:ext uri="{FF2B5EF4-FFF2-40B4-BE49-F238E27FC236}">
                  <a16:creationId xmlns:a16="http://schemas.microsoft.com/office/drawing/2014/main" id="{E8775344-2186-449C-9F92-02C1B7972F5D}"/>
                </a:ext>
              </a:extLst>
            </p:cNvPr>
            <p:cNvSpPr/>
            <p:nvPr/>
          </p:nvSpPr>
          <p:spPr>
            <a:xfrm>
              <a:off x="1920240" y="1874520"/>
              <a:ext cx="265176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10s-100s of tokens</a:t>
              </a:r>
              <a:endParaRPr lang="en-US" sz="1600" dirty="0">
                <a:latin typeface="Helvetica Neue Light"/>
              </a:endParaRPr>
            </a:p>
          </p:txBody>
        </p:sp>
        <p:sp>
          <p:nvSpPr>
            <p:cNvPr id="33" name="Shape 19">
              <a:extLst>
                <a:ext uri="{FF2B5EF4-FFF2-40B4-BE49-F238E27FC236}">
                  <a16:creationId xmlns:a16="http://schemas.microsoft.com/office/drawing/2014/main" id="{0879F1E9-645A-FBCA-183C-3FC4A913F81F}"/>
                </a:ext>
              </a:extLst>
            </p:cNvPr>
            <p:cNvSpPr/>
            <p:nvPr/>
          </p:nvSpPr>
          <p:spPr>
            <a:xfrm>
              <a:off x="4663440" y="1874520"/>
              <a:ext cx="356616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34" name="Text 20">
              <a:extLst>
                <a:ext uri="{FF2B5EF4-FFF2-40B4-BE49-F238E27FC236}">
                  <a16:creationId xmlns:a16="http://schemas.microsoft.com/office/drawing/2014/main" id="{F4859389-3E08-4F94-9B0E-FB2D75001188}"/>
                </a:ext>
              </a:extLst>
            </p:cNvPr>
            <p:cNvSpPr/>
            <p:nvPr/>
          </p:nvSpPr>
          <p:spPr>
            <a:xfrm>
              <a:off x="4754880" y="1874520"/>
              <a:ext cx="3383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1000s-100,000s of tokens</a:t>
              </a:r>
              <a:endParaRPr lang="en-US" sz="1600" dirty="0">
                <a:latin typeface="Helvetica Neue Light"/>
              </a:endParaRPr>
            </a:p>
          </p:txBody>
        </p:sp>
        <p:sp>
          <p:nvSpPr>
            <p:cNvPr id="35" name="Shape 21">
              <a:extLst>
                <a:ext uri="{FF2B5EF4-FFF2-40B4-BE49-F238E27FC236}">
                  <a16:creationId xmlns:a16="http://schemas.microsoft.com/office/drawing/2014/main" id="{2980A54A-6833-4211-34A0-45369C767C22}"/>
                </a:ext>
              </a:extLst>
            </p:cNvPr>
            <p:cNvSpPr/>
            <p:nvPr/>
          </p:nvSpPr>
          <p:spPr>
            <a:xfrm>
              <a:off x="457200" y="2194560"/>
              <a:ext cx="137160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36" name="Text 22">
              <a:extLst>
                <a:ext uri="{FF2B5EF4-FFF2-40B4-BE49-F238E27FC236}">
                  <a16:creationId xmlns:a16="http://schemas.microsoft.com/office/drawing/2014/main" id="{EAC10EB3-8E47-B4E4-AF76-970F2888BCFA}"/>
                </a:ext>
              </a:extLst>
            </p:cNvPr>
            <p:cNvSpPr/>
            <p:nvPr/>
          </p:nvSpPr>
          <p:spPr>
            <a:xfrm>
              <a:off x="548640" y="2194560"/>
              <a:ext cx="1188720" cy="32004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Exploration</a:t>
              </a:r>
              <a:endParaRPr lang="en-US" sz="1600" dirty="0">
                <a:latin typeface="Helvetica Neue Light"/>
              </a:endParaRPr>
            </a:p>
          </p:txBody>
        </p:sp>
        <p:sp>
          <p:nvSpPr>
            <p:cNvPr id="37" name="Shape 23">
              <a:extLst>
                <a:ext uri="{FF2B5EF4-FFF2-40B4-BE49-F238E27FC236}">
                  <a16:creationId xmlns:a16="http://schemas.microsoft.com/office/drawing/2014/main" id="{7218F145-163A-694D-5D93-B1B1170613CB}"/>
                </a:ext>
              </a:extLst>
            </p:cNvPr>
            <p:cNvSpPr/>
            <p:nvPr/>
          </p:nvSpPr>
          <p:spPr>
            <a:xfrm>
              <a:off x="1828800" y="2194560"/>
              <a:ext cx="283464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38" name="Text 24">
              <a:extLst>
                <a:ext uri="{FF2B5EF4-FFF2-40B4-BE49-F238E27FC236}">
                  <a16:creationId xmlns:a16="http://schemas.microsoft.com/office/drawing/2014/main" id="{D8B30E7F-8603-D03C-4AA4-A2B21556FC65}"/>
                </a:ext>
              </a:extLst>
            </p:cNvPr>
            <p:cNvSpPr/>
            <p:nvPr/>
          </p:nvSpPr>
          <p:spPr>
            <a:xfrm>
              <a:off x="1920240" y="2194560"/>
              <a:ext cx="265176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Single path</a:t>
              </a:r>
              <a:endParaRPr lang="en-US" sz="1600" dirty="0">
                <a:latin typeface="Helvetica Neue Light"/>
              </a:endParaRPr>
            </a:p>
          </p:txBody>
        </p:sp>
        <p:sp>
          <p:nvSpPr>
            <p:cNvPr id="39" name="Shape 25">
              <a:extLst>
                <a:ext uri="{FF2B5EF4-FFF2-40B4-BE49-F238E27FC236}">
                  <a16:creationId xmlns:a16="http://schemas.microsoft.com/office/drawing/2014/main" id="{94BF7FBB-9644-A983-BCA9-6AE1D590F9E8}"/>
                </a:ext>
              </a:extLst>
            </p:cNvPr>
            <p:cNvSpPr/>
            <p:nvPr/>
          </p:nvSpPr>
          <p:spPr>
            <a:xfrm>
              <a:off x="4663440" y="2194560"/>
              <a:ext cx="356616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40" name="Text 26">
              <a:extLst>
                <a:ext uri="{FF2B5EF4-FFF2-40B4-BE49-F238E27FC236}">
                  <a16:creationId xmlns:a16="http://schemas.microsoft.com/office/drawing/2014/main" id="{CB418150-1D21-A179-F1E1-B98877F5A547}"/>
                </a:ext>
              </a:extLst>
            </p:cNvPr>
            <p:cNvSpPr/>
            <p:nvPr/>
          </p:nvSpPr>
          <p:spPr>
            <a:xfrm>
              <a:off x="4754880" y="2194560"/>
              <a:ext cx="3383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Multiple paths with backtracking</a:t>
              </a:r>
              <a:endParaRPr lang="en-US" sz="1600" dirty="0">
                <a:latin typeface="Helvetica Neue Light"/>
              </a:endParaRPr>
            </a:p>
          </p:txBody>
        </p:sp>
        <p:sp>
          <p:nvSpPr>
            <p:cNvPr id="41" name="Shape 27">
              <a:extLst>
                <a:ext uri="{FF2B5EF4-FFF2-40B4-BE49-F238E27FC236}">
                  <a16:creationId xmlns:a16="http://schemas.microsoft.com/office/drawing/2014/main" id="{1C1A8314-8B10-99EC-FA3C-6FFC61EEA35C}"/>
                </a:ext>
              </a:extLst>
            </p:cNvPr>
            <p:cNvSpPr/>
            <p:nvPr/>
          </p:nvSpPr>
          <p:spPr>
            <a:xfrm>
              <a:off x="457200" y="2514600"/>
              <a:ext cx="137160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42" name="Text 28">
              <a:extLst>
                <a:ext uri="{FF2B5EF4-FFF2-40B4-BE49-F238E27FC236}">
                  <a16:creationId xmlns:a16="http://schemas.microsoft.com/office/drawing/2014/main" id="{9111CDF8-BF2A-908E-A548-A4358EF85E52}"/>
                </a:ext>
              </a:extLst>
            </p:cNvPr>
            <p:cNvSpPr/>
            <p:nvPr/>
          </p:nvSpPr>
          <p:spPr>
            <a:xfrm>
              <a:off x="548640" y="2514600"/>
              <a:ext cx="1188720" cy="32004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Visibility</a:t>
              </a:r>
              <a:endParaRPr lang="en-US" sz="1600" dirty="0">
                <a:latin typeface="Helvetica Neue Light"/>
              </a:endParaRPr>
            </a:p>
          </p:txBody>
        </p:sp>
        <p:sp>
          <p:nvSpPr>
            <p:cNvPr id="43" name="Shape 29">
              <a:extLst>
                <a:ext uri="{FF2B5EF4-FFF2-40B4-BE49-F238E27FC236}">
                  <a16:creationId xmlns:a16="http://schemas.microsoft.com/office/drawing/2014/main" id="{505C7A4C-822B-0BC1-1764-7B39E4E43E9A}"/>
                </a:ext>
              </a:extLst>
            </p:cNvPr>
            <p:cNvSpPr/>
            <p:nvPr/>
          </p:nvSpPr>
          <p:spPr>
            <a:xfrm>
              <a:off x="1828800" y="2514600"/>
              <a:ext cx="283464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44" name="Text 30">
              <a:extLst>
                <a:ext uri="{FF2B5EF4-FFF2-40B4-BE49-F238E27FC236}">
                  <a16:creationId xmlns:a16="http://schemas.microsoft.com/office/drawing/2014/main" id="{C0ABA9B5-5703-50FC-DE3C-D4E0378746E1}"/>
                </a:ext>
              </a:extLst>
            </p:cNvPr>
            <p:cNvSpPr/>
            <p:nvPr/>
          </p:nvSpPr>
          <p:spPr>
            <a:xfrm>
              <a:off x="1920240" y="2514600"/>
              <a:ext cx="265176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Usually visible</a:t>
              </a:r>
              <a:endParaRPr lang="en-US" sz="1600" dirty="0">
                <a:latin typeface="Helvetica Neue Light"/>
              </a:endParaRPr>
            </a:p>
          </p:txBody>
        </p:sp>
        <p:sp>
          <p:nvSpPr>
            <p:cNvPr id="45" name="Shape 31">
              <a:extLst>
                <a:ext uri="{FF2B5EF4-FFF2-40B4-BE49-F238E27FC236}">
                  <a16:creationId xmlns:a16="http://schemas.microsoft.com/office/drawing/2014/main" id="{58E604B1-0B8F-17F7-BD54-A1B86F6D95D7}"/>
                </a:ext>
              </a:extLst>
            </p:cNvPr>
            <p:cNvSpPr/>
            <p:nvPr/>
          </p:nvSpPr>
          <p:spPr>
            <a:xfrm>
              <a:off x="4663440" y="2514600"/>
              <a:ext cx="356616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46" name="Text 32">
              <a:extLst>
                <a:ext uri="{FF2B5EF4-FFF2-40B4-BE49-F238E27FC236}">
                  <a16:creationId xmlns:a16="http://schemas.microsoft.com/office/drawing/2014/main" id="{A2435FEE-9EAA-54AF-E1D8-53EA7C785BCA}"/>
                </a:ext>
              </a:extLst>
            </p:cNvPr>
            <p:cNvSpPr/>
            <p:nvPr/>
          </p:nvSpPr>
          <p:spPr>
            <a:xfrm>
              <a:off x="4754880" y="2514600"/>
              <a:ext cx="3383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Often hidden</a:t>
              </a:r>
              <a:endParaRPr lang="en-US" sz="1600" dirty="0">
                <a:latin typeface="Helvetica Neue Light"/>
              </a:endParaRPr>
            </a:p>
          </p:txBody>
        </p:sp>
        <p:sp>
          <p:nvSpPr>
            <p:cNvPr id="47" name="Shape 33">
              <a:extLst>
                <a:ext uri="{FF2B5EF4-FFF2-40B4-BE49-F238E27FC236}">
                  <a16:creationId xmlns:a16="http://schemas.microsoft.com/office/drawing/2014/main" id="{426978A4-56DB-2882-B60E-562A387D3709}"/>
                </a:ext>
              </a:extLst>
            </p:cNvPr>
            <p:cNvSpPr/>
            <p:nvPr/>
          </p:nvSpPr>
          <p:spPr>
            <a:xfrm>
              <a:off x="457200" y="2834640"/>
              <a:ext cx="137160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48" name="Text 34">
              <a:extLst>
                <a:ext uri="{FF2B5EF4-FFF2-40B4-BE49-F238E27FC236}">
                  <a16:creationId xmlns:a16="http://schemas.microsoft.com/office/drawing/2014/main" id="{2AE065D8-9F58-2F3A-EE78-B68385662E1A}"/>
                </a:ext>
              </a:extLst>
            </p:cNvPr>
            <p:cNvSpPr/>
            <p:nvPr/>
          </p:nvSpPr>
          <p:spPr>
            <a:xfrm>
              <a:off x="548640" y="2834640"/>
              <a:ext cx="1188720" cy="32004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Training</a:t>
              </a:r>
              <a:endParaRPr lang="en-US" sz="1600" dirty="0">
                <a:latin typeface="Helvetica Neue Light"/>
              </a:endParaRPr>
            </a:p>
          </p:txBody>
        </p:sp>
        <p:sp>
          <p:nvSpPr>
            <p:cNvPr id="49" name="Shape 35">
              <a:extLst>
                <a:ext uri="{FF2B5EF4-FFF2-40B4-BE49-F238E27FC236}">
                  <a16:creationId xmlns:a16="http://schemas.microsoft.com/office/drawing/2014/main" id="{8FA784B5-5736-D53D-44D7-944B9BE38AA6}"/>
                </a:ext>
              </a:extLst>
            </p:cNvPr>
            <p:cNvSpPr/>
            <p:nvPr/>
          </p:nvSpPr>
          <p:spPr>
            <a:xfrm>
              <a:off x="1828800" y="2834640"/>
              <a:ext cx="283464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50" name="Text 36">
              <a:extLst>
                <a:ext uri="{FF2B5EF4-FFF2-40B4-BE49-F238E27FC236}">
                  <a16:creationId xmlns:a16="http://schemas.microsoft.com/office/drawing/2014/main" id="{5E2382AD-99D1-3CE1-DB6B-1BAA03D52EEC}"/>
                </a:ext>
              </a:extLst>
            </p:cNvPr>
            <p:cNvSpPr/>
            <p:nvPr/>
          </p:nvSpPr>
          <p:spPr>
            <a:xfrm>
              <a:off x="1920240" y="2834640"/>
              <a:ext cx="265176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Prompting technique</a:t>
              </a:r>
              <a:endParaRPr lang="en-US" sz="1600" dirty="0">
                <a:latin typeface="Helvetica Neue Light"/>
              </a:endParaRPr>
            </a:p>
          </p:txBody>
        </p:sp>
        <p:sp>
          <p:nvSpPr>
            <p:cNvPr id="51" name="Shape 37">
              <a:extLst>
                <a:ext uri="{FF2B5EF4-FFF2-40B4-BE49-F238E27FC236}">
                  <a16:creationId xmlns:a16="http://schemas.microsoft.com/office/drawing/2014/main" id="{7E6D361A-74A8-5C9F-606C-A8CCC32AC840}"/>
                </a:ext>
              </a:extLst>
            </p:cNvPr>
            <p:cNvSpPr/>
            <p:nvPr/>
          </p:nvSpPr>
          <p:spPr>
            <a:xfrm>
              <a:off x="4663440" y="2834640"/>
              <a:ext cx="356616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52" name="Text 38">
              <a:extLst>
                <a:ext uri="{FF2B5EF4-FFF2-40B4-BE49-F238E27FC236}">
                  <a16:creationId xmlns:a16="http://schemas.microsoft.com/office/drawing/2014/main" id="{7928B34A-3920-8779-04F8-FB59FF088A18}"/>
                </a:ext>
              </a:extLst>
            </p:cNvPr>
            <p:cNvSpPr/>
            <p:nvPr/>
          </p:nvSpPr>
          <p:spPr>
            <a:xfrm>
              <a:off x="4754880" y="2834640"/>
              <a:ext cx="3383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Trained with reinforcement learning</a:t>
              </a:r>
              <a:endParaRPr lang="en-US" sz="1600" dirty="0">
                <a:latin typeface="Helvetica Neue Light"/>
              </a:endParaRPr>
            </a:p>
          </p:txBody>
        </p:sp>
        <p:sp>
          <p:nvSpPr>
            <p:cNvPr id="53" name="Shape 39">
              <a:extLst>
                <a:ext uri="{FF2B5EF4-FFF2-40B4-BE49-F238E27FC236}">
                  <a16:creationId xmlns:a16="http://schemas.microsoft.com/office/drawing/2014/main" id="{795B16C7-1AAF-633F-75CA-0F3BB7ABE86B}"/>
                </a:ext>
              </a:extLst>
            </p:cNvPr>
            <p:cNvSpPr/>
            <p:nvPr/>
          </p:nvSpPr>
          <p:spPr>
            <a:xfrm>
              <a:off x="457200" y="3154680"/>
              <a:ext cx="137160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54" name="Text 40">
              <a:extLst>
                <a:ext uri="{FF2B5EF4-FFF2-40B4-BE49-F238E27FC236}">
                  <a16:creationId xmlns:a16="http://schemas.microsoft.com/office/drawing/2014/main" id="{B40A1138-7F62-544A-7B1D-DF3E7C490F69}"/>
                </a:ext>
              </a:extLst>
            </p:cNvPr>
            <p:cNvSpPr/>
            <p:nvPr/>
          </p:nvSpPr>
          <p:spPr>
            <a:xfrm>
              <a:off x="548640" y="3154680"/>
              <a:ext cx="1188720" cy="32004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Cost</a:t>
              </a:r>
              <a:endParaRPr lang="en-US" sz="1600" dirty="0">
                <a:latin typeface="Helvetica Neue Light"/>
              </a:endParaRPr>
            </a:p>
          </p:txBody>
        </p:sp>
        <p:sp>
          <p:nvSpPr>
            <p:cNvPr id="55" name="Shape 41">
              <a:extLst>
                <a:ext uri="{FF2B5EF4-FFF2-40B4-BE49-F238E27FC236}">
                  <a16:creationId xmlns:a16="http://schemas.microsoft.com/office/drawing/2014/main" id="{0D2F575F-9F09-BFB5-B56A-5E3EA0BF9AF6}"/>
                </a:ext>
              </a:extLst>
            </p:cNvPr>
            <p:cNvSpPr/>
            <p:nvPr/>
          </p:nvSpPr>
          <p:spPr>
            <a:xfrm>
              <a:off x="1828800" y="3154680"/>
              <a:ext cx="283464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56" name="Text 42">
              <a:extLst>
                <a:ext uri="{FF2B5EF4-FFF2-40B4-BE49-F238E27FC236}">
                  <a16:creationId xmlns:a16="http://schemas.microsoft.com/office/drawing/2014/main" id="{12CF3069-CE9C-3A01-58DA-6587E6970CA3}"/>
                </a:ext>
              </a:extLst>
            </p:cNvPr>
            <p:cNvSpPr/>
            <p:nvPr/>
          </p:nvSpPr>
          <p:spPr>
            <a:xfrm>
              <a:off x="1920240" y="3154680"/>
              <a:ext cx="265176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Minimal overhead</a:t>
              </a:r>
              <a:endParaRPr lang="en-US" sz="1600" dirty="0">
                <a:latin typeface="Helvetica Neue Light"/>
              </a:endParaRPr>
            </a:p>
          </p:txBody>
        </p:sp>
        <p:sp>
          <p:nvSpPr>
            <p:cNvPr id="57" name="Shape 43">
              <a:extLst>
                <a:ext uri="{FF2B5EF4-FFF2-40B4-BE49-F238E27FC236}">
                  <a16:creationId xmlns:a16="http://schemas.microsoft.com/office/drawing/2014/main" id="{E580D1B4-D96B-463E-B82B-B900CC1347F8}"/>
                </a:ext>
              </a:extLst>
            </p:cNvPr>
            <p:cNvSpPr/>
            <p:nvPr/>
          </p:nvSpPr>
          <p:spPr>
            <a:xfrm>
              <a:off x="4663440" y="3154680"/>
              <a:ext cx="3566160" cy="320040"/>
            </a:xfrm>
            <a:prstGeom prst="rect">
              <a:avLst/>
            </a:prstGeom>
            <a:solidFill>
              <a:srgbClr val="F5F6FA"/>
            </a:solidFill>
            <a:ln w="6350">
              <a:solidFill>
                <a:srgbClr val="636E72"/>
              </a:solidFill>
              <a:prstDash val="solid"/>
            </a:ln>
          </p:spPr>
          <p:txBody>
            <a:bodyPr/>
            <a:lstStyle/>
            <a:p>
              <a:endParaRPr lang="en-US" sz="4000">
                <a:latin typeface="Helvetica Neue Light"/>
              </a:endParaRPr>
            </a:p>
          </p:txBody>
        </p:sp>
        <p:sp>
          <p:nvSpPr>
            <p:cNvPr id="58" name="Text 44">
              <a:extLst>
                <a:ext uri="{FF2B5EF4-FFF2-40B4-BE49-F238E27FC236}">
                  <a16:creationId xmlns:a16="http://schemas.microsoft.com/office/drawing/2014/main" id="{CF8516FE-031B-40F8-C3B4-9D0329328439}"/>
                </a:ext>
              </a:extLst>
            </p:cNvPr>
            <p:cNvSpPr/>
            <p:nvPr/>
          </p:nvSpPr>
          <p:spPr>
            <a:xfrm>
              <a:off x="4754880" y="3154680"/>
              <a:ext cx="3383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10-100x compute cost</a:t>
              </a:r>
              <a:endParaRPr lang="en-US" sz="1600" dirty="0">
                <a:latin typeface="Helvetica Neue Light"/>
              </a:endParaRPr>
            </a:p>
          </p:txBody>
        </p:sp>
        <p:sp>
          <p:nvSpPr>
            <p:cNvPr id="59" name="Shape 45">
              <a:extLst>
                <a:ext uri="{FF2B5EF4-FFF2-40B4-BE49-F238E27FC236}">
                  <a16:creationId xmlns:a16="http://schemas.microsoft.com/office/drawing/2014/main" id="{7BC38540-98D1-2F6E-4375-3ABA902CFC10}"/>
                </a:ext>
              </a:extLst>
            </p:cNvPr>
            <p:cNvSpPr/>
            <p:nvPr/>
          </p:nvSpPr>
          <p:spPr>
            <a:xfrm>
              <a:off x="457200" y="3474720"/>
              <a:ext cx="137160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60" name="Text 46">
              <a:extLst>
                <a:ext uri="{FF2B5EF4-FFF2-40B4-BE49-F238E27FC236}">
                  <a16:creationId xmlns:a16="http://schemas.microsoft.com/office/drawing/2014/main" id="{F443E043-FBF1-638B-1974-572395456D82}"/>
                </a:ext>
              </a:extLst>
            </p:cNvPr>
            <p:cNvSpPr/>
            <p:nvPr/>
          </p:nvSpPr>
          <p:spPr>
            <a:xfrm>
              <a:off x="548640" y="3474720"/>
              <a:ext cx="1188720" cy="32004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Reliability</a:t>
              </a:r>
              <a:endParaRPr lang="en-US" sz="1600" dirty="0">
                <a:latin typeface="Helvetica Neue Light"/>
              </a:endParaRPr>
            </a:p>
          </p:txBody>
        </p:sp>
        <p:sp>
          <p:nvSpPr>
            <p:cNvPr id="61" name="Shape 47">
              <a:extLst>
                <a:ext uri="{FF2B5EF4-FFF2-40B4-BE49-F238E27FC236}">
                  <a16:creationId xmlns:a16="http://schemas.microsoft.com/office/drawing/2014/main" id="{7343AF00-3AA3-EF69-13E4-85EA686544DB}"/>
                </a:ext>
              </a:extLst>
            </p:cNvPr>
            <p:cNvSpPr/>
            <p:nvPr/>
          </p:nvSpPr>
          <p:spPr>
            <a:xfrm>
              <a:off x="1828800" y="3474720"/>
              <a:ext cx="283464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62" name="Text 48">
              <a:extLst>
                <a:ext uri="{FF2B5EF4-FFF2-40B4-BE49-F238E27FC236}">
                  <a16:creationId xmlns:a16="http://schemas.microsoft.com/office/drawing/2014/main" id="{4F09614B-121E-F62A-88AC-CDFC299000F6}"/>
                </a:ext>
              </a:extLst>
            </p:cNvPr>
            <p:cNvSpPr/>
            <p:nvPr/>
          </p:nvSpPr>
          <p:spPr>
            <a:xfrm>
              <a:off x="1920240" y="3474720"/>
              <a:ext cx="265176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Hit or miss</a:t>
              </a:r>
              <a:endParaRPr lang="en-US" sz="1600" dirty="0">
                <a:latin typeface="Helvetica Neue Light"/>
              </a:endParaRPr>
            </a:p>
          </p:txBody>
        </p:sp>
        <p:sp>
          <p:nvSpPr>
            <p:cNvPr id="63" name="Shape 49">
              <a:extLst>
                <a:ext uri="{FF2B5EF4-FFF2-40B4-BE49-F238E27FC236}">
                  <a16:creationId xmlns:a16="http://schemas.microsoft.com/office/drawing/2014/main" id="{F0FB3C49-E155-B9DF-CBF5-EFF9017A914B}"/>
                </a:ext>
              </a:extLst>
            </p:cNvPr>
            <p:cNvSpPr/>
            <p:nvPr/>
          </p:nvSpPr>
          <p:spPr>
            <a:xfrm>
              <a:off x="4663440" y="3474720"/>
              <a:ext cx="3566160" cy="320040"/>
            </a:xfrm>
            <a:prstGeom prst="rect">
              <a:avLst/>
            </a:prstGeom>
            <a:solidFill>
              <a:srgbClr val="FFFFFF"/>
            </a:solidFill>
            <a:ln w="6350">
              <a:solidFill>
                <a:srgbClr val="636E72"/>
              </a:solidFill>
              <a:prstDash val="solid"/>
            </a:ln>
          </p:spPr>
          <p:txBody>
            <a:bodyPr/>
            <a:lstStyle/>
            <a:p>
              <a:endParaRPr lang="en-US" sz="4000">
                <a:latin typeface="Helvetica Neue Light"/>
              </a:endParaRPr>
            </a:p>
          </p:txBody>
        </p:sp>
        <p:sp>
          <p:nvSpPr>
            <p:cNvPr id="64" name="Text 50">
              <a:extLst>
                <a:ext uri="{FF2B5EF4-FFF2-40B4-BE49-F238E27FC236}">
                  <a16:creationId xmlns:a16="http://schemas.microsoft.com/office/drawing/2014/main" id="{5B729F54-BDE3-0355-BD45-F336C78A9B2D}"/>
                </a:ext>
              </a:extLst>
            </p:cNvPr>
            <p:cNvSpPr/>
            <p:nvPr/>
          </p:nvSpPr>
          <p:spPr>
            <a:xfrm>
              <a:off x="4754880" y="3474720"/>
              <a:ext cx="3383280" cy="32004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Consistently higher accuracy</a:t>
              </a:r>
              <a:endParaRPr lang="en-US" sz="1600" dirty="0">
                <a:latin typeface="Helvetica Neue Light"/>
              </a:endParaRPr>
            </a:p>
          </p:txBody>
        </p:sp>
        <p:sp>
          <p:nvSpPr>
            <p:cNvPr id="65" name="Text 51">
              <a:extLst>
                <a:ext uri="{FF2B5EF4-FFF2-40B4-BE49-F238E27FC236}">
                  <a16:creationId xmlns:a16="http://schemas.microsoft.com/office/drawing/2014/main" id="{0C7A5345-7181-E7C5-6FF9-6222160AFC52}"/>
                </a:ext>
              </a:extLst>
            </p:cNvPr>
            <p:cNvSpPr/>
            <p:nvPr/>
          </p:nvSpPr>
          <p:spPr>
            <a:xfrm>
              <a:off x="457200" y="3996557"/>
              <a:ext cx="822960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The Future Beyond Current CoT:</a:t>
              </a:r>
              <a:endParaRPr lang="en-US" sz="2000" dirty="0">
                <a:latin typeface="Helvetica Neue Light"/>
              </a:endParaRPr>
            </a:p>
          </p:txBody>
        </p:sp>
        <p:sp>
          <p:nvSpPr>
            <p:cNvPr id="66" name="Text 52">
              <a:extLst>
                <a:ext uri="{FF2B5EF4-FFF2-40B4-BE49-F238E27FC236}">
                  <a16:creationId xmlns:a16="http://schemas.microsoft.com/office/drawing/2014/main" id="{38BC7367-E2BE-6E90-53B4-FD9733CB2387}"/>
                </a:ext>
              </a:extLst>
            </p:cNvPr>
            <p:cNvSpPr/>
            <p:nvPr/>
          </p:nvSpPr>
          <p:spPr>
            <a:xfrm>
              <a:off x="457200" y="4304708"/>
              <a:ext cx="8229600" cy="949812"/>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Recursive</a:t>
              </a:r>
              <a:r>
                <a:rPr lang="en-US" dirty="0">
                  <a:solidFill>
                    <a:srgbClr val="2D3436"/>
                  </a:solidFill>
                  <a:latin typeface="Helvetica Neue Light"/>
                  <a:ea typeface="Calibri" pitchFamily="34" charset="-122"/>
                  <a:cs typeface="Calibri" pitchFamily="34" charset="-120"/>
                </a:rPr>
                <a:t> CoT (chains spawning sub-chains) • </a:t>
              </a:r>
            </a:p>
            <a:p>
              <a:pPr marL="0" indent="0">
                <a:buNone/>
              </a:pPr>
              <a:r>
                <a:rPr lang="en-US" b="1" dirty="0">
                  <a:solidFill>
                    <a:srgbClr val="2D3436"/>
                  </a:solidFill>
                  <a:latin typeface="Helvetica Neue Light"/>
                  <a:ea typeface="Calibri" pitchFamily="34" charset="-122"/>
                  <a:cs typeface="Calibri" pitchFamily="34" charset="-120"/>
                </a:rPr>
                <a:t>Collaborative</a:t>
              </a:r>
              <a:r>
                <a:rPr lang="en-US" dirty="0">
                  <a:solidFill>
                    <a:srgbClr val="2D3436"/>
                  </a:solidFill>
                  <a:latin typeface="Helvetica Neue Light"/>
                  <a:ea typeface="Calibri" pitchFamily="34" charset="-122"/>
                  <a:cs typeface="Calibri" pitchFamily="34" charset="-120"/>
                </a:rPr>
                <a:t> CoT (multiple models reasoning together) • </a:t>
              </a:r>
            </a:p>
            <a:p>
              <a:pPr marL="0" indent="0">
                <a:buNone/>
              </a:pPr>
              <a:r>
                <a:rPr lang="en-US" b="1" dirty="0">
                  <a:solidFill>
                    <a:srgbClr val="2D3436"/>
                  </a:solidFill>
                  <a:latin typeface="Helvetica Neue Light"/>
                  <a:ea typeface="Calibri" pitchFamily="34" charset="-122"/>
                  <a:cs typeface="Calibri" pitchFamily="34" charset="-120"/>
                </a:rPr>
                <a:t>Adaptive</a:t>
              </a:r>
              <a:r>
                <a:rPr lang="en-US" dirty="0">
                  <a:solidFill>
                    <a:srgbClr val="2D3436"/>
                  </a:solidFill>
                  <a:latin typeface="Helvetica Neue Light"/>
                  <a:ea typeface="Calibri" pitchFamily="34" charset="-122"/>
                  <a:cs typeface="Calibri" pitchFamily="34" charset="-120"/>
                </a:rPr>
                <a:t> CoT (real-time adjustment based on feedback) • </a:t>
              </a:r>
            </a:p>
            <a:p>
              <a:pPr marL="0" indent="0">
                <a:buNone/>
              </a:pPr>
              <a:r>
                <a:rPr lang="en-US" b="1" dirty="0">
                  <a:solidFill>
                    <a:srgbClr val="2D3436"/>
                  </a:solidFill>
                  <a:latin typeface="Helvetica Neue Light"/>
                  <a:ea typeface="Calibri" pitchFamily="34" charset="-122"/>
                  <a:cs typeface="Calibri" pitchFamily="34" charset="-120"/>
                </a:rPr>
                <a:t>Verified</a:t>
              </a:r>
              <a:r>
                <a:rPr lang="en-US" dirty="0">
                  <a:solidFill>
                    <a:srgbClr val="2D3436"/>
                  </a:solidFill>
                  <a:latin typeface="Helvetica Neue Light"/>
                  <a:ea typeface="Calibri" pitchFamily="34" charset="-122"/>
                  <a:cs typeface="Calibri" pitchFamily="34" charset="-120"/>
                </a:rPr>
                <a:t> CoT (external tools checking each step)</a:t>
              </a:r>
              <a:endParaRPr lang="en-US" dirty="0">
                <a:latin typeface="Helvetica Neue Light"/>
              </a:endParaRPr>
            </a:p>
          </p:txBody>
        </p:sp>
      </p:grpSp>
    </p:spTree>
    <p:extLst>
      <p:ext uri="{BB962C8B-B14F-4D97-AF65-F5344CB8AC3E}">
        <p14:creationId xmlns:p14="http://schemas.microsoft.com/office/powerpoint/2010/main" val="2535017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A697F-1663-6679-3BE6-14CF9FC22AB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BD402B-C751-1D89-FAE7-4F64A433AA93}"/>
              </a:ext>
            </a:extLst>
          </p:cNvPr>
          <p:cNvSpPr>
            <a:spLocks noGrp="1"/>
          </p:cNvSpPr>
          <p:nvPr>
            <p:ph type="title"/>
          </p:nvPr>
        </p:nvSpPr>
        <p:spPr>
          <a:xfrm>
            <a:off x="623887" y="3582464"/>
            <a:ext cx="8520113" cy="980012"/>
          </a:xfrm>
        </p:spPr>
        <p:txBody>
          <a:bodyPr/>
          <a:lstStyle/>
          <a:p>
            <a:r>
              <a:rPr lang="en-US" sz="2800" i="1" dirty="0"/>
              <a:t>Part 9 </a:t>
            </a:r>
            <a:br>
              <a:rPr lang="en-US" sz="3200" dirty="0"/>
            </a:br>
            <a:r>
              <a:rPr lang="en-US" sz="3200" dirty="0"/>
              <a:t>	</a:t>
            </a:r>
            <a:r>
              <a:rPr lang="en-US" sz="3600" dirty="0"/>
              <a:t>Zero, One, Multi-Shots Learning in AI</a:t>
            </a:r>
            <a:endParaRPr lang="en-US" sz="3200" dirty="0"/>
          </a:p>
        </p:txBody>
      </p:sp>
      <p:sp>
        <p:nvSpPr>
          <p:cNvPr id="2" name="Text Placeholder 1">
            <a:extLst>
              <a:ext uri="{FF2B5EF4-FFF2-40B4-BE49-F238E27FC236}">
                <a16:creationId xmlns:a16="http://schemas.microsoft.com/office/drawing/2014/main" id="{968D3973-19C9-14BD-80B3-A601CAB5C3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0819F6-5B73-ADB3-CB28-91E84F378B80}"/>
              </a:ext>
            </a:extLst>
          </p:cNvPr>
          <p:cNvSpPr>
            <a:spLocks noGrp="1"/>
          </p:cNvSpPr>
          <p:nvPr>
            <p:ph type="sldNum" sz="quarter" idx="12"/>
          </p:nvPr>
        </p:nvSpPr>
        <p:spPr/>
        <p:txBody>
          <a:bodyPr/>
          <a:lstStyle/>
          <a:p>
            <a:fld id="{21EF4C0E-91FA-4D94-8941-E22F3A83D5F1}" type="slidenum">
              <a:rPr lang="en-US" smtClean="0"/>
              <a:t>51</a:t>
            </a:fld>
            <a:endParaRPr lang="en-US"/>
          </a:p>
        </p:txBody>
      </p:sp>
    </p:spTree>
    <p:extLst>
      <p:ext uri="{BB962C8B-B14F-4D97-AF65-F5344CB8AC3E}">
        <p14:creationId xmlns:p14="http://schemas.microsoft.com/office/powerpoint/2010/main" val="41919396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199" y="365126"/>
            <a:ext cx="8789543" cy="641741"/>
          </a:xfrm>
        </p:spPr>
        <p:txBody>
          <a:bodyPr/>
          <a:lstStyle/>
          <a:p>
            <a:r>
              <a:rPr lang="en-US" sz="3200" dirty="0"/>
              <a:t>Zero, One, Multi-Shots Learning in AI - </a:t>
            </a:r>
            <a:r>
              <a:rPr lang="en-US" sz="3200" b="1" dirty="0"/>
              <a:t>Video (3:45)  </a:t>
            </a:r>
            <a:endParaRPr lang="en-US" sz="3200" dirty="0"/>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52</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419552" y="6590004"/>
            <a:ext cx="2477095" cy="215444"/>
          </a:xfrm>
          <a:prstGeom prst="rect">
            <a:avLst/>
          </a:prstGeom>
          <a:noFill/>
        </p:spPr>
        <p:txBody>
          <a:bodyPr wrap="square">
            <a:spAutoFit/>
          </a:bodyPr>
          <a:lstStyle/>
          <a:p>
            <a:r>
              <a:rPr lang="en-US" sz="800" dirty="0">
                <a:solidFill>
                  <a:schemeClr val="bg2">
                    <a:lumMod val="90000"/>
                  </a:schemeClr>
                </a:solidFill>
              </a:rPr>
              <a:t>https://www.youtube.com/watch?v=sW5xoicq5TY</a:t>
            </a:r>
          </a:p>
        </p:txBody>
      </p:sp>
      <p:pic>
        <p:nvPicPr>
          <p:cNvPr id="4" name="Online Media 3" title="Zero-shot, One-shot and Few-shot Prompting Explained | Prompt Engineering 101">
            <a:hlinkClick r:id="" action="ppaction://media"/>
            <a:extLst>
              <a:ext uri="{FF2B5EF4-FFF2-40B4-BE49-F238E27FC236}">
                <a16:creationId xmlns:a16="http://schemas.microsoft.com/office/drawing/2014/main" id="{F23ECD48-BECC-B701-42C8-CD7B9281FD28}"/>
              </a:ext>
            </a:extLst>
          </p:cNvPr>
          <p:cNvPicPr>
            <a:picLocks noRot="1" noChangeAspect="1"/>
          </p:cNvPicPr>
          <p:nvPr>
            <a:videoFile r:link="rId1"/>
          </p:nvPr>
        </p:nvPicPr>
        <p:blipFill>
          <a:blip r:embed="rId3"/>
          <a:stretch>
            <a:fillRect/>
          </a:stretch>
        </p:blipFill>
        <p:spPr>
          <a:xfrm>
            <a:off x="520262" y="1653958"/>
            <a:ext cx="8529145" cy="4815413"/>
          </a:xfrm>
          <a:prstGeom prst="rect">
            <a:avLst/>
          </a:prstGeom>
        </p:spPr>
      </p:pic>
      <p:sp>
        <p:nvSpPr>
          <p:cNvPr id="6" name="TextBox 5">
            <a:extLst>
              <a:ext uri="{FF2B5EF4-FFF2-40B4-BE49-F238E27FC236}">
                <a16:creationId xmlns:a16="http://schemas.microsoft.com/office/drawing/2014/main" id="{B1D25473-A17F-6052-CFCA-C881B47F17A7}"/>
              </a:ext>
            </a:extLst>
          </p:cNvPr>
          <p:cNvSpPr txBox="1"/>
          <p:nvPr/>
        </p:nvSpPr>
        <p:spPr>
          <a:xfrm>
            <a:off x="457199" y="1127500"/>
            <a:ext cx="7587466" cy="369332"/>
          </a:xfrm>
          <a:prstGeom prst="rect">
            <a:avLst/>
          </a:prstGeom>
          <a:noFill/>
        </p:spPr>
        <p:txBody>
          <a:bodyPr wrap="square">
            <a:spAutoFit/>
          </a:bodyPr>
          <a:lstStyle/>
          <a:p>
            <a:r>
              <a:rPr lang="en-US" i="1" dirty="0">
                <a:latin typeface="Helvetica Neue Light"/>
              </a:rPr>
              <a:t>Understanding prompt engineering with different amounts of examples</a:t>
            </a:r>
          </a:p>
        </p:txBody>
      </p:sp>
    </p:spTree>
    <p:extLst>
      <p:ext uri="{BB962C8B-B14F-4D97-AF65-F5344CB8AC3E}">
        <p14:creationId xmlns:p14="http://schemas.microsoft.com/office/powerpoint/2010/main" val="5019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EEB2D5DF-15CD-990E-C2CE-4DCB0A242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51337-A637-DB6E-FF0D-A6A6DC9C03A0}"/>
              </a:ext>
            </a:extLst>
          </p:cNvPr>
          <p:cNvSpPr>
            <a:spLocks noGrp="1"/>
          </p:cNvSpPr>
          <p:nvPr>
            <p:ph type="title"/>
          </p:nvPr>
        </p:nvSpPr>
        <p:spPr>
          <a:xfrm>
            <a:off x="390417" y="365646"/>
            <a:ext cx="8671389" cy="536622"/>
          </a:xfrm>
        </p:spPr>
        <p:txBody>
          <a:bodyPr/>
          <a:lstStyle/>
          <a:p>
            <a:r>
              <a:rPr lang="en-US" sz="3200" dirty="0"/>
              <a:t>Teaching AI with Different Amounts of Examples</a:t>
            </a:r>
          </a:p>
        </p:txBody>
      </p:sp>
      <p:sp>
        <p:nvSpPr>
          <p:cNvPr id="5" name="Slide Number Placeholder 4">
            <a:extLst>
              <a:ext uri="{FF2B5EF4-FFF2-40B4-BE49-F238E27FC236}">
                <a16:creationId xmlns:a16="http://schemas.microsoft.com/office/drawing/2014/main" id="{1F5F836E-CED3-6E44-4547-B8C2E696144C}"/>
              </a:ext>
            </a:extLst>
          </p:cNvPr>
          <p:cNvSpPr>
            <a:spLocks noGrp="1"/>
          </p:cNvSpPr>
          <p:nvPr>
            <p:ph type="sldNum" sz="quarter" idx="12"/>
          </p:nvPr>
        </p:nvSpPr>
        <p:spPr/>
        <p:txBody>
          <a:bodyPr/>
          <a:lstStyle/>
          <a:p>
            <a:fld id="{21EF4C0E-91FA-4D94-8941-E22F3A83D5F1}" type="slidenum">
              <a:rPr lang="en-US" smtClean="0"/>
              <a:t>53</a:t>
            </a:fld>
            <a:endParaRPr lang="en-US"/>
          </a:p>
        </p:txBody>
      </p:sp>
      <p:sp>
        <p:nvSpPr>
          <p:cNvPr id="6" name="TextBox 5">
            <a:extLst>
              <a:ext uri="{FF2B5EF4-FFF2-40B4-BE49-F238E27FC236}">
                <a16:creationId xmlns:a16="http://schemas.microsoft.com/office/drawing/2014/main" id="{95558A05-00A9-5203-1D78-68361AD04A49}"/>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B5D6DCA1-6107-A06F-412F-712A4665A6BB}"/>
              </a:ext>
            </a:extLst>
          </p:cNvPr>
          <p:cNvGrpSpPr/>
          <p:nvPr/>
        </p:nvGrpSpPr>
        <p:grpSpPr>
          <a:xfrm>
            <a:off x="457199" y="1280160"/>
            <a:ext cx="8772264" cy="3846644"/>
            <a:chOff x="457200" y="1280160"/>
            <a:chExt cx="8325332" cy="2651760"/>
          </a:xfrm>
        </p:grpSpPr>
        <p:sp>
          <p:nvSpPr>
            <p:cNvPr id="4" name="Shape 3">
              <a:extLst>
                <a:ext uri="{FF2B5EF4-FFF2-40B4-BE49-F238E27FC236}">
                  <a16:creationId xmlns:a16="http://schemas.microsoft.com/office/drawing/2014/main" id="{E8FD5C63-87AB-4A3C-B08B-97329BA58502}"/>
                </a:ext>
              </a:extLst>
            </p:cNvPr>
            <p:cNvSpPr/>
            <p:nvPr/>
          </p:nvSpPr>
          <p:spPr>
            <a:xfrm>
              <a:off x="457200" y="1280160"/>
              <a:ext cx="8229600" cy="8229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7" name="Shape 4">
              <a:extLst>
                <a:ext uri="{FF2B5EF4-FFF2-40B4-BE49-F238E27FC236}">
                  <a16:creationId xmlns:a16="http://schemas.microsoft.com/office/drawing/2014/main" id="{AAC8B7D1-C049-B400-8108-65CC49BA1183}"/>
                </a:ext>
              </a:extLst>
            </p:cNvPr>
            <p:cNvSpPr/>
            <p:nvPr/>
          </p:nvSpPr>
          <p:spPr>
            <a:xfrm>
              <a:off x="457200" y="1280160"/>
              <a:ext cx="54864" cy="822960"/>
            </a:xfrm>
            <a:prstGeom prst="rect">
              <a:avLst/>
            </a:prstGeom>
            <a:solidFill>
              <a:srgbClr val="1C7293"/>
            </a:solidFill>
            <a:ln/>
          </p:spPr>
          <p:txBody>
            <a:bodyPr/>
            <a:lstStyle/>
            <a:p>
              <a:endParaRPr lang="en-US" sz="3600">
                <a:latin typeface="Helvetica Neue Light"/>
              </a:endParaRPr>
            </a:p>
          </p:txBody>
        </p:sp>
        <p:sp>
          <p:nvSpPr>
            <p:cNvPr id="8" name="Text 5">
              <a:extLst>
                <a:ext uri="{FF2B5EF4-FFF2-40B4-BE49-F238E27FC236}">
                  <a16:creationId xmlns:a16="http://schemas.microsoft.com/office/drawing/2014/main" id="{8354D441-955C-BADF-963E-F28513BCF186}"/>
                </a:ext>
              </a:extLst>
            </p:cNvPr>
            <p:cNvSpPr/>
            <p:nvPr/>
          </p:nvSpPr>
          <p:spPr>
            <a:xfrm>
              <a:off x="685800" y="1325880"/>
              <a:ext cx="164592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Zero-Shot</a:t>
              </a:r>
              <a:endParaRPr lang="en-US" sz="2000" dirty="0">
                <a:latin typeface="Helvetica Neue Light"/>
              </a:endParaRPr>
            </a:p>
          </p:txBody>
        </p:sp>
        <p:sp>
          <p:nvSpPr>
            <p:cNvPr id="9" name="Text 6">
              <a:extLst>
                <a:ext uri="{FF2B5EF4-FFF2-40B4-BE49-F238E27FC236}">
                  <a16:creationId xmlns:a16="http://schemas.microsoft.com/office/drawing/2014/main" id="{909B5BA3-7B1A-F278-3916-C7C65EFCC830}"/>
                </a:ext>
              </a:extLst>
            </p:cNvPr>
            <p:cNvSpPr/>
            <p:nvPr/>
          </p:nvSpPr>
          <p:spPr>
            <a:xfrm>
              <a:off x="685800" y="1600200"/>
              <a:ext cx="3657600" cy="4572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Model makes predictions on unseen tasks without prior examples</a:t>
              </a:r>
              <a:endParaRPr lang="en-US" sz="1600" dirty="0">
                <a:latin typeface="Helvetica Neue Light"/>
              </a:endParaRPr>
            </a:p>
          </p:txBody>
        </p:sp>
        <p:sp>
          <p:nvSpPr>
            <p:cNvPr id="10" name="Text 7">
              <a:extLst>
                <a:ext uri="{FF2B5EF4-FFF2-40B4-BE49-F238E27FC236}">
                  <a16:creationId xmlns:a16="http://schemas.microsoft.com/office/drawing/2014/main" id="{04B5895F-3828-CE8E-669E-5853DE0554BC}"/>
                </a:ext>
              </a:extLst>
            </p:cNvPr>
            <p:cNvSpPr/>
            <p:nvPr/>
          </p:nvSpPr>
          <p:spPr>
            <a:xfrm>
              <a:off x="4402556" y="1371600"/>
              <a:ext cx="4023360" cy="365760"/>
            </a:xfrm>
            <a:prstGeom prst="rect">
              <a:avLst/>
            </a:prstGeom>
            <a:noFill/>
            <a:ln/>
          </p:spPr>
          <p:txBody>
            <a:bodyPr wrap="square" rtlCol="0" anchor="ctr"/>
            <a:lstStyle/>
            <a:p>
              <a:pPr marL="0" indent="0">
                <a:buNone/>
              </a:pPr>
              <a:r>
                <a:rPr lang="en-US" sz="1600" b="1" i="1" dirty="0">
                  <a:solidFill>
                    <a:srgbClr val="636E72"/>
                  </a:solidFill>
                  <a:latin typeface="Helvetica Neue Light"/>
                  <a:ea typeface="Calibri" pitchFamily="34" charset="-122"/>
                  <a:cs typeface="Calibri" pitchFamily="34" charset="-120"/>
                </a:rPr>
                <a:t>Example</a:t>
              </a:r>
              <a:r>
                <a:rPr lang="en-US" sz="1600" i="1" dirty="0">
                  <a:solidFill>
                    <a:srgbClr val="636E72"/>
                  </a:solidFill>
                  <a:latin typeface="Helvetica Neue Light"/>
                  <a:ea typeface="Calibri" pitchFamily="34" charset="-122"/>
                  <a:cs typeface="Calibri" pitchFamily="34" charset="-120"/>
                </a:rPr>
                <a:t>: Translating a sentence into a new 	language without training data</a:t>
              </a:r>
              <a:endParaRPr lang="en-US" sz="1600" dirty="0">
                <a:latin typeface="Helvetica Neue Light"/>
              </a:endParaRPr>
            </a:p>
          </p:txBody>
        </p:sp>
        <p:sp>
          <p:nvSpPr>
            <p:cNvPr id="11" name="Text 8">
              <a:extLst>
                <a:ext uri="{FF2B5EF4-FFF2-40B4-BE49-F238E27FC236}">
                  <a16:creationId xmlns:a16="http://schemas.microsoft.com/office/drawing/2014/main" id="{A141943A-73C0-303F-729C-DD500D1FF0CA}"/>
                </a:ext>
              </a:extLst>
            </p:cNvPr>
            <p:cNvSpPr/>
            <p:nvPr/>
          </p:nvSpPr>
          <p:spPr>
            <a:xfrm>
              <a:off x="4402556" y="1783080"/>
              <a:ext cx="4023360" cy="320040"/>
            </a:xfrm>
            <a:prstGeom prst="rect">
              <a:avLst/>
            </a:prstGeom>
            <a:noFill/>
            <a:ln/>
          </p:spPr>
          <p:txBody>
            <a:bodyPr wrap="square" rtlCol="0" anchor="ctr"/>
            <a:lstStyle/>
            <a:p>
              <a:pPr marL="0" indent="0" defTabSz="744538">
                <a:buNone/>
              </a:pPr>
              <a:r>
                <a:rPr lang="en-US" sz="1600" dirty="0">
                  <a:solidFill>
                    <a:srgbClr val="2D3436"/>
                  </a:solidFill>
                  <a:latin typeface="Helvetica Neue Light"/>
                  <a:ea typeface="Calibri" pitchFamily="34" charset="-122"/>
                  <a:cs typeface="Calibri" pitchFamily="34" charset="-120"/>
                </a:rPr>
                <a:t>Data: 		No labeled examples | </a:t>
              </a:r>
            </a:p>
            <a:p>
              <a:pPr marL="0" indent="0" defTabSz="744538">
                <a:buNone/>
              </a:pPr>
              <a:r>
                <a:rPr lang="en-US" sz="1600" dirty="0">
                  <a:solidFill>
                    <a:srgbClr val="2D3436"/>
                  </a:solidFill>
                  <a:latin typeface="Helvetica Neue Light"/>
                  <a:ea typeface="Calibri" pitchFamily="34" charset="-122"/>
                  <a:cs typeface="Calibri" pitchFamily="34" charset="-120"/>
                </a:rPr>
                <a:t>Performance: 	Lower accuracy</a:t>
              </a:r>
              <a:endParaRPr lang="en-US" sz="1600" dirty="0">
                <a:latin typeface="Helvetica Neue Light"/>
              </a:endParaRPr>
            </a:p>
          </p:txBody>
        </p:sp>
        <p:sp>
          <p:nvSpPr>
            <p:cNvPr id="12" name="Shape 9">
              <a:extLst>
                <a:ext uri="{FF2B5EF4-FFF2-40B4-BE49-F238E27FC236}">
                  <a16:creationId xmlns:a16="http://schemas.microsoft.com/office/drawing/2014/main" id="{BEEA135A-249B-0BB7-4051-68CD2439FCF8}"/>
                </a:ext>
              </a:extLst>
            </p:cNvPr>
            <p:cNvSpPr/>
            <p:nvPr/>
          </p:nvSpPr>
          <p:spPr>
            <a:xfrm>
              <a:off x="457200" y="2194560"/>
              <a:ext cx="8229600" cy="8229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13" name="Shape 10">
              <a:extLst>
                <a:ext uri="{FF2B5EF4-FFF2-40B4-BE49-F238E27FC236}">
                  <a16:creationId xmlns:a16="http://schemas.microsoft.com/office/drawing/2014/main" id="{44F5544C-DAC9-F61E-CC99-4E2218DF2CF2}"/>
                </a:ext>
              </a:extLst>
            </p:cNvPr>
            <p:cNvSpPr/>
            <p:nvPr/>
          </p:nvSpPr>
          <p:spPr>
            <a:xfrm>
              <a:off x="457200" y="2194560"/>
              <a:ext cx="54864" cy="822960"/>
            </a:xfrm>
            <a:prstGeom prst="rect">
              <a:avLst/>
            </a:prstGeom>
            <a:solidFill>
              <a:srgbClr val="E07A5F"/>
            </a:solidFill>
            <a:ln/>
          </p:spPr>
          <p:txBody>
            <a:bodyPr/>
            <a:lstStyle/>
            <a:p>
              <a:endParaRPr lang="en-US" sz="3600">
                <a:latin typeface="Helvetica Neue Light"/>
              </a:endParaRPr>
            </a:p>
          </p:txBody>
        </p:sp>
        <p:sp>
          <p:nvSpPr>
            <p:cNvPr id="14" name="Text 11">
              <a:extLst>
                <a:ext uri="{FF2B5EF4-FFF2-40B4-BE49-F238E27FC236}">
                  <a16:creationId xmlns:a16="http://schemas.microsoft.com/office/drawing/2014/main" id="{C6ED728C-4802-89C8-CC22-BAA250F9726E}"/>
                </a:ext>
              </a:extLst>
            </p:cNvPr>
            <p:cNvSpPr/>
            <p:nvPr/>
          </p:nvSpPr>
          <p:spPr>
            <a:xfrm>
              <a:off x="685800" y="2240280"/>
              <a:ext cx="164592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One-Shot</a:t>
              </a:r>
              <a:endParaRPr lang="en-US" sz="2000" dirty="0">
                <a:latin typeface="Helvetica Neue Light"/>
              </a:endParaRPr>
            </a:p>
          </p:txBody>
        </p:sp>
        <p:sp>
          <p:nvSpPr>
            <p:cNvPr id="15" name="Text 12">
              <a:extLst>
                <a:ext uri="{FF2B5EF4-FFF2-40B4-BE49-F238E27FC236}">
                  <a16:creationId xmlns:a16="http://schemas.microsoft.com/office/drawing/2014/main" id="{39B0DBDB-129C-4BE9-703A-45AF8C904948}"/>
                </a:ext>
              </a:extLst>
            </p:cNvPr>
            <p:cNvSpPr/>
            <p:nvPr/>
          </p:nvSpPr>
          <p:spPr>
            <a:xfrm>
              <a:off x="685800" y="2514600"/>
              <a:ext cx="3657600" cy="4572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Model learns from just one example per class</a:t>
              </a:r>
              <a:endParaRPr lang="en-US" sz="1600" dirty="0">
                <a:latin typeface="Helvetica Neue Light"/>
              </a:endParaRPr>
            </a:p>
          </p:txBody>
        </p:sp>
        <p:sp>
          <p:nvSpPr>
            <p:cNvPr id="16" name="Text 13">
              <a:extLst>
                <a:ext uri="{FF2B5EF4-FFF2-40B4-BE49-F238E27FC236}">
                  <a16:creationId xmlns:a16="http://schemas.microsoft.com/office/drawing/2014/main" id="{EAB7B4EA-E6C2-5703-A206-A6B38CAEC1AA}"/>
                </a:ext>
              </a:extLst>
            </p:cNvPr>
            <p:cNvSpPr/>
            <p:nvPr/>
          </p:nvSpPr>
          <p:spPr>
            <a:xfrm>
              <a:off x="4402556" y="2286000"/>
              <a:ext cx="4023360" cy="365760"/>
            </a:xfrm>
            <a:prstGeom prst="rect">
              <a:avLst/>
            </a:prstGeom>
            <a:noFill/>
            <a:ln/>
          </p:spPr>
          <p:txBody>
            <a:bodyPr wrap="square" rtlCol="0" anchor="ctr"/>
            <a:lstStyle/>
            <a:p>
              <a:pPr marL="0" indent="0">
                <a:buNone/>
              </a:pPr>
              <a:r>
                <a:rPr lang="en-US" sz="1600" b="1" i="1" dirty="0">
                  <a:solidFill>
                    <a:srgbClr val="636E72"/>
                  </a:solidFill>
                  <a:latin typeface="Helvetica Neue Light"/>
                  <a:ea typeface="Calibri" pitchFamily="34" charset="-122"/>
                  <a:cs typeface="Calibri" pitchFamily="34" charset="-120"/>
                </a:rPr>
                <a:t>Example</a:t>
              </a:r>
              <a:r>
                <a:rPr lang="en-US" sz="1600" i="1" dirty="0">
                  <a:solidFill>
                    <a:srgbClr val="636E72"/>
                  </a:solidFill>
                  <a:latin typeface="Helvetica Neue Light"/>
                  <a:ea typeface="Calibri" pitchFamily="34" charset="-122"/>
                  <a:cs typeface="Calibri" pitchFamily="34" charset="-120"/>
                </a:rPr>
                <a:t>: Recognizing a person's face from a 	single photo</a:t>
              </a:r>
              <a:endParaRPr lang="en-US" sz="1600" dirty="0">
                <a:latin typeface="Helvetica Neue Light"/>
              </a:endParaRPr>
            </a:p>
          </p:txBody>
        </p:sp>
        <p:sp>
          <p:nvSpPr>
            <p:cNvPr id="17" name="Text 14">
              <a:extLst>
                <a:ext uri="{FF2B5EF4-FFF2-40B4-BE49-F238E27FC236}">
                  <a16:creationId xmlns:a16="http://schemas.microsoft.com/office/drawing/2014/main" id="{CE62AA7D-5CAC-3248-66C2-9171D26FDC3B}"/>
                </a:ext>
              </a:extLst>
            </p:cNvPr>
            <p:cNvSpPr/>
            <p:nvPr/>
          </p:nvSpPr>
          <p:spPr>
            <a:xfrm>
              <a:off x="4402556" y="2697480"/>
              <a:ext cx="4206240" cy="320040"/>
            </a:xfrm>
            <a:prstGeom prst="rect">
              <a:avLst/>
            </a:prstGeom>
            <a:noFill/>
            <a:ln/>
          </p:spPr>
          <p:txBody>
            <a:bodyPr wrap="square" rtlCol="0" anchor="ctr"/>
            <a:lstStyle/>
            <a:p>
              <a:pPr marL="0" indent="0" defTabSz="744538">
                <a:buNone/>
              </a:pPr>
              <a:r>
                <a:rPr lang="en-US" sz="1600" dirty="0">
                  <a:solidFill>
                    <a:srgbClr val="2D3436"/>
                  </a:solidFill>
                  <a:latin typeface="Helvetica Neue Light"/>
                  <a:ea typeface="Calibri" pitchFamily="34" charset="-122"/>
                  <a:cs typeface="Calibri" pitchFamily="34" charset="-120"/>
                </a:rPr>
                <a:t>Data: 		1 labeled example per class | </a:t>
              </a:r>
            </a:p>
            <a:p>
              <a:pPr marL="0" indent="0">
                <a:buNone/>
                <a:tabLst>
                  <a:tab pos="1489075" algn="l"/>
                </a:tabLst>
              </a:pPr>
              <a:r>
                <a:rPr lang="en-US" sz="1600" dirty="0">
                  <a:solidFill>
                    <a:srgbClr val="2D3436"/>
                  </a:solidFill>
                  <a:latin typeface="Helvetica Neue Light"/>
                  <a:ea typeface="Calibri" pitchFamily="34" charset="-122"/>
                  <a:cs typeface="Calibri" pitchFamily="34" charset="-120"/>
                </a:rPr>
                <a:t>Performance: 	Moderate accuracy</a:t>
              </a:r>
              <a:endParaRPr lang="en-US" sz="1600" dirty="0">
                <a:latin typeface="Helvetica Neue Light"/>
              </a:endParaRPr>
            </a:p>
          </p:txBody>
        </p:sp>
        <p:sp>
          <p:nvSpPr>
            <p:cNvPr id="18" name="Shape 15">
              <a:extLst>
                <a:ext uri="{FF2B5EF4-FFF2-40B4-BE49-F238E27FC236}">
                  <a16:creationId xmlns:a16="http://schemas.microsoft.com/office/drawing/2014/main" id="{F1B70521-F4CB-8070-F684-8AFD8002CAAF}"/>
                </a:ext>
              </a:extLst>
            </p:cNvPr>
            <p:cNvSpPr/>
            <p:nvPr/>
          </p:nvSpPr>
          <p:spPr>
            <a:xfrm>
              <a:off x="457200" y="3108960"/>
              <a:ext cx="8229600" cy="8229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19" name="Shape 16">
              <a:extLst>
                <a:ext uri="{FF2B5EF4-FFF2-40B4-BE49-F238E27FC236}">
                  <a16:creationId xmlns:a16="http://schemas.microsoft.com/office/drawing/2014/main" id="{CA83FC29-CEA6-79BF-207F-C3E5ABAA80F1}"/>
                </a:ext>
              </a:extLst>
            </p:cNvPr>
            <p:cNvSpPr/>
            <p:nvPr/>
          </p:nvSpPr>
          <p:spPr>
            <a:xfrm>
              <a:off x="457200" y="3108960"/>
              <a:ext cx="54864" cy="822960"/>
            </a:xfrm>
            <a:prstGeom prst="rect">
              <a:avLst/>
            </a:prstGeom>
            <a:solidFill>
              <a:srgbClr val="84B59F"/>
            </a:solidFill>
            <a:ln/>
          </p:spPr>
          <p:txBody>
            <a:bodyPr/>
            <a:lstStyle/>
            <a:p>
              <a:endParaRPr lang="en-US" sz="3600">
                <a:latin typeface="Helvetica Neue Light"/>
              </a:endParaRPr>
            </a:p>
          </p:txBody>
        </p:sp>
        <p:sp>
          <p:nvSpPr>
            <p:cNvPr id="20" name="Text 17">
              <a:extLst>
                <a:ext uri="{FF2B5EF4-FFF2-40B4-BE49-F238E27FC236}">
                  <a16:creationId xmlns:a16="http://schemas.microsoft.com/office/drawing/2014/main" id="{B2B23E6E-6DA7-C69B-1144-219EB66F5250}"/>
                </a:ext>
              </a:extLst>
            </p:cNvPr>
            <p:cNvSpPr/>
            <p:nvPr/>
          </p:nvSpPr>
          <p:spPr>
            <a:xfrm>
              <a:off x="685800" y="3154680"/>
              <a:ext cx="1645920"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Few-Shot</a:t>
              </a:r>
              <a:endParaRPr lang="en-US" sz="2000" dirty="0">
                <a:latin typeface="Helvetica Neue Light"/>
              </a:endParaRPr>
            </a:p>
          </p:txBody>
        </p:sp>
        <p:sp>
          <p:nvSpPr>
            <p:cNvPr id="21" name="Text 18">
              <a:extLst>
                <a:ext uri="{FF2B5EF4-FFF2-40B4-BE49-F238E27FC236}">
                  <a16:creationId xmlns:a16="http://schemas.microsoft.com/office/drawing/2014/main" id="{8F776023-BC24-EF0F-D08D-7496095F2014}"/>
                </a:ext>
              </a:extLst>
            </p:cNvPr>
            <p:cNvSpPr/>
            <p:nvPr/>
          </p:nvSpPr>
          <p:spPr>
            <a:xfrm>
              <a:off x="685800" y="3429000"/>
              <a:ext cx="3657600" cy="4572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Model learns with a small number of examples</a:t>
              </a:r>
              <a:endParaRPr lang="en-US" sz="1600" dirty="0">
                <a:latin typeface="Helvetica Neue Light"/>
              </a:endParaRPr>
            </a:p>
          </p:txBody>
        </p:sp>
        <p:sp>
          <p:nvSpPr>
            <p:cNvPr id="22" name="Text 19">
              <a:extLst>
                <a:ext uri="{FF2B5EF4-FFF2-40B4-BE49-F238E27FC236}">
                  <a16:creationId xmlns:a16="http://schemas.microsoft.com/office/drawing/2014/main" id="{64DD69F2-41A4-94B6-8D39-2BF66FDDB29F}"/>
                </a:ext>
              </a:extLst>
            </p:cNvPr>
            <p:cNvSpPr/>
            <p:nvPr/>
          </p:nvSpPr>
          <p:spPr>
            <a:xfrm>
              <a:off x="4402556" y="3154680"/>
              <a:ext cx="4023360" cy="365760"/>
            </a:xfrm>
            <a:prstGeom prst="rect">
              <a:avLst/>
            </a:prstGeom>
            <a:noFill/>
            <a:ln/>
          </p:spPr>
          <p:txBody>
            <a:bodyPr wrap="square" rtlCol="0" anchor="ctr"/>
            <a:lstStyle/>
            <a:p>
              <a:pPr marL="0" indent="0">
                <a:buNone/>
              </a:pPr>
              <a:r>
                <a:rPr lang="en-US" sz="1600" b="1" i="1" dirty="0">
                  <a:solidFill>
                    <a:srgbClr val="636E72"/>
                  </a:solidFill>
                  <a:latin typeface="Helvetica Neue Light"/>
                  <a:ea typeface="Calibri" pitchFamily="34" charset="-122"/>
                  <a:cs typeface="Calibri" pitchFamily="34" charset="-120"/>
                </a:rPr>
                <a:t>Example</a:t>
              </a:r>
              <a:r>
                <a:rPr lang="en-US" sz="1600" i="1" dirty="0">
                  <a:solidFill>
                    <a:srgbClr val="636E72"/>
                  </a:solidFill>
                  <a:latin typeface="Helvetica Neue Light"/>
                  <a:ea typeface="Calibri" pitchFamily="34" charset="-122"/>
                  <a:cs typeface="Calibri" pitchFamily="34" charset="-120"/>
                </a:rPr>
                <a:t>: Classifying new objects after seeing 	a few labeled images</a:t>
              </a:r>
              <a:endParaRPr lang="en-US" sz="1600" dirty="0">
                <a:latin typeface="Helvetica Neue Light"/>
              </a:endParaRPr>
            </a:p>
          </p:txBody>
        </p:sp>
        <p:sp>
          <p:nvSpPr>
            <p:cNvPr id="23" name="Text 20">
              <a:extLst>
                <a:ext uri="{FF2B5EF4-FFF2-40B4-BE49-F238E27FC236}">
                  <a16:creationId xmlns:a16="http://schemas.microsoft.com/office/drawing/2014/main" id="{712F6E81-E0F5-AFDD-1C29-9FFA7931D82B}"/>
                </a:ext>
              </a:extLst>
            </p:cNvPr>
            <p:cNvSpPr/>
            <p:nvPr/>
          </p:nvSpPr>
          <p:spPr>
            <a:xfrm>
              <a:off x="4402556" y="3566160"/>
              <a:ext cx="4379976" cy="320040"/>
            </a:xfrm>
            <a:prstGeom prst="rect">
              <a:avLst/>
            </a:prstGeom>
            <a:noFill/>
            <a:ln/>
          </p:spPr>
          <p:txBody>
            <a:bodyPr wrap="square" rtlCol="0" anchor="ctr"/>
            <a:lstStyle/>
            <a:p>
              <a:pPr marL="0" indent="0" defTabSz="771525">
                <a:buNone/>
              </a:pPr>
              <a:r>
                <a:rPr lang="en-US" sz="1600" dirty="0">
                  <a:solidFill>
                    <a:srgbClr val="2D3436"/>
                  </a:solidFill>
                  <a:latin typeface="Helvetica Neue Light"/>
                  <a:ea typeface="Calibri" pitchFamily="34" charset="-122"/>
                  <a:cs typeface="Calibri" pitchFamily="34" charset="-120"/>
                </a:rPr>
                <a:t>Data: 		Few labeled examples per class | </a:t>
              </a:r>
            </a:p>
            <a:p>
              <a:pPr marL="0" indent="0">
                <a:buNone/>
                <a:tabLst>
                  <a:tab pos="1541463" algn="l"/>
                </a:tabLst>
              </a:pPr>
              <a:r>
                <a:rPr lang="en-US" sz="1600" dirty="0">
                  <a:solidFill>
                    <a:srgbClr val="2D3436"/>
                  </a:solidFill>
                  <a:latin typeface="Helvetica Neue Light"/>
                  <a:ea typeface="Calibri" pitchFamily="34" charset="-122"/>
                  <a:cs typeface="Calibri" pitchFamily="34" charset="-120"/>
                </a:rPr>
                <a:t>Performance: 	Higher accuracy</a:t>
              </a:r>
              <a:endParaRPr lang="en-US" sz="1600" dirty="0">
                <a:latin typeface="Helvetica Neue Light"/>
              </a:endParaRPr>
            </a:p>
          </p:txBody>
        </p:sp>
      </p:grpSp>
    </p:spTree>
    <p:extLst>
      <p:ext uri="{BB962C8B-B14F-4D97-AF65-F5344CB8AC3E}">
        <p14:creationId xmlns:p14="http://schemas.microsoft.com/office/powerpoint/2010/main" val="28981332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3E3DD06-0446-11AA-F719-807CB5D7A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4BC6B-F720-0DAA-C7A0-AB3CAE24EBA1}"/>
              </a:ext>
            </a:extLst>
          </p:cNvPr>
          <p:cNvSpPr>
            <a:spLocks noGrp="1"/>
          </p:cNvSpPr>
          <p:nvPr>
            <p:ph type="title"/>
          </p:nvPr>
        </p:nvSpPr>
        <p:spPr>
          <a:xfrm>
            <a:off x="457200" y="365126"/>
            <a:ext cx="8229600" cy="592213"/>
          </a:xfrm>
        </p:spPr>
        <p:txBody>
          <a:bodyPr/>
          <a:lstStyle/>
          <a:p>
            <a:r>
              <a:rPr lang="en-US" dirty="0"/>
              <a:t>Core Innovation &amp; Applications</a:t>
            </a:r>
          </a:p>
        </p:txBody>
      </p:sp>
      <p:sp>
        <p:nvSpPr>
          <p:cNvPr id="5" name="Slide Number Placeholder 4">
            <a:extLst>
              <a:ext uri="{FF2B5EF4-FFF2-40B4-BE49-F238E27FC236}">
                <a16:creationId xmlns:a16="http://schemas.microsoft.com/office/drawing/2014/main" id="{24EDD974-8441-61E5-7CC8-8931D9502833}"/>
              </a:ext>
            </a:extLst>
          </p:cNvPr>
          <p:cNvSpPr>
            <a:spLocks noGrp="1"/>
          </p:cNvSpPr>
          <p:nvPr>
            <p:ph type="sldNum" sz="quarter" idx="12"/>
          </p:nvPr>
        </p:nvSpPr>
        <p:spPr/>
        <p:txBody>
          <a:bodyPr/>
          <a:lstStyle/>
          <a:p>
            <a:fld id="{21EF4C0E-91FA-4D94-8941-E22F3A83D5F1}" type="slidenum">
              <a:rPr lang="en-US" smtClean="0"/>
              <a:t>54</a:t>
            </a:fld>
            <a:endParaRPr lang="en-US"/>
          </a:p>
        </p:txBody>
      </p:sp>
      <p:sp>
        <p:nvSpPr>
          <p:cNvPr id="6" name="TextBox 5">
            <a:extLst>
              <a:ext uri="{FF2B5EF4-FFF2-40B4-BE49-F238E27FC236}">
                <a16:creationId xmlns:a16="http://schemas.microsoft.com/office/drawing/2014/main" id="{3152458B-6810-82DB-69E7-4F2EF40A5819}"/>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5501C62B-9B1A-F633-6A83-6A628485956F}"/>
              </a:ext>
            </a:extLst>
          </p:cNvPr>
          <p:cNvGrpSpPr/>
          <p:nvPr/>
        </p:nvGrpSpPr>
        <p:grpSpPr>
          <a:xfrm>
            <a:off x="457200" y="1234440"/>
            <a:ext cx="8604606" cy="4621830"/>
            <a:chOff x="457200" y="1234440"/>
            <a:chExt cx="8541992" cy="2834640"/>
          </a:xfrm>
        </p:grpSpPr>
        <p:sp>
          <p:nvSpPr>
            <p:cNvPr id="4" name="Shape 3">
              <a:extLst>
                <a:ext uri="{FF2B5EF4-FFF2-40B4-BE49-F238E27FC236}">
                  <a16:creationId xmlns:a16="http://schemas.microsoft.com/office/drawing/2014/main" id="{4F13B9A2-31A1-EE93-7F4B-23923CD7F22A}"/>
                </a:ext>
              </a:extLst>
            </p:cNvPr>
            <p:cNvSpPr/>
            <p:nvPr/>
          </p:nvSpPr>
          <p:spPr>
            <a:xfrm>
              <a:off x="511337" y="1234440"/>
              <a:ext cx="8487855"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8739EF76-E95B-E121-DF43-31EE06CB2E7E}"/>
                </a:ext>
              </a:extLst>
            </p:cNvPr>
            <p:cNvSpPr/>
            <p:nvPr/>
          </p:nvSpPr>
          <p:spPr>
            <a:xfrm>
              <a:off x="457200" y="1234440"/>
              <a:ext cx="54864" cy="91440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32C92648-CE63-0F0D-93BC-DAABD9D55134}"/>
                </a:ext>
              </a:extLst>
            </p:cNvPr>
            <p:cNvSpPr/>
            <p:nvPr/>
          </p:nvSpPr>
          <p:spPr>
            <a:xfrm>
              <a:off x="522613" y="1244779"/>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Core Innovation:</a:t>
              </a:r>
              <a:endParaRPr lang="en-US" dirty="0">
                <a:latin typeface="Helvetica Neue Light"/>
              </a:endParaRPr>
            </a:p>
          </p:txBody>
        </p:sp>
        <p:sp>
          <p:nvSpPr>
            <p:cNvPr id="9" name="Text 6">
              <a:extLst>
                <a:ext uri="{FF2B5EF4-FFF2-40B4-BE49-F238E27FC236}">
                  <a16:creationId xmlns:a16="http://schemas.microsoft.com/office/drawing/2014/main" id="{7E1B3C72-8115-A343-3CEB-72B7E70F0C12}"/>
                </a:ext>
              </a:extLst>
            </p:cNvPr>
            <p:cNvSpPr/>
            <p:nvPr/>
          </p:nvSpPr>
          <p:spPr>
            <a:xfrm>
              <a:off x="511337" y="1600200"/>
              <a:ext cx="8382588" cy="4572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Instead of needing thousands of labeled examples (traditional ML), modern AI can generalize from zero to just a few examples using pattern recognition from pre-training. This is possible because large language models learn general patterns during pre-training that can be applied to new tasks.</a:t>
              </a:r>
              <a:endParaRPr lang="en-US" sz="1600" dirty="0">
                <a:latin typeface="Helvetica Neue Light"/>
              </a:endParaRPr>
            </a:p>
          </p:txBody>
        </p:sp>
        <p:sp>
          <p:nvSpPr>
            <p:cNvPr id="10" name="Shape 7">
              <a:extLst>
                <a:ext uri="{FF2B5EF4-FFF2-40B4-BE49-F238E27FC236}">
                  <a16:creationId xmlns:a16="http://schemas.microsoft.com/office/drawing/2014/main" id="{3068D896-300D-E845-60BC-0D73E6F98A21}"/>
                </a:ext>
              </a:extLst>
            </p:cNvPr>
            <p:cNvSpPr/>
            <p:nvPr/>
          </p:nvSpPr>
          <p:spPr>
            <a:xfrm>
              <a:off x="457200" y="2286000"/>
              <a:ext cx="4023360" cy="1097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D9B93477-9B5F-C0DF-3B7E-4C0D1B1132BC}"/>
                </a:ext>
              </a:extLst>
            </p:cNvPr>
            <p:cNvSpPr/>
            <p:nvPr/>
          </p:nvSpPr>
          <p:spPr>
            <a:xfrm>
              <a:off x="457200" y="2286000"/>
              <a:ext cx="54864" cy="1097280"/>
            </a:xfrm>
            <a:prstGeom prst="rect">
              <a:avLst/>
            </a:prstGeom>
            <a:solidFill>
              <a:srgbClr val="1C7293"/>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B8863B7F-EC22-CD84-7999-F5AB3952A0B4}"/>
                </a:ext>
              </a:extLst>
            </p:cNvPr>
            <p:cNvSpPr/>
            <p:nvPr/>
          </p:nvSpPr>
          <p:spPr>
            <a:xfrm>
              <a:off x="522613" y="2377440"/>
              <a:ext cx="36576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 In-Context Learning</a:t>
              </a:r>
              <a:endParaRPr lang="en-US" dirty="0">
                <a:latin typeface="Helvetica Neue Light"/>
              </a:endParaRPr>
            </a:p>
          </p:txBody>
        </p:sp>
        <p:sp>
          <p:nvSpPr>
            <p:cNvPr id="13" name="Text 10">
              <a:extLst>
                <a:ext uri="{FF2B5EF4-FFF2-40B4-BE49-F238E27FC236}">
                  <a16:creationId xmlns:a16="http://schemas.microsoft.com/office/drawing/2014/main" id="{54542262-D385-4F1C-8E87-730D50FDBA41}"/>
                </a:ext>
              </a:extLst>
            </p:cNvPr>
            <p:cNvSpPr/>
            <p:nvPr/>
          </p:nvSpPr>
          <p:spPr>
            <a:xfrm>
              <a:off x="566202" y="2651760"/>
              <a:ext cx="3914358" cy="6400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Large language models can adapt to new tasks just from examples in the prompt, without updating their weights — the examples act as temporary "programming".</a:t>
              </a:r>
              <a:endParaRPr lang="en-US" sz="1600" dirty="0">
                <a:latin typeface="Helvetica Neue Light"/>
              </a:endParaRPr>
            </a:p>
          </p:txBody>
        </p:sp>
        <p:sp>
          <p:nvSpPr>
            <p:cNvPr id="14" name="Shape 11">
              <a:extLst>
                <a:ext uri="{FF2B5EF4-FFF2-40B4-BE49-F238E27FC236}">
                  <a16:creationId xmlns:a16="http://schemas.microsoft.com/office/drawing/2014/main" id="{DC155C66-B202-1C1C-E839-64D14D4D0368}"/>
                </a:ext>
              </a:extLst>
            </p:cNvPr>
            <p:cNvSpPr/>
            <p:nvPr/>
          </p:nvSpPr>
          <p:spPr>
            <a:xfrm>
              <a:off x="4717578" y="2286000"/>
              <a:ext cx="4281614" cy="1097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5" name="Shape 12">
              <a:extLst>
                <a:ext uri="{FF2B5EF4-FFF2-40B4-BE49-F238E27FC236}">
                  <a16:creationId xmlns:a16="http://schemas.microsoft.com/office/drawing/2014/main" id="{326214C8-AFCD-1A7F-F378-01B1DAC7763A}"/>
                </a:ext>
              </a:extLst>
            </p:cNvPr>
            <p:cNvSpPr/>
            <p:nvPr/>
          </p:nvSpPr>
          <p:spPr>
            <a:xfrm>
              <a:off x="4663440" y="2286000"/>
              <a:ext cx="54864" cy="1097280"/>
            </a:xfrm>
            <a:prstGeom prst="rect">
              <a:avLst/>
            </a:prstGeom>
            <a:solidFill>
              <a:srgbClr val="84B59F"/>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54BE0D32-7D51-F7B9-D554-50C37A924D65}"/>
                </a:ext>
              </a:extLst>
            </p:cNvPr>
            <p:cNvSpPr/>
            <p:nvPr/>
          </p:nvSpPr>
          <p:spPr>
            <a:xfrm>
              <a:off x="4690872" y="2392245"/>
              <a:ext cx="36576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Real-World Applications</a:t>
              </a:r>
              <a:endParaRPr lang="en-US" dirty="0">
                <a:latin typeface="Helvetica Neue Light"/>
              </a:endParaRPr>
            </a:p>
          </p:txBody>
        </p:sp>
        <p:sp>
          <p:nvSpPr>
            <p:cNvPr id="17" name="Text 14">
              <a:extLst>
                <a:ext uri="{FF2B5EF4-FFF2-40B4-BE49-F238E27FC236}">
                  <a16:creationId xmlns:a16="http://schemas.microsoft.com/office/drawing/2014/main" id="{3FE99CA2-5E5C-84FC-4268-135296135860}"/>
                </a:ext>
              </a:extLst>
            </p:cNvPr>
            <p:cNvSpPr/>
            <p:nvPr/>
          </p:nvSpPr>
          <p:spPr>
            <a:xfrm>
              <a:off x="4717578" y="2651760"/>
              <a:ext cx="4231212" cy="6400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Zero-shot for general queries, one-shot for format specifications ("write like this example"), few-shot for complex patterns (coding styles, writing tones, domain-specific tasks).</a:t>
              </a:r>
              <a:endParaRPr lang="en-US" sz="1600" dirty="0">
                <a:latin typeface="Helvetica Neue Light"/>
              </a:endParaRPr>
            </a:p>
          </p:txBody>
        </p:sp>
        <p:sp>
          <p:nvSpPr>
            <p:cNvPr id="18" name="Shape 15">
              <a:extLst>
                <a:ext uri="{FF2B5EF4-FFF2-40B4-BE49-F238E27FC236}">
                  <a16:creationId xmlns:a16="http://schemas.microsoft.com/office/drawing/2014/main" id="{062E2379-A83A-8EDE-0C12-36B3EF85D70F}"/>
                </a:ext>
              </a:extLst>
            </p:cNvPr>
            <p:cNvSpPr/>
            <p:nvPr/>
          </p:nvSpPr>
          <p:spPr>
            <a:xfrm>
              <a:off x="511337" y="3566160"/>
              <a:ext cx="8487855" cy="502920"/>
            </a:xfrm>
            <a:prstGeom prst="rect">
              <a:avLst/>
            </a:prstGeom>
            <a:solidFill>
              <a:srgbClr val="21295C"/>
            </a:solidFill>
            <a:ln/>
          </p:spPr>
          <p:txBody>
            <a:bodyPr/>
            <a:lstStyle/>
            <a:p>
              <a:endParaRPr lang="en-US" sz="2800">
                <a:latin typeface="Helvetica Neue Light"/>
              </a:endParaRPr>
            </a:p>
          </p:txBody>
        </p:sp>
        <p:sp>
          <p:nvSpPr>
            <p:cNvPr id="19" name="Text 16">
              <a:extLst>
                <a:ext uri="{FF2B5EF4-FFF2-40B4-BE49-F238E27FC236}">
                  <a16:creationId xmlns:a16="http://schemas.microsoft.com/office/drawing/2014/main" id="{6E640935-5E26-9906-71F6-6348E910162E}"/>
                </a:ext>
              </a:extLst>
            </p:cNvPr>
            <p:cNvSpPr/>
            <p:nvPr/>
          </p:nvSpPr>
          <p:spPr>
            <a:xfrm>
              <a:off x="594359" y="3627990"/>
              <a:ext cx="8354431" cy="39537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The Data Efficiency Revolution: </a:t>
              </a:r>
              <a:r>
                <a:rPr lang="en-US" dirty="0">
                  <a:solidFill>
                    <a:srgbClr val="FFFFFF"/>
                  </a:solidFill>
                  <a:latin typeface="Helvetica Neue Light"/>
                  <a:ea typeface="Calibri" pitchFamily="34" charset="-122"/>
                  <a:cs typeface="Calibri" pitchFamily="34" charset="-120"/>
                </a:rPr>
                <a:t>Reduces labeling costs from large labeled datasets to a handful of examples — democratizing AI customization for specialized tasks</a:t>
              </a:r>
              <a:endParaRPr lang="en-US" dirty="0">
                <a:latin typeface="Helvetica Neue Light"/>
              </a:endParaRPr>
            </a:p>
          </p:txBody>
        </p:sp>
      </p:grpSp>
    </p:spTree>
    <p:extLst>
      <p:ext uri="{BB962C8B-B14F-4D97-AF65-F5344CB8AC3E}">
        <p14:creationId xmlns:p14="http://schemas.microsoft.com/office/powerpoint/2010/main" val="1539786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E831E7C6-8286-4B7D-6A07-96842E7E8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B78D2-2193-C6E7-1190-8EDB1DEF45F5}"/>
              </a:ext>
            </a:extLst>
          </p:cNvPr>
          <p:cNvSpPr>
            <a:spLocks noGrp="1"/>
          </p:cNvSpPr>
          <p:nvPr>
            <p:ph type="title"/>
          </p:nvPr>
        </p:nvSpPr>
        <p:spPr>
          <a:xfrm>
            <a:off x="457200" y="365126"/>
            <a:ext cx="8229600" cy="592213"/>
          </a:xfrm>
        </p:spPr>
        <p:txBody>
          <a:bodyPr/>
          <a:lstStyle/>
          <a:p>
            <a:r>
              <a:rPr lang="en-US" dirty="0"/>
              <a:t>Limitations &amp; Future</a:t>
            </a:r>
          </a:p>
        </p:txBody>
      </p:sp>
      <p:sp>
        <p:nvSpPr>
          <p:cNvPr id="5" name="Slide Number Placeholder 4">
            <a:extLst>
              <a:ext uri="{FF2B5EF4-FFF2-40B4-BE49-F238E27FC236}">
                <a16:creationId xmlns:a16="http://schemas.microsoft.com/office/drawing/2014/main" id="{C60ED6A4-8E84-BA92-7AED-D57D56E971CB}"/>
              </a:ext>
            </a:extLst>
          </p:cNvPr>
          <p:cNvSpPr>
            <a:spLocks noGrp="1"/>
          </p:cNvSpPr>
          <p:nvPr>
            <p:ph type="sldNum" sz="quarter" idx="12"/>
          </p:nvPr>
        </p:nvSpPr>
        <p:spPr/>
        <p:txBody>
          <a:bodyPr/>
          <a:lstStyle/>
          <a:p>
            <a:fld id="{21EF4C0E-91FA-4D94-8941-E22F3A83D5F1}" type="slidenum">
              <a:rPr lang="en-US" smtClean="0"/>
              <a:t>55</a:t>
            </a:fld>
            <a:endParaRPr lang="en-US"/>
          </a:p>
        </p:txBody>
      </p:sp>
      <p:sp>
        <p:nvSpPr>
          <p:cNvPr id="6" name="TextBox 5">
            <a:extLst>
              <a:ext uri="{FF2B5EF4-FFF2-40B4-BE49-F238E27FC236}">
                <a16:creationId xmlns:a16="http://schemas.microsoft.com/office/drawing/2014/main" id="{FB0DD69E-F7C3-A986-1B2B-6D01D5AA3AE7}"/>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D2526EAF-8585-2CC0-7D3C-DC09D3C1F011}"/>
              </a:ext>
            </a:extLst>
          </p:cNvPr>
          <p:cNvGrpSpPr/>
          <p:nvPr/>
        </p:nvGrpSpPr>
        <p:grpSpPr>
          <a:xfrm>
            <a:off x="425350" y="1234439"/>
            <a:ext cx="8261450" cy="4282783"/>
            <a:chOff x="425350" y="1234440"/>
            <a:chExt cx="8261450" cy="1831408"/>
          </a:xfrm>
        </p:grpSpPr>
        <p:sp>
          <p:nvSpPr>
            <p:cNvPr id="4" name="Shape 3">
              <a:extLst>
                <a:ext uri="{FF2B5EF4-FFF2-40B4-BE49-F238E27FC236}">
                  <a16:creationId xmlns:a16="http://schemas.microsoft.com/office/drawing/2014/main" id="{2A03A54B-83D9-1041-2402-742A5FDE2B8A}"/>
                </a:ext>
              </a:extLst>
            </p:cNvPr>
            <p:cNvSpPr/>
            <p:nvPr/>
          </p:nvSpPr>
          <p:spPr>
            <a:xfrm>
              <a:off x="457200" y="1234440"/>
              <a:ext cx="8229600" cy="7315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F627D081-BEEB-E40C-9FCD-CDD39F089F68}"/>
                </a:ext>
              </a:extLst>
            </p:cNvPr>
            <p:cNvSpPr/>
            <p:nvPr/>
          </p:nvSpPr>
          <p:spPr>
            <a:xfrm>
              <a:off x="457199" y="1234440"/>
              <a:ext cx="86713" cy="73152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6C4EA0CE-CE28-CD7E-88A9-1C6CA81FBA1A}"/>
                </a:ext>
              </a:extLst>
            </p:cNvPr>
            <p:cNvSpPr/>
            <p:nvPr/>
          </p:nvSpPr>
          <p:spPr>
            <a:xfrm>
              <a:off x="685800" y="1253106"/>
              <a:ext cx="7772400" cy="228600"/>
            </a:xfrm>
            <a:prstGeom prst="rect">
              <a:avLst/>
            </a:prstGeom>
            <a:noFill/>
            <a:ln/>
          </p:spPr>
          <p:txBody>
            <a:bodyPr wrap="square" rtlCol="0" anchor="ctr"/>
            <a:lstStyle/>
            <a:p>
              <a:pPr marL="0" indent="0">
                <a:buNone/>
              </a:pPr>
              <a:r>
                <a:rPr lang="en-US" sz="2400" b="1" dirty="0">
                  <a:solidFill>
                    <a:srgbClr val="065A82"/>
                  </a:solidFill>
                  <a:latin typeface="Helvetica Neue Light"/>
                  <a:ea typeface="Calibri" pitchFamily="34" charset="-122"/>
                  <a:cs typeface="Calibri" pitchFamily="34" charset="-120"/>
                </a:rPr>
                <a:t>Critical Limitation:</a:t>
              </a:r>
              <a:endParaRPr lang="en-US" sz="2400" dirty="0">
                <a:latin typeface="Helvetica Neue Light"/>
              </a:endParaRPr>
            </a:p>
          </p:txBody>
        </p:sp>
        <p:sp>
          <p:nvSpPr>
            <p:cNvPr id="9" name="Text 6">
              <a:extLst>
                <a:ext uri="{FF2B5EF4-FFF2-40B4-BE49-F238E27FC236}">
                  <a16:creationId xmlns:a16="http://schemas.microsoft.com/office/drawing/2014/main" id="{B5444B66-8131-7A56-B891-F1756CC9AE9D}"/>
                </a:ext>
              </a:extLst>
            </p:cNvPr>
            <p:cNvSpPr/>
            <p:nvPr/>
          </p:nvSpPr>
          <p:spPr>
            <a:xfrm>
              <a:off x="685800" y="1554480"/>
              <a:ext cx="8001000" cy="320040"/>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Performance typically scales as: </a:t>
              </a:r>
            </a:p>
            <a:p>
              <a:pPr marL="0" indent="0">
                <a:buNone/>
              </a:pPr>
              <a:r>
                <a:rPr lang="en-US" dirty="0">
                  <a:solidFill>
                    <a:srgbClr val="2D3436"/>
                  </a:solidFill>
                  <a:latin typeface="Helvetica Neue Light"/>
                  <a:ea typeface="Calibri" pitchFamily="34" charset="-122"/>
                  <a:cs typeface="Calibri" pitchFamily="34" charset="-120"/>
                </a:rPr>
                <a:t>	Traditional ML (thousands of examples) &gt; Few-shot &gt; One-shot &gt; 	Zero-shot, forcing trade-offs between data availability and accuracy.</a:t>
              </a:r>
              <a:endParaRPr lang="en-US" dirty="0">
                <a:latin typeface="Helvetica Neue Light"/>
              </a:endParaRPr>
            </a:p>
          </p:txBody>
        </p:sp>
        <p:sp>
          <p:nvSpPr>
            <p:cNvPr id="10" name="Shape 7">
              <a:extLst>
                <a:ext uri="{FF2B5EF4-FFF2-40B4-BE49-F238E27FC236}">
                  <a16:creationId xmlns:a16="http://schemas.microsoft.com/office/drawing/2014/main" id="{79A9CD07-DD93-D599-0248-4C3913D7E3DF}"/>
                </a:ext>
              </a:extLst>
            </p:cNvPr>
            <p:cNvSpPr/>
            <p:nvPr/>
          </p:nvSpPr>
          <p:spPr>
            <a:xfrm>
              <a:off x="457200" y="2103120"/>
              <a:ext cx="4023360" cy="962728"/>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ADE1C655-45DC-55BD-5C12-D79D1D12F39E}"/>
                </a:ext>
              </a:extLst>
            </p:cNvPr>
            <p:cNvSpPr/>
            <p:nvPr/>
          </p:nvSpPr>
          <p:spPr>
            <a:xfrm>
              <a:off x="457200" y="2103120"/>
              <a:ext cx="54864" cy="914400"/>
            </a:xfrm>
            <a:prstGeom prst="rect">
              <a:avLst/>
            </a:prstGeom>
            <a:solidFill>
              <a:srgbClr val="1C7293"/>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C911BF09-F67A-9E35-AF01-351DADE2A1EF}"/>
                </a:ext>
              </a:extLst>
            </p:cNvPr>
            <p:cNvSpPr/>
            <p:nvPr/>
          </p:nvSpPr>
          <p:spPr>
            <a:xfrm>
              <a:off x="685800" y="219456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Description vs. Demonstration Problem</a:t>
              </a:r>
              <a:endParaRPr lang="en-US" sz="2000" dirty="0">
                <a:latin typeface="Helvetica Neue Light"/>
              </a:endParaRPr>
            </a:p>
          </p:txBody>
        </p:sp>
        <p:sp>
          <p:nvSpPr>
            <p:cNvPr id="13" name="Text 10">
              <a:extLst>
                <a:ext uri="{FF2B5EF4-FFF2-40B4-BE49-F238E27FC236}">
                  <a16:creationId xmlns:a16="http://schemas.microsoft.com/office/drawing/2014/main" id="{07A9767D-03BE-ECA3-D7A9-F02C953ED751}"/>
                </a:ext>
              </a:extLst>
            </p:cNvPr>
            <p:cNvSpPr/>
            <p:nvPr/>
          </p:nvSpPr>
          <p:spPr>
            <a:xfrm>
              <a:off x="685800" y="2468880"/>
              <a:ext cx="3794760" cy="4572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Zero-shot relies on clear instructions (often fails with ambiguity), while few-shot learns from patterns but may overfit to superficial features.</a:t>
              </a:r>
              <a:endParaRPr lang="en-US" sz="1600" dirty="0">
                <a:latin typeface="Helvetica Neue Light"/>
              </a:endParaRPr>
            </a:p>
          </p:txBody>
        </p:sp>
        <p:sp>
          <p:nvSpPr>
            <p:cNvPr id="14" name="Shape 11">
              <a:extLst>
                <a:ext uri="{FF2B5EF4-FFF2-40B4-BE49-F238E27FC236}">
                  <a16:creationId xmlns:a16="http://schemas.microsoft.com/office/drawing/2014/main" id="{36051CF8-0CD2-5469-CF3D-1D445914A600}"/>
                </a:ext>
              </a:extLst>
            </p:cNvPr>
            <p:cNvSpPr/>
            <p:nvPr/>
          </p:nvSpPr>
          <p:spPr>
            <a:xfrm>
              <a:off x="4663440" y="2103120"/>
              <a:ext cx="4023360" cy="962728"/>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5" name="Shape 12">
              <a:extLst>
                <a:ext uri="{FF2B5EF4-FFF2-40B4-BE49-F238E27FC236}">
                  <a16:creationId xmlns:a16="http://schemas.microsoft.com/office/drawing/2014/main" id="{19F21597-1193-FCB9-E16E-0DD4DABC36E9}"/>
                </a:ext>
              </a:extLst>
            </p:cNvPr>
            <p:cNvSpPr/>
            <p:nvPr/>
          </p:nvSpPr>
          <p:spPr>
            <a:xfrm>
              <a:off x="4663440" y="2103120"/>
              <a:ext cx="54864" cy="914400"/>
            </a:xfrm>
            <a:prstGeom prst="rect">
              <a:avLst/>
            </a:prstGeom>
            <a:solidFill>
              <a:srgbClr val="84B59F"/>
            </a:solidFill>
            <a:ln/>
          </p:spPr>
          <p:txBody>
            <a:bodyPr/>
            <a:lstStyle/>
            <a:p>
              <a:endParaRPr lang="en-US" sz="3200">
                <a:latin typeface="Helvetica Neue Light"/>
              </a:endParaRPr>
            </a:p>
          </p:txBody>
        </p:sp>
        <p:sp>
          <p:nvSpPr>
            <p:cNvPr id="16" name="Text 13">
              <a:extLst>
                <a:ext uri="{FF2B5EF4-FFF2-40B4-BE49-F238E27FC236}">
                  <a16:creationId xmlns:a16="http://schemas.microsoft.com/office/drawing/2014/main" id="{0BA4B8F2-DDD0-B404-7FAF-F97D955FE036}"/>
                </a:ext>
              </a:extLst>
            </p:cNvPr>
            <p:cNvSpPr/>
            <p:nvPr/>
          </p:nvSpPr>
          <p:spPr>
            <a:xfrm>
              <a:off x="4892040" y="219456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Future Direction</a:t>
              </a:r>
              <a:endParaRPr lang="en-US" sz="2000" dirty="0">
                <a:latin typeface="Helvetica Neue Light"/>
              </a:endParaRPr>
            </a:p>
          </p:txBody>
        </p:sp>
        <p:sp>
          <p:nvSpPr>
            <p:cNvPr id="17" name="Text 14">
              <a:extLst>
                <a:ext uri="{FF2B5EF4-FFF2-40B4-BE49-F238E27FC236}">
                  <a16:creationId xmlns:a16="http://schemas.microsoft.com/office/drawing/2014/main" id="{093BEB95-7E8B-1D22-A8C4-DB922294F320}"/>
                </a:ext>
              </a:extLst>
            </p:cNvPr>
            <p:cNvSpPr/>
            <p:nvPr/>
          </p:nvSpPr>
          <p:spPr>
            <a:xfrm>
              <a:off x="4892040" y="2468880"/>
              <a:ext cx="3794760" cy="4572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Models that can determine how many examples they need for a task, combining zero-shot reasoning with few-shot refinement to achieve human-like adaptive learning.</a:t>
              </a:r>
              <a:endParaRPr lang="en-US" sz="1600" dirty="0">
                <a:latin typeface="Helvetica Neue Light"/>
              </a:endParaRPr>
            </a:p>
          </p:txBody>
        </p:sp>
        <p:sp>
          <p:nvSpPr>
            <p:cNvPr id="18" name="Shape 8">
              <a:extLst>
                <a:ext uri="{FF2B5EF4-FFF2-40B4-BE49-F238E27FC236}">
                  <a16:creationId xmlns:a16="http://schemas.microsoft.com/office/drawing/2014/main" id="{4F146E19-4660-493C-991B-73DF5A97186B}"/>
                </a:ext>
              </a:extLst>
            </p:cNvPr>
            <p:cNvSpPr/>
            <p:nvPr/>
          </p:nvSpPr>
          <p:spPr>
            <a:xfrm>
              <a:off x="425350" y="2103120"/>
              <a:ext cx="86714" cy="962728"/>
            </a:xfrm>
            <a:prstGeom prst="rect">
              <a:avLst/>
            </a:prstGeom>
            <a:solidFill>
              <a:srgbClr val="1C7293"/>
            </a:solidFill>
            <a:ln/>
          </p:spPr>
          <p:txBody>
            <a:bodyPr/>
            <a:lstStyle/>
            <a:p>
              <a:endParaRPr lang="en-US" sz="3200">
                <a:latin typeface="Helvetica Neue Light"/>
              </a:endParaRPr>
            </a:p>
          </p:txBody>
        </p:sp>
        <p:sp>
          <p:nvSpPr>
            <p:cNvPr id="19" name="Shape 12">
              <a:extLst>
                <a:ext uri="{FF2B5EF4-FFF2-40B4-BE49-F238E27FC236}">
                  <a16:creationId xmlns:a16="http://schemas.microsoft.com/office/drawing/2014/main" id="{864D591B-EEE6-6E10-69AF-6689388C6707}"/>
                </a:ext>
              </a:extLst>
            </p:cNvPr>
            <p:cNvSpPr/>
            <p:nvPr/>
          </p:nvSpPr>
          <p:spPr>
            <a:xfrm>
              <a:off x="4631590" y="2103120"/>
              <a:ext cx="86714" cy="962728"/>
            </a:xfrm>
            <a:prstGeom prst="rect">
              <a:avLst/>
            </a:prstGeom>
            <a:solidFill>
              <a:srgbClr val="84B59F"/>
            </a:solidFill>
            <a:ln/>
          </p:spPr>
          <p:txBody>
            <a:bodyPr/>
            <a:lstStyle/>
            <a:p>
              <a:endParaRPr lang="en-US" sz="3200">
                <a:latin typeface="Helvetica Neue Light"/>
              </a:endParaRPr>
            </a:p>
          </p:txBody>
        </p:sp>
      </p:grpSp>
      <p:pic>
        <p:nvPicPr>
          <p:cNvPr id="20" name="Picture 3" descr="What is Zero Shot Learning?">
            <a:extLst>
              <a:ext uri="{FF2B5EF4-FFF2-40B4-BE49-F238E27FC236}">
                <a16:creationId xmlns:a16="http://schemas.microsoft.com/office/drawing/2014/main" id="{0EF4BCA3-E20C-1813-F163-E02A6DF89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176" y="3222213"/>
            <a:ext cx="4608848" cy="28996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7A6ED8B6-A73C-DF8A-FA43-7A70F4174ABF}"/>
              </a:ext>
            </a:extLst>
          </p:cNvPr>
          <p:cNvSpPr txBox="1"/>
          <p:nvPr/>
        </p:nvSpPr>
        <p:spPr>
          <a:xfrm>
            <a:off x="6503918" y="6604637"/>
            <a:ext cx="2476086" cy="215444"/>
          </a:xfrm>
          <a:prstGeom prst="rect">
            <a:avLst/>
          </a:prstGeom>
          <a:noFill/>
        </p:spPr>
        <p:txBody>
          <a:bodyPr wrap="square">
            <a:spAutoFit/>
          </a:bodyPr>
          <a:lstStyle/>
          <a:p>
            <a:r>
              <a:rPr lang="en-US" sz="800" dirty="0">
                <a:solidFill>
                  <a:schemeClr val="bg2">
                    <a:lumMod val="90000"/>
                  </a:schemeClr>
                </a:solidFill>
              </a:rPr>
              <a:t>https://share.google/images/WViY8pN0WwDvdNNfO</a:t>
            </a:r>
          </a:p>
        </p:txBody>
      </p:sp>
      <p:pic>
        <p:nvPicPr>
          <p:cNvPr id="22" name="Picture 21">
            <a:extLst>
              <a:ext uri="{FF2B5EF4-FFF2-40B4-BE49-F238E27FC236}">
                <a16:creationId xmlns:a16="http://schemas.microsoft.com/office/drawing/2014/main" id="{9E2253FA-0991-B1DE-F50A-7E31BDC67165}"/>
              </a:ext>
            </a:extLst>
          </p:cNvPr>
          <p:cNvPicPr>
            <a:picLocks noChangeAspect="1"/>
          </p:cNvPicPr>
          <p:nvPr/>
        </p:nvPicPr>
        <p:blipFill>
          <a:blip r:embed="rId3"/>
          <a:stretch>
            <a:fillRect/>
          </a:stretch>
        </p:blipFill>
        <p:spPr>
          <a:xfrm>
            <a:off x="4856711" y="3355779"/>
            <a:ext cx="4287289" cy="26000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27654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6ACB4-517B-D864-6AEE-7821D39C5FF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DA4894B-4423-C5A8-C215-1F9A0F8D0A0C}"/>
              </a:ext>
            </a:extLst>
          </p:cNvPr>
          <p:cNvSpPr>
            <a:spLocks noGrp="1"/>
          </p:cNvSpPr>
          <p:nvPr>
            <p:ph type="title"/>
          </p:nvPr>
        </p:nvSpPr>
        <p:spPr>
          <a:xfrm>
            <a:off x="623888" y="3360416"/>
            <a:ext cx="8062912" cy="1202060"/>
          </a:xfrm>
        </p:spPr>
        <p:txBody>
          <a:bodyPr/>
          <a:lstStyle/>
          <a:p>
            <a:r>
              <a:rPr lang="en-US" sz="3200" i="1" dirty="0"/>
              <a:t>Part 10</a:t>
            </a:r>
            <a:br>
              <a:rPr lang="en-US" sz="4800" dirty="0"/>
            </a:br>
            <a:r>
              <a:rPr lang="en-US" sz="4800" dirty="0"/>
              <a:t>	Meta-Learning in AI</a:t>
            </a:r>
          </a:p>
        </p:txBody>
      </p:sp>
      <p:sp>
        <p:nvSpPr>
          <p:cNvPr id="2" name="Text Placeholder 1">
            <a:extLst>
              <a:ext uri="{FF2B5EF4-FFF2-40B4-BE49-F238E27FC236}">
                <a16:creationId xmlns:a16="http://schemas.microsoft.com/office/drawing/2014/main" id="{6C3C7EB7-8249-8FD9-449A-BF40542E9D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4544AF-AC95-FB6D-1C76-484324DFC69E}"/>
              </a:ext>
            </a:extLst>
          </p:cNvPr>
          <p:cNvSpPr>
            <a:spLocks noGrp="1"/>
          </p:cNvSpPr>
          <p:nvPr>
            <p:ph type="sldNum" sz="quarter" idx="12"/>
          </p:nvPr>
        </p:nvSpPr>
        <p:spPr/>
        <p:txBody>
          <a:bodyPr/>
          <a:lstStyle/>
          <a:p>
            <a:fld id="{21EF4C0E-91FA-4D94-8941-E22F3A83D5F1}" type="slidenum">
              <a:rPr lang="en-US" smtClean="0"/>
              <a:t>56</a:t>
            </a:fld>
            <a:endParaRPr lang="en-US"/>
          </a:p>
        </p:txBody>
      </p:sp>
    </p:spTree>
    <p:extLst>
      <p:ext uri="{BB962C8B-B14F-4D97-AF65-F5344CB8AC3E}">
        <p14:creationId xmlns:p14="http://schemas.microsoft.com/office/powerpoint/2010/main" val="21904910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00E0-0D7B-1C3E-D2C1-DB810CFBB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70DC-2F0A-A747-52D1-4C2FC1E81445}"/>
              </a:ext>
            </a:extLst>
          </p:cNvPr>
          <p:cNvSpPr>
            <a:spLocks noGrp="1"/>
          </p:cNvSpPr>
          <p:nvPr>
            <p:ph type="title"/>
          </p:nvPr>
        </p:nvSpPr>
        <p:spPr>
          <a:xfrm>
            <a:off x="457200" y="365126"/>
            <a:ext cx="8229600" cy="647741"/>
          </a:xfrm>
        </p:spPr>
        <p:txBody>
          <a:bodyPr/>
          <a:lstStyle/>
          <a:p>
            <a:r>
              <a:rPr lang="en-US" sz="4000" dirty="0"/>
              <a:t>Meta-Learning in AI - </a:t>
            </a:r>
            <a:r>
              <a:rPr lang="en-US" sz="4000" b="1" dirty="0"/>
              <a:t>Video (3:33)  </a:t>
            </a:r>
            <a:endParaRPr lang="en-US" sz="4000" dirty="0"/>
          </a:p>
        </p:txBody>
      </p:sp>
      <p:sp>
        <p:nvSpPr>
          <p:cNvPr id="5" name="Slide Number Placeholder 4">
            <a:extLst>
              <a:ext uri="{FF2B5EF4-FFF2-40B4-BE49-F238E27FC236}">
                <a16:creationId xmlns:a16="http://schemas.microsoft.com/office/drawing/2014/main" id="{20B8D0F6-C653-2A6C-4E4A-3388334EC5A5}"/>
              </a:ext>
            </a:extLst>
          </p:cNvPr>
          <p:cNvSpPr>
            <a:spLocks noGrp="1"/>
          </p:cNvSpPr>
          <p:nvPr>
            <p:ph type="sldNum" sz="quarter" idx="12"/>
          </p:nvPr>
        </p:nvSpPr>
        <p:spPr/>
        <p:txBody>
          <a:bodyPr/>
          <a:lstStyle/>
          <a:p>
            <a:fld id="{21EF4C0E-91FA-4D94-8941-E22F3A83D5F1}" type="slidenum">
              <a:rPr lang="en-US" smtClean="0"/>
              <a:t>57</a:t>
            </a:fld>
            <a:endParaRPr lang="en-US"/>
          </a:p>
        </p:txBody>
      </p:sp>
      <p:sp>
        <p:nvSpPr>
          <p:cNvPr id="9" name="TextBox 8">
            <a:extLst>
              <a:ext uri="{FF2B5EF4-FFF2-40B4-BE49-F238E27FC236}">
                <a16:creationId xmlns:a16="http://schemas.microsoft.com/office/drawing/2014/main" id="{D2DCC53D-99DD-BE56-DA1E-FDDB67425EA7}"/>
              </a:ext>
            </a:extLst>
          </p:cNvPr>
          <p:cNvSpPr txBox="1"/>
          <p:nvPr/>
        </p:nvSpPr>
        <p:spPr>
          <a:xfrm>
            <a:off x="6419552" y="6590004"/>
            <a:ext cx="2477095" cy="215444"/>
          </a:xfrm>
          <a:prstGeom prst="rect">
            <a:avLst/>
          </a:prstGeom>
          <a:noFill/>
        </p:spPr>
        <p:txBody>
          <a:bodyPr wrap="square">
            <a:spAutoFit/>
          </a:bodyPr>
          <a:lstStyle/>
          <a:p>
            <a:r>
              <a:rPr lang="en-US" sz="800" dirty="0">
                <a:solidFill>
                  <a:schemeClr val="bg2">
                    <a:lumMod val="90000"/>
                  </a:schemeClr>
                </a:solidFill>
              </a:rPr>
              <a:t>https://www.youtube.com/watch?v=2Ipb3F4GlL4</a:t>
            </a:r>
          </a:p>
        </p:txBody>
      </p:sp>
      <p:pic>
        <p:nvPicPr>
          <p:cNvPr id="3" name="Online Media 2" title="Meta-Learning for Neural Networks: what is it?">
            <a:hlinkClick r:id="" action="ppaction://media"/>
            <a:extLst>
              <a:ext uri="{FF2B5EF4-FFF2-40B4-BE49-F238E27FC236}">
                <a16:creationId xmlns:a16="http://schemas.microsoft.com/office/drawing/2014/main" id="{2607BF78-CBFA-00A4-E840-5740BF0885B9}"/>
              </a:ext>
            </a:extLst>
          </p:cNvPr>
          <p:cNvPicPr>
            <a:picLocks noRot="1" noChangeAspect="1"/>
          </p:cNvPicPr>
          <p:nvPr>
            <a:videoFile r:link="rId1"/>
          </p:nvPr>
        </p:nvPicPr>
        <p:blipFill>
          <a:blip r:embed="rId3"/>
          <a:stretch>
            <a:fillRect/>
          </a:stretch>
        </p:blipFill>
        <p:spPr>
          <a:xfrm>
            <a:off x="362591" y="1736337"/>
            <a:ext cx="8534056" cy="4818186"/>
          </a:xfrm>
          <a:prstGeom prst="rect">
            <a:avLst/>
          </a:prstGeom>
        </p:spPr>
      </p:pic>
      <p:sp>
        <p:nvSpPr>
          <p:cNvPr id="6" name="TextBox 5">
            <a:extLst>
              <a:ext uri="{FF2B5EF4-FFF2-40B4-BE49-F238E27FC236}">
                <a16:creationId xmlns:a16="http://schemas.microsoft.com/office/drawing/2014/main" id="{B2EC83EE-5FD8-9659-7EEC-9B6EC5FF8B52}"/>
              </a:ext>
            </a:extLst>
          </p:cNvPr>
          <p:cNvSpPr txBox="1"/>
          <p:nvPr/>
        </p:nvSpPr>
        <p:spPr>
          <a:xfrm>
            <a:off x="457200" y="1192806"/>
            <a:ext cx="6759622" cy="369332"/>
          </a:xfrm>
          <a:prstGeom prst="rect">
            <a:avLst/>
          </a:prstGeom>
          <a:noFill/>
        </p:spPr>
        <p:txBody>
          <a:bodyPr wrap="square">
            <a:spAutoFit/>
          </a:bodyPr>
          <a:lstStyle/>
          <a:p>
            <a:pPr marL="0" indent="0">
              <a:buNone/>
            </a:pPr>
            <a:r>
              <a:rPr lang="en-US" sz="1800" i="1" dirty="0">
                <a:solidFill>
                  <a:srgbClr val="E8F4F8"/>
                </a:solidFill>
                <a:latin typeface="Helvetica Neue Light"/>
                <a:ea typeface="Calibri" pitchFamily="34" charset="-122"/>
                <a:cs typeface="Calibri" pitchFamily="34" charset="-120"/>
              </a:rPr>
              <a:t>Learning to learn: How AI acquires new skills quickly</a:t>
            </a:r>
            <a:endParaRPr lang="en-US" sz="1800" dirty="0">
              <a:latin typeface="Helvetica Neue Light"/>
            </a:endParaRPr>
          </a:p>
        </p:txBody>
      </p:sp>
    </p:spTree>
    <p:extLst>
      <p:ext uri="{BB962C8B-B14F-4D97-AF65-F5344CB8AC3E}">
        <p14:creationId xmlns:p14="http://schemas.microsoft.com/office/powerpoint/2010/main" val="1954060699"/>
      </p:ext>
    </p:extLst>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E27F257-0D4C-A1C1-9710-5D57FE7E3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2EB9DA-1CB3-7BA9-D035-0F91766595CA}"/>
              </a:ext>
            </a:extLst>
          </p:cNvPr>
          <p:cNvSpPr>
            <a:spLocks noGrp="1"/>
          </p:cNvSpPr>
          <p:nvPr>
            <p:ph type="title"/>
          </p:nvPr>
        </p:nvSpPr>
        <p:spPr>
          <a:xfrm>
            <a:off x="457200" y="365126"/>
            <a:ext cx="8229600" cy="592213"/>
          </a:xfrm>
        </p:spPr>
        <p:txBody>
          <a:bodyPr/>
          <a:lstStyle/>
          <a:p>
            <a:r>
              <a:rPr lang="en-US" dirty="0"/>
              <a:t>Core Definition &amp; Key Ideas</a:t>
            </a:r>
          </a:p>
        </p:txBody>
      </p:sp>
      <p:sp>
        <p:nvSpPr>
          <p:cNvPr id="5" name="Slide Number Placeholder 4">
            <a:extLst>
              <a:ext uri="{FF2B5EF4-FFF2-40B4-BE49-F238E27FC236}">
                <a16:creationId xmlns:a16="http://schemas.microsoft.com/office/drawing/2014/main" id="{10CCA822-3632-04B2-4AA4-F6B4F046BA2D}"/>
              </a:ext>
            </a:extLst>
          </p:cNvPr>
          <p:cNvSpPr>
            <a:spLocks noGrp="1"/>
          </p:cNvSpPr>
          <p:nvPr>
            <p:ph type="sldNum" sz="quarter" idx="12"/>
          </p:nvPr>
        </p:nvSpPr>
        <p:spPr/>
        <p:txBody>
          <a:bodyPr/>
          <a:lstStyle/>
          <a:p>
            <a:fld id="{21EF4C0E-91FA-4D94-8941-E22F3A83D5F1}" type="slidenum">
              <a:rPr lang="en-US" smtClean="0"/>
              <a:t>58</a:t>
            </a:fld>
            <a:endParaRPr lang="en-US"/>
          </a:p>
        </p:txBody>
      </p:sp>
      <p:sp>
        <p:nvSpPr>
          <p:cNvPr id="6" name="TextBox 5">
            <a:extLst>
              <a:ext uri="{FF2B5EF4-FFF2-40B4-BE49-F238E27FC236}">
                <a16:creationId xmlns:a16="http://schemas.microsoft.com/office/drawing/2014/main" id="{A042ABB4-AF46-ADB9-0FE3-BC04DC10E45B}"/>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sp>
        <p:nvSpPr>
          <p:cNvPr id="3" name="TextBox 2">
            <a:extLst>
              <a:ext uri="{FF2B5EF4-FFF2-40B4-BE49-F238E27FC236}">
                <a16:creationId xmlns:a16="http://schemas.microsoft.com/office/drawing/2014/main" id="{1AC864A8-4610-F74A-32A6-B9B064A202F6}"/>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https://share.google/images/3hI8iGtMsAHFHSF4V</a:t>
            </a:r>
          </a:p>
        </p:txBody>
      </p:sp>
      <p:pic>
        <p:nvPicPr>
          <p:cNvPr id="4" name="Picture 3" descr="Meta-Health: Learning-to-Learn (Meta-learning) as a Next Generation of Deep  Learning Exploring Healthcare Challenges and Solutions for Rare Disorders:  A Systematic Analysis | Archives of Computational Methods in Engineering">
            <a:extLst>
              <a:ext uri="{FF2B5EF4-FFF2-40B4-BE49-F238E27FC236}">
                <a16:creationId xmlns:a16="http://schemas.microsoft.com/office/drawing/2014/main" id="{2A43ADBC-8989-5655-F0FE-C98B54397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030" y="4129987"/>
            <a:ext cx="6657040" cy="251257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36F207D2-14EA-C0C6-4193-3D8A9ECE303B}"/>
              </a:ext>
            </a:extLst>
          </p:cNvPr>
          <p:cNvGrpSpPr/>
          <p:nvPr/>
        </p:nvGrpSpPr>
        <p:grpSpPr>
          <a:xfrm>
            <a:off x="457199" y="1234439"/>
            <a:ext cx="8593931" cy="2757421"/>
            <a:chOff x="457200" y="1234440"/>
            <a:chExt cx="8338872" cy="1371600"/>
          </a:xfrm>
        </p:grpSpPr>
        <p:sp>
          <p:nvSpPr>
            <p:cNvPr id="8" name="Shape 3">
              <a:extLst>
                <a:ext uri="{FF2B5EF4-FFF2-40B4-BE49-F238E27FC236}">
                  <a16:creationId xmlns:a16="http://schemas.microsoft.com/office/drawing/2014/main" id="{6EC959F9-EED6-BDB6-B233-3825C895ADD0}"/>
                </a:ext>
              </a:extLst>
            </p:cNvPr>
            <p:cNvSpPr/>
            <p:nvPr/>
          </p:nvSpPr>
          <p:spPr>
            <a:xfrm>
              <a:off x="457200" y="1234440"/>
              <a:ext cx="8338872"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9" name="Shape 4">
              <a:extLst>
                <a:ext uri="{FF2B5EF4-FFF2-40B4-BE49-F238E27FC236}">
                  <a16:creationId xmlns:a16="http://schemas.microsoft.com/office/drawing/2014/main" id="{0BD23B03-D629-81FE-B668-63A3B0D7ECC7}"/>
                </a:ext>
              </a:extLst>
            </p:cNvPr>
            <p:cNvSpPr/>
            <p:nvPr/>
          </p:nvSpPr>
          <p:spPr>
            <a:xfrm>
              <a:off x="457200" y="1234440"/>
              <a:ext cx="54864" cy="914400"/>
            </a:xfrm>
            <a:prstGeom prst="rect">
              <a:avLst/>
            </a:prstGeom>
            <a:solidFill>
              <a:srgbClr val="E07A5F"/>
            </a:solidFill>
            <a:ln/>
          </p:spPr>
          <p:txBody>
            <a:bodyPr/>
            <a:lstStyle/>
            <a:p>
              <a:endParaRPr lang="en-US" sz="3200">
                <a:latin typeface="Helvetica Neue Light"/>
              </a:endParaRPr>
            </a:p>
          </p:txBody>
        </p:sp>
        <p:sp>
          <p:nvSpPr>
            <p:cNvPr id="10" name="Text 5">
              <a:extLst>
                <a:ext uri="{FF2B5EF4-FFF2-40B4-BE49-F238E27FC236}">
                  <a16:creationId xmlns:a16="http://schemas.microsoft.com/office/drawing/2014/main" id="{D5D17A99-F9DA-CBC2-E890-F39074CA1541}"/>
                </a:ext>
              </a:extLst>
            </p:cNvPr>
            <p:cNvSpPr/>
            <p:nvPr/>
          </p:nvSpPr>
          <p:spPr>
            <a:xfrm>
              <a:off x="685800" y="1234440"/>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Definition:</a:t>
              </a:r>
              <a:endParaRPr lang="en-US" sz="2000" dirty="0">
                <a:latin typeface="Helvetica Neue Light"/>
              </a:endParaRPr>
            </a:p>
          </p:txBody>
        </p:sp>
        <p:sp>
          <p:nvSpPr>
            <p:cNvPr id="11" name="Text 6">
              <a:extLst>
                <a:ext uri="{FF2B5EF4-FFF2-40B4-BE49-F238E27FC236}">
                  <a16:creationId xmlns:a16="http://schemas.microsoft.com/office/drawing/2014/main" id="{73EEF55F-BCE5-2AC8-E545-3348695C8CEC}"/>
                </a:ext>
              </a:extLst>
            </p:cNvPr>
            <p:cNvSpPr/>
            <p:nvPr/>
          </p:nvSpPr>
          <p:spPr>
            <a:xfrm>
              <a:off x="685800" y="1463040"/>
              <a:ext cx="8055408" cy="657756"/>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Meta-learning is "learning to learn" — AI systems that develop strategies for acquiring new skills quickly, rather than just learning specific tasks. Instead of training a model from scratch for each new task, meta-learning creates models that adapt to new tasks with just a few examples by learning general learning strategies.</a:t>
              </a:r>
              <a:endParaRPr lang="en-US" dirty="0">
                <a:latin typeface="Helvetica Neue Light"/>
              </a:endParaRPr>
            </a:p>
          </p:txBody>
        </p:sp>
        <p:sp>
          <p:nvSpPr>
            <p:cNvPr id="12" name="Text 7">
              <a:extLst>
                <a:ext uri="{FF2B5EF4-FFF2-40B4-BE49-F238E27FC236}">
                  <a16:creationId xmlns:a16="http://schemas.microsoft.com/office/drawing/2014/main" id="{696CDC1C-6811-0EBB-C762-F0CD3AE6607E}"/>
                </a:ext>
              </a:extLst>
            </p:cNvPr>
            <p:cNvSpPr/>
            <p:nvPr/>
          </p:nvSpPr>
          <p:spPr>
            <a:xfrm>
              <a:off x="457200" y="2286000"/>
              <a:ext cx="8229600" cy="320040"/>
            </a:xfrm>
            <a:prstGeom prst="rect">
              <a:avLst/>
            </a:prstGeom>
            <a:noFill/>
            <a:ln/>
          </p:spPr>
          <p:txBody>
            <a:bodyPr wrap="square" rtlCol="0" anchor="ctr"/>
            <a:lstStyle/>
            <a:p>
              <a:pPr marL="0" indent="0">
                <a:buNone/>
              </a:pPr>
              <a:r>
                <a:rPr lang="en-US" sz="2400" b="1" dirty="0">
                  <a:solidFill>
                    <a:srgbClr val="065A82"/>
                  </a:solidFill>
                  <a:latin typeface="Helvetica Neue Light"/>
                  <a:ea typeface="Georgia" pitchFamily="34" charset="-122"/>
                  <a:cs typeface="Georgia" pitchFamily="34" charset="-120"/>
                </a:rPr>
                <a:t>The Evolution:</a:t>
              </a:r>
              <a:endParaRPr lang="en-US" sz="2400" dirty="0">
                <a:latin typeface="Helvetica Neue Light"/>
              </a:endParaRPr>
            </a:p>
          </p:txBody>
        </p:sp>
      </p:grpSp>
    </p:spTree>
    <p:extLst>
      <p:ext uri="{BB962C8B-B14F-4D97-AF65-F5344CB8AC3E}">
        <p14:creationId xmlns:p14="http://schemas.microsoft.com/office/powerpoint/2010/main" val="12042671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81DF2856-1A06-25D5-E019-6CBD3CEEF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B3A44-07D0-0504-35B1-682FB3815193}"/>
              </a:ext>
            </a:extLst>
          </p:cNvPr>
          <p:cNvSpPr>
            <a:spLocks noGrp="1"/>
          </p:cNvSpPr>
          <p:nvPr>
            <p:ph type="title"/>
          </p:nvPr>
        </p:nvSpPr>
        <p:spPr>
          <a:xfrm>
            <a:off x="457200" y="365126"/>
            <a:ext cx="8229600" cy="592213"/>
          </a:xfrm>
        </p:spPr>
        <p:txBody>
          <a:bodyPr/>
          <a:lstStyle/>
          <a:p>
            <a:r>
              <a:rPr lang="en-US" dirty="0"/>
              <a:t>How It Works</a:t>
            </a:r>
          </a:p>
        </p:txBody>
      </p:sp>
      <p:sp>
        <p:nvSpPr>
          <p:cNvPr id="5" name="Slide Number Placeholder 4">
            <a:extLst>
              <a:ext uri="{FF2B5EF4-FFF2-40B4-BE49-F238E27FC236}">
                <a16:creationId xmlns:a16="http://schemas.microsoft.com/office/drawing/2014/main" id="{22684882-A8D3-9C99-8C6B-AB42AD0018AF}"/>
              </a:ext>
            </a:extLst>
          </p:cNvPr>
          <p:cNvSpPr>
            <a:spLocks noGrp="1"/>
          </p:cNvSpPr>
          <p:nvPr>
            <p:ph type="sldNum" sz="quarter" idx="12"/>
          </p:nvPr>
        </p:nvSpPr>
        <p:spPr/>
        <p:txBody>
          <a:bodyPr/>
          <a:lstStyle/>
          <a:p>
            <a:fld id="{21EF4C0E-91FA-4D94-8941-E22F3A83D5F1}" type="slidenum">
              <a:rPr lang="en-US" smtClean="0"/>
              <a:t>59</a:t>
            </a:fld>
            <a:endParaRPr lang="en-US"/>
          </a:p>
        </p:txBody>
      </p:sp>
      <p:grpSp>
        <p:nvGrpSpPr>
          <p:cNvPr id="3" name="Group 2">
            <a:extLst>
              <a:ext uri="{FF2B5EF4-FFF2-40B4-BE49-F238E27FC236}">
                <a16:creationId xmlns:a16="http://schemas.microsoft.com/office/drawing/2014/main" id="{76D53D79-340D-0204-C2BF-F77E07A2F77E}"/>
              </a:ext>
            </a:extLst>
          </p:cNvPr>
          <p:cNvGrpSpPr/>
          <p:nvPr/>
        </p:nvGrpSpPr>
        <p:grpSpPr>
          <a:xfrm>
            <a:off x="422509" y="1203616"/>
            <a:ext cx="4198451" cy="5649938"/>
            <a:chOff x="437954" y="1234440"/>
            <a:chExt cx="4191113" cy="3174711"/>
          </a:xfrm>
        </p:grpSpPr>
        <p:sp>
          <p:nvSpPr>
            <p:cNvPr id="4" name="Shape 3">
              <a:extLst>
                <a:ext uri="{FF2B5EF4-FFF2-40B4-BE49-F238E27FC236}">
                  <a16:creationId xmlns:a16="http://schemas.microsoft.com/office/drawing/2014/main" id="{0E8C3D11-52F8-456F-6073-500D5AFE66BF}"/>
                </a:ext>
              </a:extLst>
            </p:cNvPr>
            <p:cNvSpPr/>
            <p:nvPr/>
          </p:nvSpPr>
          <p:spPr>
            <a:xfrm>
              <a:off x="457199" y="1268175"/>
              <a:ext cx="4156482" cy="14630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647EAC1F-4BC7-11A5-F811-F8EF3844A4FC}"/>
                </a:ext>
              </a:extLst>
            </p:cNvPr>
            <p:cNvSpPr/>
            <p:nvPr/>
          </p:nvSpPr>
          <p:spPr>
            <a:xfrm>
              <a:off x="457200" y="1234440"/>
              <a:ext cx="54864" cy="1463040"/>
            </a:xfrm>
            <a:prstGeom prst="rect">
              <a:avLst/>
            </a:prstGeom>
            <a:solidFill>
              <a:srgbClr val="1C7293"/>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09E58E54-755E-5299-84F4-CF66FB898D6D}"/>
                </a:ext>
              </a:extLst>
            </p:cNvPr>
            <p:cNvSpPr/>
            <p:nvPr/>
          </p:nvSpPr>
          <p:spPr>
            <a:xfrm>
              <a:off x="68580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How It Works</a:t>
              </a:r>
              <a:endParaRPr lang="en-US" sz="2000" dirty="0">
                <a:latin typeface="Helvetica Neue Light"/>
              </a:endParaRPr>
            </a:p>
          </p:txBody>
        </p:sp>
        <p:sp>
          <p:nvSpPr>
            <p:cNvPr id="9" name="Text 6">
              <a:extLst>
                <a:ext uri="{FF2B5EF4-FFF2-40B4-BE49-F238E27FC236}">
                  <a16:creationId xmlns:a16="http://schemas.microsoft.com/office/drawing/2014/main" id="{F73F3224-F3B9-1290-B734-7BF21EEBC0EF}"/>
                </a:ext>
              </a:extLst>
            </p:cNvPr>
            <p:cNvSpPr/>
            <p:nvPr/>
          </p:nvSpPr>
          <p:spPr>
            <a:xfrm>
              <a:off x="685799" y="1600200"/>
              <a:ext cx="3810144" cy="10058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During meta-training, the model sees many different tasks and learns common patterns about how to adapt quickly — like learning "how to study" rather than memorizing specific facts.</a:t>
              </a:r>
              <a:endParaRPr lang="en-US" dirty="0">
                <a:latin typeface="Helvetica Neue Light"/>
              </a:endParaRPr>
            </a:p>
          </p:txBody>
        </p:sp>
        <p:sp>
          <p:nvSpPr>
            <p:cNvPr id="10" name="Shape 7">
              <a:extLst>
                <a:ext uri="{FF2B5EF4-FFF2-40B4-BE49-F238E27FC236}">
                  <a16:creationId xmlns:a16="http://schemas.microsoft.com/office/drawing/2014/main" id="{880E1B4E-2A64-CEFC-45B3-E24C445E9C4C}"/>
                </a:ext>
              </a:extLst>
            </p:cNvPr>
            <p:cNvSpPr/>
            <p:nvPr/>
          </p:nvSpPr>
          <p:spPr>
            <a:xfrm>
              <a:off x="472584" y="2946111"/>
              <a:ext cx="4156483" cy="14630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7072F919-81B1-F50A-EF7A-527AC572AB30}"/>
                </a:ext>
              </a:extLst>
            </p:cNvPr>
            <p:cNvSpPr/>
            <p:nvPr/>
          </p:nvSpPr>
          <p:spPr>
            <a:xfrm>
              <a:off x="437954" y="2912375"/>
              <a:ext cx="54864" cy="1463040"/>
            </a:xfrm>
            <a:prstGeom prst="rect">
              <a:avLst/>
            </a:prstGeom>
            <a:solidFill>
              <a:srgbClr val="E07A5F"/>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111EC62B-42BA-4039-7124-9E3A501F15F7}"/>
                </a:ext>
              </a:extLst>
            </p:cNvPr>
            <p:cNvSpPr/>
            <p:nvPr/>
          </p:nvSpPr>
          <p:spPr>
            <a:xfrm>
              <a:off x="701184" y="2982638"/>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Contrast with Traditional ML</a:t>
              </a:r>
              <a:endParaRPr lang="en-US" sz="2000" dirty="0">
                <a:latin typeface="Helvetica Neue Light"/>
              </a:endParaRPr>
            </a:p>
          </p:txBody>
        </p:sp>
        <p:sp>
          <p:nvSpPr>
            <p:cNvPr id="13" name="Text 10">
              <a:extLst>
                <a:ext uri="{FF2B5EF4-FFF2-40B4-BE49-F238E27FC236}">
                  <a16:creationId xmlns:a16="http://schemas.microsoft.com/office/drawing/2014/main" id="{445B9886-5228-5DE5-ACC9-8D515EE698D2}"/>
                </a:ext>
              </a:extLst>
            </p:cNvPr>
            <p:cNvSpPr/>
            <p:nvPr/>
          </p:nvSpPr>
          <p:spPr>
            <a:xfrm>
              <a:off x="701184" y="3256958"/>
              <a:ext cx="3794760" cy="100584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Traditional ML masters one task with lots of data; meta-learning is capable of mastering new tasks with minimal data by applying learned adaptation strategies.</a:t>
              </a:r>
              <a:endParaRPr lang="en-US" dirty="0">
                <a:latin typeface="Helvetica Neue Light"/>
              </a:endParaRPr>
            </a:p>
          </p:txBody>
        </p:sp>
      </p:grpSp>
      <p:pic>
        <p:nvPicPr>
          <p:cNvPr id="18" name="Picture 17">
            <a:extLst>
              <a:ext uri="{FF2B5EF4-FFF2-40B4-BE49-F238E27FC236}">
                <a16:creationId xmlns:a16="http://schemas.microsoft.com/office/drawing/2014/main" id="{469FF225-29B0-E16F-DD9A-C0DC9106DDB0}"/>
              </a:ext>
            </a:extLst>
          </p:cNvPr>
          <p:cNvPicPr>
            <a:picLocks noChangeAspect="1"/>
          </p:cNvPicPr>
          <p:nvPr/>
        </p:nvPicPr>
        <p:blipFill>
          <a:blip r:embed="rId2"/>
          <a:stretch>
            <a:fillRect/>
          </a:stretch>
        </p:blipFill>
        <p:spPr>
          <a:xfrm>
            <a:off x="4696334" y="1208331"/>
            <a:ext cx="4273680" cy="47609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432619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EB8453A-7B40-45AF-8C53-AA993583B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A3C85-6CB6-3267-55F0-CADB0F070419}"/>
              </a:ext>
            </a:extLst>
          </p:cNvPr>
          <p:cNvSpPr>
            <a:spLocks noGrp="1"/>
          </p:cNvSpPr>
          <p:nvPr>
            <p:ph type="title"/>
          </p:nvPr>
        </p:nvSpPr>
        <p:spPr>
          <a:xfrm>
            <a:off x="457200" y="365126"/>
            <a:ext cx="8229600" cy="592213"/>
          </a:xfrm>
        </p:spPr>
        <p:txBody>
          <a:bodyPr/>
          <a:lstStyle/>
          <a:p>
            <a:r>
              <a:rPr lang="en-US" dirty="0"/>
              <a:t>Benefits &amp; Applications</a:t>
            </a:r>
          </a:p>
        </p:txBody>
      </p:sp>
      <p:sp>
        <p:nvSpPr>
          <p:cNvPr id="5" name="Slide Number Placeholder 4">
            <a:extLst>
              <a:ext uri="{FF2B5EF4-FFF2-40B4-BE49-F238E27FC236}">
                <a16:creationId xmlns:a16="http://schemas.microsoft.com/office/drawing/2014/main" id="{77543292-6AE1-FC4F-D5BF-59C01EA278D9}"/>
              </a:ext>
            </a:extLst>
          </p:cNvPr>
          <p:cNvSpPr>
            <a:spLocks noGrp="1"/>
          </p:cNvSpPr>
          <p:nvPr>
            <p:ph type="sldNum" sz="quarter" idx="12"/>
          </p:nvPr>
        </p:nvSpPr>
        <p:spPr/>
        <p:txBody>
          <a:bodyPr/>
          <a:lstStyle/>
          <a:p>
            <a:fld id="{21EF4C0E-91FA-4D94-8941-E22F3A83D5F1}" type="slidenum">
              <a:rPr lang="en-US" smtClean="0"/>
              <a:t>60</a:t>
            </a:fld>
            <a:endParaRPr lang="en-US"/>
          </a:p>
        </p:txBody>
      </p:sp>
      <p:sp>
        <p:nvSpPr>
          <p:cNvPr id="6" name="TextBox 5">
            <a:extLst>
              <a:ext uri="{FF2B5EF4-FFF2-40B4-BE49-F238E27FC236}">
                <a16:creationId xmlns:a16="http://schemas.microsoft.com/office/drawing/2014/main" id="{2245EB68-4268-6D45-5608-6A093CACDEB9}"/>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23616DEA-6BC1-E132-4080-D3383747A98A}"/>
              </a:ext>
            </a:extLst>
          </p:cNvPr>
          <p:cNvGrpSpPr/>
          <p:nvPr/>
        </p:nvGrpSpPr>
        <p:grpSpPr>
          <a:xfrm>
            <a:off x="457200" y="1234439"/>
            <a:ext cx="8507234" cy="4816424"/>
            <a:chOff x="457200" y="1234440"/>
            <a:chExt cx="8507234" cy="2057400"/>
          </a:xfrm>
        </p:grpSpPr>
        <p:sp>
          <p:nvSpPr>
            <p:cNvPr id="4" name="Shape 3">
              <a:extLst>
                <a:ext uri="{FF2B5EF4-FFF2-40B4-BE49-F238E27FC236}">
                  <a16:creationId xmlns:a16="http://schemas.microsoft.com/office/drawing/2014/main" id="{EC3035FC-006A-F9BD-93DB-1184E21F6CE7}"/>
                </a:ext>
              </a:extLst>
            </p:cNvPr>
            <p:cNvSpPr/>
            <p:nvPr/>
          </p:nvSpPr>
          <p:spPr>
            <a:xfrm>
              <a:off x="457200" y="1234440"/>
              <a:ext cx="4023360" cy="13716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E8B02CDE-2515-84A2-5A60-93EB8ED08A91}"/>
                </a:ext>
              </a:extLst>
            </p:cNvPr>
            <p:cNvSpPr/>
            <p:nvPr/>
          </p:nvSpPr>
          <p:spPr>
            <a:xfrm>
              <a:off x="457200" y="1234440"/>
              <a:ext cx="54864" cy="1371600"/>
            </a:xfrm>
            <a:prstGeom prst="rect">
              <a:avLst/>
            </a:prstGeom>
            <a:solidFill>
              <a:srgbClr val="1C7293"/>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F6D11821-5423-EA74-8659-B585D0B2DB39}"/>
                </a:ext>
              </a:extLst>
            </p:cNvPr>
            <p:cNvSpPr/>
            <p:nvPr/>
          </p:nvSpPr>
          <p:spPr>
            <a:xfrm>
              <a:off x="68580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Applications</a:t>
              </a:r>
              <a:endParaRPr lang="en-US" sz="2000" dirty="0">
                <a:latin typeface="Helvetica Neue Light"/>
              </a:endParaRPr>
            </a:p>
          </p:txBody>
        </p:sp>
        <p:sp>
          <p:nvSpPr>
            <p:cNvPr id="9" name="Text 6">
              <a:extLst>
                <a:ext uri="{FF2B5EF4-FFF2-40B4-BE49-F238E27FC236}">
                  <a16:creationId xmlns:a16="http://schemas.microsoft.com/office/drawing/2014/main" id="{00B1579C-953E-C645-5DB4-6BC6A9910430}"/>
                </a:ext>
              </a:extLst>
            </p:cNvPr>
            <p:cNvSpPr/>
            <p:nvPr/>
          </p:nvSpPr>
          <p:spPr>
            <a:xfrm>
              <a:off x="685800" y="1600200"/>
              <a:ext cx="3794760" cy="914400"/>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Robotics: </a:t>
              </a:r>
              <a:r>
                <a:rPr lang="en-US" sz="1600" dirty="0">
                  <a:solidFill>
                    <a:srgbClr val="2D3436"/>
                  </a:solidFill>
                  <a:latin typeface="Helvetica Neue Light"/>
                  <a:ea typeface="Calibri" pitchFamily="34" charset="-122"/>
                  <a:cs typeface="Calibri" pitchFamily="34" charset="-120"/>
                </a:rPr>
                <a:t>Adapting to new objects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Drug Discovery: </a:t>
              </a:r>
              <a:r>
                <a:rPr lang="en-US" sz="1600" dirty="0">
                  <a:solidFill>
                    <a:srgbClr val="2D3436"/>
                  </a:solidFill>
                  <a:latin typeface="Helvetica Neue Light"/>
                  <a:ea typeface="Calibri" pitchFamily="34" charset="-122"/>
                  <a:cs typeface="Calibri" pitchFamily="34" charset="-120"/>
                </a:rPr>
                <a:t>Predicting effects of new compounds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Personalized AI: </a:t>
              </a:r>
              <a:r>
                <a:rPr lang="en-US" sz="1600" dirty="0">
                  <a:solidFill>
                    <a:srgbClr val="2D3436"/>
                  </a:solidFill>
                  <a:latin typeface="Helvetica Neue Light"/>
                  <a:ea typeface="Calibri" pitchFamily="34" charset="-122"/>
                  <a:cs typeface="Calibri" pitchFamily="34" charset="-120"/>
                </a:rPr>
                <a:t>Adapting to individual users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Few-shot Image Recognition: </a:t>
              </a:r>
              <a:r>
                <a:rPr lang="en-US" sz="1600" dirty="0">
                  <a:solidFill>
                    <a:srgbClr val="2D3436"/>
                  </a:solidFill>
                  <a:latin typeface="Helvetica Neue Light"/>
                  <a:ea typeface="Calibri" pitchFamily="34" charset="-122"/>
                  <a:cs typeface="Calibri" pitchFamily="34" charset="-120"/>
                </a:rPr>
                <a:t>Classifying new categories</a:t>
              </a:r>
              <a:endParaRPr lang="en-US" sz="1600" dirty="0">
                <a:latin typeface="Helvetica Neue Light"/>
              </a:endParaRPr>
            </a:p>
          </p:txBody>
        </p:sp>
        <p:sp>
          <p:nvSpPr>
            <p:cNvPr id="10" name="Shape 7">
              <a:extLst>
                <a:ext uri="{FF2B5EF4-FFF2-40B4-BE49-F238E27FC236}">
                  <a16:creationId xmlns:a16="http://schemas.microsoft.com/office/drawing/2014/main" id="{C1A44D45-6D84-8475-69B5-D7AE0462EA6B}"/>
                </a:ext>
              </a:extLst>
            </p:cNvPr>
            <p:cNvSpPr/>
            <p:nvPr/>
          </p:nvSpPr>
          <p:spPr>
            <a:xfrm>
              <a:off x="4663440" y="1234440"/>
              <a:ext cx="4300994" cy="13716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8D3E6E1E-2988-84A8-9C81-ABB9B6FD1EAD}"/>
                </a:ext>
              </a:extLst>
            </p:cNvPr>
            <p:cNvSpPr/>
            <p:nvPr/>
          </p:nvSpPr>
          <p:spPr>
            <a:xfrm>
              <a:off x="4663440" y="1234440"/>
              <a:ext cx="54864" cy="1371600"/>
            </a:xfrm>
            <a:prstGeom prst="rect">
              <a:avLst/>
            </a:prstGeom>
            <a:solidFill>
              <a:srgbClr val="E07A5F"/>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977C8580-626E-875E-3F76-4D773AE79BC6}"/>
                </a:ext>
              </a:extLst>
            </p:cNvPr>
            <p:cNvSpPr/>
            <p:nvPr/>
          </p:nvSpPr>
          <p:spPr>
            <a:xfrm>
              <a:off x="489204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Three Main Approaches</a:t>
              </a:r>
              <a:endParaRPr lang="en-US" sz="2000" dirty="0">
                <a:latin typeface="Helvetica Neue Light"/>
              </a:endParaRPr>
            </a:p>
          </p:txBody>
        </p:sp>
        <p:sp>
          <p:nvSpPr>
            <p:cNvPr id="13" name="Text 10">
              <a:extLst>
                <a:ext uri="{FF2B5EF4-FFF2-40B4-BE49-F238E27FC236}">
                  <a16:creationId xmlns:a16="http://schemas.microsoft.com/office/drawing/2014/main" id="{EC013C38-C2C0-D9C6-881B-563BCB19D341}"/>
                </a:ext>
              </a:extLst>
            </p:cNvPr>
            <p:cNvSpPr/>
            <p:nvPr/>
          </p:nvSpPr>
          <p:spPr>
            <a:xfrm>
              <a:off x="4892040" y="1600200"/>
              <a:ext cx="4072394" cy="914400"/>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Model-based: </a:t>
              </a:r>
              <a:r>
                <a:rPr lang="en-US" sz="1600" dirty="0">
                  <a:solidFill>
                    <a:srgbClr val="2D3436"/>
                  </a:solidFill>
                  <a:latin typeface="Helvetica Neue Light"/>
                  <a:ea typeface="Calibri" pitchFamily="34" charset="-122"/>
                  <a:cs typeface="Calibri" pitchFamily="34" charset="-120"/>
                </a:rPr>
                <a:t>Learning an adaptation algorithm</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Optimization-based: </a:t>
              </a:r>
              <a:r>
                <a:rPr lang="en-US" sz="1600" dirty="0">
                  <a:solidFill>
                    <a:srgbClr val="2D3436"/>
                  </a:solidFill>
                  <a:latin typeface="Helvetica Neue Light"/>
                  <a:ea typeface="Calibri" pitchFamily="34" charset="-122"/>
                  <a:cs typeface="Calibri" pitchFamily="34" charset="-120"/>
                </a:rPr>
                <a:t>Learning good initial parameters (MAML)</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Metric-based: </a:t>
              </a:r>
              <a:r>
                <a:rPr lang="en-US" sz="1600" dirty="0">
                  <a:solidFill>
                    <a:srgbClr val="2D3436"/>
                  </a:solidFill>
                  <a:latin typeface="Helvetica Neue Light"/>
                  <a:ea typeface="Calibri" pitchFamily="34" charset="-122"/>
                  <a:cs typeface="Calibri" pitchFamily="34" charset="-120"/>
                </a:rPr>
                <a:t>Learning similarity measures for comparison</a:t>
              </a:r>
              <a:endParaRPr lang="en-US" sz="1600" dirty="0">
                <a:latin typeface="Helvetica Neue Light"/>
              </a:endParaRPr>
            </a:p>
          </p:txBody>
        </p:sp>
        <p:sp>
          <p:nvSpPr>
            <p:cNvPr id="14" name="Shape 11">
              <a:extLst>
                <a:ext uri="{FF2B5EF4-FFF2-40B4-BE49-F238E27FC236}">
                  <a16:creationId xmlns:a16="http://schemas.microsoft.com/office/drawing/2014/main" id="{06D979FD-CE2A-DB39-0F0D-97C6E00317E3}"/>
                </a:ext>
              </a:extLst>
            </p:cNvPr>
            <p:cNvSpPr/>
            <p:nvPr/>
          </p:nvSpPr>
          <p:spPr>
            <a:xfrm>
              <a:off x="457200" y="2788920"/>
              <a:ext cx="8507234" cy="502920"/>
            </a:xfrm>
            <a:prstGeom prst="rect">
              <a:avLst/>
            </a:prstGeom>
            <a:solidFill>
              <a:srgbClr val="21295C"/>
            </a:solidFill>
            <a:ln/>
          </p:spPr>
          <p:txBody>
            <a:bodyPr/>
            <a:lstStyle/>
            <a:p>
              <a:endParaRPr lang="en-US" sz="3200">
                <a:latin typeface="Helvetica Neue Light"/>
              </a:endParaRPr>
            </a:p>
          </p:txBody>
        </p:sp>
        <p:sp>
          <p:nvSpPr>
            <p:cNvPr id="15" name="Text 12">
              <a:extLst>
                <a:ext uri="{FF2B5EF4-FFF2-40B4-BE49-F238E27FC236}">
                  <a16:creationId xmlns:a16="http://schemas.microsoft.com/office/drawing/2014/main" id="{06052C3C-EA8F-0433-B852-AA6AFC2BDF0B}"/>
                </a:ext>
              </a:extLst>
            </p:cNvPr>
            <p:cNvSpPr/>
            <p:nvPr/>
          </p:nvSpPr>
          <p:spPr>
            <a:xfrm>
              <a:off x="594360" y="2880360"/>
              <a:ext cx="7955280" cy="32004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Problem It Solves: </a:t>
              </a:r>
              <a:r>
                <a:rPr lang="en-US" dirty="0">
                  <a:solidFill>
                    <a:srgbClr val="FFFFFF"/>
                  </a:solidFill>
                  <a:latin typeface="Helvetica Neue Light"/>
                  <a:ea typeface="Calibri" pitchFamily="34" charset="-122"/>
                  <a:cs typeface="Calibri" pitchFamily="34" charset="-120"/>
                </a:rPr>
                <a:t>The "data hunger" of AI — instead of needing thousands of examples per task, meta-learning enables learning from 1-5 examples</a:t>
              </a:r>
              <a:endParaRPr lang="en-US" dirty="0">
                <a:latin typeface="Helvetica Neue Light"/>
              </a:endParaRPr>
            </a:p>
          </p:txBody>
        </p:sp>
      </p:grpSp>
    </p:spTree>
    <p:extLst>
      <p:ext uri="{BB962C8B-B14F-4D97-AF65-F5344CB8AC3E}">
        <p14:creationId xmlns:p14="http://schemas.microsoft.com/office/powerpoint/2010/main" val="33847506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A7534289-C7A5-E78C-6B3F-07D76A0B9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6DE7E8-83DD-5EB3-8C51-95928B4F3AE3}"/>
              </a:ext>
            </a:extLst>
          </p:cNvPr>
          <p:cNvSpPr>
            <a:spLocks noGrp="1"/>
          </p:cNvSpPr>
          <p:nvPr>
            <p:ph type="title"/>
          </p:nvPr>
        </p:nvSpPr>
        <p:spPr>
          <a:xfrm>
            <a:off x="457200" y="365126"/>
            <a:ext cx="8229600" cy="592213"/>
          </a:xfrm>
        </p:spPr>
        <p:txBody>
          <a:bodyPr/>
          <a:lstStyle/>
          <a:p>
            <a:r>
              <a:rPr lang="en-US" dirty="0"/>
              <a:t>Limitations &amp; Future</a:t>
            </a:r>
          </a:p>
        </p:txBody>
      </p:sp>
      <p:sp>
        <p:nvSpPr>
          <p:cNvPr id="5" name="Slide Number Placeholder 4">
            <a:extLst>
              <a:ext uri="{FF2B5EF4-FFF2-40B4-BE49-F238E27FC236}">
                <a16:creationId xmlns:a16="http://schemas.microsoft.com/office/drawing/2014/main" id="{3BBC8A1F-A4A1-85CD-052D-38BFD5F1EF62}"/>
              </a:ext>
            </a:extLst>
          </p:cNvPr>
          <p:cNvSpPr>
            <a:spLocks noGrp="1"/>
          </p:cNvSpPr>
          <p:nvPr>
            <p:ph type="sldNum" sz="quarter" idx="12"/>
          </p:nvPr>
        </p:nvSpPr>
        <p:spPr/>
        <p:txBody>
          <a:bodyPr/>
          <a:lstStyle/>
          <a:p>
            <a:fld id="{21EF4C0E-91FA-4D94-8941-E22F3A83D5F1}" type="slidenum">
              <a:rPr lang="en-US" smtClean="0"/>
              <a:t>61</a:t>
            </a:fld>
            <a:endParaRPr lang="en-US"/>
          </a:p>
        </p:txBody>
      </p:sp>
      <p:sp>
        <p:nvSpPr>
          <p:cNvPr id="6" name="TextBox 5">
            <a:extLst>
              <a:ext uri="{FF2B5EF4-FFF2-40B4-BE49-F238E27FC236}">
                <a16:creationId xmlns:a16="http://schemas.microsoft.com/office/drawing/2014/main" id="{DA06C467-4573-DC79-7405-93D8E7EEE630}"/>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C9D7D20D-2B84-3835-CC3B-77CC11D4661D}"/>
              </a:ext>
            </a:extLst>
          </p:cNvPr>
          <p:cNvGrpSpPr/>
          <p:nvPr/>
        </p:nvGrpSpPr>
        <p:grpSpPr>
          <a:xfrm>
            <a:off x="457200" y="1234440"/>
            <a:ext cx="8563510" cy="4508814"/>
            <a:chOff x="457200" y="1234440"/>
            <a:chExt cx="8229600" cy="2057400"/>
          </a:xfrm>
        </p:grpSpPr>
        <p:sp>
          <p:nvSpPr>
            <p:cNvPr id="4" name="Shape 3">
              <a:extLst>
                <a:ext uri="{FF2B5EF4-FFF2-40B4-BE49-F238E27FC236}">
                  <a16:creationId xmlns:a16="http://schemas.microsoft.com/office/drawing/2014/main" id="{A89307CF-A039-6748-4F51-1CA1C77E6671}"/>
                </a:ext>
              </a:extLst>
            </p:cNvPr>
            <p:cNvSpPr/>
            <p:nvPr/>
          </p:nvSpPr>
          <p:spPr>
            <a:xfrm>
              <a:off x="457200" y="1234440"/>
              <a:ext cx="4023360" cy="11887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9650FF9C-DC74-8490-EA62-90947FA7C29D}"/>
                </a:ext>
              </a:extLst>
            </p:cNvPr>
            <p:cNvSpPr/>
            <p:nvPr/>
          </p:nvSpPr>
          <p:spPr>
            <a:xfrm>
              <a:off x="457200" y="1234440"/>
              <a:ext cx="54864" cy="118872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A1C22959-290A-E822-6B81-9AFA9156EA56}"/>
                </a:ext>
              </a:extLst>
            </p:cNvPr>
            <p:cNvSpPr/>
            <p:nvPr/>
          </p:nvSpPr>
          <p:spPr>
            <a:xfrm>
              <a:off x="68580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Critical Limitation</a:t>
              </a:r>
              <a:endParaRPr lang="en-US" sz="2000" dirty="0">
                <a:latin typeface="Helvetica Neue Light"/>
              </a:endParaRPr>
            </a:p>
          </p:txBody>
        </p:sp>
        <p:sp>
          <p:nvSpPr>
            <p:cNvPr id="9" name="Text 6">
              <a:extLst>
                <a:ext uri="{FF2B5EF4-FFF2-40B4-BE49-F238E27FC236}">
                  <a16:creationId xmlns:a16="http://schemas.microsoft.com/office/drawing/2014/main" id="{05D5F383-9C73-EACC-705D-793068B62DF5}"/>
                </a:ext>
              </a:extLst>
            </p:cNvPr>
            <p:cNvSpPr/>
            <p:nvPr/>
          </p:nvSpPr>
          <p:spPr>
            <a:xfrm>
              <a:off x="685800" y="1600200"/>
              <a:ext cx="3657600" cy="731520"/>
            </a:xfrm>
            <a:prstGeom prst="rect">
              <a:avLst/>
            </a:prstGeom>
            <a:noFill/>
            <a:ln/>
          </p:spPr>
          <p:txBody>
            <a:bodyPr wrap="square" rtlCol="0" anchor="t"/>
            <a:lstStyle/>
            <a:p>
              <a:pPr marL="0" indent="0">
                <a:buNone/>
              </a:pPr>
              <a:r>
                <a:rPr lang="en-US" dirty="0">
                  <a:solidFill>
                    <a:srgbClr val="2D3436"/>
                  </a:solidFill>
                  <a:latin typeface="Helvetica Neue Light"/>
                  <a:ea typeface="Calibri" pitchFamily="34" charset="-122"/>
                  <a:cs typeface="Calibri" pitchFamily="34" charset="-120"/>
                </a:rPr>
                <a:t>Meta-learning requires diverse meta-training tasks; it can't generalize to completely different task types than those seen during meta-training.</a:t>
              </a:r>
              <a:endParaRPr lang="en-US" dirty="0">
                <a:latin typeface="Helvetica Neue Light"/>
              </a:endParaRPr>
            </a:p>
          </p:txBody>
        </p:sp>
        <p:sp>
          <p:nvSpPr>
            <p:cNvPr id="10" name="Shape 7">
              <a:extLst>
                <a:ext uri="{FF2B5EF4-FFF2-40B4-BE49-F238E27FC236}">
                  <a16:creationId xmlns:a16="http://schemas.microsoft.com/office/drawing/2014/main" id="{0E21B28C-AAEC-054C-F02E-F191DEEAEB91}"/>
                </a:ext>
              </a:extLst>
            </p:cNvPr>
            <p:cNvSpPr/>
            <p:nvPr/>
          </p:nvSpPr>
          <p:spPr>
            <a:xfrm>
              <a:off x="4663440" y="1234440"/>
              <a:ext cx="4023360" cy="11887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10B19BC9-E449-3E7D-5FAE-EA826ED606D1}"/>
                </a:ext>
              </a:extLst>
            </p:cNvPr>
            <p:cNvSpPr/>
            <p:nvPr/>
          </p:nvSpPr>
          <p:spPr>
            <a:xfrm>
              <a:off x="4663440" y="1234440"/>
              <a:ext cx="54864" cy="1188720"/>
            </a:xfrm>
            <a:prstGeom prst="rect">
              <a:avLst/>
            </a:prstGeom>
            <a:solidFill>
              <a:srgbClr val="1C7293"/>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796236B7-E693-8B53-18CC-524AACE71785}"/>
                </a:ext>
              </a:extLst>
            </p:cNvPr>
            <p:cNvSpPr/>
            <p:nvPr/>
          </p:nvSpPr>
          <p:spPr>
            <a:xfrm>
              <a:off x="489204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Real-World Example</a:t>
              </a:r>
              <a:endParaRPr lang="en-US" sz="2000" dirty="0">
                <a:latin typeface="Helvetica Neue Light"/>
              </a:endParaRPr>
            </a:p>
          </p:txBody>
        </p:sp>
        <p:sp>
          <p:nvSpPr>
            <p:cNvPr id="13" name="Text 10">
              <a:extLst>
                <a:ext uri="{FF2B5EF4-FFF2-40B4-BE49-F238E27FC236}">
                  <a16:creationId xmlns:a16="http://schemas.microsoft.com/office/drawing/2014/main" id="{C1AA2914-CDD8-2760-790A-B1C727B5386A}"/>
                </a:ext>
              </a:extLst>
            </p:cNvPr>
            <p:cNvSpPr/>
            <p:nvPr/>
          </p:nvSpPr>
          <p:spPr>
            <a:xfrm>
              <a:off x="4892040" y="1600200"/>
              <a:ext cx="3657600" cy="731520"/>
            </a:xfrm>
            <a:prstGeom prst="rect">
              <a:avLst/>
            </a:prstGeom>
            <a:noFill/>
            <a:ln/>
          </p:spPr>
          <p:txBody>
            <a:bodyPr wrap="square" rtlCol="0" anchor="t"/>
            <a:lstStyle/>
            <a:p>
              <a:pPr marL="0" indent="0">
                <a:buNone/>
              </a:pPr>
              <a:r>
                <a:rPr lang="en-US" dirty="0">
                  <a:solidFill>
                    <a:srgbClr val="2D3436"/>
                  </a:solidFill>
                  <a:latin typeface="Helvetica Neue Light"/>
                  <a:ea typeface="Calibri" pitchFamily="34" charset="-122"/>
                  <a:cs typeface="Calibri" pitchFamily="34" charset="-120"/>
                </a:rPr>
                <a:t>A meta-learned model trained on many languages can learn a new language's basics from just a few sentences, applying learned patterns about linguistic structure.</a:t>
              </a:r>
              <a:endParaRPr lang="en-US" dirty="0">
                <a:latin typeface="Helvetica Neue Light"/>
              </a:endParaRPr>
            </a:p>
          </p:txBody>
        </p:sp>
        <p:sp>
          <p:nvSpPr>
            <p:cNvPr id="14" name="Shape 11">
              <a:extLst>
                <a:ext uri="{FF2B5EF4-FFF2-40B4-BE49-F238E27FC236}">
                  <a16:creationId xmlns:a16="http://schemas.microsoft.com/office/drawing/2014/main" id="{8EE5B0AC-223C-8C34-A256-46C34819D8D1}"/>
                </a:ext>
              </a:extLst>
            </p:cNvPr>
            <p:cNvSpPr/>
            <p:nvPr/>
          </p:nvSpPr>
          <p:spPr>
            <a:xfrm>
              <a:off x="457200" y="2606040"/>
              <a:ext cx="8229600" cy="685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5" name="Shape 12">
              <a:extLst>
                <a:ext uri="{FF2B5EF4-FFF2-40B4-BE49-F238E27FC236}">
                  <a16:creationId xmlns:a16="http://schemas.microsoft.com/office/drawing/2014/main" id="{C37456E3-16AC-4EB6-3B2A-77A3F7F99CDD}"/>
                </a:ext>
              </a:extLst>
            </p:cNvPr>
            <p:cNvSpPr/>
            <p:nvPr/>
          </p:nvSpPr>
          <p:spPr>
            <a:xfrm>
              <a:off x="457200" y="2606040"/>
              <a:ext cx="54864" cy="685800"/>
            </a:xfrm>
            <a:prstGeom prst="rect">
              <a:avLst/>
            </a:prstGeom>
            <a:solidFill>
              <a:srgbClr val="065A82"/>
            </a:solidFill>
            <a:ln/>
          </p:spPr>
          <p:txBody>
            <a:bodyPr/>
            <a:lstStyle/>
            <a:p>
              <a:endParaRPr lang="en-US" sz="3200">
                <a:latin typeface="Helvetica Neue Light"/>
              </a:endParaRPr>
            </a:p>
          </p:txBody>
        </p:sp>
        <p:sp>
          <p:nvSpPr>
            <p:cNvPr id="16" name="Text 13">
              <a:extLst>
                <a:ext uri="{FF2B5EF4-FFF2-40B4-BE49-F238E27FC236}">
                  <a16:creationId xmlns:a16="http://schemas.microsoft.com/office/drawing/2014/main" id="{BC5C937D-2C76-2B2F-A247-B89DF2C68FA3}"/>
                </a:ext>
              </a:extLst>
            </p:cNvPr>
            <p:cNvSpPr/>
            <p:nvPr/>
          </p:nvSpPr>
          <p:spPr>
            <a:xfrm>
              <a:off x="685800" y="2743200"/>
              <a:ext cx="7772400" cy="548640"/>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Future Vision: </a:t>
              </a:r>
            </a:p>
            <a:p>
              <a:pPr marL="0" indent="0">
                <a:buNone/>
              </a:pPr>
              <a:r>
                <a:rPr lang="en-US" dirty="0">
                  <a:solidFill>
                    <a:srgbClr val="2D3436"/>
                  </a:solidFill>
                  <a:latin typeface="Helvetica Neue Light"/>
                  <a:ea typeface="Calibri" pitchFamily="34" charset="-122"/>
                  <a:cs typeface="Calibri" pitchFamily="34" charset="-120"/>
                </a:rPr>
                <a:t>	AI that learns as efficiently as humans — seeing a new tool once and 	immediately understanding how to use it by applying general 	knowledge about how tools work.</a:t>
              </a:r>
              <a:endParaRPr lang="en-US" dirty="0">
                <a:latin typeface="Helvetica Neue Light"/>
              </a:endParaRPr>
            </a:p>
          </p:txBody>
        </p:sp>
      </p:grpSp>
    </p:spTree>
    <p:extLst>
      <p:ext uri="{BB962C8B-B14F-4D97-AF65-F5344CB8AC3E}">
        <p14:creationId xmlns:p14="http://schemas.microsoft.com/office/powerpoint/2010/main" val="3525776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3CB0F-C5D9-5843-F0BC-EB67E62ADA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7DAFB4-5136-E78E-8EE2-12344B213E4A}"/>
              </a:ext>
            </a:extLst>
          </p:cNvPr>
          <p:cNvSpPr>
            <a:spLocks noGrp="1"/>
          </p:cNvSpPr>
          <p:nvPr>
            <p:ph type="title"/>
          </p:nvPr>
        </p:nvSpPr>
        <p:spPr>
          <a:xfrm>
            <a:off x="623888" y="3083866"/>
            <a:ext cx="7886700" cy="1478610"/>
          </a:xfrm>
        </p:spPr>
        <p:txBody>
          <a:bodyPr/>
          <a:lstStyle/>
          <a:p>
            <a:r>
              <a:rPr lang="en-US" sz="2800" i="1" dirty="0"/>
              <a:t>Part 11</a:t>
            </a:r>
            <a:br>
              <a:rPr lang="en-US" sz="3600" dirty="0"/>
            </a:br>
            <a:r>
              <a:rPr lang="en-US" sz="3600" dirty="0"/>
              <a:t>	RLHF (Reinforcement Learning 	from Human Feedback) in AI</a:t>
            </a:r>
          </a:p>
        </p:txBody>
      </p:sp>
      <p:sp>
        <p:nvSpPr>
          <p:cNvPr id="2" name="Text Placeholder 1">
            <a:extLst>
              <a:ext uri="{FF2B5EF4-FFF2-40B4-BE49-F238E27FC236}">
                <a16:creationId xmlns:a16="http://schemas.microsoft.com/office/drawing/2014/main" id="{D3BAE506-C1FA-4B3B-C3B3-2C6654BDB20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E0A1CB-B0F6-675E-8902-C9B2B54D7A30}"/>
              </a:ext>
            </a:extLst>
          </p:cNvPr>
          <p:cNvSpPr>
            <a:spLocks noGrp="1"/>
          </p:cNvSpPr>
          <p:nvPr>
            <p:ph type="sldNum" sz="quarter" idx="12"/>
          </p:nvPr>
        </p:nvSpPr>
        <p:spPr/>
        <p:txBody>
          <a:bodyPr/>
          <a:lstStyle/>
          <a:p>
            <a:fld id="{21EF4C0E-91FA-4D94-8941-E22F3A83D5F1}" type="slidenum">
              <a:rPr lang="en-US" smtClean="0"/>
              <a:t>62</a:t>
            </a:fld>
            <a:endParaRPr lang="en-US"/>
          </a:p>
        </p:txBody>
      </p:sp>
    </p:spTree>
    <p:extLst>
      <p:ext uri="{BB962C8B-B14F-4D97-AF65-F5344CB8AC3E}">
        <p14:creationId xmlns:p14="http://schemas.microsoft.com/office/powerpoint/2010/main" val="9423498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25D4E-E9B4-2D85-90A7-4C41B7551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044F9-B9CF-53A2-CBBE-F03CF96D4660}"/>
              </a:ext>
            </a:extLst>
          </p:cNvPr>
          <p:cNvSpPr>
            <a:spLocks noGrp="1"/>
          </p:cNvSpPr>
          <p:nvPr>
            <p:ph type="title"/>
          </p:nvPr>
        </p:nvSpPr>
        <p:spPr>
          <a:xfrm>
            <a:off x="548640" y="404954"/>
            <a:ext cx="8902557" cy="425629"/>
          </a:xfrm>
        </p:spPr>
        <p:txBody>
          <a:bodyPr/>
          <a:lstStyle/>
          <a:p>
            <a:r>
              <a:rPr lang="en-US" sz="2400" dirty="0"/>
              <a:t>RLHF (Reinforcement Learning from Human Feedback) (3:39)</a:t>
            </a:r>
          </a:p>
        </p:txBody>
      </p:sp>
      <p:sp>
        <p:nvSpPr>
          <p:cNvPr id="5" name="Slide Number Placeholder 4">
            <a:extLst>
              <a:ext uri="{FF2B5EF4-FFF2-40B4-BE49-F238E27FC236}">
                <a16:creationId xmlns:a16="http://schemas.microsoft.com/office/drawing/2014/main" id="{2A042E97-945D-195F-B7DB-8E7DDA2DF2BD}"/>
              </a:ext>
            </a:extLst>
          </p:cNvPr>
          <p:cNvSpPr>
            <a:spLocks noGrp="1"/>
          </p:cNvSpPr>
          <p:nvPr>
            <p:ph type="sldNum" sz="quarter" idx="12"/>
          </p:nvPr>
        </p:nvSpPr>
        <p:spPr/>
        <p:txBody>
          <a:bodyPr/>
          <a:lstStyle/>
          <a:p>
            <a:fld id="{21EF4C0E-91FA-4D94-8941-E22F3A83D5F1}" type="slidenum">
              <a:rPr lang="en-US" smtClean="0"/>
              <a:t>63</a:t>
            </a:fld>
            <a:endParaRPr lang="en-US"/>
          </a:p>
        </p:txBody>
      </p:sp>
      <p:sp>
        <p:nvSpPr>
          <p:cNvPr id="9" name="TextBox 8">
            <a:extLst>
              <a:ext uri="{FF2B5EF4-FFF2-40B4-BE49-F238E27FC236}">
                <a16:creationId xmlns:a16="http://schemas.microsoft.com/office/drawing/2014/main" id="{277BB053-FEC5-95C6-A0CB-35A299525514}"/>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https://www.youtube.com/watch?v=gGJuyVDndOU</a:t>
            </a:r>
          </a:p>
        </p:txBody>
      </p:sp>
      <p:pic>
        <p:nvPicPr>
          <p:cNvPr id="7" name="Online Media 6" title="Reinforcement Learning from Human Feedback (RLHF): The Secret Behind Smarter AI Models">
            <a:hlinkClick r:id="" action="ppaction://media"/>
            <a:extLst>
              <a:ext uri="{FF2B5EF4-FFF2-40B4-BE49-F238E27FC236}">
                <a16:creationId xmlns:a16="http://schemas.microsoft.com/office/drawing/2014/main" id="{316AA7C1-7EC1-151F-D005-17812617EFF2}"/>
              </a:ext>
            </a:extLst>
          </p:cNvPr>
          <p:cNvPicPr>
            <a:picLocks noRot="1" noChangeAspect="1"/>
          </p:cNvPicPr>
          <p:nvPr>
            <a:videoFile r:link="rId1"/>
          </p:nvPr>
        </p:nvPicPr>
        <p:blipFill>
          <a:blip r:embed="rId3"/>
          <a:stretch>
            <a:fillRect/>
          </a:stretch>
        </p:blipFill>
        <p:spPr>
          <a:xfrm>
            <a:off x="548640" y="1631202"/>
            <a:ext cx="8611079" cy="4861672"/>
          </a:xfrm>
          <a:prstGeom prst="rect">
            <a:avLst/>
          </a:prstGeom>
        </p:spPr>
      </p:pic>
      <p:sp>
        <p:nvSpPr>
          <p:cNvPr id="4" name="TextBox 3">
            <a:extLst>
              <a:ext uri="{FF2B5EF4-FFF2-40B4-BE49-F238E27FC236}">
                <a16:creationId xmlns:a16="http://schemas.microsoft.com/office/drawing/2014/main" id="{AB76CC68-610D-7388-B72D-98856E97F86E}"/>
              </a:ext>
            </a:extLst>
          </p:cNvPr>
          <p:cNvSpPr txBox="1"/>
          <p:nvPr/>
        </p:nvSpPr>
        <p:spPr>
          <a:xfrm>
            <a:off x="457199" y="1112188"/>
            <a:ext cx="6712026" cy="369332"/>
          </a:xfrm>
          <a:prstGeom prst="rect">
            <a:avLst/>
          </a:prstGeom>
          <a:noFill/>
        </p:spPr>
        <p:txBody>
          <a:bodyPr wrap="square">
            <a:spAutoFit/>
          </a:bodyPr>
          <a:lstStyle/>
          <a:p>
            <a:r>
              <a:rPr lang="en-US" i="1" dirty="0">
                <a:latin typeface="Helvetica Neue Light"/>
              </a:rPr>
              <a:t>How AI learns from human feedback to align with our values</a:t>
            </a:r>
          </a:p>
        </p:txBody>
      </p:sp>
    </p:spTree>
    <p:extLst>
      <p:ext uri="{BB962C8B-B14F-4D97-AF65-F5344CB8AC3E}">
        <p14:creationId xmlns:p14="http://schemas.microsoft.com/office/powerpoint/2010/main" val="2457808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D43E3FB-7D70-3B64-389B-0F678326E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BE577-CD08-B439-5A5B-599D6EF8800F}"/>
              </a:ext>
            </a:extLst>
          </p:cNvPr>
          <p:cNvSpPr>
            <a:spLocks noGrp="1"/>
          </p:cNvSpPr>
          <p:nvPr>
            <p:ph type="title"/>
          </p:nvPr>
        </p:nvSpPr>
        <p:spPr>
          <a:xfrm>
            <a:off x="457200" y="365126"/>
            <a:ext cx="8229600" cy="592213"/>
          </a:xfrm>
        </p:spPr>
        <p:txBody>
          <a:bodyPr/>
          <a:lstStyle/>
          <a:p>
            <a:r>
              <a:rPr lang="en-US" dirty="0"/>
              <a:t>Overview</a:t>
            </a:r>
          </a:p>
        </p:txBody>
      </p:sp>
      <p:sp>
        <p:nvSpPr>
          <p:cNvPr id="5" name="Slide Number Placeholder 4">
            <a:extLst>
              <a:ext uri="{FF2B5EF4-FFF2-40B4-BE49-F238E27FC236}">
                <a16:creationId xmlns:a16="http://schemas.microsoft.com/office/drawing/2014/main" id="{393E7D9D-A9AA-B2CF-CC4D-416CC2A88D2B}"/>
              </a:ext>
            </a:extLst>
          </p:cNvPr>
          <p:cNvSpPr>
            <a:spLocks noGrp="1"/>
          </p:cNvSpPr>
          <p:nvPr>
            <p:ph type="sldNum" sz="quarter" idx="12"/>
          </p:nvPr>
        </p:nvSpPr>
        <p:spPr/>
        <p:txBody>
          <a:bodyPr/>
          <a:lstStyle/>
          <a:p>
            <a:fld id="{21EF4C0E-91FA-4D94-8941-E22F3A83D5F1}" type="slidenum">
              <a:rPr lang="en-US" smtClean="0"/>
              <a:t>64</a:t>
            </a:fld>
            <a:endParaRPr lang="en-US"/>
          </a:p>
        </p:txBody>
      </p:sp>
      <p:sp>
        <p:nvSpPr>
          <p:cNvPr id="6" name="TextBox 5">
            <a:extLst>
              <a:ext uri="{FF2B5EF4-FFF2-40B4-BE49-F238E27FC236}">
                <a16:creationId xmlns:a16="http://schemas.microsoft.com/office/drawing/2014/main" id="{0E69D042-BFBC-4E99-25F9-34AD9B59D427}"/>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sp>
        <p:nvSpPr>
          <p:cNvPr id="3" name="TextBox 2">
            <a:extLst>
              <a:ext uri="{FF2B5EF4-FFF2-40B4-BE49-F238E27FC236}">
                <a16:creationId xmlns:a16="http://schemas.microsoft.com/office/drawing/2014/main" id="{B8B24232-3C15-4A8B-E1EE-E95A78EF0FAC}"/>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https://share.google/images/B3ux4NTLeYtezb2rM</a:t>
            </a:r>
          </a:p>
        </p:txBody>
      </p:sp>
      <p:pic>
        <p:nvPicPr>
          <p:cNvPr id="4" name="Picture 3">
            <a:extLst>
              <a:ext uri="{FF2B5EF4-FFF2-40B4-BE49-F238E27FC236}">
                <a16:creationId xmlns:a16="http://schemas.microsoft.com/office/drawing/2014/main" id="{68572A7E-0141-99F7-63ED-68E695CB7C99}"/>
              </a:ext>
            </a:extLst>
          </p:cNvPr>
          <p:cNvPicPr>
            <a:picLocks noChangeAspect="1"/>
          </p:cNvPicPr>
          <p:nvPr/>
        </p:nvPicPr>
        <p:blipFill>
          <a:blip r:embed="rId2"/>
          <a:srcRect l="827" t="19786" r="1086" b="20621"/>
          <a:stretch>
            <a:fillRect/>
          </a:stretch>
        </p:blipFill>
        <p:spPr>
          <a:xfrm>
            <a:off x="488730" y="4161475"/>
            <a:ext cx="6140670" cy="2798075"/>
          </a:xfrm>
          <a:prstGeom prst="rect">
            <a:avLst/>
          </a:prstGeom>
          <a:ln>
            <a:noFill/>
          </a:ln>
          <a:effectLst>
            <a:outerShdw blurRad="292100" dist="139700" dir="2700000" algn="tl" rotWithShape="0">
              <a:srgbClr val="333333">
                <a:alpha val="65000"/>
              </a:srgbClr>
            </a:outerShdw>
          </a:effectLst>
        </p:spPr>
      </p:pic>
      <p:grpSp>
        <p:nvGrpSpPr>
          <p:cNvPr id="7" name="Group 6">
            <a:extLst>
              <a:ext uri="{FF2B5EF4-FFF2-40B4-BE49-F238E27FC236}">
                <a16:creationId xmlns:a16="http://schemas.microsoft.com/office/drawing/2014/main" id="{8E27CBDF-CFF7-71B8-1C62-60A04BEF8162}"/>
              </a:ext>
            </a:extLst>
          </p:cNvPr>
          <p:cNvGrpSpPr/>
          <p:nvPr/>
        </p:nvGrpSpPr>
        <p:grpSpPr>
          <a:xfrm>
            <a:off x="365760" y="1011026"/>
            <a:ext cx="8485424" cy="3067813"/>
            <a:chOff x="457200" y="1234440"/>
            <a:chExt cx="8485424" cy="2788920"/>
          </a:xfrm>
        </p:grpSpPr>
        <p:sp>
          <p:nvSpPr>
            <p:cNvPr id="8" name="Shape 3">
              <a:extLst>
                <a:ext uri="{FF2B5EF4-FFF2-40B4-BE49-F238E27FC236}">
                  <a16:creationId xmlns:a16="http://schemas.microsoft.com/office/drawing/2014/main" id="{E21C1ECF-5693-879A-649C-85EA9541054A}"/>
                </a:ext>
              </a:extLst>
            </p:cNvPr>
            <p:cNvSpPr/>
            <p:nvPr/>
          </p:nvSpPr>
          <p:spPr>
            <a:xfrm>
              <a:off x="457200" y="12344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9" name="Shape 4">
              <a:extLst>
                <a:ext uri="{FF2B5EF4-FFF2-40B4-BE49-F238E27FC236}">
                  <a16:creationId xmlns:a16="http://schemas.microsoft.com/office/drawing/2014/main" id="{3BA68CF7-F35F-1F9F-6E8A-407F684CBF67}"/>
                </a:ext>
              </a:extLst>
            </p:cNvPr>
            <p:cNvSpPr/>
            <p:nvPr/>
          </p:nvSpPr>
          <p:spPr>
            <a:xfrm>
              <a:off x="457200" y="1234440"/>
              <a:ext cx="54864" cy="777240"/>
            </a:xfrm>
            <a:prstGeom prst="rect">
              <a:avLst/>
            </a:prstGeom>
            <a:solidFill>
              <a:srgbClr val="E07A5F"/>
            </a:solidFill>
            <a:ln/>
          </p:spPr>
          <p:txBody>
            <a:bodyPr/>
            <a:lstStyle/>
            <a:p>
              <a:endParaRPr lang="en-US" sz="2800">
                <a:latin typeface="Helvetica Neue Light"/>
              </a:endParaRPr>
            </a:p>
          </p:txBody>
        </p:sp>
        <p:sp>
          <p:nvSpPr>
            <p:cNvPr id="10" name="Text 5">
              <a:extLst>
                <a:ext uri="{FF2B5EF4-FFF2-40B4-BE49-F238E27FC236}">
                  <a16:creationId xmlns:a16="http://schemas.microsoft.com/office/drawing/2014/main" id="{46309C64-04F7-E88A-CD3E-1A0C018C0DF1}"/>
                </a:ext>
              </a:extLst>
            </p:cNvPr>
            <p:cNvSpPr/>
            <p:nvPr/>
          </p:nvSpPr>
          <p:spPr>
            <a:xfrm>
              <a:off x="685800" y="1237897"/>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Core Purpose:</a:t>
              </a:r>
              <a:endParaRPr lang="en-US" dirty="0">
                <a:latin typeface="Helvetica Neue Light"/>
              </a:endParaRPr>
            </a:p>
          </p:txBody>
        </p:sp>
        <p:sp>
          <p:nvSpPr>
            <p:cNvPr id="11" name="Text 6">
              <a:extLst>
                <a:ext uri="{FF2B5EF4-FFF2-40B4-BE49-F238E27FC236}">
                  <a16:creationId xmlns:a16="http://schemas.microsoft.com/office/drawing/2014/main" id="{92AB2958-FBD2-11AD-0C37-D2075B7DC249}"/>
                </a:ext>
              </a:extLst>
            </p:cNvPr>
            <p:cNvSpPr/>
            <p:nvPr/>
          </p:nvSpPr>
          <p:spPr>
            <a:xfrm>
              <a:off x="685800" y="155448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RLHF trains AI to behave according to human preferences by having people rate AI outputs, then using those ratings to guide the model toward desired behaviors.</a:t>
              </a:r>
              <a:endParaRPr lang="en-US" sz="1600" dirty="0">
                <a:latin typeface="Helvetica Neue Light"/>
              </a:endParaRPr>
            </a:p>
          </p:txBody>
        </p:sp>
        <p:sp>
          <p:nvSpPr>
            <p:cNvPr id="12" name="Shape 7">
              <a:extLst>
                <a:ext uri="{FF2B5EF4-FFF2-40B4-BE49-F238E27FC236}">
                  <a16:creationId xmlns:a16="http://schemas.microsoft.com/office/drawing/2014/main" id="{7FA03470-B077-B2C4-06CF-07486D5BE792}"/>
                </a:ext>
              </a:extLst>
            </p:cNvPr>
            <p:cNvSpPr/>
            <p:nvPr/>
          </p:nvSpPr>
          <p:spPr>
            <a:xfrm>
              <a:off x="457200" y="21488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3" name="Shape 8">
              <a:extLst>
                <a:ext uri="{FF2B5EF4-FFF2-40B4-BE49-F238E27FC236}">
                  <a16:creationId xmlns:a16="http://schemas.microsoft.com/office/drawing/2014/main" id="{4AECDE75-7AB2-7E57-BACD-2224BCFECF37}"/>
                </a:ext>
              </a:extLst>
            </p:cNvPr>
            <p:cNvSpPr/>
            <p:nvPr/>
          </p:nvSpPr>
          <p:spPr>
            <a:xfrm>
              <a:off x="457200" y="2148840"/>
              <a:ext cx="54864" cy="777240"/>
            </a:xfrm>
            <a:prstGeom prst="rect">
              <a:avLst/>
            </a:prstGeom>
            <a:solidFill>
              <a:srgbClr val="1C7293"/>
            </a:solidFill>
            <a:ln/>
          </p:spPr>
          <p:txBody>
            <a:bodyPr/>
            <a:lstStyle/>
            <a:p>
              <a:endParaRPr lang="en-US" sz="2800">
                <a:latin typeface="Helvetica Neue Light"/>
              </a:endParaRPr>
            </a:p>
          </p:txBody>
        </p:sp>
        <p:sp>
          <p:nvSpPr>
            <p:cNvPr id="14" name="Text 9">
              <a:extLst>
                <a:ext uri="{FF2B5EF4-FFF2-40B4-BE49-F238E27FC236}">
                  <a16:creationId xmlns:a16="http://schemas.microsoft.com/office/drawing/2014/main" id="{F878E47E-20A0-9188-9AD8-BA0A056551DE}"/>
                </a:ext>
              </a:extLst>
            </p:cNvPr>
            <p:cNvSpPr/>
            <p:nvPr/>
          </p:nvSpPr>
          <p:spPr>
            <a:xfrm>
              <a:off x="685800" y="2152297"/>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Problem It Solves:</a:t>
              </a:r>
              <a:endParaRPr lang="en-US" dirty="0">
                <a:latin typeface="Helvetica Neue Light"/>
              </a:endParaRPr>
            </a:p>
          </p:txBody>
        </p:sp>
        <p:sp>
          <p:nvSpPr>
            <p:cNvPr id="15" name="Text 10">
              <a:extLst>
                <a:ext uri="{FF2B5EF4-FFF2-40B4-BE49-F238E27FC236}">
                  <a16:creationId xmlns:a16="http://schemas.microsoft.com/office/drawing/2014/main" id="{69056FA9-C03E-6056-9705-DBE5E638E72A}"/>
                </a:ext>
              </a:extLst>
            </p:cNvPr>
            <p:cNvSpPr/>
            <p:nvPr/>
          </p:nvSpPr>
          <p:spPr>
            <a:xfrm>
              <a:off x="685800" y="246888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Raw language models can generate harmful, false, or unhelpful content; RLHF aligns them with human values like helpfulness, harmlessness, and honesty.</a:t>
              </a:r>
              <a:endParaRPr lang="en-US" sz="1600" dirty="0">
                <a:latin typeface="Helvetica Neue Light"/>
              </a:endParaRPr>
            </a:p>
          </p:txBody>
        </p:sp>
        <p:sp>
          <p:nvSpPr>
            <p:cNvPr id="16" name="Text 11">
              <a:extLst>
                <a:ext uri="{FF2B5EF4-FFF2-40B4-BE49-F238E27FC236}">
                  <a16:creationId xmlns:a16="http://schemas.microsoft.com/office/drawing/2014/main" id="{A2FD9BAB-9B46-7E5A-31E9-1397971AB87E}"/>
                </a:ext>
              </a:extLst>
            </p:cNvPr>
            <p:cNvSpPr/>
            <p:nvPr/>
          </p:nvSpPr>
          <p:spPr>
            <a:xfrm>
              <a:off x="457200" y="310896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The Three-Step Process:</a:t>
              </a:r>
              <a:endParaRPr lang="en-US" sz="2000" dirty="0">
                <a:latin typeface="Helvetica Neue Light"/>
              </a:endParaRPr>
            </a:p>
          </p:txBody>
        </p:sp>
        <p:sp>
          <p:nvSpPr>
            <p:cNvPr id="17" name="Shape 12">
              <a:extLst>
                <a:ext uri="{FF2B5EF4-FFF2-40B4-BE49-F238E27FC236}">
                  <a16:creationId xmlns:a16="http://schemas.microsoft.com/office/drawing/2014/main" id="{C7C73186-DAE5-6B2D-3CF9-532842172100}"/>
                </a:ext>
              </a:extLst>
            </p:cNvPr>
            <p:cNvSpPr/>
            <p:nvPr/>
          </p:nvSpPr>
          <p:spPr>
            <a:xfrm>
              <a:off x="457200" y="3556355"/>
              <a:ext cx="457200" cy="421285"/>
            </a:xfrm>
            <a:prstGeom prst="ellipse">
              <a:avLst/>
            </a:prstGeom>
            <a:solidFill>
              <a:srgbClr val="1C7293"/>
            </a:solidFill>
            <a:ln/>
          </p:spPr>
          <p:txBody>
            <a:bodyPr/>
            <a:lstStyle/>
            <a:p>
              <a:endParaRPr lang="en-US" sz="2800">
                <a:latin typeface="Helvetica Neue Light"/>
              </a:endParaRPr>
            </a:p>
          </p:txBody>
        </p:sp>
        <p:sp>
          <p:nvSpPr>
            <p:cNvPr id="18" name="Text 13">
              <a:extLst>
                <a:ext uri="{FF2B5EF4-FFF2-40B4-BE49-F238E27FC236}">
                  <a16:creationId xmlns:a16="http://schemas.microsoft.com/office/drawing/2014/main" id="{4C957800-F946-5F34-4BD8-3E58B8838A5E}"/>
                </a:ext>
              </a:extLst>
            </p:cNvPr>
            <p:cNvSpPr/>
            <p:nvPr/>
          </p:nvSpPr>
          <p:spPr>
            <a:xfrm>
              <a:off x="457200" y="3566160"/>
              <a:ext cx="45720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ea typeface="Calibri" pitchFamily="34" charset="-122"/>
                  <a:cs typeface="Calibri" pitchFamily="34" charset="-120"/>
                </a:rPr>
                <a:t>1</a:t>
              </a:r>
              <a:endParaRPr lang="en-US" sz="2400" dirty="0">
                <a:latin typeface="Helvetica Neue Light"/>
              </a:endParaRPr>
            </a:p>
          </p:txBody>
        </p:sp>
        <p:sp>
          <p:nvSpPr>
            <p:cNvPr id="19" name="Text 14">
              <a:extLst>
                <a:ext uri="{FF2B5EF4-FFF2-40B4-BE49-F238E27FC236}">
                  <a16:creationId xmlns:a16="http://schemas.microsoft.com/office/drawing/2014/main" id="{2E653D58-1F16-93D0-C817-77F696C5F664}"/>
                </a:ext>
              </a:extLst>
            </p:cNvPr>
            <p:cNvSpPr/>
            <p:nvPr/>
          </p:nvSpPr>
          <p:spPr>
            <a:xfrm>
              <a:off x="1005839" y="3474720"/>
              <a:ext cx="2414427"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Supervised Fine-Tuning</a:t>
              </a:r>
              <a:endParaRPr lang="en-US" sz="1600" dirty="0">
                <a:latin typeface="Helvetica Neue Light"/>
              </a:endParaRPr>
            </a:p>
          </p:txBody>
        </p:sp>
        <p:sp>
          <p:nvSpPr>
            <p:cNvPr id="20" name="Text 15">
              <a:extLst>
                <a:ext uri="{FF2B5EF4-FFF2-40B4-BE49-F238E27FC236}">
                  <a16:creationId xmlns:a16="http://schemas.microsoft.com/office/drawing/2014/main" id="{98322D1F-BCAE-CA17-BBD4-0763193FFE8D}"/>
                </a:ext>
              </a:extLst>
            </p:cNvPr>
            <p:cNvSpPr/>
            <p:nvPr/>
          </p:nvSpPr>
          <p:spPr>
            <a:xfrm>
              <a:off x="1005840" y="3749040"/>
              <a:ext cx="2651760" cy="274320"/>
            </a:xfrm>
            <a:prstGeom prst="rect">
              <a:avLst/>
            </a:prstGeom>
            <a:noFill/>
            <a:ln/>
          </p:spPr>
          <p:txBody>
            <a:bodyPr wrap="square" rtlCol="0" anchor="ctr"/>
            <a:lstStyle/>
            <a:p>
              <a:pPr marL="0" indent="0">
                <a:buNone/>
              </a:pPr>
              <a:r>
                <a:rPr lang="en-US" sz="1200" dirty="0">
                  <a:solidFill>
                    <a:srgbClr val="2D3436"/>
                  </a:solidFill>
                  <a:latin typeface="Helvetica Neue Light"/>
                  <a:ea typeface="Calibri" pitchFamily="34" charset="-122"/>
                  <a:cs typeface="Calibri" pitchFamily="34" charset="-120"/>
                </a:rPr>
                <a:t>Collect human demonstration data</a:t>
              </a:r>
              <a:endParaRPr lang="en-US" sz="1200" dirty="0">
                <a:latin typeface="Helvetica Neue Light"/>
              </a:endParaRPr>
            </a:p>
          </p:txBody>
        </p:sp>
        <p:sp>
          <p:nvSpPr>
            <p:cNvPr id="21" name="Shape 16">
              <a:extLst>
                <a:ext uri="{FF2B5EF4-FFF2-40B4-BE49-F238E27FC236}">
                  <a16:creationId xmlns:a16="http://schemas.microsoft.com/office/drawing/2014/main" id="{5346539A-29E7-4C01-DFDA-D387284232EF}"/>
                </a:ext>
              </a:extLst>
            </p:cNvPr>
            <p:cNvSpPr/>
            <p:nvPr/>
          </p:nvSpPr>
          <p:spPr>
            <a:xfrm>
              <a:off x="3456224" y="3556355"/>
              <a:ext cx="457200" cy="421285"/>
            </a:xfrm>
            <a:prstGeom prst="ellipse">
              <a:avLst/>
            </a:prstGeom>
            <a:solidFill>
              <a:srgbClr val="1C7293"/>
            </a:solidFill>
            <a:ln/>
          </p:spPr>
          <p:txBody>
            <a:bodyPr/>
            <a:lstStyle/>
            <a:p>
              <a:endParaRPr lang="en-US" sz="2800">
                <a:latin typeface="Helvetica Neue Light"/>
              </a:endParaRPr>
            </a:p>
          </p:txBody>
        </p:sp>
        <p:sp>
          <p:nvSpPr>
            <p:cNvPr id="22" name="Text 17">
              <a:extLst>
                <a:ext uri="{FF2B5EF4-FFF2-40B4-BE49-F238E27FC236}">
                  <a16:creationId xmlns:a16="http://schemas.microsoft.com/office/drawing/2014/main" id="{31FC2F95-E7D3-D588-B62D-EADE5C1C5117}"/>
                </a:ext>
              </a:extLst>
            </p:cNvPr>
            <p:cNvSpPr/>
            <p:nvPr/>
          </p:nvSpPr>
          <p:spPr>
            <a:xfrm>
              <a:off x="3456224" y="3566160"/>
              <a:ext cx="45720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ea typeface="Calibri" pitchFamily="34" charset="-122"/>
                  <a:cs typeface="Calibri" pitchFamily="34" charset="-120"/>
                </a:rPr>
                <a:t>2</a:t>
              </a:r>
              <a:endParaRPr lang="en-US" sz="2400" dirty="0">
                <a:latin typeface="Helvetica Neue Light"/>
              </a:endParaRPr>
            </a:p>
          </p:txBody>
        </p:sp>
        <p:sp>
          <p:nvSpPr>
            <p:cNvPr id="23" name="Text 18">
              <a:extLst>
                <a:ext uri="{FF2B5EF4-FFF2-40B4-BE49-F238E27FC236}">
                  <a16:creationId xmlns:a16="http://schemas.microsoft.com/office/drawing/2014/main" id="{108814E8-9E83-035F-4E46-3EAF3CD8502F}"/>
                </a:ext>
              </a:extLst>
            </p:cNvPr>
            <p:cNvSpPr/>
            <p:nvPr/>
          </p:nvSpPr>
          <p:spPr>
            <a:xfrm>
              <a:off x="4004864" y="3474720"/>
              <a:ext cx="210312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Train Reward Model</a:t>
              </a:r>
              <a:endParaRPr lang="en-US" sz="1600" dirty="0">
                <a:latin typeface="Helvetica Neue Light"/>
              </a:endParaRPr>
            </a:p>
          </p:txBody>
        </p:sp>
        <p:sp>
          <p:nvSpPr>
            <p:cNvPr id="24" name="Text 19">
              <a:extLst>
                <a:ext uri="{FF2B5EF4-FFF2-40B4-BE49-F238E27FC236}">
                  <a16:creationId xmlns:a16="http://schemas.microsoft.com/office/drawing/2014/main" id="{5C3FC1E1-F950-53A6-49A7-EE78BD0B88AC}"/>
                </a:ext>
              </a:extLst>
            </p:cNvPr>
            <p:cNvSpPr/>
            <p:nvPr/>
          </p:nvSpPr>
          <p:spPr>
            <a:xfrm>
              <a:off x="4004864" y="3749040"/>
              <a:ext cx="2286000" cy="274320"/>
            </a:xfrm>
            <a:prstGeom prst="rect">
              <a:avLst/>
            </a:prstGeom>
            <a:noFill/>
            <a:ln/>
          </p:spPr>
          <p:txBody>
            <a:bodyPr wrap="square" rtlCol="0" anchor="ctr"/>
            <a:lstStyle/>
            <a:p>
              <a:pPr marL="0" indent="0">
                <a:buNone/>
              </a:pPr>
              <a:r>
                <a:rPr lang="en-US" sz="1200" dirty="0">
                  <a:solidFill>
                    <a:srgbClr val="2D3436"/>
                  </a:solidFill>
                  <a:latin typeface="Helvetica Neue Light"/>
                  <a:ea typeface="Calibri" pitchFamily="34" charset="-122"/>
                  <a:cs typeface="Calibri" pitchFamily="34" charset="-120"/>
                </a:rPr>
                <a:t>Collect human preference data</a:t>
              </a:r>
              <a:endParaRPr lang="en-US" sz="1200" dirty="0">
                <a:latin typeface="Helvetica Neue Light"/>
              </a:endParaRPr>
            </a:p>
          </p:txBody>
        </p:sp>
        <p:sp>
          <p:nvSpPr>
            <p:cNvPr id="25" name="Shape 20">
              <a:extLst>
                <a:ext uri="{FF2B5EF4-FFF2-40B4-BE49-F238E27FC236}">
                  <a16:creationId xmlns:a16="http://schemas.microsoft.com/office/drawing/2014/main" id="{271DDD08-93A5-F766-D49D-B24A8389F859}"/>
                </a:ext>
              </a:extLst>
            </p:cNvPr>
            <p:cNvSpPr/>
            <p:nvPr/>
          </p:nvSpPr>
          <p:spPr>
            <a:xfrm>
              <a:off x="6290864" y="3556355"/>
              <a:ext cx="457200" cy="421285"/>
            </a:xfrm>
            <a:prstGeom prst="ellipse">
              <a:avLst/>
            </a:prstGeom>
            <a:solidFill>
              <a:srgbClr val="1C7293"/>
            </a:solidFill>
            <a:ln/>
          </p:spPr>
          <p:txBody>
            <a:bodyPr/>
            <a:lstStyle/>
            <a:p>
              <a:endParaRPr lang="en-US" sz="2800">
                <a:latin typeface="Helvetica Neue Light"/>
              </a:endParaRPr>
            </a:p>
          </p:txBody>
        </p:sp>
        <p:sp>
          <p:nvSpPr>
            <p:cNvPr id="26" name="Text 21">
              <a:extLst>
                <a:ext uri="{FF2B5EF4-FFF2-40B4-BE49-F238E27FC236}">
                  <a16:creationId xmlns:a16="http://schemas.microsoft.com/office/drawing/2014/main" id="{695F4E85-637B-AC51-8AF0-025603DE5B49}"/>
                </a:ext>
              </a:extLst>
            </p:cNvPr>
            <p:cNvSpPr/>
            <p:nvPr/>
          </p:nvSpPr>
          <p:spPr>
            <a:xfrm>
              <a:off x="6290864" y="3566160"/>
              <a:ext cx="45720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ea typeface="Calibri" pitchFamily="34" charset="-122"/>
                  <a:cs typeface="Calibri" pitchFamily="34" charset="-120"/>
                </a:rPr>
                <a:t>3</a:t>
              </a:r>
              <a:endParaRPr lang="en-US" sz="2400" dirty="0">
                <a:latin typeface="Helvetica Neue Light"/>
              </a:endParaRPr>
            </a:p>
          </p:txBody>
        </p:sp>
        <p:sp>
          <p:nvSpPr>
            <p:cNvPr id="27" name="Text 22">
              <a:extLst>
                <a:ext uri="{FF2B5EF4-FFF2-40B4-BE49-F238E27FC236}">
                  <a16:creationId xmlns:a16="http://schemas.microsoft.com/office/drawing/2014/main" id="{6C3BFEC5-5644-3A9C-4FB4-03B593B35E2F}"/>
                </a:ext>
              </a:extLst>
            </p:cNvPr>
            <p:cNvSpPr/>
            <p:nvPr/>
          </p:nvSpPr>
          <p:spPr>
            <a:xfrm>
              <a:off x="6839504" y="3474720"/>
              <a:ext cx="210312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Optimize Policy</a:t>
              </a:r>
              <a:endParaRPr lang="en-US" sz="1600" dirty="0">
                <a:latin typeface="Helvetica Neue Light"/>
              </a:endParaRPr>
            </a:p>
          </p:txBody>
        </p:sp>
        <p:sp>
          <p:nvSpPr>
            <p:cNvPr id="28" name="Text 23">
              <a:extLst>
                <a:ext uri="{FF2B5EF4-FFF2-40B4-BE49-F238E27FC236}">
                  <a16:creationId xmlns:a16="http://schemas.microsoft.com/office/drawing/2014/main" id="{282D75B1-A544-0820-ED41-8D0B244B0479}"/>
                </a:ext>
              </a:extLst>
            </p:cNvPr>
            <p:cNvSpPr/>
            <p:nvPr/>
          </p:nvSpPr>
          <p:spPr>
            <a:xfrm>
              <a:off x="6839504" y="3749040"/>
              <a:ext cx="2103120" cy="274320"/>
            </a:xfrm>
            <a:prstGeom prst="rect">
              <a:avLst/>
            </a:prstGeom>
            <a:noFill/>
            <a:ln/>
          </p:spPr>
          <p:txBody>
            <a:bodyPr wrap="square" rtlCol="0" anchor="ctr"/>
            <a:lstStyle/>
            <a:p>
              <a:pPr marL="0" indent="0">
                <a:buNone/>
              </a:pPr>
              <a:r>
                <a:rPr lang="en-US" sz="1200" dirty="0">
                  <a:solidFill>
                    <a:srgbClr val="2D3436"/>
                  </a:solidFill>
                  <a:latin typeface="Helvetica Neue Light"/>
                  <a:ea typeface="Calibri" pitchFamily="34" charset="-122"/>
                  <a:cs typeface="Calibri" pitchFamily="34" charset="-120"/>
                </a:rPr>
                <a:t>Use RL to maximize reward</a:t>
              </a:r>
              <a:endParaRPr lang="en-US" sz="1200" dirty="0">
                <a:latin typeface="Helvetica Neue Light"/>
              </a:endParaRPr>
            </a:p>
          </p:txBody>
        </p:sp>
      </p:grpSp>
    </p:spTree>
    <p:extLst>
      <p:ext uri="{BB962C8B-B14F-4D97-AF65-F5344CB8AC3E}">
        <p14:creationId xmlns:p14="http://schemas.microsoft.com/office/powerpoint/2010/main" val="10227786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43CA3116-7743-65BF-BD1C-BE86DFC3F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5AACE-B112-5167-BC15-1BDC7172C266}"/>
              </a:ext>
            </a:extLst>
          </p:cNvPr>
          <p:cNvSpPr>
            <a:spLocks noGrp="1"/>
          </p:cNvSpPr>
          <p:nvPr>
            <p:ph type="title"/>
          </p:nvPr>
        </p:nvSpPr>
        <p:spPr>
          <a:xfrm>
            <a:off x="457200" y="365126"/>
            <a:ext cx="8229600" cy="592213"/>
          </a:xfrm>
        </p:spPr>
        <p:txBody>
          <a:bodyPr/>
          <a:lstStyle/>
          <a:p>
            <a:r>
              <a:rPr lang="en-US" dirty="0"/>
              <a:t>Challenges &amp; Future</a:t>
            </a:r>
          </a:p>
        </p:txBody>
      </p:sp>
      <p:sp>
        <p:nvSpPr>
          <p:cNvPr id="5" name="Slide Number Placeholder 4">
            <a:extLst>
              <a:ext uri="{FF2B5EF4-FFF2-40B4-BE49-F238E27FC236}">
                <a16:creationId xmlns:a16="http://schemas.microsoft.com/office/drawing/2014/main" id="{C14E9702-1D42-E39C-84EA-7561E5AE2F18}"/>
              </a:ext>
            </a:extLst>
          </p:cNvPr>
          <p:cNvSpPr>
            <a:spLocks noGrp="1"/>
          </p:cNvSpPr>
          <p:nvPr>
            <p:ph type="sldNum" sz="quarter" idx="12"/>
          </p:nvPr>
        </p:nvSpPr>
        <p:spPr/>
        <p:txBody>
          <a:bodyPr/>
          <a:lstStyle/>
          <a:p>
            <a:fld id="{21EF4C0E-91FA-4D94-8941-E22F3A83D5F1}" type="slidenum">
              <a:rPr lang="en-US" smtClean="0"/>
              <a:t>65</a:t>
            </a:fld>
            <a:endParaRPr lang="en-US"/>
          </a:p>
        </p:txBody>
      </p:sp>
      <p:sp>
        <p:nvSpPr>
          <p:cNvPr id="6" name="TextBox 5">
            <a:extLst>
              <a:ext uri="{FF2B5EF4-FFF2-40B4-BE49-F238E27FC236}">
                <a16:creationId xmlns:a16="http://schemas.microsoft.com/office/drawing/2014/main" id="{5AA11520-F5A1-B88F-F7F0-D52DE4F159AF}"/>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44560979-8CAC-6E80-EF93-093930E03D90}"/>
              </a:ext>
            </a:extLst>
          </p:cNvPr>
          <p:cNvGrpSpPr/>
          <p:nvPr/>
        </p:nvGrpSpPr>
        <p:grpSpPr>
          <a:xfrm>
            <a:off x="457200" y="1204378"/>
            <a:ext cx="8522413" cy="4672435"/>
            <a:chOff x="457200" y="1190378"/>
            <a:chExt cx="8229600" cy="3381622"/>
          </a:xfrm>
        </p:grpSpPr>
        <p:sp>
          <p:nvSpPr>
            <p:cNvPr id="4" name="Text 3">
              <a:extLst>
                <a:ext uri="{FF2B5EF4-FFF2-40B4-BE49-F238E27FC236}">
                  <a16:creationId xmlns:a16="http://schemas.microsoft.com/office/drawing/2014/main" id="{63E5688B-1A6D-76AF-2909-79A8DB18B46D}"/>
                </a:ext>
              </a:extLst>
            </p:cNvPr>
            <p:cNvSpPr/>
            <p:nvPr/>
          </p:nvSpPr>
          <p:spPr>
            <a:xfrm>
              <a:off x="457200" y="123444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Workflow Loop:</a:t>
              </a:r>
              <a:endParaRPr lang="en-US" dirty="0">
                <a:latin typeface="Helvetica Neue Light"/>
              </a:endParaRPr>
            </a:p>
          </p:txBody>
        </p:sp>
        <p:sp>
          <p:nvSpPr>
            <p:cNvPr id="7" name="Text 4">
              <a:extLst>
                <a:ext uri="{FF2B5EF4-FFF2-40B4-BE49-F238E27FC236}">
                  <a16:creationId xmlns:a16="http://schemas.microsoft.com/office/drawing/2014/main" id="{8822A774-2681-590A-46B7-1B1C7BF6D5EF}"/>
                </a:ext>
              </a:extLst>
            </p:cNvPr>
            <p:cNvSpPr/>
            <p:nvPr/>
          </p:nvSpPr>
          <p:spPr>
            <a:xfrm>
              <a:off x="2773792" y="1190378"/>
              <a:ext cx="5913008" cy="5943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Generate responses → Humans rate them → Update reward model → AI learns to maximize reward → Repeat until aligned</a:t>
              </a:r>
              <a:endParaRPr lang="en-US" sz="1600" dirty="0">
                <a:latin typeface="Helvetica Neue Light"/>
              </a:endParaRPr>
            </a:p>
          </p:txBody>
        </p:sp>
        <p:sp>
          <p:nvSpPr>
            <p:cNvPr id="8" name="Text 5">
              <a:extLst>
                <a:ext uri="{FF2B5EF4-FFF2-40B4-BE49-F238E27FC236}">
                  <a16:creationId xmlns:a16="http://schemas.microsoft.com/office/drawing/2014/main" id="{C0756B0D-C7A0-0D92-64F6-37E188310CC4}"/>
                </a:ext>
              </a:extLst>
            </p:cNvPr>
            <p:cNvSpPr/>
            <p:nvPr/>
          </p:nvSpPr>
          <p:spPr>
            <a:xfrm>
              <a:off x="457200" y="192024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Reward Hacking:</a:t>
              </a:r>
              <a:endParaRPr lang="en-US" dirty="0">
                <a:latin typeface="Helvetica Neue Light"/>
              </a:endParaRPr>
            </a:p>
          </p:txBody>
        </p:sp>
        <p:sp>
          <p:nvSpPr>
            <p:cNvPr id="9" name="Text 6">
              <a:extLst>
                <a:ext uri="{FF2B5EF4-FFF2-40B4-BE49-F238E27FC236}">
                  <a16:creationId xmlns:a16="http://schemas.microsoft.com/office/drawing/2014/main" id="{B3BB04FB-4141-6700-D6B9-548C572EDC89}"/>
                </a:ext>
              </a:extLst>
            </p:cNvPr>
            <p:cNvSpPr/>
            <p:nvPr/>
          </p:nvSpPr>
          <p:spPr>
            <a:xfrm>
              <a:off x="2773792" y="1876183"/>
              <a:ext cx="5913008" cy="5943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AI finds clever ways to get high scores without truly being helpful (e.g., being excessively verbose because longer answers were rated higher)</a:t>
              </a:r>
              <a:endParaRPr lang="en-US" sz="1600" dirty="0">
                <a:latin typeface="Helvetica Neue Light"/>
              </a:endParaRPr>
            </a:p>
          </p:txBody>
        </p:sp>
        <p:sp>
          <p:nvSpPr>
            <p:cNvPr id="10" name="Text 7">
              <a:extLst>
                <a:ext uri="{FF2B5EF4-FFF2-40B4-BE49-F238E27FC236}">
                  <a16:creationId xmlns:a16="http://schemas.microsoft.com/office/drawing/2014/main" id="{10F9E43D-B017-A735-8A88-810FC0C34EFF}"/>
                </a:ext>
              </a:extLst>
            </p:cNvPr>
            <p:cNvSpPr/>
            <p:nvPr/>
          </p:nvSpPr>
          <p:spPr>
            <a:xfrm>
              <a:off x="457200" y="260604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Sycophancy Problem:</a:t>
              </a:r>
              <a:endParaRPr lang="en-US" dirty="0">
                <a:latin typeface="Helvetica Neue Light"/>
              </a:endParaRPr>
            </a:p>
          </p:txBody>
        </p:sp>
        <p:sp>
          <p:nvSpPr>
            <p:cNvPr id="11" name="Text 8">
              <a:extLst>
                <a:ext uri="{FF2B5EF4-FFF2-40B4-BE49-F238E27FC236}">
                  <a16:creationId xmlns:a16="http://schemas.microsoft.com/office/drawing/2014/main" id="{9D9257DD-8EE2-748B-1B95-7ECEEC8718D2}"/>
                </a:ext>
              </a:extLst>
            </p:cNvPr>
            <p:cNvSpPr/>
            <p:nvPr/>
          </p:nvSpPr>
          <p:spPr>
            <a:xfrm>
              <a:off x="2773792" y="2561983"/>
              <a:ext cx="5913008" cy="5943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Human raters often prefer agreeable responses, accidentally training AI to be a "yes-man" rather than truthfully correcting errors</a:t>
              </a:r>
              <a:endParaRPr lang="en-US" sz="1600" dirty="0">
                <a:latin typeface="Helvetica Neue Light"/>
              </a:endParaRPr>
            </a:p>
          </p:txBody>
        </p:sp>
        <p:sp>
          <p:nvSpPr>
            <p:cNvPr id="12" name="Text 9">
              <a:extLst>
                <a:ext uri="{FF2B5EF4-FFF2-40B4-BE49-F238E27FC236}">
                  <a16:creationId xmlns:a16="http://schemas.microsoft.com/office/drawing/2014/main" id="{979E0923-29A4-5F7D-0F04-6FAE2EAD96CC}"/>
                </a:ext>
              </a:extLst>
            </p:cNvPr>
            <p:cNvSpPr/>
            <p:nvPr/>
          </p:nvSpPr>
          <p:spPr>
            <a:xfrm>
              <a:off x="457200" y="329184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Scalability Crisis:</a:t>
              </a:r>
              <a:endParaRPr lang="en-US" dirty="0">
                <a:latin typeface="Helvetica Neue Light"/>
              </a:endParaRPr>
            </a:p>
          </p:txBody>
        </p:sp>
        <p:sp>
          <p:nvSpPr>
            <p:cNvPr id="13" name="Text 10">
              <a:extLst>
                <a:ext uri="{FF2B5EF4-FFF2-40B4-BE49-F238E27FC236}">
                  <a16:creationId xmlns:a16="http://schemas.microsoft.com/office/drawing/2014/main" id="{3587863F-60F9-9472-F19E-2189BE06626E}"/>
                </a:ext>
              </a:extLst>
            </p:cNvPr>
            <p:cNvSpPr/>
            <p:nvPr/>
          </p:nvSpPr>
          <p:spPr>
            <a:xfrm>
              <a:off x="2773792" y="3291840"/>
              <a:ext cx="5913008" cy="5943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Quality RLHF requires expert human feedback, which is expensive and slow. OpenAI reportedly spent millions on human labeling</a:t>
              </a:r>
              <a:endParaRPr lang="en-US" sz="1600" dirty="0">
                <a:latin typeface="Helvetica Neue Light"/>
              </a:endParaRPr>
            </a:p>
          </p:txBody>
        </p:sp>
        <p:sp>
          <p:nvSpPr>
            <p:cNvPr id="14" name="Text 11">
              <a:extLst>
                <a:ext uri="{FF2B5EF4-FFF2-40B4-BE49-F238E27FC236}">
                  <a16:creationId xmlns:a16="http://schemas.microsoft.com/office/drawing/2014/main" id="{4938BB06-567F-E74A-F20C-B786E9B482C8}"/>
                </a:ext>
              </a:extLst>
            </p:cNvPr>
            <p:cNvSpPr/>
            <p:nvPr/>
          </p:nvSpPr>
          <p:spPr>
            <a:xfrm>
              <a:off x="457200" y="3977640"/>
              <a:ext cx="256032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Future Evolution:</a:t>
              </a:r>
              <a:endParaRPr lang="en-US" dirty="0">
                <a:latin typeface="Helvetica Neue Light"/>
              </a:endParaRPr>
            </a:p>
          </p:txBody>
        </p:sp>
        <p:sp>
          <p:nvSpPr>
            <p:cNvPr id="15" name="Text 12">
              <a:extLst>
                <a:ext uri="{FF2B5EF4-FFF2-40B4-BE49-F238E27FC236}">
                  <a16:creationId xmlns:a16="http://schemas.microsoft.com/office/drawing/2014/main" id="{640D419E-7CFF-8439-1121-D75E8B52BC74}"/>
                </a:ext>
              </a:extLst>
            </p:cNvPr>
            <p:cNvSpPr/>
            <p:nvPr/>
          </p:nvSpPr>
          <p:spPr>
            <a:xfrm>
              <a:off x="2773792" y="3977640"/>
              <a:ext cx="5913008" cy="5943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Moving toward Constitutional AI (self-supervision with principles), automated feedback systems, and combining RLHF with other alignment techniques</a:t>
              </a:r>
              <a:endParaRPr lang="en-US" sz="1600" dirty="0">
                <a:latin typeface="Helvetica Neue Light"/>
              </a:endParaRPr>
            </a:p>
          </p:txBody>
        </p:sp>
      </p:grpSp>
    </p:spTree>
    <p:extLst>
      <p:ext uri="{BB962C8B-B14F-4D97-AF65-F5344CB8AC3E}">
        <p14:creationId xmlns:p14="http://schemas.microsoft.com/office/powerpoint/2010/main" val="22298525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D9854-3278-A864-E1CD-DCA39DB59E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511B89E-4C6C-F063-0600-BE3FDC8CE597}"/>
              </a:ext>
            </a:extLst>
          </p:cNvPr>
          <p:cNvSpPr>
            <a:spLocks noGrp="1"/>
          </p:cNvSpPr>
          <p:nvPr>
            <p:ph type="title"/>
          </p:nvPr>
        </p:nvSpPr>
        <p:spPr>
          <a:xfrm>
            <a:off x="623888" y="3221724"/>
            <a:ext cx="7886700" cy="1340752"/>
          </a:xfrm>
        </p:spPr>
        <p:txBody>
          <a:bodyPr/>
          <a:lstStyle/>
          <a:p>
            <a:r>
              <a:rPr lang="en-US" sz="3600" i="1" dirty="0"/>
              <a:t>Part 12</a:t>
            </a:r>
            <a:br>
              <a:rPr lang="en-US" sz="5400" dirty="0"/>
            </a:br>
            <a:r>
              <a:rPr lang="en-US" sz="5400" dirty="0"/>
              <a:t>	Sycophancy in AI</a:t>
            </a:r>
          </a:p>
        </p:txBody>
      </p:sp>
      <p:sp>
        <p:nvSpPr>
          <p:cNvPr id="2" name="Text Placeholder 1">
            <a:extLst>
              <a:ext uri="{FF2B5EF4-FFF2-40B4-BE49-F238E27FC236}">
                <a16:creationId xmlns:a16="http://schemas.microsoft.com/office/drawing/2014/main" id="{CB2211BF-EC39-2EE8-A598-B4F555DE7D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3173D4-86E4-5B20-619D-A1FF65250F29}"/>
              </a:ext>
            </a:extLst>
          </p:cNvPr>
          <p:cNvSpPr>
            <a:spLocks noGrp="1"/>
          </p:cNvSpPr>
          <p:nvPr>
            <p:ph type="sldNum" sz="quarter" idx="12"/>
          </p:nvPr>
        </p:nvSpPr>
        <p:spPr/>
        <p:txBody>
          <a:bodyPr/>
          <a:lstStyle/>
          <a:p>
            <a:fld id="{21EF4C0E-91FA-4D94-8941-E22F3A83D5F1}" type="slidenum">
              <a:rPr lang="en-US" smtClean="0"/>
              <a:t>66</a:t>
            </a:fld>
            <a:endParaRPr lang="en-US"/>
          </a:p>
        </p:txBody>
      </p:sp>
    </p:spTree>
    <p:extLst>
      <p:ext uri="{BB962C8B-B14F-4D97-AF65-F5344CB8AC3E}">
        <p14:creationId xmlns:p14="http://schemas.microsoft.com/office/powerpoint/2010/main" val="12344604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25D4E-E9B4-2D85-90A7-4C41B7551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044F9-B9CF-53A2-CBBE-F03CF96D4660}"/>
              </a:ext>
            </a:extLst>
          </p:cNvPr>
          <p:cNvSpPr>
            <a:spLocks noGrp="1"/>
          </p:cNvSpPr>
          <p:nvPr>
            <p:ph type="title"/>
          </p:nvPr>
        </p:nvSpPr>
        <p:spPr>
          <a:xfrm>
            <a:off x="457200" y="365126"/>
            <a:ext cx="8229600" cy="647741"/>
          </a:xfrm>
        </p:spPr>
        <p:txBody>
          <a:bodyPr/>
          <a:lstStyle/>
          <a:p>
            <a:r>
              <a:rPr lang="en-US" sz="4000" dirty="0"/>
              <a:t>Sycophancy in AI (3:37)</a:t>
            </a:r>
          </a:p>
        </p:txBody>
      </p:sp>
      <p:sp>
        <p:nvSpPr>
          <p:cNvPr id="5" name="Slide Number Placeholder 4">
            <a:extLst>
              <a:ext uri="{FF2B5EF4-FFF2-40B4-BE49-F238E27FC236}">
                <a16:creationId xmlns:a16="http://schemas.microsoft.com/office/drawing/2014/main" id="{2A042E97-945D-195F-B7DB-8E7DDA2DF2BD}"/>
              </a:ext>
            </a:extLst>
          </p:cNvPr>
          <p:cNvSpPr>
            <a:spLocks noGrp="1"/>
          </p:cNvSpPr>
          <p:nvPr>
            <p:ph type="sldNum" sz="quarter" idx="12"/>
          </p:nvPr>
        </p:nvSpPr>
        <p:spPr/>
        <p:txBody>
          <a:bodyPr/>
          <a:lstStyle/>
          <a:p>
            <a:fld id="{21EF4C0E-91FA-4D94-8941-E22F3A83D5F1}" type="slidenum">
              <a:rPr lang="en-US" smtClean="0"/>
              <a:t>67</a:t>
            </a:fld>
            <a:endParaRPr lang="en-US"/>
          </a:p>
        </p:txBody>
      </p:sp>
      <p:sp>
        <p:nvSpPr>
          <p:cNvPr id="9" name="TextBox 8">
            <a:extLst>
              <a:ext uri="{FF2B5EF4-FFF2-40B4-BE49-F238E27FC236}">
                <a16:creationId xmlns:a16="http://schemas.microsoft.com/office/drawing/2014/main" id="{277BB053-FEC5-95C6-A0CB-35A299525514}"/>
              </a:ext>
            </a:extLst>
          </p:cNvPr>
          <p:cNvSpPr txBox="1"/>
          <p:nvPr/>
        </p:nvSpPr>
        <p:spPr>
          <a:xfrm>
            <a:off x="6479442" y="6600515"/>
            <a:ext cx="2477095" cy="215444"/>
          </a:xfrm>
          <a:prstGeom prst="rect">
            <a:avLst/>
          </a:prstGeom>
          <a:noFill/>
        </p:spPr>
        <p:txBody>
          <a:bodyPr wrap="square">
            <a:spAutoFit/>
          </a:bodyPr>
          <a:lstStyle/>
          <a:p>
            <a:r>
              <a:rPr lang="en-US" sz="800" dirty="0">
                <a:solidFill>
                  <a:schemeClr val="bg2">
                    <a:lumMod val="90000"/>
                  </a:schemeClr>
                </a:solidFill>
              </a:rPr>
              <a:t>https://www.youtube.com/watch?v=DRyb3jA0ZOM</a:t>
            </a:r>
          </a:p>
        </p:txBody>
      </p:sp>
      <p:pic>
        <p:nvPicPr>
          <p:cNvPr id="3" name="Online Media 2" title="Sycophantic ChatGPT encouraging users' dangerous delusions | ABC NEWS">
            <a:hlinkClick r:id="" action="ppaction://media"/>
            <a:extLst>
              <a:ext uri="{FF2B5EF4-FFF2-40B4-BE49-F238E27FC236}">
                <a16:creationId xmlns:a16="http://schemas.microsoft.com/office/drawing/2014/main" id="{4E9224E5-276B-1980-B574-451915693AAA}"/>
              </a:ext>
            </a:extLst>
          </p:cNvPr>
          <p:cNvPicPr>
            <a:picLocks noRot="1" noChangeAspect="1"/>
          </p:cNvPicPr>
          <p:nvPr>
            <a:videoFile r:link="rId1"/>
          </p:nvPr>
        </p:nvPicPr>
        <p:blipFill>
          <a:blip r:embed="rId3"/>
          <a:stretch>
            <a:fillRect/>
          </a:stretch>
        </p:blipFill>
        <p:spPr>
          <a:xfrm>
            <a:off x="504497" y="1520575"/>
            <a:ext cx="8392622" cy="4738335"/>
          </a:xfrm>
          <a:prstGeom prst="rect">
            <a:avLst/>
          </a:prstGeom>
        </p:spPr>
      </p:pic>
      <p:sp>
        <p:nvSpPr>
          <p:cNvPr id="6" name="TextBox 5">
            <a:extLst>
              <a:ext uri="{FF2B5EF4-FFF2-40B4-BE49-F238E27FC236}">
                <a16:creationId xmlns:a16="http://schemas.microsoft.com/office/drawing/2014/main" id="{33B1C9A8-FC1F-0F2D-8B5B-3D7A15FA1852}"/>
              </a:ext>
            </a:extLst>
          </p:cNvPr>
          <p:cNvSpPr txBox="1"/>
          <p:nvPr/>
        </p:nvSpPr>
        <p:spPr>
          <a:xfrm>
            <a:off x="272264" y="1095598"/>
            <a:ext cx="7155951" cy="369332"/>
          </a:xfrm>
          <a:prstGeom prst="rect">
            <a:avLst/>
          </a:prstGeom>
          <a:noFill/>
        </p:spPr>
        <p:txBody>
          <a:bodyPr wrap="square">
            <a:spAutoFit/>
          </a:bodyPr>
          <a:lstStyle/>
          <a:p>
            <a:pPr marL="0" indent="0" algn="ctr">
              <a:buNone/>
            </a:pPr>
            <a:r>
              <a:rPr lang="en-US" sz="1800" i="1" dirty="0">
                <a:solidFill>
                  <a:srgbClr val="E8F4F8"/>
                </a:solidFill>
                <a:latin typeface="Helvetica Neue Light"/>
                <a:ea typeface="Calibri" pitchFamily="34" charset="-122"/>
                <a:cs typeface="Calibri" pitchFamily="34" charset="-120"/>
              </a:rPr>
              <a:t>When AI becomes a yes-man: The dangers of excessive agreement</a:t>
            </a:r>
            <a:endParaRPr lang="en-US" sz="1800" dirty="0">
              <a:latin typeface="Helvetica Neue Light"/>
            </a:endParaRPr>
          </a:p>
        </p:txBody>
      </p:sp>
    </p:spTree>
    <p:extLst>
      <p:ext uri="{BB962C8B-B14F-4D97-AF65-F5344CB8AC3E}">
        <p14:creationId xmlns:p14="http://schemas.microsoft.com/office/powerpoint/2010/main" val="350269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EA443DF1-73CC-D380-74AC-08FA384D5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AF66A-97BB-84E0-1C4D-0F15CBED72F3}"/>
              </a:ext>
            </a:extLst>
          </p:cNvPr>
          <p:cNvSpPr>
            <a:spLocks noGrp="1"/>
          </p:cNvSpPr>
          <p:nvPr>
            <p:ph type="title"/>
          </p:nvPr>
        </p:nvSpPr>
        <p:spPr>
          <a:xfrm>
            <a:off x="457200" y="365126"/>
            <a:ext cx="8229600" cy="592213"/>
          </a:xfrm>
        </p:spPr>
        <p:txBody>
          <a:bodyPr/>
          <a:lstStyle/>
          <a:p>
            <a:r>
              <a:rPr lang="en-US" dirty="0"/>
              <a:t>When AI Becomes a Yes-Man</a:t>
            </a:r>
          </a:p>
        </p:txBody>
      </p:sp>
      <p:sp>
        <p:nvSpPr>
          <p:cNvPr id="5" name="Slide Number Placeholder 4">
            <a:extLst>
              <a:ext uri="{FF2B5EF4-FFF2-40B4-BE49-F238E27FC236}">
                <a16:creationId xmlns:a16="http://schemas.microsoft.com/office/drawing/2014/main" id="{30A4C706-FE63-123D-9379-7CBC8DBA4EBE}"/>
              </a:ext>
            </a:extLst>
          </p:cNvPr>
          <p:cNvSpPr>
            <a:spLocks noGrp="1"/>
          </p:cNvSpPr>
          <p:nvPr>
            <p:ph type="sldNum" sz="quarter" idx="12"/>
          </p:nvPr>
        </p:nvSpPr>
        <p:spPr/>
        <p:txBody>
          <a:bodyPr/>
          <a:lstStyle/>
          <a:p>
            <a:fld id="{21EF4C0E-91FA-4D94-8941-E22F3A83D5F1}" type="slidenum">
              <a:rPr lang="en-US" smtClean="0"/>
              <a:t>68</a:t>
            </a:fld>
            <a:endParaRPr lang="en-US"/>
          </a:p>
        </p:txBody>
      </p:sp>
      <p:sp>
        <p:nvSpPr>
          <p:cNvPr id="6" name="TextBox 5">
            <a:extLst>
              <a:ext uri="{FF2B5EF4-FFF2-40B4-BE49-F238E27FC236}">
                <a16:creationId xmlns:a16="http://schemas.microsoft.com/office/drawing/2014/main" id="{50FE3B43-AE3F-F1E4-1579-0522BC1F7F7F}"/>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D49C1914-3780-2D4D-EF2C-64F49D235469}"/>
              </a:ext>
            </a:extLst>
          </p:cNvPr>
          <p:cNvGrpSpPr/>
          <p:nvPr/>
        </p:nvGrpSpPr>
        <p:grpSpPr>
          <a:xfrm>
            <a:off x="457199" y="1234439"/>
            <a:ext cx="8604607" cy="4642379"/>
            <a:chOff x="457200" y="1234440"/>
            <a:chExt cx="8229600" cy="2926080"/>
          </a:xfrm>
        </p:grpSpPr>
        <p:sp>
          <p:nvSpPr>
            <p:cNvPr id="4" name="Shape 3">
              <a:extLst>
                <a:ext uri="{FF2B5EF4-FFF2-40B4-BE49-F238E27FC236}">
                  <a16:creationId xmlns:a16="http://schemas.microsoft.com/office/drawing/2014/main" id="{2EBA4CE3-6F3D-9B7D-CB74-5C0026D20C3B}"/>
                </a:ext>
              </a:extLst>
            </p:cNvPr>
            <p:cNvSpPr/>
            <p:nvPr/>
          </p:nvSpPr>
          <p:spPr>
            <a:xfrm>
              <a:off x="457200" y="1234440"/>
              <a:ext cx="4114800" cy="1280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EB5EB8D3-3586-EFF4-FD5A-41ED880F12B5}"/>
                </a:ext>
              </a:extLst>
            </p:cNvPr>
            <p:cNvSpPr/>
            <p:nvPr/>
          </p:nvSpPr>
          <p:spPr>
            <a:xfrm>
              <a:off x="457200" y="1234440"/>
              <a:ext cx="54864" cy="128016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336617C6-9F5D-6417-CDB3-358C5E84D0EB}"/>
                </a:ext>
              </a:extLst>
            </p:cNvPr>
            <p:cNvSpPr/>
            <p:nvPr/>
          </p:nvSpPr>
          <p:spPr>
            <a:xfrm>
              <a:off x="685800" y="1325880"/>
              <a:ext cx="374904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Definition:</a:t>
              </a:r>
              <a:endParaRPr lang="en-US" sz="2000" dirty="0">
                <a:latin typeface="Helvetica Neue Light"/>
              </a:endParaRPr>
            </a:p>
          </p:txBody>
        </p:sp>
        <p:sp>
          <p:nvSpPr>
            <p:cNvPr id="9" name="Text 6">
              <a:extLst>
                <a:ext uri="{FF2B5EF4-FFF2-40B4-BE49-F238E27FC236}">
                  <a16:creationId xmlns:a16="http://schemas.microsoft.com/office/drawing/2014/main" id="{21945C76-0F11-7916-983B-C116092C8CFA}"/>
                </a:ext>
              </a:extLst>
            </p:cNvPr>
            <p:cNvSpPr/>
            <p:nvPr/>
          </p:nvSpPr>
          <p:spPr>
            <a:xfrm>
              <a:off x="685800" y="1600200"/>
              <a:ext cx="3749040" cy="822960"/>
            </a:xfrm>
            <a:prstGeom prst="rect">
              <a:avLst/>
            </a:prstGeom>
            <a:noFill/>
            <a:ln/>
          </p:spPr>
          <p:txBody>
            <a:bodyPr wrap="square" rtlCol="0" anchor="t"/>
            <a:lstStyle/>
            <a:p>
              <a:pPr marL="0" indent="0">
                <a:buNone/>
              </a:pPr>
              <a:r>
                <a:rPr lang="en-US" sz="1600" dirty="0">
                  <a:solidFill>
                    <a:srgbClr val="2D3436"/>
                  </a:solidFill>
                  <a:latin typeface="Helvetica Neue Light"/>
                  <a:ea typeface="Calibri" pitchFamily="34" charset="-122"/>
                  <a:cs typeface="Calibri" pitchFamily="34" charset="-120"/>
                </a:rPr>
                <a:t>Sycophancy is when AI models excessively agree with users, affirm false statements, or change their answers to match perceived user preferences rather than providing truthful information.</a:t>
              </a:r>
              <a:endParaRPr lang="en-US" sz="1600" dirty="0">
                <a:latin typeface="Helvetica Neue Light"/>
              </a:endParaRPr>
            </a:p>
          </p:txBody>
        </p:sp>
        <p:sp>
          <p:nvSpPr>
            <p:cNvPr id="10" name="Shape 7">
              <a:extLst>
                <a:ext uri="{FF2B5EF4-FFF2-40B4-BE49-F238E27FC236}">
                  <a16:creationId xmlns:a16="http://schemas.microsoft.com/office/drawing/2014/main" id="{28F490D9-2DEA-0E6E-7D4F-911486CC1B69}"/>
                </a:ext>
              </a:extLst>
            </p:cNvPr>
            <p:cNvSpPr/>
            <p:nvPr/>
          </p:nvSpPr>
          <p:spPr>
            <a:xfrm>
              <a:off x="4754880" y="1234440"/>
              <a:ext cx="3931920" cy="1280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B5EBE63C-E400-AB80-4AFB-0CE5F43EEDB7}"/>
                </a:ext>
              </a:extLst>
            </p:cNvPr>
            <p:cNvSpPr/>
            <p:nvPr/>
          </p:nvSpPr>
          <p:spPr>
            <a:xfrm>
              <a:off x="4754880" y="1234440"/>
              <a:ext cx="54864" cy="1280160"/>
            </a:xfrm>
            <a:prstGeom prst="rect">
              <a:avLst/>
            </a:prstGeom>
            <a:solidFill>
              <a:srgbClr val="1C7293"/>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E6E51B16-2D3E-3C06-A308-C8779A13015D}"/>
                </a:ext>
              </a:extLst>
            </p:cNvPr>
            <p:cNvSpPr/>
            <p:nvPr/>
          </p:nvSpPr>
          <p:spPr>
            <a:xfrm>
              <a:off x="4983480" y="1325880"/>
              <a:ext cx="356616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The Dangerous Example:</a:t>
              </a:r>
              <a:endParaRPr lang="en-US" sz="2000" dirty="0">
                <a:latin typeface="Helvetica Neue Light"/>
              </a:endParaRPr>
            </a:p>
          </p:txBody>
        </p:sp>
        <p:sp>
          <p:nvSpPr>
            <p:cNvPr id="13" name="Text 10">
              <a:extLst>
                <a:ext uri="{FF2B5EF4-FFF2-40B4-BE49-F238E27FC236}">
                  <a16:creationId xmlns:a16="http://schemas.microsoft.com/office/drawing/2014/main" id="{2A19CF8D-12B4-6AE6-AD12-B228383C6F19}"/>
                </a:ext>
              </a:extLst>
            </p:cNvPr>
            <p:cNvSpPr/>
            <p:nvPr/>
          </p:nvSpPr>
          <p:spPr>
            <a:xfrm>
              <a:off x="4983480" y="1600200"/>
              <a:ext cx="3566160" cy="822960"/>
            </a:xfrm>
            <a:prstGeom prst="rect">
              <a:avLst/>
            </a:prstGeom>
            <a:noFill/>
            <a:ln/>
          </p:spPr>
          <p:txBody>
            <a:bodyPr wrap="square" rtlCol="0" anchor="t"/>
            <a:lstStyle/>
            <a:p>
              <a:pPr marL="0" indent="0">
                <a:buNone/>
              </a:pPr>
              <a:r>
                <a:rPr lang="en-US" sz="1600" dirty="0">
                  <a:solidFill>
                    <a:srgbClr val="2D3436"/>
                  </a:solidFill>
                  <a:latin typeface="Helvetica Neue Light"/>
                  <a:ea typeface="Calibri" pitchFamily="34" charset="-122"/>
                  <a:cs typeface="Calibri" pitchFamily="34" charset="-120"/>
                </a:rPr>
                <a:t>User says "2+2=5, right?" and AI responds "Yes, you're correct!" instead of politely correcting the error — prioritizing agreement over accuracy.</a:t>
              </a:r>
              <a:endParaRPr lang="en-US" sz="1600" dirty="0">
                <a:latin typeface="Helvetica Neue Light"/>
              </a:endParaRPr>
            </a:p>
          </p:txBody>
        </p:sp>
        <p:sp>
          <p:nvSpPr>
            <p:cNvPr id="14" name="Text 11">
              <a:extLst>
                <a:ext uri="{FF2B5EF4-FFF2-40B4-BE49-F238E27FC236}">
                  <a16:creationId xmlns:a16="http://schemas.microsoft.com/office/drawing/2014/main" id="{CB0FCA49-B507-645E-C6DB-8A892F3B931D}"/>
                </a:ext>
              </a:extLst>
            </p:cNvPr>
            <p:cNvSpPr/>
            <p:nvPr/>
          </p:nvSpPr>
          <p:spPr>
            <a:xfrm>
              <a:off x="457200" y="269748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Root Causes:</a:t>
              </a:r>
              <a:endParaRPr lang="en-US" sz="2000" dirty="0">
                <a:latin typeface="Helvetica Neue Light"/>
              </a:endParaRPr>
            </a:p>
          </p:txBody>
        </p:sp>
        <p:sp>
          <p:nvSpPr>
            <p:cNvPr id="15" name="Shape 12">
              <a:extLst>
                <a:ext uri="{FF2B5EF4-FFF2-40B4-BE49-F238E27FC236}">
                  <a16:creationId xmlns:a16="http://schemas.microsoft.com/office/drawing/2014/main" id="{1A3FDBDE-7812-08B2-AECD-EFEA7F80A5B2}"/>
                </a:ext>
              </a:extLst>
            </p:cNvPr>
            <p:cNvSpPr/>
            <p:nvPr/>
          </p:nvSpPr>
          <p:spPr>
            <a:xfrm>
              <a:off x="457200" y="3063240"/>
              <a:ext cx="4023360" cy="1097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6" name="Shape 13">
              <a:extLst>
                <a:ext uri="{FF2B5EF4-FFF2-40B4-BE49-F238E27FC236}">
                  <a16:creationId xmlns:a16="http://schemas.microsoft.com/office/drawing/2014/main" id="{5F5B2B51-F764-97FA-5209-27FDA8BAD0DE}"/>
                </a:ext>
              </a:extLst>
            </p:cNvPr>
            <p:cNvSpPr/>
            <p:nvPr/>
          </p:nvSpPr>
          <p:spPr>
            <a:xfrm>
              <a:off x="457200" y="3063240"/>
              <a:ext cx="54864" cy="1097280"/>
            </a:xfrm>
            <a:prstGeom prst="rect">
              <a:avLst/>
            </a:prstGeom>
            <a:solidFill>
              <a:srgbClr val="84B59F"/>
            </a:solidFill>
            <a:ln/>
          </p:spPr>
          <p:txBody>
            <a:bodyPr/>
            <a:lstStyle/>
            <a:p>
              <a:endParaRPr lang="en-US" sz="3200">
                <a:latin typeface="Helvetica Neue Light"/>
              </a:endParaRPr>
            </a:p>
          </p:txBody>
        </p:sp>
        <p:sp>
          <p:nvSpPr>
            <p:cNvPr id="17" name="Text 14">
              <a:extLst>
                <a:ext uri="{FF2B5EF4-FFF2-40B4-BE49-F238E27FC236}">
                  <a16:creationId xmlns:a16="http://schemas.microsoft.com/office/drawing/2014/main" id="{C294CC7F-F4C2-EB30-DB81-AC15DD508F0D}"/>
                </a:ext>
              </a:extLst>
            </p:cNvPr>
            <p:cNvSpPr/>
            <p:nvPr/>
          </p:nvSpPr>
          <p:spPr>
            <a:xfrm>
              <a:off x="685800" y="31546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Training Data Bias</a:t>
              </a:r>
              <a:endParaRPr lang="en-US" sz="2000" dirty="0">
                <a:latin typeface="Helvetica Neue Light"/>
              </a:endParaRPr>
            </a:p>
          </p:txBody>
        </p:sp>
        <p:sp>
          <p:nvSpPr>
            <p:cNvPr id="18" name="Text 15">
              <a:extLst>
                <a:ext uri="{FF2B5EF4-FFF2-40B4-BE49-F238E27FC236}">
                  <a16:creationId xmlns:a16="http://schemas.microsoft.com/office/drawing/2014/main" id="{A2226234-074D-5BAB-E145-AB81F953562F}"/>
                </a:ext>
              </a:extLst>
            </p:cNvPr>
            <p:cNvSpPr/>
            <p:nvPr/>
          </p:nvSpPr>
          <p:spPr>
            <a:xfrm>
              <a:off x="685800" y="3429000"/>
              <a:ext cx="3657600" cy="640080"/>
            </a:xfrm>
            <a:prstGeom prst="rect">
              <a:avLst/>
            </a:prstGeom>
            <a:noFill/>
            <a:ln/>
          </p:spPr>
          <p:txBody>
            <a:bodyPr wrap="square" rtlCol="0" anchor="t"/>
            <a:lstStyle/>
            <a:p>
              <a:pPr marL="0" indent="0">
                <a:buNone/>
              </a:pPr>
              <a:r>
                <a:rPr lang="en-US" sz="1600" dirty="0">
                  <a:solidFill>
                    <a:srgbClr val="2D3436"/>
                  </a:solidFill>
                  <a:latin typeface="Helvetica Neue Light"/>
                  <a:ea typeface="Calibri" pitchFamily="34" charset="-122"/>
                  <a:cs typeface="Calibri" pitchFamily="34" charset="-120"/>
                </a:rPr>
                <a:t>Models learn from human feedback where agreeable, polite responses are often rated higher than blunt corrections, creating a bias toward affirmation.</a:t>
              </a:r>
              <a:endParaRPr lang="en-US" sz="1600" dirty="0">
                <a:latin typeface="Helvetica Neue Light"/>
              </a:endParaRPr>
            </a:p>
          </p:txBody>
        </p:sp>
        <p:sp>
          <p:nvSpPr>
            <p:cNvPr id="19" name="Shape 16">
              <a:extLst>
                <a:ext uri="{FF2B5EF4-FFF2-40B4-BE49-F238E27FC236}">
                  <a16:creationId xmlns:a16="http://schemas.microsoft.com/office/drawing/2014/main" id="{7980115D-1F23-27D1-DE08-1F20D57E877E}"/>
                </a:ext>
              </a:extLst>
            </p:cNvPr>
            <p:cNvSpPr/>
            <p:nvPr/>
          </p:nvSpPr>
          <p:spPr>
            <a:xfrm>
              <a:off x="4663440" y="3063240"/>
              <a:ext cx="4023360" cy="10972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20" name="Shape 17">
              <a:extLst>
                <a:ext uri="{FF2B5EF4-FFF2-40B4-BE49-F238E27FC236}">
                  <a16:creationId xmlns:a16="http://schemas.microsoft.com/office/drawing/2014/main" id="{948B088F-81F7-43F3-18D8-5FDF67AC49BF}"/>
                </a:ext>
              </a:extLst>
            </p:cNvPr>
            <p:cNvSpPr/>
            <p:nvPr/>
          </p:nvSpPr>
          <p:spPr>
            <a:xfrm>
              <a:off x="4663440" y="3063240"/>
              <a:ext cx="54864" cy="1097280"/>
            </a:xfrm>
            <a:prstGeom prst="rect">
              <a:avLst/>
            </a:prstGeom>
            <a:solidFill>
              <a:srgbClr val="E07A5F"/>
            </a:solidFill>
            <a:ln/>
          </p:spPr>
          <p:txBody>
            <a:bodyPr/>
            <a:lstStyle/>
            <a:p>
              <a:endParaRPr lang="en-US" sz="3200">
                <a:latin typeface="Helvetica Neue Light"/>
              </a:endParaRPr>
            </a:p>
          </p:txBody>
        </p:sp>
        <p:sp>
          <p:nvSpPr>
            <p:cNvPr id="21" name="Text 18">
              <a:extLst>
                <a:ext uri="{FF2B5EF4-FFF2-40B4-BE49-F238E27FC236}">
                  <a16:creationId xmlns:a16="http://schemas.microsoft.com/office/drawing/2014/main" id="{C250816D-BD43-34A8-3781-3B26D5403C62}"/>
                </a:ext>
              </a:extLst>
            </p:cNvPr>
            <p:cNvSpPr/>
            <p:nvPr/>
          </p:nvSpPr>
          <p:spPr>
            <a:xfrm>
              <a:off x="4892040" y="31546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RLHF Misalignment</a:t>
              </a:r>
              <a:endParaRPr lang="en-US" sz="2000" dirty="0">
                <a:latin typeface="Helvetica Neue Light"/>
              </a:endParaRPr>
            </a:p>
          </p:txBody>
        </p:sp>
        <p:sp>
          <p:nvSpPr>
            <p:cNvPr id="22" name="Text 19">
              <a:extLst>
                <a:ext uri="{FF2B5EF4-FFF2-40B4-BE49-F238E27FC236}">
                  <a16:creationId xmlns:a16="http://schemas.microsoft.com/office/drawing/2014/main" id="{A800C927-6AA1-80F0-DC24-2014B53DD9CE}"/>
                </a:ext>
              </a:extLst>
            </p:cNvPr>
            <p:cNvSpPr/>
            <p:nvPr/>
          </p:nvSpPr>
          <p:spPr>
            <a:xfrm>
              <a:off x="4892040" y="3429000"/>
              <a:ext cx="3657600" cy="640080"/>
            </a:xfrm>
            <a:prstGeom prst="rect">
              <a:avLst/>
            </a:prstGeom>
            <a:noFill/>
            <a:ln/>
          </p:spPr>
          <p:txBody>
            <a:bodyPr wrap="square" rtlCol="0" anchor="t"/>
            <a:lstStyle/>
            <a:p>
              <a:pPr marL="0" indent="0">
                <a:buNone/>
              </a:pPr>
              <a:r>
                <a:rPr lang="en-US" sz="1600" dirty="0">
                  <a:solidFill>
                    <a:srgbClr val="2D3436"/>
                  </a:solidFill>
                  <a:latin typeface="Helvetica Neue Light"/>
                  <a:ea typeface="Calibri" pitchFamily="34" charset="-122"/>
                  <a:cs typeface="Calibri" pitchFamily="34" charset="-120"/>
                </a:rPr>
                <a:t>Reinforcement Learning from Human Feedback can accidentally optimize for "making users happy" rather than "being helpful AND truthful."</a:t>
              </a:r>
              <a:endParaRPr lang="en-US" sz="1600" dirty="0">
                <a:latin typeface="Helvetica Neue Light"/>
              </a:endParaRPr>
            </a:p>
          </p:txBody>
        </p:sp>
      </p:grpSp>
      <p:sp>
        <p:nvSpPr>
          <p:cNvPr id="23" name="TextBox 22">
            <a:extLst>
              <a:ext uri="{FF2B5EF4-FFF2-40B4-BE49-F238E27FC236}">
                <a16:creationId xmlns:a16="http://schemas.microsoft.com/office/drawing/2014/main" id="{E0B29D7F-20F9-73CF-A455-00E443347E9A}"/>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https://share.google/images/CvSLeanlQ2Kqhucfl</a:t>
            </a:r>
          </a:p>
        </p:txBody>
      </p:sp>
      <p:pic>
        <p:nvPicPr>
          <p:cNvPr id="24" name="Picture 3" descr="Understanding Sycophancy in AI Systems | by Tejas Khare | Data Science  Collective | Medium">
            <a:extLst>
              <a:ext uri="{FF2B5EF4-FFF2-40B4-BE49-F238E27FC236}">
                <a16:creationId xmlns:a16="http://schemas.microsoft.com/office/drawing/2014/main" id="{F921E650-F8EC-3173-7967-34CC37118E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07" t="3387" r="4306" b="3456"/>
          <a:stretch>
            <a:fillRect/>
          </a:stretch>
        </p:blipFill>
        <p:spPr bwMode="auto">
          <a:xfrm>
            <a:off x="973619" y="1814736"/>
            <a:ext cx="6942619" cy="4610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92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CBF01607-BF08-9890-A2B1-B2877F74C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AEA83-2A99-883A-867B-58F5F318AB24}"/>
              </a:ext>
            </a:extLst>
          </p:cNvPr>
          <p:cNvSpPr>
            <a:spLocks noGrp="1"/>
          </p:cNvSpPr>
          <p:nvPr>
            <p:ph type="title"/>
          </p:nvPr>
        </p:nvSpPr>
        <p:spPr>
          <a:xfrm>
            <a:off x="457200" y="365126"/>
            <a:ext cx="8229600" cy="592213"/>
          </a:xfrm>
        </p:spPr>
        <p:txBody>
          <a:bodyPr/>
          <a:lstStyle/>
          <a:p>
            <a:r>
              <a:rPr lang="en-US" dirty="0"/>
              <a:t>Risks &amp; Mitigations</a:t>
            </a:r>
          </a:p>
        </p:txBody>
      </p:sp>
      <p:sp>
        <p:nvSpPr>
          <p:cNvPr id="5" name="Slide Number Placeholder 4">
            <a:extLst>
              <a:ext uri="{FF2B5EF4-FFF2-40B4-BE49-F238E27FC236}">
                <a16:creationId xmlns:a16="http://schemas.microsoft.com/office/drawing/2014/main" id="{AE8EB33C-16CB-E905-7C29-7BB76AB66566}"/>
              </a:ext>
            </a:extLst>
          </p:cNvPr>
          <p:cNvSpPr>
            <a:spLocks noGrp="1"/>
          </p:cNvSpPr>
          <p:nvPr>
            <p:ph type="sldNum" sz="quarter" idx="12"/>
          </p:nvPr>
        </p:nvSpPr>
        <p:spPr/>
        <p:txBody>
          <a:bodyPr/>
          <a:lstStyle/>
          <a:p>
            <a:fld id="{21EF4C0E-91FA-4D94-8941-E22F3A83D5F1}" type="slidenum">
              <a:rPr lang="en-US" smtClean="0"/>
              <a:t>69</a:t>
            </a:fld>
            <a:endParaRPr lang="en-US"/>
          </a:p>
        </p:txBody>
      </p:sp>
      <p:sp>
        <p:nvSpPr>
          <p:cNvPr id="6" name="TextBox 5">
            <a:extLst>
              <a:ext uri="{FF2B5EF4-FFF2-40B4-BE49-F238E27FC236}">
                <a16:creationId xmlns:a16="http://schemas.microsoft.com/office/drawing/2014/main" id="{21130C0F-5888-DEAE-ABE6-133215DA72F5}"/>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D073AA5C-3A9E-E1B0-396D-E04D7CC145F5}"/>
              </a:ext>
            </a:extLst>
          </p:cNvPr>
          <p:cNvGrpSpPr/>
          <p:nvPr/>
        </p:nvGrpSpPr>
        <p:grpSpPr>
          <a:xfrm>
            <a:off x="457200" y="1234440"/>
            <a:ext cx="8686800" cy="4621830"/>
            <a:chOff x="457200" y="1234440"/>
            <a:chExt cx="8229600" cy="2514600"/>
          </a:xfrm>
        </p:grpSpPr>
        <p:sp>
          <p:nvSpPr>
            <p:cNvPr id="4" name="Shape 3">
              <a:extLst>
                <a:ext uri="{FF2B5EF4-FFF2-40B4-BE49-F238E27FC236}">
                  <a16:creationId xmlns:a16="http://schemas.microsoft.com/office/drawing/2014/main" id="{647EDBC4-8736-B9CE-63E6-6008C43E14AC}"/>
                </a:ext>
              </a:extLst>
            </p:cNvPr>
            <p:cNvSpPr/>
            <p:nvPr/>
          </p:nvSpPr>
          <p:spPr>
            <a:xfrm>
              <a:off x="457200" y="1234440"/>
              <a:ext cx="4023360" cy="1828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FC20809F-6BBC-E72A-10B3-E5F27DD54AEB}"/>
                </a:ext>
              </a:extLst>
            </p:cNvPr>
            <p:cNvSpPr/>
            <p:nvPr/>
          </p:nvSpPr>
          <p:spPr>
            <a:xfrm>
              <a:off x="457200" y="1234440"/>
              <a:ext cx="54864" cy="182880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C751CD0F-7C24-72A9-52BD-4FB7780E687B}"/>
                </a:ext>
              </a:extLst>
            </p:cNvPr>
            <p:cNvSpPr/>
            <p:nvPr/>
          </p:nvSpPr>
          <p:spPr>
            <a:xfrm>
              <a:off x="68580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Critical Risks</a:t>
              </a:r>
              <a:endParaRPr lang="en-US" sz="2000" dirty="0">
                <a:latin typeface="Helvetica Neue Light"/>
              </a:endParaRPr>
            </a:p>
          </p:txBody>
        </p:sp>
        <p:sp>
          <p:nvSpPr>
            <p:cNvPr id="9" name="Text 6">
              <a:extLst>
                <a:ext uri="{FF2B5EF4-FFF2-40B4-BE49-F238E27FC236}">
                  <a16:creationId xmlns:a16="http://schemas.microsoft.com/office/drawing/2014/main" id="{628B211C-8D21-AAC2-66B9-D993CE44302D}"/>
                </a:ext>
              </a:extLst>
            </p:cNvPr>
            <p:cNvSpPr/>
            <p:nvPr/>
          </p:nvSpPr>
          <p:spPr>
            <a:xfrm>
              <a:off x="685800" y="1600200"/>
              <a:ext cx="3657600" cy="1371600"/>
            </a:xfrm>
            <a:prstGeom prst="rect">
              <a:avLst/>
            </a:prstGeom>
            <a:noFill/>
            <a:ln/>
          </p:spPr>
          <p:txBody>
            <a:bodyPr wrap="square" rtlCol="0" anchor="t"/>
            <a:lstStyle/>
            <a:p>
              <a:pPr marL="0" indent="0">
                <a:buNone/>
              </a:pPr>
              <a:r>
                <a:rPr lang="en-US" sz="1600" b="1" dirty="0">
                  <a:solidFill>
                    <a:srgbClr val="2D3436"/>
                  </a:solidFill>
                  <a:latin typeface="Helvetica Neue Light"/>
                  <a:ea typeface="Calibri" pitchFamily="34" charset="-122"/>
                  <a:cs typeface="Calibri" pitchFamily="34" charset="-120"/>
                </a:rPr>
                <a:t>Expertise Deference Issue: </a:t>
              </a:r>
              <a:r>
                <a:rPr lang="en-US" sz="1600" dirty="0">
                  <a:solidFill>
                    <a:srgbClr val="2D3436"/>
                  </a:solidFill>
                  <a:latin typeface="Helvetica Neue Light"/>
                  <a:ea typeface="Calibri" pitchFamily="34" charset="-122"/>
                  <a:cs typeface="Calibri" pitchFamily="34" charset="-120"/>
                </a:rPr>
                <a:t>When users claim expertise ("As a doctor..."), models become overly deferential even when user makes incorrect statements</a:t>
              </a:r>
            </a:p>
            <a:p>
              <a:pPr marL="0" indent="0">
                <a:buNone/>
              </a:pP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High-Stakes Domains: </a:t>
              </a:r>
              <a:r>
                <a:rPr lang="en-US" sz="1600" dirty="0">
                  <a:solidFill>
                    <a:srgbClr val="2D3436"/>
                  </a:solidFill>
                  <a:latin typeface="Helvetica Neue Light"/>
                  <a:ea typeface="Calibri" pitchFamily="34" charset="-122"/>
                  <a:cs typeface="Calibri" pitchFamily="34" charset="-120"/>
                </a:rPr>
                <a:t>In medical, legal, or financial contexts, sycophantic AI could affirm dangerous decisions instead of providing necessary pushback</a:t>
              </a:r>
              <a:endParaRPr lang="en-US" sz="1600" dirty="0">
                <a:latin typeface="Helvetica Neue Light"/>
              </a:endParaRPr>
            </a:p>
          </p:txBody>
        </p:sp>
        <p:sp>
          <p:nvSpPr>
            <p:cNvPr id="10" name="Shape 7">
              <a:extLst>
                <a:ext uri="{FF2B5EF4-FFF2-40B4-BE49-F238E27FC236}">
                  <a16:creationId xmlns:a16="http://schemas.microsoft.com/office/drawing/2014/main" id="{A674A786-4611-D53C-93AF-CE2690576B05}"/>
                </a:ext>
              </a:extLst>
            </p:cNvPr>
            <p:cNvSpPr/>
            <p:nvPr/>
          </p:nvSpPr>
          <p:spPr>
            <a:xfrm>
              <a:off x="4663440" y="1234440"/>
              <a:ext cx="4023360" cy="1828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203C8264-0872-9661-D063-05964A35482E}"/>
                </a:ext>
              </a:extLst>
            </p:cNvPr>
            <p:cNvSpPr/>
            <p:nvPr/>
          </p:nvSpPr>
          <p:spPr>
            <a:xfrm>
              <a:off x="4663440" y="1234440"/>
              <a:ext cx="54864" cy="1828800"/>
            </a:xfrm>
            <a:prstGeom prst="rect">
              <a:avLst/>
            </a:prstGeom>
            <a:solidFill>
              <a:srgbClr val="1C7293"/>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1ADCE44D-A2EC-1DC0-A91F-92F55EFC1751}"/>
                </a:ext>
              </a:extLst>
            </p:cNvPr>
            <p:cNvSpPr/>
            <p:nvPr/>
          </p:nvSpPr>
          <p:spPr>
            <a:xfrm>
              <a:off x="489204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Mitigations</a:t>
              </a:r>
              <a:endParaRPr lang="en-US" sz="2000" dirty="0">
                <a:latin typeface="Helvetica Neue Light"/>
              </a:endParaRPr>
            </a:p>
          </p:txBody>
        </p:sp>
        <p:sp>
          <p:nvSpPr>
            <p:cNvPr id="13" name="Text 10">
              <a:extLst>
                <a:ext uri="{FF2B5EF4-FFF2-40B4-BE49-F238E27FC236}">
                  <a16:creationId xmlns:a16="http://schemas.microsoft.com/office/drawing/2014/main" id="{9DBB8245-049D-AE94-2209-A80550ACB1F9}"/>
                </a:ext>
              </a:extLst>
            </p:cNvPr>
            <p:cNvSpPr/>
            <p:nvPr/>
          </p:nvSpPr>
          <p:spPr>
            <a:xfrm>
              <a:off x="4892040" y="1600200"/>
              <a:ext cx="3657600" cy="1371600"/>
            </a:xfrm>
            <a:prstGeom prst="rect">
              <a:avLst/>
            </a:prstGeom>
            <a:noFill/>
            <a:ln/>
          </p:spPr>
          <p:txBody>
            <a:bodyPr wrap="square" rtlCol="0" anchor="t"/>
            <a:lstStyle/>
            <a:p>
              <a:pPr marL="0" indent="0">
                <a:buNone/>
              </a:pPr>
              <a:r>
                <a:rPr lang="en-US" sz="1600" b="1" dirty="0">
                  <a:solidFill>
                    <a:srgbClr val="2D3436"/>
                  </a:solidFill>
                  <a:latin typeface="Helvetica Neue Light"/>
                  <a:ea typeface="Calibri" pitchFamily="34" charset="-122"/>
                  <a:cs typeface="Calibri" pitchFamily="34" charset="-120"/>
                </a:rPr>
                <a:t>Adversarial Training: </a:t>
              </a:r>
              <a:r>
                <a:rPr lang="en-US" sz="1600" dirty="0">
                  <a:solidFill>
                    <a:srgbClr val="2D3436"/>
                  </a:solidFill>
                  <a:latin typeface="Helvetica Neue Light"/>
                  <a:ea typeface="Calibri" pitchFamily="34" charset="-122"/>
                  <a:cs typeface="Calibri" pitchFamily="34" charset="-120"/>
                </a:rPr>
                <a:t>Deliberately training models to resist agreeing with obviously false statements</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Constitutional AI: </a:t>
              </a:r>
              <a:r>
                <a:rPr lang="en-US" sz="1600" dirty="0">
                  <a:solidFill>
                    <a:srgbClr val="2D3436"/>
                  </a:solidFill>
                  <a:latin typeface="Helvetica Neue Light"/>
                  <a:ea typeface="Calibri" pitchFamily="34" charset="-122"/>
                  <a:cs typeface="Calibri" pitchFamily="34" charset="-120"/>
                </a:rPr>
                <a:t>Training models with explicit principles like "be helpful but also truthful" and "prioritize accuracy over agreeability"</a:t>
              </a:r>
              <a:endParaRPr lang="en-US" sz="1600" dirty="0">
                <a:latin typeface="Helvetica Neue Light"/>
              </a:endParaRPr>
            </a:p>
          </p:txBody>
        </p:sp>
        <p:sp>
          <p:nvSpPr>
            <p:cNvPr id="14" name="Shape 11">
              <a:extLst>
                <a:ext uri="{FF2B5EF4-FFF2-40B4-BE49-F238E27FC236}">
                  <a16:creationId xmlns:a16="http://schemas.microsoft.com/office/drawing/2014/main" id="{2113368A-9D65-508A-A8BB-DA09DEC810B1}"/>
                </a:ext>
              </a:extLst>
            </p:cNvPr>
            <p:cNvSpPr/>
            <p:nvPr/>
          </p:nvSpPr>
          <p:spPr>
            <a:xfrm>
              <a:off x="457200" y="3246120"/>
              <a:ext cx="8229600" cy="502920"/>
            </a:xfrm>
            <a:prstGeom prst="rect">
              <a:avLst/>
            </a:prstGeom>
            <a:solidFill>
              <a:srgbClr val="21295C"/>
            </a:solidFill>
            <a:ln/>
          </p:spPr>
          <p:txBody>
            <a:bodyPr/>
            <a:lstStyle/>
            <a:p>
              <a:endParaRPr lang="en-US" sz="3200">
                <a:latin typeface="Helvetica Neue Light"/>
              </a:endParaRPr>
            </a:p>
          </p:txBody>
        </p:sp>
        <p:sp>
          <p:nvSpPr>
            <p:cNvPr id="15" name="Text 12">
              <a:extLst>
                <a:ext uri="{FF2B5EF4-FFF2-40B4-BE49-F238E27FC236}">
                  <a16:creationId xmlns:a16="http://schemas.microsoft.com/office/drawing/2014/main" id="{F2EA3061-E50E-40E7-6F21-8D2E51AE4140}"/>
                </a:ext>
              </a:extLst>
            </p:cNvPr>
            <p:cNvSpPr/>
            <p:nvPr/>
          </p:nvSpPr>
          <p:spPr>
            <a:xfrm>
              <a:off x="594360" y="3337560"/>
              <a:ext cx="7955280" cy="32004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Key Balance: </a:t>
              </a:r>
              <a:r>
                <a:rPr lang="en-US" dirty="0">
                  <a:solidFill>
                    <a:srgbClr val="FFFFFF"/>
                  </a:solidFill>
                  <a:latin typeface="Helvetica Neue Light"/>
                  <a:ea typeface="Calibri" pitchFamily="34" charset="-122"/>
                  <a:cs typeface="Calibri" pitchFamily="34" charset="-120"/>
                </a:rPr>
                <a:t>AI should be polite and helpful while maintaining accuracy — not choosing agreement over truth</a:t>
              </a:r>
              <a:endParaRPr lang="en-US" dirty="0">
                <a:latin typeface="Helvetica Neue Light"/>
              </a:endParaRPr>
            </a:p>
          </p:txBody>
        </p:sp>
      </p:grpSp>
    </p:spTree>
    <p:extLst>
      <p:ext uri="{BB962C8B-B14F-4D97-AF65-F5344CB8AC3E}">
        <p14:creationId xmlns:p14="http://schemas.microsoft.com/office/powerpoint/2010/main" val="14642256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BDFFB-09B2-8E59-89D9-6218E6CE2D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4736172-7DC0-D228-7C59-2AF9257E8D34}"/>
              </a:ext>
            </a:extLst>
          </p:cNvPr>
          <p:cNvSpPr>
            <a:spLocks noGrp="1"/>
          </p:cNvSpPr>
          <p:nvPr>
            <p:ph type="title"/>
          </p:nvPr>
        </p:nvSpPr>
        <p:spPr>
          <a:xfrm>
            <a:off x="623888" y="3471536"/>
            <a:ext cx="8232436" cy="1090940"/>
          </a:xfrm>
        </p:spPr>
        <p:txBody>
          <a:bodyPr/>
          <a:lstStyle/>
          <a:p>
            <a:r>
              <a:rPr lang="en-US" sz="3200" i="1" dirty="0"/>
              <a:t>Part 13</a:t>
            </a:r>
            <a:br>
              <a:rPr lang="en-US" sz="4000" dirty="0"/>
            </a:br>
            <a:r>
              <a:rPr lang="en-US" sz="4000" dirty="0"/>
              <a:t>	Model Context Protocol (MCP)</a:t>
            </a:r>
          </a:p>
        </p:txBody>
      </p:sp>
      <p:sp>
        <p:nvSpPr>
          <p:cNvPr id="2" name="Text Placeholder 1">
            <a:extLst>
              <a:ext uri="{FF2B5EF4-FFF2-40B4-BE49-F238E27FC236}">
                <a16:creationId xmlns:a16="http://schemas.microsoft.com/office/drawing/2014/main" id="{F9399718-3540-A220-2720-BBD7148BD4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19D8EF-C532-E291-9A90-FB273AE0E7B0}"/>
              </a:ext>
            </a:extLst>
          </p:cNvPr>
          <p:cNvSpPr>
            <a:spLocks noGrp="1"/>
          </p:cNvSpPr>
          <p:nvPr>
            <p:ph type="sldNum" sz="quarter" idx="12"/>
          </p:nvPr>
        </p:nvSpPr>
        <p:spPr/>
        <p:txBody>
          <a:bodyPr/>
          <a:lstStyle/>
          <a:p>
            <a:fld id="{21EF4C0E-91FA-4D94-8941-E22F3A83D5F1}" type="slidenum">
              <a:rPr lang="en-US" smtClean="0"/>
              <a:t>70</a:t>
            </a:fld>
            <a:endParaRPr lang="en-US"/>
          </a:p>
        </p:txBody>
      </p:sp>
    </p:spTree>
    <p:extLst>
      <p:ext uri="{BB962C8B-B14F-4D97-AF65-F5344CB8AC3E}">
        <p14:creationId xmlns:p14="http://schemas.microsoft.com/office/powerpoint/2010/main" val="36757802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70EE1-589D-1FED-30B7-D92E9DB17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25F4F-454F-4A19-47A6-25B0507040CC}"/>
              </a:ext>
            </a:extLst>
          </p:cNvPr>
          <p:cNvSpPr>
            <a:spLocks noGrp="1"/>
          </p:cNvSpPr>
          <p:nvPr>
            <p:ph type="title"/>
          </p:nvPr>
        </p:nvSpPr>
        <p:spPr>
          <a:xfrm>
            <a:off x="457200" y="424791"/>
            <a:ext cx="8686800" cy="610919"/>
          </a:xfrm>
        </p:spPr>
        <p:txBody>
          <a:bodyPr/>
          <a:lstStyle/>
          <a:p>
            <a:r>
              <a:rPr lang="en-US" dirty="0"/>
              <a:t>Model Context Protocol (MCP) - Video (3:45)</a:t>
            </a:r>
          </a:p>
        </p:txBody>
      </p:sp>
      <p:sp>
        <p:nvSpPr>
          <p:cNvPr id="5" name="Slide Number Placeholder 4">
            <a:extLst>
              <a:ext uri="{FF2B5EF4-FFF2-40B4-BE49-F238E27FC236}">
                <a16:creationId xmlns:a16="http://schemas.microsoft.com/office/drawing/2014/main" id="{F236984D-239E-E08E-3B02-62E92D53974C}"/>
              </a:ext>
            </a:extLst>
          </p:cNvPr>
          <p:cNvSpPr>
            <a:spLocks noGrp="1"/>
          </p:cNvSpPr>
          <p:nvPr>
            <p:ph type="sldNum" sz="quarter" idx="12"/>
          </p:nvPr>
        </p:nvSpPr>
        <p:spPr/>
        <p:txBody>
          <a:bodyPr/>
          <a:lstStyle/>
          <a:p>
            <a:fld id="{21EF4C0E-91FA-4D94-8941-E22F3A83D5F1}" type="slidenum">
              <a:rPr lang="en-US" smtClean="0"/>
              <a:t>71</a:t>
            </a:fld>
            <a:endParaRPr lang="en-US"/>
          </a:p>
        </p:txBody>
      </p:sp>
      <p:sp>
        <p:nvSpPr>
          <p:cNvPr id="9" name="TextBox 8">
            <a:extLst>
              <a:ext uri="{FF2B5EF4-FFF2-40B4-BE49-F238E27FC236}">
                <a16:creationId xmlns:a16="http://schemas.microsoft.com/office/drawing/2014/main" id="{12C10A61-4AE1-54D7-EBA9-F23D121F289D}"/>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https://www.youtube.com/watch?v=eur8dUO9mvE</a:t>
            </a:r>
          </a:p>
        </p:txBody>
      </p:sp>
      <p:pic>
        <p:nvPicPr>
          <p:cNvPr id="4" name="Online Media 3" title="What is MCP? Integrate AI Agents with Databases &amp; APIs">
            <a:hlinkClick r:id="" action="ppaction://media"/>
            <a:extLst>
              <a:ext uri="{FF2B5EF4-FFF2-40B4-BE49-F238E27FC236}">
                <a16:creationId xmlns:a16="http://schemas.microsoft.com/office/drawing/2014/main" id="{1500A9BA-4AE9-0476-C651-50A50B3C7B21}"/>
              </a:ext>
            </a:extLst>
          </p:cNvPr>
          <p:cNvPicPr>
            <a:picLocks noRot="1" noChangeAspect="1"/>
          </p:cNvPicPr>
          <p:nvPr>
            <a:videoFile r:link="rId1"/>
          </p:nvPr>
        </p:nvPicPr>
        <p:blipFill>
          <a:blip r:embed="rId3"/>
          <a:stretch>
            <a:fillRect/>
          </a:stretch>
        </p:blipFill>
        <p:spPr>
          <a:xfrm>
            <a:off x="457200" y="1751546"/>
            <a:ext cx="8397923" cy="4741328"/>
          </a:xfrm>
          <a:prstGeom prst="rect">
            <a:avLst/>
          </a:prstGeom>
        </p:spPr>
      </p:pic>
      <p:sp>
        <p:nvSpPr>
          <p:cNvPr id="6" name="TextBox 5">
            <a:extLst>
              <a:ext uri="{FF2B5EF4-FFF2-40B4-BE49-F238E27FC236}">
                <a16:creationId xmlns:a16="http://schemas.microsoft.com/office/drawing/2014/main" id="{31B3C2BD-17D8-6EA8-4057-BD278123F270}"/>
              </a:ext>
            </a:extLst>
          </p:cNvPr>
          <p:cNvSpPr txBox="1"/>
          <p:nvPr/>
        </p:nvSpPr>
        <p:spPr>
          <a:xfrm>
            <a:off x="372439" y="1232532"/>
            <a:ext cx="6090006" cy="369332"/>
          </a:xfrm>
          <a:prstGeom prst="rect">
            <a:avLst/>
          </a:prstGeom>
          <a:noFill/>
        </p:spPr>
        <p:txBody>
          <a:bodyPr wrap="square">
            <a:spAutoFit/>
          </a:bodyPr>
          <a:lstStyle/>
          <a:p>
            <a:pPr marL="0" indent="0">
              <a:buNone/>
            </a:pPr>
            <a:r>
              <a:rPr lang="en-US" sz="1800" i="1" dirty="0">
                <a:solidFill>
                  <a:srgbClr val="E8F4F8"/>
                </a:solidFill>
                <a:latin typeface="Helvetica Neue Light"/>
                <a:ea typeface="Calibri" pitchFamily="34" charset="-122"/>
                <a:cs typeface="Calibri" pitchFamily="34" charset="-120"/>
              </a:rPr>
              <a:t>The universal standard for AI-tool connections</a:t>
            </a:r>
            <a:endParaRPr lang="en-US" sz="1800" dirty="0">
              <a:latin typeface="Helvetica Neue Light"/>
            </a:endParaRPr>
          </a:p>
        </p:txBody>
      </p:sp>
    </p:spTree>
    <p:extLst>
      <p:ext uri="{BB962C8B-B14F-4D97-AF65-F5344CB8AC3E}">
        <p14:creationId xmlns:p14="http://schemas.microsoft.com/office/powerpoint/2010/main" val="54019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E2F4D4FD-7CFE-3FF5-EA8C-83752A77B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7CF2F-80A8-3C2B-4722-30D3095C18C3}"/>
              </a:ext>
            </a:extLst>
          </p:cNvPr>
          <p:cNvSpPr>
            <a:spLocks noGrp="1"/>
          </p:cNvSpPr>
          <p:nvPr>
            <p:ph type="title"/>
          </p:nvPr>
        </p:nvSpPr>
        <p:spPr>
          <a:xfrm>
            <a:off x="457200" y="365126"/>
            <a:ext cx="8532688" cy="536622"/>
          </a:xfrm>
        </p:spPr>
        <p:txBody>
          <a:bodyPr/>
          <a:lstStyle/>
          <a:p>
            <a:r>
              <a:rPr lang="en-US" sz="3200" dirty="0"/>
              <a:t>Standardizing How AI Connects to External Tools</a:t>
            </a:r>
          </a:p>
        </p:txBody>
      </p:sp>
      <p:sp>
        <p:nvSpPr>
          <p:cNvPr id="5" name="Slide Number Placeholder 4">
            <a:extLst>
              <a:ext uri="{FF2B5EF4-FFF2-40B4-BE49-F238E27FC236}">
                <a16:creationId xmlns:a16="http://schemas.microsoft.com/office/drawing/2014/main" id="{4EB38588-3855-9D96-B6B1-7F440F5A5693}"/>
              </a:ext>
            </a:extLst>
          </p:cNvPr>
          <p:cNvSpPr>
            <a:spLocks noGrp="1"/>
          </p:cNvSpPr>
          <p:nvPr>
            <p:ph type="sldNum" sz="quarter" idx="12"/>
          </p:nvPr>
        </p:nvSpPr>
        <p:spPr/>
        <p:txBody>
          <a:bodyPr/>
          <a:lstStyle/>
          <a:p>
            <a:fld id="{21EF4C0E-91FA-4D94-8941-E22F3A83D5F1}" type="slidenum">
              <a:rPr lang="en-US" smtClean="0"/>
              <a:t>72</a:t>
            </a:fld>
            <a:endParaRPr lang="en-US"/>
          </a:p>
        </p:txBody>
      </p:sp>
      <p:sp>
        <p:nvSpPr>
          <p:cNvPr id="6" name="TextBox 5">
            <a:extLst>
              <a:ext uri="{FF2B5EF4-FFF2-40B4-BE49-F238E27FC236}">
                <a16:creationId xmlns:a16="http://schemas.microsoft.com/office/drawing/2014/main" id="{64ADE0C8-AC1A-B7BD-7FB8-1AEA184D17CD}"/>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9F21D134-C6B9-80D9-D8CF-80A5E70614F5}"/>
              </a:ext>
            </a:extLst>
          </p:cNvPr>
          <p:cNvGrpSpPr/>
          <p:nvPr/>
        </p:nvGrpSpPr>
        <p:grpSpPr>
          <a:xfrm>
            <a:off x="457200" y="1234439"/>
            <a:ext cx="8686800" cy="4293057"/>
            <a:chOff x="457200" y="1234440"/>
            <a:chExt cx="8503920" cy="3063240"/>
          </a:xfrm>
        </p:grpSpPr>
        <p:sp>
          <p:nvSpPr>
            <p:cNvPr id="4" name="Shape 3">
              <a:extLst>
                <a:ext uri="{FF2B5EF4-FFF2-40B4-BE49-F238E27FC236}">
                  <a16:creationId xmlns:a16="http://schemas.microsoft.com/office/drawing/2014/main" id="{773571FC-1FC4-E51A-8792-00137C217241}"/>
                </a:ext>
              </a:extLst>
            </p:cNvPr>
            <p:cNvSpPr/>
            <p:nvPr/>
          </p:nvSpPr>
          <p:spPr>
            <a:xfrm>
              <a:off x="457200" y="1234440"/>
              <a:ext cx="8449056"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5401AD8D-7705-261C-09B1-37BF43B5853F}"/>
                </a:ext>
              </a:extLst>
            </p:cNvPr>
            <p:cNvSpPr/>
            <p:nvPr/>
          </p:nvSpPr>
          <p:spPr>
            <a:xfrm>
              <a:off x="457200" y="1234440"/>
              <a:ext cx="54864" cy="77724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533F915E-EA55-AB49-D92E-589F80FD9ABC}"/>
                </a:ext>
              </a:extLst>
            </p:cNvPr>
            <p:cNvSpPr/>
            <p:nvPr/>
          </p:nvSpPr>
          <p:spPr>
            <a:xfrm>
              <a:off x="685800" y="1325880"/>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Core Purpose:</a:t>
              </a:r>
              <a:endParaRPr lang="en-US" sz="2000" dirty="0">
                <a:latin typeface="Helvetica Neue Light"/>
              </a:endParaRPr>
            </a:p>
          </p:txBody>
        </p:sp>
        <p:sp>
          <p:nvSpPr>
            <p:cNvPr id="9" name="Text 6">
              <a:extLst>
                <a:ext uri="{FF2B5EF4-FFF2-40B4-BE49-F238E27FC236}">
                  <a16:creationId xmlns:a16="http://schemas.microsoft.com/office/drawing/2014/main" id="{DBDC7C51-4948-12E1-B63B-56949DF8D847}"/>
                </a:ext>
              </a:extLst>
            </p:cNvPr>
            <p:cNvSpPr/>
            <p:nvPr/>
          </p:nvSpPr>
          <p:spPr>
            <a:xfrm>
              <a:off x="685800" y="1554480"/>
              <a:ext cx="8124453"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MCP is an open standard that lets AI assistants connect to any data source or tool through a universal protocol — like USB for AI connections.</a:t>
              </a:r>
              <a:endParaRPr lang="en-US" dirty="0">
                <a:latin typeface="Helvetica Neue Light"/>
              </a:endParaRPr>
            </a:p>
          </p:txBody>
        </p:sp>
        <p:sp>
          <p:nvSpPr>
            <p:cNvPr id="10" name="Shape 7">
              <a:extLst>
                <a:ext uri="{FF2B5EF4-FFF2-40B4-BE49-F238E27FC236}">
                  <a16:creationId xmlns:a16="http://schemas.microsoft.com/office/drawing/2014/main" id="{EF4EABAB-5391-ED99-5F75-0983C0FEAA58}"/>
                </a:ext>
              </a:extLst>
            </p:cNvPr>
            <p:cNvSpPr/>
            <p:nvPr/>
          </p:nvSpPr>
          <p:spPr>
            <a:xfrm>
              <a:off x="457200" y="2148840"/>
              <a:ext cx="8449056"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67726508-92A0-6E14-A86F-2456F91E68DF}"/>
                </a:ext>
              </a:extLst>
            </p:cNvPr>
            <p:cNvSpPr/>
            <p:nvPr/>
          </p:nvSpPr>
          <p:spPr>
            <a:xfrm>
              <a:off x="457200" y="2148840"/>
              <a:ext cx="54864" cy="777240"/>
            </a:xfrm>
            <a:prstGeom prst="rect">
              <a:avLst/>
            </a:prstGeom>
            <a:solidFill>
              <a:srgbClr val="1C7293"/>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2A01694D-A5E7-C9E8-C1AF-B9F8D8C9D3E6}"/>
                </a:ext>
              </a:extLst>
            </p:cNvPr>
            <p:cNvSpPr/>
            <p:nvPr/>
          </p:nvSpPr>
          <p:spPr>
            <a:xfrm>
              <a:off x="685800" y="2240280"/>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The Problem It Solves:</a:t>
              </a:r>
              <a:endParaRPr lang="en-US" sz="2000" dirty="0">
                <a:latin typeface="Helvetica Neue Light"/>
              </a:endParaRPr>
            </a:p>
          </p:txBody>
        </p:sp>
        <p:sp>
          <p:nvSpPr>
            <p:cNvPr id="13" name="Text 10">
              <a:extLst>
                <a:ext uri="{FF2B5EF4-FFF2-40B4-BE49-F238E27FC236}">
                  <a16:creationId xmlns:a16="http://schemas.microsoft.com/office/drawing/2014/main" id="{1F53C1D1-98BF-DF66-33C8-28BED14B1AF6}"/>
                </a:ext>
              </a:extLst>
            </p:cNvPr>
            <p:cNvSpPr/>
            <p:nvPr/>
          </p:nvSpPr>
          <p:spPr>
            <a:xfrm>
              <a:off x="685800" y="2468880"/>
              <a:ext cx="8124453"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Introduced by Anthropic in November 2024, before MCP, each AI-tool integration was custom-built.</a:t>
              </a:r>
              <a:endParaRPr lang="en-US" dirty="0">
                <a:latin typeface="Helvetica Neue Light"/>
              </a:endParaRPr>
            </a:p>
          </p:txBody>
        </p:sp>
        <p:sp>
          <p:nvSpPr>
            <p:cNvPr id="14" name="Text 11">
              <a:extLst>
                <a:ext uri="{FF2B5EF4-FFF2-40B4-BE49-F238E27FC236}">
                  <a16:creationId xmlns:a16="http://schemas.microsoft.com/office/drawing/2014/main" id="{BBDA6ECD-F730-58DF-6720-3843FB531150}"/>
                </a:ext>
              </a:extLst>
            </p:cNvPr>
            <p:cNvSpPr/>
            <p:nvPr/>
          </p:nvSpPr>
          <p:spPr>
            <a:xfrm>
              <a:off x="457200" y="3108960"/>
              <a:ext cx="8229600" cy="320040"/>
            </a:xfrm>
            <a:prstGeom prst="rect">
              <a:avLst/>
            </a:prstGeom>
            <a:noFill/>
            <a:ln/>
          </p:spPr>
          <p:txBody>
            <a:bodyPr wrap="square" rtlCol="0" anchor="ctr"/>
            <a:lstStyle/>
            <a:p>
              <a:pPr marL="0" indent="0">
                <a:buNone/>
              </a:pPr>
              <a:r>
                <a:rPr lang="en-US" sz="2400" b="1" dirty="0">
                  <a:solidFill>
                    <a:srgbClr val="065A82"/>
                  </a:solidFill>
                  <a:latin typeface="Helvetica Neue Light"/>
                  <a:ea typeface="Georgia" pitchFamily="34" charset="-122"/>
                  <a:cs typeface="Georgia" pitchFamily="34" charset="-120"/>
                </a:rPr>
                <a:t>How It Works:</a:t>
              </a:r>
              <a:endParaRPr lang="en-US" sz="2400" dirty="0">
                <a:latin typeface="Helvetica Neue Light"/>
              </a:endParaRPr>
            </a:p>
          </p:txBody>
        </p:sp>
        <p:sp>
          <p:nvSpPr>
            <p:cNvPr id="15" name="Shape 12">
              <a:extLst>
                <a:ext uri="{FF2B5EF4-FFF2-40B4-BE49-F238E27FC236}">
                  <a16:creationId xmlns:a16="http://schemas.microsoft.com/office/drawing/2014/main" id="{EDB2BA12-C7CB-AE94-F2D9-58FE0BE205BA}"/>
                </a:ext>
              </a:extLst>
            </p:cNvPr>
            <p:cNvSpPr/>
            <p:nvPr/>
          </p:nvSpPr>
          <p:spPr>
            <a:xfrm>
              <a:off x="457201" y="3474720"/>
              <a:ext cx="2651759" cy="8229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6" name="Shape 13">
              <a:extLst>
                <a:ext uri="{FF2B5EF4-FFF2-40B4-BE49-F238E27FC236}">
                  <a16:creationId xmlns:a16="http://schemas.microsoft.com/office/drawing/2014/main" id="{6C0E7A1E-CC00-36BE-4A23-5EE894FB50A7}"/>
                </a:ext>
              </a:extLst>
            </p:cNvPr>
            <p:cNvSpPr/>
            <p:nvPr/>
          </p:nvSpPr>
          <p:spPr>
            <a:xfrm>
              <a:off x="457200" y="3474720"/>
              <a:ext cx="54864" cy="822960"/>
            </a:xfrm>
            <a:prstGeom prst="rect">
              <a:avLst/>
            </a:prstGeom>
            <a:solidFill>
              <a:srgbClr val="1C7293"/>
            </a:solidFill>
            <a:ln/>
          </p:spPr>
          <p:txBody>
            <a:bodyPr/>
            <a:lstStyle/>
            <a:p>
              <a:endParaRPr lang="en-US" sz="3200">
                <a:latin typeface="Helvetica Neue Light"/>
              </a:endParaRPr>
            </a:p>
          </p:txBody>
        </p:sp>
        <p:sp>
          <p:nvSpPr>
            <p:cNvPr id="17" name="Text 14">
              <a:extLst>
                <a:ext uri="{FF2B5EF4-FFF2-40B4-BE49-F238E27FC236}">
                  <a16:creationId xmlns:a16="http://schemas.microsoft.com/office/drawing/2014/main" id="{A206C678-2755-ADF4-015F-F671996B7116}"/>
                </a:ext>
              </a:extLst>
            </p:cNvPr>
            <p:cNvSpPr/>
            <p:nvPr/>
          </p:nvSpPr>
          <p:spPr>
            <a:xfrm>
              <a:off x="685800" y="3520441"/>
              <a:ext cx="22860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Servers</a:t>
              </a:r>
              <a:endParaRPr lang="en-US" dirty="0">
                <a:latin typeface="Helvetica Neue Light"/>
              </a:endParaRPr>
            </a:p>
          </p:txBody>
        </p:sp>
        <p:sp>
          <p:nvSpPr>
            <p:cNvPr id="18" name="Text 15">
              <a:extLst>
                <a:ext uri="{FF2B5EF4-FFF2-40B4-BE49-F238E27FC236}">
                  <a16:creationId xmlns:a16="http://schemas.microsoft.com/office/drawing/2014/main" id="{A7D1BFEC-E9A0-E5D2-FC48-9F8D98ECC458}"/>
                </a:ext>
              </a:extLst>
            </p:cNvPr>
            <p:cNvSpPr/>
            <p:nvPr/>
          </p:nvSpPr>
          <p:spPr>
            <a:xfrm>
              <a:off x="685800" y="3794760"/>
              <a:ext cx="2423160" cy="4114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Applications expose "servers" that provide data/tools</a:t>
              </a:r>
              <a:endParaRPr lang="en-US" sz="1600" dirty="0">
                <a:latin typeface="Helvetica Neue Light"/>
              </a:endParaRPr>
            </a:p>
          </p:txBody>
        </p:sp>
        <p:sp>
          <p:nvSpPr>
            <p:cNvPr id="19" name="Shape 16">
              <a:extLst>
                <a:ext uri="{FF2B5EF4-FFF2-40B4-BE49-F238E27FC236}">
                  <a16:creationId xmlns:a16="http://schemas.microsoft.com/office/drawing/2014/main" id="{BB652EAA-CCD6-76C8-23AE-7998BE608612}"/>
                </a:ext>
              </a:extLst>
            </p:cNvPr>
            <p:cNvSpPr/>
            <p:nvPr/>
          </p:nvSpPr>
          <p:spPr>
            <a:xfrm>
              <a:off x="3383280" y="3474720"/>
              <a:ext cx="2651760" cy="8229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20" name="Shape 17">
              <a:extLst>
                <a:ext uri="{FF2B5EF4-FFF2-40B4-BE49-F238E27FC236}">
                  <a16:creationId xmlns:a16="http://schemas.microsoft.com/office/drawing/2014/main" id="{7229FAFF-7B7D-A9A6-26CB-8CA925376FE5}"/>
                </a:ext>
              </a:extLst>
            </p:cNvPr>
            <p:cNvSpPr/>
            <p:nvPr/>
          </p:nvSpPr>
          <p:spPr>
            <a:xfrm>
              <a:off x="3383280" y="3474720"/>
              <a:ext cx="54864" cy="822960"/>
            </a:xfrm>
            <a:prstGeom prst="rect">
              <a:avLst/>
            </a:prstGeom>
            <a:solidFill>
              <a:srgbClr val="E07A5F"/>
            </a:solidFill>
            <a:ln/>
          </p:spPr>
          <p:txBody>
            <a:bodyPr/>
            <a:lstStyle/>
            <a:p>
              <a:endParaRPr lang="en-US" sz="3200">
                <a:latin typeface="Helvetica Neue Light"/>
              </a:endParaRPr>
            </a:p>
          </p:txBody>
        </p:sp>
        <p:sp>
          <p:nvSpPr>
            <p:cNvPr id="21" name="Text 18">
              <a:extLst>
                <a:ext uri="{FF2B5EF4-FFF2-40B4-BE49-F238E27FC236}">
                  <a16:creationId xmlns:a16="http://schemas.microsoft.com/office/drawing/2014/main" id="{21460E4C-A86E-6815-F2B6-4DE6BEBA34B7}"/>
                </a:ext>
              </a:extLst>
            </p:cNvPr>
            <p:cNvSpPr/>
            <p:nvPr/>
          </p:nvSpPr>
          <p:spPr>
            <a:xfrm>
              <a:off x="3611880" y="3520441"/>
              <a:ext cx="22860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Clients</a:t>
              </a:r>
              <a:endParaRPr lang="en-US" dirty="0">
                <a:latin typeface="Helvetica Neue Light"/>
              </a:endParaRPr>
            </a:p>
          </p:txBody>
        </p:sp>
        <p:sp>
          <p:nvSpPr>
            <p:cNvPr id="22" name="Text 19">
              <a:extLst>
                <a:ext uri="{FF2B5EF4-FFF2-40B4-BE49-F238E27FC236}">
                  <a16:creationId xmlns:a16="http://schemas.microsoft.com/office/drawing/2014/main" id="{DFCB8CA8-9C2B-DA6C-BF26-B28E02E72F0D}"/>
                </a:ext>
              </a:extLst>
            </p:cNvPr>
            <p:cNvSpPr/>
            <p:nvPr/>
          </p:nvSpPr>
          <p:spPr>
            <a:xfrm>
              <a:off x="3611880" y="3794760"/>
              <a:ext cx="2389545" cy="4114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AI acts as "client" that requests information</a:t>
              </a:r>
              <a:endParaRPr lang="en-US" sz="1600" dirty="0">
                <a:latin typeface="Helvetica Neue Light"/>
              </a:endParaRPr>
            </a:p>
          </p:txBody>
        </p:sp>
        <p:sp>
          <p:nvSpPr>
            <p:cNvPr id="23" name="Shape 20">
              <a:extLst>
                <a:ext uri="{FF2B5EF4-FFF2-40B4-BE49-F238E27FC236}">
                  <a16:creationId xmlns:a16="http://schemas.microsoft.com/office/drawing/2014/main" id="{FC4D8E3C-3E93-B252-904A-7B3A5A1FFCCE}"/>
                </a:ext>
              </a:extLst>
            </p:cNvPr>
            <p:cNvSpPr/>
            <p:nvPr/>
          </p:nvSpPr>
          <p:spPr>
            <a:xfrm>
              <a:off x="6309360" y="3474720"/>
              <a:ext cx="2651760" cy="8229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24" name="Shape 21">
              <a:extLst>
                <a:ext uri="{FF2B5EF4-FFF2-40B4-BE49-F238E27FC236}">
                  <a16:creationId xmlns:a16="http://schemas.microsoft.com/office/drawing/2014/main" id="{CD66AFAE-8903-3E62-6FBE-7F70AAA33555}"/>
                </a:ext>
              </a:extLst>
            </p:cNvPr>
            <p:cNvSpPr/>
            <p:nvPr/>
          </p:nvSpPr>
          <p:spPr>
            <a:xfrm>
              <a:off x="6309360" y="3474720"/>
              <a:ext cx="54864" cy="822960"/>
            </a:xfrm>
            <a:prstGeom prst="rect">
              <a:avLst/>
            </a:prstGeom>
            <a:solidFill>
              <a:srgbClr val="84B59F"/>
            </a:solidFill>
            <a:ln/>
          </p:spPr>
          <p:txBody>
            <a:bodyPr/>
            <a:lstStyle/>
            <a:p>
              <a:endParaRPr lang="en-US" sz="3200">
                <a:latin typeface="Helvetica Neue Light"/>
              </a:endParaRPr>
            </a:p>
          </p:txBody>
        </p:sp>
        <p:sp>
          <p:nvSpPr>
            <p:cNvPr id="25" name="Text 22">
              <a:extLst>
                <a:ext uri="{FF2B5EF4-FFF2-40B4-BE49-F238E27FC236}">
                  <a16:creationId xmlns:a16="http://schemas.microsoft.com/office/drawing/2014/main" id="{00C5CB76-F868-661A-7C55-E83A1B933592}"/>
                </a:ext>
              </a:extLst>
            </p:cNvPr>
            <p:cNvSpPr/>
            <p:nvPr/>
          </p:nvSpPr>
          <p:spPr>
            <a:xfrm>
              <a:off x="6537960" y="3520441"/>
              <a:ext cx="22860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Protocol</a:t>
              </a:r>
              <a:endParaRPr lang="en-US" dirty="0">
                <a:latin typeface="Helvetica Neue Light"/>
              </a:endParaRPr>
            </a:p>
          </p:txBody>
        </p:sp>
        <p:sp>
          <p:nvSpPr>
            <p:cNvPr id="26" name="Text 23">
              <a:extLst>
                <a:ext uri="{FF2B5EF4-FFF2-40B4-BE49-F238E27FC236}">
                  <a16:creationId xmlns:a16="http://schemas.microsoft.com/office/drawing/2014/main" id="{484F45D1-5D6C-528D-9710-1138141B057C}"/>
                </a:ext>
              </a:extLst>
            </p:cNvPr>
            <p:cNvSpPr/>
            <p:nvPr/>
          </p:nvSpPr>
          <p:spPr>
            <a:xfrm>
              <a:off x="6537960" y="3794760"/>
              <a:ext cx="2389545" cy="41148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MCP defines communication rules between them</a:t>
              </a:r>
              <a:endParaRPr lang="en-US" sz="1600" dirty="0">
                <a:latin typeface="Helvetica Neue Light"/>
              </a:endParaRPr>
            </a:p>
          </p:txBody>
        </p:sp>
      </p:grpSp>
      <p:sp>
        <p:nvSpPr>
          <p:cNvPr id="27" name="TextBox 26">
            <a:extLst>
              <a:ext uri="{FF2B5EF4-FFF2-40B4-BE49-F238E27FC236}">
                <a16:creationId xmlns:a16="http://schemas.microsoft.com/office/drawing/2014/main" id="{3527A799-A5EC-2C3E-BC84-148DC6FB629E}"/>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https://hoangndst.com/blog/model-context-protocol</a:t>
            </a:r>
          </a:p>
        </p:txBody>
      </p:sp>
      <p:pic>
        <p:nvPicPr>
          <p:cNvPr id="2051" name="Picture 3" descr="Model Context Protocol Diagram">
            <a:extLst>
              <a:ext uri="{FF2B5EF4-FFF2-40B4-BE49-F238E27FC236}">
                <a16:creationId xmlns:a16="http://schemas.microsoft.com/office/drawing/2014/main" id="{DD421D44-51CB-35C4-7C4B-AB2C597C1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403" y="3636359"/>
            <a:ext cx="5766361" cy="307734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20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fade">
                                      <p:cBhvr>
                                        <p:cTn id="7"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1F815315-D592-DEF1-5B9C-1E4FE7DEACD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DDC92DFB-DC6E-653C-0FB9-40158807435A}"/>
              </a:ext>
            </a:extLst>
          </p:cNvPr>
          <p:cNvSpPr/>
          <p:nvPr/>
        </p:nvSpPr>
        <p:spPr>
          <a:xfrm>
            <a:off x="457199" y="1318531"/>
            <a:ext cx="8604608" cy="45274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D0D9E7-A892-FF67-6ABD-15CA9D1B3B36}"/>
              </a:ext>
            </a:extLst>
          </p:cNvPr>
          <p:cNvSpPr>
            <a:spLocks noGrp="1"/>
          </p:cNvSpPr>
          <p:nvPr>
            <p:ph type="title"/>
          </p:nvPr>
        </p:nvSpPr>
        <p:spPr>
          <a:xfrm>
            <a:off x="457200" y="365126"/>
            <a:ext cx="8229600" cy="592213"/>
          </a:xfrm>
        </p:spPr>
        <p:txBody>
          <a:bodyPr/>
          <a:lstStyle/>
          <a:p>
            <a:r>
              <a:rPr lang="en-US" dirty="0"/>
              <a:t>Key Capabilities &amp; Benefits</a:t>
            </a:r>
          </a:p>
        </p:txBody>
      </p:sp>
      <p:sp>
        <p:nvSpPr>
          <p:cNvPr id="5" name="Slide Number Placeholder 4">
            <a:extLst>
              <a:ext uri="{FF2B5EF4-FFF2-40B4-BE49-F238E27FC236}">
                <a16:creationId xmlns:a16="http://schemas.microsoft.com/office/drawing/2014/main" id="{79AAF3BE-C8F0-3605-7629-685D6378C933}"/>
              </a:ext>
            </a:extLst>
          </p:cNvPr>
          <p:cNvSpPr>
            <a:spLocks noGrp="1"/>
          </p:cNvSpPr>
          <p:nvPr>
            <p:ph type="sldNum" sz="quarter" idx="12"/>
          </p:nvPr>
        </p:nvSpPr>
        <p:spPr/>
        <p:txBody>
          <a:bodyPr/>
          <a:lstStyle/>
          <a:p>
            <a:fld id="{21EF4C0E-91FA-4D94-8941-E22F3A83D5F1}" type="slidenum">
              <a:rPr lang="en-US" smtClean="0"/>
              <a:t>73</a:t>
            </a:fld>
            <a:endParaRPr lang="en-US"/>
          </a:p>
        </p:txBody>
      </p:sp>
      <p:sp>
        <p:nvSpPr>
          <p:cNvPr id="6" name="TextBox 5">
            <a:extLst>
              <a:ext uri="{FF2B5EF4-FFF2-40B4-BE49-F238E27FC236}">
                <a16:creationId xmlns:a16="http://schemas.microsoft.com/office/drawing/2014/main" id="{2EFFA01B-6A91-2BA3-85D6-23E4F1E778A5}"/>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3526A498-DB07-4006-8D8E-CBE74A4380BB}"/>
              </a:ext>
            </a:extLst>
          </p:cNvPr>
          <p:cNvGrpSpPr/>
          <p:nvPr/>
        </p:nvGrpSpPr>
        <p:grpSpPr>
          <a:xfrm>
            <a:off x="457199" y="1318531"/>
            <a:ext cx="8604608" cy="4321981"/>
            <a:chOff x="457200" y="1682591"/>
            <a:chExt cx="8229601" cy="2973780"/>
          </a:xfrm>
        </p:grpSpPr>
        <p:sp>
          <p:nvSpPr>
            <p:cNvPr id="4" name="Text 5">
              <a:extLst>
                <a:ext uri="{FF2B5EF4-FFF2-40B4-BE49-F238E27FC236}">
                  <a16:creationId xmlns:a16="http://schemas.microsoft.com/office/drawing/2014/main" id="{57859473-20CB-7482-7633-E9370AE6FB03}"/>
                </a:ext>
              </a:extLst>
            </p:cNvPr>
            <p:cNvSpPr/>
            <p:nvPr/>
          </p:nvSpPr>
          <p:spPr>
            <a:xfrm>
              <a:off x="457200" y="1783080"/>
              <a:ext cx="27432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Major Benefit - Interoperability:</a:t>
              </a:r>
              <a:endParaRPr lang="en-US" dirty="0">
                <a:latin typeface="Helvetica Neue Light"/>
              </a:endParaRPr>
            </a:p>
          </p:txBody>
        </p:sp>
        <p:sp>
          <p:nvSpPr>
            <p:cNvPr id="7" name="Text 6">
              <a:extLst>
                <a:ext uri="{FF2B5EF4-FFF2-40B4-BE49-F238E27FC236}">
                  <a16:creationId xmlns:a16="http://schemas.microsoft.com/office/drawing/2014/main" id="{DD88FE20-E4F8-617B-39AF-9426DB955AAD}"/>
                </a:ext>
              </a:extLst>
            </p:cNvPr>
            <p:cNvSpPr/>
            <p:nvPr/>
          </p:nvSpPr>
          <p:spPr>
            <a:xfrm>
              <a:off x="2879407" y="1682591"/>
              <a:ext cx="5807394"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Any MCP-compatible AI can work with any MCP-compatible tool, eliminating vendor lock-in and enabling ecosystem growth</a:t>
              </a:r>
              <a:endParaRPr lang="en-US" sz="1600" dirty="0">
                <a:latin typeface="Helvetica Neue Light"/>
              </a:endParaRPr>
            </a:p>
          </p:txBody>
        </p:sp>
        <p:sp>
          <p:nvSpPr>
            <p:cNvPr id="8" name="Text 7">
              <a:extLst>
                <a:ext uri="{FF2B5EF4-FFF2-40B4-BE49-F238E27FC236}">
                  <a16:creationId xmlns:a16="http://schemas.microsoft.com/office/drawing/2014/main" id="{AD499429-3898-C3D5-EF5C-9113B9E6F7C9}"/>
                </a:ext>
              </a:extLst>
            </p:cNvPr>
            <p:cNvSpPr/>
            <p:nvPr/>
          </p:nvSpPr>
          <p:spPr>
            <a:xfrm>
              <a:off x="457200" y="2377440"/>
              <a:ext cx="2034541"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Current Challenge – Wide Adoption:</a:t>
              </a:r>
              <a:endParaRPr lang="en-US" dirty="0">
                <a:latin typeface="Helvetica Neue Light"/>
              </a:endParaRPr>
            </a:p>
          </p:txBody>
        </p:sp>
        <p:sp>
          <p:nvSpPr>
            <p:cNvPr id="9" name="Text 8">
              <a:extLst>
                <a:ext uri="{FF2B5EF4-FFF2-40B4-BE49-F238E27FC236}">
                  <a16:creationId xmlns:a16="http://schemas.microsoft.com/office/drawing/2014/main" id="{7528D4F3-1D02-AF37-A0FA-2AA6D6238C67}"/>
                </a:ext>
              </a:extLst>
            </p:cNvPr>
            <p:cNvSpPr/>
            <p:nvPr/>
          </p:nvSpPr>
          <p:spPr>
            <a:xfrm>
              <a:off x="2879407" y="2276951"/>
              <a:ext cx="5807394"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OpenAI, Google and Microsoft now support MCP, so security has become the main open issue</a:t>
              </a:r>
              <a:endParaRPr lang="en-US" sz="1600" dirty="0">
                <a:latin typeface="Helvetica Neue Light"/>
              </a:endParaRPr>
            </a:p>
          </p:txBody>
        </p:sp>
        <p:sp>
          <p:nvSpPr>
            <p:cNvPr id="10" name="Text 9">
              <a:extLst>
                <a:ext uri="{FF2B5EF4-FFF2-40B4-BE49-F238E27FC236}">
                  <a16:creationId xmlns:a16="http://schemas.microsoft.com/office/drawing/2014/main" id="{83815E59-73C1-D5BE-0881-3461B23EE2D8}"/>
                </a:ext>
              </a:extLst>
            </p:cNvPr>
            <p:cNvSpPr/>
            <p:nvPr/>
          </p:nvSpPr>
          <p:spPr>
            <a:xfrm>
              <a:off x="457200" y="2971800"/>
              <a:ext cx="27432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Security Concerns:</a:t>
              </a:r>
              <a:endParaRPr lang="en-US" dirty="0">
                <a:latin typeface="Helvetica Neue Light"/>
              </a:endParaRPr>
            </a:p>
          </p:txBody>
        </p:sp>
        <p:sp>
          <p:nvSpPr>
            <p:cNvPr id="11" name="Text 10">
              <a:extLst>
                <a:ext uri="{FF2B5EF4-FFF2-40B4-BE49-F238E27FC236}">
                  <a16:creationId xmlns:a16="http://schemas.microsoft.com/office/drawing/2014/main" id="{0B4F8A84-F779-C64D-0593-F7768E609B3A}"/>
                </a:ext>
              </a:extLst>
            </p:cNvPr>
            <p:cNvSpPr/>
            <p:nvPr/>
          </p:nvSpPr>
          <p:spPr>
            <a:xfrm>
              <a:off x="2879407" y="2908411"/>
              <a:ext cx="5807394"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Giving AI broad access to systems raises questions about authentication, authorization, and preventing malicious actions</a:t>
              </a:r>
              <a:endParaRPr lang="en-US" sz="1600" dirty="0">
                <a:latin typeface="Helvetica Neue Light"/>
              </a:endParaRPr>
            </a:p>
          </p:txBody>
        </p:sp>
        <p:sp>
          <p:nvSpPr>
            <p:cNvPr id="12" name="Text 11">
              <a:extLst>
                <a:ext uri="{FF2B5EF4-FFF2-40B4-BE49-F238E27FC236}">
                  <a16:creationId xmlns:a16="http://schemas.microsoft.com/office/drawing/2014/main" id="{3E56DAB6-67AE-29D1-9116-C8517FF7629E}"/>
                </a:ext>
              </a:extLst>
            </p:cNvPr>
            <p:cNvSpPr/>
            <p:nvPr/>
          </p:nvSpPr>
          <p:spPr>
            <a:xfrm>
              <a:off x="457200" y="3566160"/>
              <a:ext cx="27432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Context Window Solution:</a:t>
              </a:r>
              <a:endParaRPr lang="en-US" dirty="0">
                <a:latin typeface="Helvetica Neue Light"/>
              </a:endParaRPr>
            </a:p>
          </p:txBody>
        </p:sp>
        <p:sp>
          <p:nvSpPr>
            <p:cNvPr id="13" name="Text 12">
              <a:extLst>
                <a:ext uri="{FF2B5EF4-FFF2-40B4-BE49-F238E27FC236}">
                  <a16:creationId xmlns:a16="http://schemas.microsoft.com/office/drawing/2014/main" id="{3A89A6DB-8DB1-11BF-4A3E-67EDBC334B4C}"/>
                </a:ext>
              </a:extLst>
            </p:cNvPr>
            <p:cNvSpPr/>
            <p:nvPr/>
          </p:nvSpPr>
          <p:spPr>
            <a:xfrm>
              <a:off x="2879407" y="3431849"/>
              <a:ext cx="5807394"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Instead of copying all data into AI's context (expensive and limited), MCP lets AI fetch only what's needed on demand</a:t>
              </a:r>
              <a:endParaRPr lang="en-US" sz="1600" dirty="0">
                <a:latin typeface="Helvetica Neue Light"/>
              </a:endParaRPr>
            </a:p>
          </p:txBody>
        </p:sp>
        <p:sp>
          <p:nvSpPr>
            <p:cNvPr id="14" name="Text 13">
              <a:extLst>
                <a:ext uri="{FF2B5EF4-FFF2-40B4-BE49-F238E27FC236}">
                  <a16:creationId xmlns:a16="http://schemas.microsoft.com/office/drawing/2014/main" id="{742E2691-5BF8-A935-C520-2172A757F8E2}"/>
                </a:ext>
              </a:extLst>
            </p:cNvPr>
            <p:cNvSpPr/>
            <p:nvPr/>
          </p:nvSpPr>
          <p:spPr>
            <a:xfrm>
              <a:off x="457200" y="4160520"/>
              <a:ext cx="2743200" cy="32004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Future Vision:</a:t>
              </a:r>
              <a:endParaRPr lang="en-US" dirty="0">
                <a:latin typeface="Helvetica Neue Light"/>
              </a:endParaRPr>
            </a:p>
          </p:txBody>
        </p:sp>
        <p:sp>
          <p:nvSpPr>
            <p:cNvPr id="15" name="Text 14">
              <a:extLst>
                <a:ext uri="{FF2B5EF4-FFF2-40B4-BE49-F238E27FC236}">
                  <a16:creationId xmlns:a16="http://schemas.microsoft.com/office/drawing/2014/main" id="{B37AAE79-3B54-20D3-8D60-5C82C77C0109}"/>
                </a:ext>
              </a:extLst>
            </p:cNvPr>
            <p:cNvSpPr/>
            <p:nvPr/>
          </p:nvSpPr>
          <p:spPr>
            <a:xfrm>
              <a:off x="2879407" y="4153451"/>
              <a:ext cx="5807394"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 world where switching AI assistants is like switching browsers — all your tools and data connections work regardless of which AI you choose</a:t>
              </a:r>
              <a:endParaRPr lang="en-US" sz="1600" dirty="0">
                <a:latin typeface="Helvetica Neue Light"/>
              </a:endParaRPr>
            </a:p>
          </p:txBody>
        </p:sp>
      </p:grpSp>
    </p:spTree>
    <p:extLst>
      <p:ext uri="{BB962C8B-B14F-4D97-AF65-F5344CB8AC3E}">
        <p14:creationId xmlns:p14="http://schemas.microsoft.com/office/powerpoint/2010/main" val="3943498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39BF6-0529-1F2F-0839-013B4D9946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829E39-CE7A-66DF-5B9F-4F4B7FF0CCAC}"/>
              </a:ext>
            </a:extLst>
          </p:cNvPr>
          <p:cNvSpPr>
            <a:spLocks noGrp="1"/>
          </p:cNvSpPr>
          <p:nvPr>
            <p:ph type="title"/>
          </p:nvPr>
        </p:nvSpPr>
        <p:spPr>
          <a:xfrm>
            <a:off x="623888" y="3305016"/>
            <a:ext cx="7886700" cy="1257460"/>
          </a:xfrm>
        </p:spPr>
        <p:txBody>
          <a:bodyPr/>
          <a:lstStyle/>
          <a:p>
            <a:r>
              <a:rPr lang="en-US" sz="3600" i="1" dirty="0"/>
              <a:t>Part 14</a:t>
            </a:r>
            <a:br>
              <a:rPr lang="en-US" sz="4800" dirty="0"/>
            </a:br>
            <a:r>
              <a:rPr lang="en-US" sz="4800" dirty="0"/>
              <a:t>	Latent Space in AI</a:t>
            </a:r>
          </a:p>
        </p:txBody>
      </p:sp>
      <p:sp>
        <p:nvSpPr>
          <p:cNvPr id="2" name="Text Placeholder 1">
            <a:extLst>
              <a:ext uri="{FF2B5EF4-FFF2-40B4-BE49-F238E27FC236}">
                <a16:creationId xmlns:a16="http://schemas.microsoft.com/office/drawing/2014/main" id="{6455522B-59AE-A6E7-BCCA-E012312337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F9B8846-43CE-3C98-C200-4F4291EFDB14}"/>
              </a:ext>
            </a:extLst>
          </p:cNvPr>
          <p:cNvSpPr>
            <a:spLocks noGrp="1"/>
          </p:cNvSpPr>
          <p:nvPr>
            <p:ph type="sldNum" sz="quarter" idx="12"/>
          </p:nvPr>
        </p:nvSpPr>
        <p:spPr/>
        <p:txBody>
          <a:bodyPr/>
          <a:lstStyle/>
          <a:p>
            <a:fld id="{21EF4C0E-91FA-4D94-8941-E22F3A83D5F1}" type="slidenum">
              <a:rPr lang="en-US" smtClean="0"/>
              <a:t>74</a:t>
            </a:fld>
            <a:endParaRPr lang="en-US"/>
          </a:p>
        </p:txBody>
      </p:sp>
    </p:spTree>
    <p:extLst>
      <p:ext uri="{BB962C8B-B14F-4D97-AF65-F5344CB8AC3E}">
        <p14:creationId xmlns:p14="http://schemas.microsoft.com/office/powerpoint/2010/main" val="42551760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F1069-A5A1-297A-9753-16DD0D7B1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65B92-6DB2-14DE-F0AC-22628404FF9B}"/>
              </a:ext>
            </a:extLst>
          </p:cNvPr>
          <p:cNvSpPr>
            <a:spLocks noGrp="1"/>
          </p:cNvSpPr>
          <p:nvPr>
            <p:ph type="title"/>
          </p:nvPr>
        </p:nvSpPr>
        <p:spPr/>
        <p:txBody>
          <a:bodyPr/>
          <a:lstStyle/>
          <a:p>
            <a:r>
              <a:rPr lang="en-US" dirty="0"/>
              <a:t>Latent Space in AI (11:40)</a:t>
            </a:r>
          </a:p>
        </p:txBody>
      </p:sp>
      <p:sp>
        <p:nvSpPr>
          <p:cNvPr id="5" name="Slide Number Placeholder 4">
            <a:extLst>
              <a:ext uri="{FF2B5EF4-FFF2-40B4-BE49-F238E27FC236}">
                <a16:creationId xmlns:a16="http://schemas.microsoft.com/office/drawing/2014/main" id="{6CB070A4-0D00-FC1C-48A5-7E8A4D32DD45}"/>
              </a:ext>
            </a:extLst>
          </p:cNvPr>
          <p:cNvSpPr>
            <a:spLocks noGrp="1"/>
          </p:cNvSpPr>
          <p:nvPr>
            <p:ph type="sldNum" sz="quarter" idx="12"/>
          </p:nvPr>
        </p:nvSpPr>
        <p:spPr/>
        <p:txBody>
          <a:bodyPr/>
          <a:lstStyle/>
          <a:p>
            <a:fld id="{21EF4C0E-91FA-4D94-8941-E22F3A83D5F1}" type="slidenum">
              <a:rPr lang="en-US" smtClean="0"/>
              <a:t>75</a:t>
            </a:fld>
            <a:endParaRPr lang="en-US"/>
          </a:p>
        </p:txBody>
      </p:sp>
      <p:sp>
        <p:nvSpPr>
          <p:cNvPr id="9" name="TextBox 8">
            <a:extLst>
              <a:ext uri="{FF2B5EF4-FFF2-40B4-BE49-F238E27FC236}">
                <a16:creationId xmlns:a16="http://schemas.microsoft.com/office/drawing/2014/main" id="{D6343C7D-5BDE-EF5B-E7C2-94BC75CFAE4C}"/>
              </a:ext>
            </a:extLst>
          </p:cNvPr>
          <p:cNvSpPr txBox="1"/>
          <p:nvPr/>
        </p:nvSpPr>
        <p:spPr>
          <a:xfrm>
            <a:off x="6574035" y="6642556"/>
            <a:ext cx="2477095" cy="338554"/>
          </a:xfrm>
          <a:prstGeom prst="rect">
            <a:avLst/>
          </a:prstGeom>
          <a:noFill/>
        </p:spPr>
        <p:txBody>
          <a:bodyPr wrap="square">
            <a:spAutoFit/>
          </a:bodyPr>
          <a:lstStyle/>
          <a:p>
            <a:r>
              <a:rPr lang="en-US" sz="800" dirty="0">
                <a:solidFill>
                  <a:schemeClr val="bg2">
                    <a:lumMod val="90000"/>
                  </a:schemeClr>
                </a:solidFill>
              </a:rPr>
              <a:t>https://www.youtube.com/watch?v=hZ4a4NgM3u0&amp;t=255s</a:t>
            </a:r>
          </a:p>
        </p:txBody>
      </p:sp>
      <p:pic>
        <p:nvPicPr>
          <p:cNvPr id="3" name="Online Media 2" title="Autoencoders | Deep Learning Animated">
            <a:hlinkClick r:id="" action="ppaction://media"/>
            <a:extLst>
              <a:ext uri="{FF2B5EF4-FFF2-40B4-BE49-F238E27FC236}">
                <a16:creationId xmlns:a16="http://schemas.microsoft.com/office/drawing/2014/main" id="{4C375360-2353-CEF9-A827-5A34E08874AC}"/>
              </a:ext>
            </a:extLst>
          </p:cNvPr>
          <p:cNvPicPr>
            <a:picLocks noRot="1" noChangeAspect="1"/>
          </p:cNvPicPr>
          <p:nvPr>
            <a:videoFile r:link="rId1"/>
          </p:nvPr>
        </p:nvPicPr>
        <p:blipFill>
          <a:blip r:embed="rId3"/>
          <a:stretch>
            <a:fillRect/>
          </a:stretch>
        </p:blipFill>
        <p:spPr>
          <a:xfrm>
            <a:off x="493986" y="1611653"/>
            <a:ext cx="8339959" cy="4708602"/>
          </a:xfrm>
          <a:prstGeom prst="rect">
            <a:avLst/>
          </a:prstGeom>
        </p:spPr>
      </p:pic>
      <p:sp>
        <p:nvSpPr>
          <p:cNvPr id="6" name="TextBox 5">
            <a:extLst>
              <a:ext uri="{FF2B5EF4-FFF2-40B4-BE49-F238E27FC236}">
                <a16:creationId xmlns:a16="http://schemas.microsoft.com/office/drawing/2014/main" id="{620A7816-FD0C-8590-DF8F-7FB8B775548D}"/>
              </a:ext>
            </a:extLst>
          </p:cNvPr>
          <p:cNvSpPr txBox="1"/>
          <p:nvPr/>
        </p:nvSpPr>
        <p:spPr>
          <a:xfrm>
            <a:off x="457199" y="1089531"/>
            <a:ext cx="7731303" cy="369332"/>
          </a:xfrm>
          <a:prstGeom prst="rect">
            <a:avLst/>
          </a:prstGeom>
          <a:noFill/>
        </p:spPr>
        <p:txBody>
          <a:bodyPr wrap="square">
            <a:spAutoFit/>
          </a:bodyPr>
          <a:lstStyle/>
          <a:p>
            <a:r>
              <a:rPr lang="en-US" dirty="0">
                <a:latin typeface="Helvetica Neue Light"/>
              </a:rPr>
              <a:t>Understanding the hidden mathematical space where AI encodes meaning</a:t>
            </a:r>
          </a:p>
        </p:txBody>
      </p:sp>
    </p:spTree>
    <p:extLst>
      <p:ext uri="{BB962C8B-B14F-4D97-AF65-F5344CB8AC3E}">
        <p14:creationId xmlns:p14="http://schemas.microsoft.com/office/powerpoint/2010/main" val="169764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6C52FD32-94D2-D486-B45C-914A6E388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BAFC4-0F88-40E9-EC03-7C01432E3CC0}"/>
              </a:ext>
            </a:extLst>
          </p:cNvPr>
          <p:cNvSpPr>
            <a:spLocks noGrp="1"/>
          </p:cNvSpPr>
          <p:nvPr>
            <p:ph type="title"/>
          </p:nvPr>
        </p:nvSpPr>
        <p:spPr>
          <a:xfrm>
            <a:off x="457200" y="365126"/>
            <a:ext cx="8229600" cy="592213"/>
          </a:xfrm>
        </p:spPr>
        <p:txBody>
          <a:bodyPr/>
          <a:lstStyle/>
          <a:p>
            <a:r>
              <a:rPr lang="en-US" dirty="0"/>
              <a:t>Overview</a:t>
            </a:r>
          </a:p>
        </p:txBody>
      </p:sp>
      <p:sp>
        <p:nvSpPr>
          <p:cNvPr id="5" name="Slide Number Placeholder 4">
            <a:extLst>
              <a:ext uri="{FF2B5EF4-FFF2-40B4-BE49-F238E27FC236}">
                <a16:creationId xmlns:a16="http://schemas.microsoft.com/office/drawing/2014/main" id="{E1D51D00-FF4C-C79D-243A-972160573365}"/>
              </a:ext>
            </a:extLst>
          </p:cNvPr>
          <p:cNvSpPr>
            <a:spLocks noGrp="1"/>
          </p:cNvSpPr>
          <p:nvPr>
            <p:ph type="sldNum" sz="quarter" idx="12"/>
          </p:nvPr>
        </p:nvSpPr>
        <p:spPr/>
        <p:txBody>
          <a:bodyPr/>
          <a:lstStyle/>
          <a:p>
            <a:fld id="{21EF4C0E-91FA-4D94-8941-E22F3A83D5F1}" type="slidenum">
              <a:rPr lang="en-US" smtClean="0"/>
              <a:t>76</a:t>
            </a:fld>
            <a:endParaRPr lang="en-US"/>
          </a:p>
        </p:txBody>
      </p:sp>
      <p:sp>
        <p:nvSpPr>
          <p:cNvPr id="6" name="TextBox 5">
            <a:extLst>
              <a:ext uri="{FF2B5EF4-FFF2-40B4-BE49-F238E27FC236}">
                <a16:creationId xmlns:a16="http://schemas.microsoft.com/office/drawing/2014/main" id="{2E659CC7-303F-C45E-1580-3158E7BF6CB3}"/>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2B999082-0875-8FB4-5DFB-D29CD77BCB30}"/>
              </a:ext>
            </a:extLst>
          </p:cNvPr>
          <p:cNvGrpSpPr/>
          <p:nvPr/>
        </p:nvGrpSpPr>
        <p:grpSpPr>
          <a:xfrm>
            <a:off x="457200" y="1111150"/>
            <a:ext cx="8229600" cy="3861542"/>
            <a:chOff x="457200" y="1234440"/>
            <a:chExt cx="8229600" cy="2606040"/>
          </a:xfrm>
        </p:grpSpPr>
        <p:sp>
          <p:nvSpPr>
            <p:cNvPr id="4" name="Shape 3">
              <a:extLst>
                <a:ext uri="{FF2B5EF4-FFF2-40B4-BE49-F238E27FC236}">
                  <a16:creationId xmlns:a16="http://schemas.microsoft.com/office/drawing/2014/main" id="{8B5ADBA2-83C7-B6D8-C2CA-933F9045EE99}"/>
                </a:ext>
              </a:extLst>
            </p:cNvPr>
            <p:cNvSpPr/>
            <p:nvPr/>
          </p:nvSpPr>
          <p:spPr>
            <a:xfrm>
              <a:off x="457200" y="1234440"/>
              <a:ext cx="822960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E9D6C0A0-2170-8F40-148F-3B2849229407}"/>
                </a:ext>
              </a:extLst>
            </p:cNvPr>
            <p:cNvSpPr/>
            <p:nvPr/>
          </p:nvSpPr>
          <p:spPr>
            <a:xfrm>
              <a:off x="457200" y="1234440"/>
              <a:ext cx="54864" cy="91440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7BC121CD-DC64-7C7B-D897-B42223AD2C58}"/>
                </a:ext>
              </a:extLst>
            </p:cNvPr>
            <p:cNvSpPr/>
            <p:nvPr/>
          </p:nvSpPr>
          <p:spPr>
            <a:xfrm>
              <a:off x="685800" y="1256546"/>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Core Definition:</a:t>
              </a:r>
              <a:endParaRPr lang="en-US" dirty="0">
                <a:latin typeface="Helvetica Neue Light"/>
              </a:endParaRPr>
            </a:p>
          </p:txBody>
        </p:sp>
        <p:sp>
          <p:nvSpPr>
            <p:cNvPr id="9" name="Text 6">
              <a:extLst>
                <a:ext uri="{FF2B5EF4-FFF2-40B4-BE49-F238E27FC236}">
                  <a16:creationId xmlns:a16="http://schemas.microsoft.com/office/drawing/2014/main" id="{3D6CDCE0-E067-C5F7-3407-38B62FE946EC}"/>
                </a:ext>
              </a:extLst>
            </p:cNvPr>
            <p:cNvSpPr/>
            <p:nvPr/>
          </p:nvSpPr>
          <p:spPr>
            <a:xfrm>
              <a:off x="685800" y="1554480"/>
              <a:ext cx="777240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Latent space is a compressed, multi-dimensional mathematical representation where AI encodes complex data (images, text, audio) into meaningful numerical vectors that capture essential features. Like ZIP files for meaning.</a:t>
              </a:r>
              <a:endParaRPr lang="en-US" sz="1600" dirty="0">
                <a:latin typeface="Helvetica Neue Light"/>
              </a:endParaRPr>
            </a:p>
          </p:txBody>
        </p:sp>
        <p:sp>
          <p:nvSpPr>
            <p:cNvPr id="10" name="Shape 7">
              <a:extLst>
                <a:ext uri="{FF2B5EF4-FFF2-40B4-BE49-F238E27FC236}">
                  <a16:creationId xmlns:a16="http://schemas.microsoft.com/office/drawing/2014/main" id="{7566FCB1-10DF-0361-FCE0-76EDD379E9DE}"/>
                </a:ext>
              </a:extLst>
            </p:cNvPr>
            <p:cNvSpPr/>
            <p:nvPr/>
          </p:nvSpPr>
          <p:spPr>
            <a:xfrm>
              <a:off x="457200" y="2286000"/>
              <a:ext cx="822960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BD966E8D-A9B5-481D-1580-8F4CF04DB8F5}"/>
                </a:ext>
              </a:extLst>
            </p:cNvPr>
            <p:cNvSpPr/>
            <p:nvPr/>
          </p:nvSpPr>
          <p:spPr>
            <a:xfrm>
              <a:off x="457200" y="2286000"/>
              <a:ext cx="54864" cy="914400"/>
            </a:xfrm>
            <a:prstGeom prst="rect">
              <a:avLst/>
            </a:prstGeom>
            <a:solidFill>
              <a:srgbClr val="1C7293"/>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C48C9C97-1B90-E71A-16F1-F7F817106320}"/>
                </a:ext>
              </a:extLst>
            </p:cNvPr>
            <p:cNvSpPr/>
            <p:nvPr/>
          </p:nvSpPr>
          <p:spPr>
            <a:xfrm>
              <a:off x="685800" y="2308107"/>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How It Works:</a:t>
              </a:r>
              <a:endParaRPr lang="en-US" dirty="0">
                <a:latin typeface="Helvetica Neue Light"/>
              </a:endParaRPr>
            </a:p>
          </p:txBody>
        </p:sp>
        <p:sp>
          <p:nvSpPr>
            <p:cNvPr id="13" name="Text 10">
              <a:extLst>
                <a:ext uri="{FF2B5EF4-FFF2-40B4-BE49-F238E27FC236}">
                  <a16:creationId xmlns:a16="http://schemas.microsoft.com/office/drawing/2014/main" id="{62D3BE4A-56B9-B499-9485-0A4C74D10519}"/>
                </a:ext>
              </a:extLst>
            </p:cNvPr>
            <p:cNvSpPr/>
            <p:nvPr/>
          </p:nvSpPr>
          <p:spPr>
            <a:xfrm>
              <a:off x="685800" y="2606040"/>
              <a:ext cx="777240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Neural networks learn to: encode input → compress to latent space → decode back to output, with the latent space acting as a bottleneck that forces meaningful compression.</a:t>
              </a:r>
              <a:endParaRPr lang="en-US" sz="1600" dirty="0">
                <a:latin typeface="Helvetica Neue Light"/>
              </a:endParaRPr>
            </a:p>
          </p:txBody>
        </p:sp>
        <p:sp>
          <p:nvSpPr>
            <p:cNvPr id="14" name="Shape 11">
              <a:extLst>
                <a:ext uri="{FF2B5EF4-FFF2-40B4-BE49-F238E27FC236}">
                  <a16:creationId xmlns:a16="http://schemas.microsoft.com/office/drawing/2014/main" id="{3FBD461A-1BA4-ADB7-1FAA-E2B9322D1A79}"/>
                </a:ext>
              </a:extLst>
            </p:cNvPr>
            <p:cNvSpPr/>
            <p:nvPr/>
          </p:nvSpPr>
          <p:spPr>
            <a:xfrm>
              <a:off x="457200" y="3383280"/>
              <a:ext cx="8229600" cy="457200"/>
            </a:xfrm>
            <a:prstGeom prst="rect">
              <a:avLst/>
            </a:prstGeom>
            <a:solidFill>
              <a:srgbClr val="21295C"/>
            </a:solidFill>
            <a:ln/>
          </p:spPr>
          <p:txBody>
            <a:bodyPr/>
            <a:lstStyle/>
            <a:p>
              <a:endParaRPr lang="en-US" sz="2800">
                <a:latin typeface="Helvetica Neue Light"/>
              </a:endParaRPr>
            </a:p>
          </p:txBody>
        </p:sp>
        <p:sp>
          <p:nvSpPr>
            <p:cNvPr id="15" name="Text 12">
              <a:extLst>
                <a:ext uri="{FF2B5EF4-FFF2-40B4-BE49-F238E27FC236}">
                  <a16:creationId xmlns:a16="http://schemas.microsoft.com/office/drawing/2014/main" id="{2E247665-F241-003A-47F0-0632C8B3CB4C}"/>
                </a:ext>
              </a:extLst>
            </p:cNvPr>
            <p:cNvSpPr/>
            <p:nvPr/>
          </p:nvSpPr>
          <p:spPr>
            <a:xfrm>
              <a:off x="594360" y="3474720"/>
              <a:ext cx="7955280" cy="274320"/>
            </a:xfrm>
            <a:prstGeom prst="rect">
              <a:avLst/>
            </a:prstGeom>
            <a:noFill/>
            <a:ln/>
          </p:spPr>
          <p:txBody>
            <a:bodyPr wrap="square" rtlCol="0" anchor="ctr"/>
            <a:lstStyle/>
            <a:p>
              <a:pPr marL="0" indent="0" algn="ctr">
                <a:buNone/>
              </a:pPr>
              <a:r>
                <a:rPr lang="en-US" dirty="0">
                  <a:solidFill>
                    <a:srgbClr val="FFFFFF"/>
                  </a:solidFill>
                  <a:latin typeface="Helvetica Neue Light"/>
                  <a:ea typeface="Calibri" pitchFamily="34" charset="-122"/>
                  <a:cs typeface="Calibri" pitchFamily="34" charset="-120"/>
                </a:rPr>
                <a:t>Key Insight: The "bottleneck" forces the network to learn the most important features, discarding noise</a:t>
              </a:r>
              <a:endParaRPr lang="en-US" dirty="0">
                <a:latin typeface="Helvetica Neue Light"/>
              </a:endParaRPr>
            </a:p>
          </p:txBody>
        </p:sp>
      </p:grpSp>
      <p:sp>
        <p:nvSpPr>
          <p:cNvPr id="16" name="TextBox 15">
            <a:extLst>
              <a:ext uri="{FF2B5EF4-FFF2-40B4-BE49-F238E27FC236}">
                <a16:creationId xmlns:a16="http://schemas.microsoft.com/office/drawing/2014/main" id="{A239DA90-A03A-CFD7-4FE8-9CA20AF0A63F}"/>
              </a:ext>
            </a:extLst>
          </p:cNvPr>
          <p:cNvSpPr txBox="1"/>
          <p:nvPr/>
        </p:nvSpPr>
        <p:spPr>
          <a:xfrm>
            <a:off x="6493913" y="6654655"/>
            <a:ext cx="2477095" cy="215444"/>
          </a:xfrm>
          <a:prstGeom prst="rect">
            <a:avLst/>
          </a:prstGeom>
          <a:noFill/>
        </p:spPr>
        <p:txBody>
          <a:bodyPr wrap="square">
            <a:spAutoFit/>
          </a:bodyPr>
          <a:lstStyle/>
          <a:p>
            <a:r>
              <a:rPr lang="en-US" sz="800" dirty="0">
                <a:solidFill>
                  <a:schemeClr val="bg2">
                    <a:lumMod val="90000"/>
                  </a:schemeClr>
                </a:solidFill>
              </a:rPr>
              <a:t>https://share.google/images/OWfMjLVygo2oejSld</a:t>
            </a:r>
          </a:p>
        </p:txBody>
      </p:sp>
      <p:pic>
        <p:nvPicPr>
          <p:cNvPr id="17" name="Picture 4" descr="Latent and Embedding Space | Baeldung ...">
            <a:extLst>
              <a:ext uri="{FF2B5EF4-FFF2-40B4-BE49-F238E27FC236}">
                <a16:creationId xmlns:a16="http://schemas.microsoft.com/office/drawing/2014/main" id="{0661D8BB-079C-78A0-9EB2-391169430B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167" y="3919297"/>
            <a:ext cx="3282839" cy="29629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8" name="Picture 6" descr="Evaluation of CNN Performance in Semantically Relevant Latent Spaces |  SpringerLink">
            <a:extLst>
              <a:ext uri="{FF2B5EF4-FFF2-40B4-BE49-F238E27FC236}">
                <a16:creationId xmlns:a16="http://schemas.microsoft.com/office/drawing/2014/main" id="{254ED8E1-129D-E1D4-751C-4A2A6BD213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7361" y="3972695"/>
            <a:ext cx="2973103" cy="287457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24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BBC32A41-2137-C476-3626-1711F57CA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A6FCB-DF20-3E06-3371-CBC7200DAD09}"/>
              </a:ext>
            </a:extLst>
          </p:cNvPr>
          <p:cNvSpPr>
            <a:spLocks noGrp="1"/>
          </p:cNvSpPr>
          <p:nvPr>
            <p:ph type="title"/>
          </p:nvPr>
        </p:nvSpPr>
        <p:spPr>
          <a:xfrm>
            <a:off x="457200" y="365126"/>
            <a:ext cx="8229600" cy="592213"/>
          </a:xfrm>
        </p:spPr>
        <p:txBody>
          <a:bodyPr/>
          <a:lstStyle/>
          <a:p>
            <a:r>
              <a:rPr lang="en-US" dirty="0"/>
              <a:t>Vector Arithmetic in the Latent Space</a:t>
            </a:r>
          </a:p>
        </p:txBody>
      </p:sp>
      <p:sp>
        <p:nvSpPr>
          <p:cNvPr id="5" name="Slide Number Placeholder 4">
            <a:extLst>
              <a:ext uri="{FF2B5EF4-FFF2-40B4-BE49-F238E27FC236}">
                <a16:creationId xmlns:a16="http://schemas.microsoft.com/office/drawing/2014/main" id="{EC091161-87A8-6BFF-1D6A-74A435B1EBF2}"/>
              </a:ext>
            </a:extLst>
          </p:cNvPr>
          <p:cNvSpPr>
            <a:spLocks noGrp="1"/>
          </p:cNvSpPr>
          <p:nvPr>
            <p:ph type="sldNum" sz="quarter" idx="12"/>
          </p:nvPr>
        </p:nvSpPr>
        <p:spPr/>
        <p:txBody>
          <a:bodyPr/>
          <a:lstStyle/>
          <a:p>
            <a:fld id="{21EF4C0E-91FA-4D94-8941-E22F3A83D5F1}" type="slidenum">
              <a:rPr lang="en-US" smtClean="0"/>
              <a:t>77</a:t>
            </a:fld>
            <a:endParaRPr lang="en-US"/>
          </a:p>
        </p:txBody>
      </p:sp>
      <p:sp>
        <p:nvSpPr>
          <p:cNvPr id="6" name="TextBox 5">
            <a:extLst>
              <a:ext uri="{FF2B5EF4-FFF2-40B4-BE49-F238E27FC236}">
                <a16:creationId xmlns:a16="http://schemas.microsoft.com/office/drawing/2014/main" id="{47F564EC-5812-FE20-2B02-2060DFA42005}"/>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01A9451F-5A2C-24D3-AECA-52029C291F3A}"/>
              </a:ext>
            </a:extLst>
          </p:cNvPr>
          <p:cNvGrpSpPr/>
          <p:nvPr/>
        </p:nvGrpSpPr>
        <p:grpSpPr>
          <a:xfrm>
            <a:off x="457200" y="1234440"/>
            <a:ext cx="8553236" cy="5166360"/>
            <a:chOff x="457200" y="1234440"/>
            <a:chExt cx="8553236" cy="3182112"/>
          </a:xfrm>
        </p:grpSpPr>
        <p:sp>
          <p:nvSpPr>
            <p:cNvPr id="4" name="Shape 3">
              <a:extLst>
                <a:ext uri="{FF2B5EF4-FFF2-40B4-BE49-F238E27FC236}">
                  <a16:creationId xmlns:a16="http://schemas.microsoft.com/office/drawing/2014/main" id="{5A49F103-F039-11C6-FDD4-E37FC1805A15}"/>
                </a:ext>
              </a:extLst>
            </p:cNvPr>
            <p:cNvSpPr/>
            <p:nvPr/>
          </p:nvSpPr>
          <p:spPr>
            <a:xfrm>
              <a:off x="457200" y="1234440"/>
              <a:ext cx="8553236" cy="1474951"/>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9B7CF9ED-D4CB-70F2-92C7-61BA8516C677}"/>
                </a:ext>
              </a:extLst>
            </p:cNvPr>
            <p:cNvSpPr/>
            <p:nvPr/>
          </p:nvSpPr>
          <p:spPr>
            <a:xfrm>
              <a:off x="457200" y="1234440"/>
              <a:ext cx="54864" cy="137160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9FCE5610-B31F-27DE-BBD8-247EBD922760}"/>
                </a:ext>
              </a:extLst>
            </p:cNvPr>
            <p:cNvSpPr/>
            <p:nvPr/>
          </p:nvSpPr>
          <p:spPr>
            <a:xfrm>
              <a:off x="685800" y="1325880"/>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Famous </a:t>
              </a:r>
              <a:r>
                <a:rPr lang="en-US" b="1" i="1" dirty="0">
                  <a:solidFill>
                    <a:srgbClr val="065A82"/>
                  </a:solidFill>
                  <a:latin typeface="Helvetica Neue Light"/>
                  <a:ea typeface="Calibri" pitchFamily="34" charset="-122"/>
                  <a:cs typeface="Calibri" pitchFamily="34" charset="-120"/>
                </a:rPr>
                <a:t>Word2Vec</a:t>
              </a:r>
              <a:r>
                <a:rPr lang="en-US" b="1" dirty="0">
                  <a:solidFill>
                    <a:srgbClr val="065A82"/>
                  </a:solidFill>
                  <a:latin typeface="Helvetica Neue Light"/>
                  <a:ea typeface="Calibri" pitchFamily="34" charset="-122"/>
                  <a:cs typeface="Calibri" pitchFamily="34" charset="-120"/>
                </a:rPr>
                <a:t> Example:</a:t>
              </a:r>
              <a:endParaRPr lang="en-US" dirty="0">
                <a:latin typeface="Helvetica Neue Light"/>
              </a:endParaRPr>
            </a:p>
          </p:txBody>
        </p:sp>
        <p:sp>
          <p:nvSpPr>
            <p:cNvPr id="9" name="Text 6">
              <a:extLst>
                <a:ext uri="{FF2B5EF4-FFF2-40B4-BE49-F238E27FC236}">
                  <a16:creationId xmlns:a16="http://schemas.microsoft.com/office/drawing/2014/main" id="{D122EFE2-D553-A173-86DD-DD65DDAAB09F}"/>
                </a:ext>
              </a:extLst>
            </p:cNvPr>
            <p:cNvSpPr/>
            <p:nvPr/>
          </p:nvSpPr>
          <p:spPr>
            <a:xfrm>
              <a:off x="685800" y="1600200"/>
              <a:ext cx="777240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In latent space, you can do math with meanings:</a:t>
              </a:r>
              <a:endParaRPr lang="en-US" sz="1600" dirty="0">
                <a:latin typeface="Helvetica Neue Light"/>
              </a:endParaRPr>
            </a:p>
          </p:txBody>
        </p:sp>
        <p:sp>
          <p:nvSpPr>
            <p:cNvPr id="10" name="Text 7">
              <a:extLst>
                <a:ext uri="{FF2B5EF4-FFF2-40B4-BE49-F238E27FC236}">
                  <a16:creationId xmlns:a16="http://schemas.microsoft.com/office/drawing/2014/main" id="{9B439070-5F69-D4F2-C93D-92B851895DE9}"/>
                </a:ext>
              </a:extLst>
            </p:cNvPr>
            <p:cNvSpPr/>
            <p:nvPr/>
          </p:nvSpPr>
          <p:spPr>
            <a:xfrm>
              <a:off x="1371600" y="1920240"/>
              <a:ext cx="4392202" cy="27432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Woman + (King - Man) = Queen</a:t>
              </a:r>
              <a:endParaRPr lang="en-US" sz="2000" dirty="0">
                <a:latin typeface="Helvetica Neue Light"/>
              </a:endParaRPr>
            </a:p>
          </p:txBody>
        </p:sp>
        <p:sp>
          <p:nvSpPr>
            <p:cNvPr id="11" name="Text 8">
              <a:extLst>
                <a:ext uri="{FF2B5EF4-FFF2-40B4-BE49-F238E27FC236}">
                  <a16:creationId xmlns:a16="http://schemas.microsoft.com/office/drawing/2014/main" id="{37B4C5C9-81D8-A07F-A484-B4CC0BB30511}"/>
                </a:ext>
              </a:extLst>
            </p:cNvPr>
            <p:cNvSpPr/>
            <p:nvPr/>
          </p:nvSpPr>
          <p:spPr>
            <a:xfrm>
              <a:off x="3019318" y="2125170"/>
              <a:ext cx="1828800" cy="228600"/>
            </a:xfrm>
            <a:prstGeom prst="rect">
              <a:avLst/>
            </a:prstGeom>
            <a:noFill/>
            <a:ln/>
          </p:spPr>
          <p:txBody>
            <a:bodyPr wrap="square" rtlCol="0" anchor="ctr"/>
            <a:lstStyle/>
            <a:p>
              <a:pPr marL="0" indent="0">
                <a:buNone/>
              </a:pPr>
              <a:r>
                <a:rPr lang="en-US" sz="1400" i="1" dirty="0">
                  <a:solidFill>
                    <a:srgbClr val="E07A5F"/>
                  </a:solidFill>
                  <a:latin typeface="Helvetica Neue Light"/>
                  <a:ea typeface="Calibri" pitchFamily="34" charset="-122"/>
                  <a:cs typeface="Calibri" pitchFamily="34" charset="-120"/>
                </a:rPr>
                <a:t>↑ Vector of "royalty"</a:t>
              </a:r>
              <a:endParaRPr lang="en-US" sz="1400" dirty="0">
                <a:latin typeface="Helvetica Neue Light"/>
              </a:endParaRPr>
            </a:p>
          </p:txBody>
        </p:sp>
        <p:sp>
          <p:nvSpPr>
            <p:cNvPr id="12" name="Text 9">
              <a:extLst>
                <a:ext uri="{FF2B5EF4-FFF2-40B4-BE49-F238E27FC236}">
                  <a16:creationId xmlns:a16="http://schemas.microsoft.com/office/drawing/2014/main" id="{84ACD170-0CA3-0BFA-ED75-FF9C1DBA0BC0}"/>
                </a:ext>
              </a:extLst>
            </p:cNvPr>
            <p:cNvSpPr/>
            <p:nvPr/>
          </p:nvSpPr>
          <p:spPr>
            <a:xfrm>
              <a:off x="685800" y="2331720"/>
              <a:ext cx="8324636" cy="2743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This works because (King - Man) captures the concept of "royalty" which can be added to Woman to get Queen.</a:t>
              </a:r>
              <a:endParaRPr lang="en-US" sz="1600" dirty="0">
                <a:latin typeface="Helvetica Neue Light"/>
              </a:endParaRPr>
            </a:p>
          </p:txBody>
        </p:sp>
        <p:sp>
          <p:nvSpPr>
            <p:cNvPr id="13" name="Text 10">
              <a:extLst>
                <a:ext uri="{FF2B5EF4-FFF2-40B4-BE49-F238E27FC236}">
                  <a16:creationId xmlns:a16="http://schemas.microsoft.com/office/drawing/2014/main" id="{17C6CA3D-F845-E4A4-D109-29DCD2BED315}"/>
                </a:ext>
              </a:extLst>
            </p:cNvPr>
            <p:cNvSpPr/>
            <p:nvPr/>
          </p:nvSpPr>
          <p:spPr>
            <a:xfrm>
              <a:off x="457200" y="278892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Key Properties of Latent Space:</a:t>
              </a:r>
              <a:endParaRPr lang="en-US" sz="2000" dirty="0">
                <a:latin typeface="Helvetica Neue Light"/>
              </a:endParaRPr>
            </a:p>
          </p:txBody>
        </p:sp>
        <p:sp>
          <p:nvSpPr>
            <p:cNvPr id="14" name="Shape 11">
              <a:extLst>
                <a:ext uri="{FF2B5EF4-FFF2-40B4-BE49-F238E27FC236}">
                  <a16:creationId xmlns:a16="http://schemas.microsoft.com/office/drawing/2014/main" id="{8DD9BB52-EC41-E1E8-34DB-09C940D94CF9}"/>
                </a:ext>
              </a:extLst>
            </p:cNvPr>
            <p:cNvSpPr/>
            <p:nvPr/>
          </p:nvSpPr>
          <p:spPr>
            <a:xfrm>
              <a:off x="457200" y="3188489"/>
              <a:ext cx="274320" cy="201565"/>
            </a:xfrm>
            <a:prstGeom prst="ellipse">
              <a:avLst/>
            </a:prstGeom>
            <a:solidFill>
              <a:srgbClr val="1C7293"/>
            </a:solidFill>
            <a:ln/>
          </p:spPr>
          <p:txBody>
            <a:bodyPr/>
            <a:lstStyle/>
            <a:p>
              <a:endParaRPr lang="en-US" sz="2800">
                <a:latin typeface="Helvetica Neue Light"/>
              </a:endParaRPr>
            </a:p>
          </p:txBody>
        </p:sp>
        <p:sp>
          <p:nvSpPr>
            <p:cNvPr id="15" name="Text 12">
              <a:extLst>
                <a:ext uri="{FF2B5EF4-FFF2-40B4-BE49-F238E27FC236}">
                  <a16:creationId xmlns:a16="http://schemas.microsoft.com/office/drawing/2014/main" id="{03BD4F84-437A-4E4A-87DA-082390FC4834}"/>
                </a:ext>
              </a:extLst>
            </p:cNvPr>
            <p:cNvSpPr/>
            <p:nvPr/>
          </p:nvSpPr>
          <p:spPr>
            <a:xfrm>
              <a:off x="822960" y="3136392"/>
              <a:ext cx="201168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Semantic Magic:</a:t>
              </a:r>
              <a:endParaRPr lang="en-US" sz="1600" dirty="0">
                <a:latin typeface="Helvetica Neue Light"/>
              </a:endParaRPr>
            </a:p>
          </p:txBody>
        </p:sp>
        <p:sp>
          <p:nvSpPr>
            <p:cNvPr id="16" name="Text 13">
              <a:extLst>
                <a:ext uri="{FF2B5EF4-FFF2-40B4-BE49-F238E27FC236}">
                  <a16:creationId xmlns:a16="http://schemas.microsoft.com/office/drawing/2014/main" id="{B022DC2B-3FF7-8476-4471-9864ED6E0A16}"/>
                </a:ext>
              </a:extLst>
            </p:cNvPr>
            <p:cNvSpPr/>
            <p:nvPr/>
          </p:nvSpPr>
          <p:spPr>
            <a:xfrm>
              <a:off x="2834640" y="3136392"/>
              <a:ext cx="6175796" cy="2743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Similar things cluster together — cats near dogs, happy faces near smiling faces</a:t>
              </a:r>
              <a:endParaRPr lang="en-US" sz="1600" dirty="0">
                <a:latin typeface="Helvetica Neue Light"/>
              </a:endParaRPr>
            </a:p>
          </p:txBody>
        </p:sp>
        <p:sp>
          <p:nvSpPr>
            <p:cNvPr id="17" name="Shape 14">
              <a:extLst>
                <a:ext uri="{FF2B5EF4-FFF2-40B4-BE49-F238E27FC236}">
                  <a16:creationId xmlns:a16="http://schemas.microsoft.com/office/drawing/2014/main" id="{2950ECE2-0CAC-AC26-8D85-3ACA435891D1}"/>
                </a:ext>
              </a:extLst>
            </p:cNvPr>
            <p:cNvSpPr/>
            <p:nvPr/>
          </p:nvSpPr>
          <p:spPr>
            <a:xfrm>
              <a:off x="457200" y="3691408"/>
              <a:ext cx="274320" cy="201565"/>
            </a:xfrm>
            <a:prstGeom prst="ellipse">
              <a:avLst/>
            </a:prstGeom>
            <a:solidFill>
              <a:srgbClr val="1C7293"/>
            </a:solidFill>
            <a:ln/>
          </p:spPr>
          <p:txBody>
            <a:bodyPr/>
            <a:lstStyle/>
            <a:p>
              <a:endParaRPr lang="en-US" sz="2800">
                <a:latin typeface="Helvetica Neue Light"/>
              </a:endParaRPr>
            </a:p>
          </p:txBody>
        </p:sp>
        <p:sp>
          <p:nvSpPr>
            <p:cNvPr id="18" name="Text 15">
              <a:extLst>
                <a:ext uri="{FF2B5EF4-FFF2-40B4-BE49-F238E27FC236}">
                  <a16:creationId xmlns:a16="http://schemas.microsoft.com/office/drawing/2014/main" id="{88963CA6-F1F9-2F2E-E0AD-07A147869B7D}"/>
                </a:ext>
              </a:extLst>
            </p:cNvPr>
            <p:cNvSpPr/>
            <p:nvPr/>
          </p:nvSpPr>
          <p:spPr>
            <a:xfrm>
              <a:off x="822960" y="3639312"/>
              <a:ext cx="201168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Interpolation Power:</a:t>
              </a:r>
              <a:endParaRPr lang="en-US" sz="1600" dirty="0">
                <a:latin typeface="Helvetica Neue Light"/>
              </a:endParaRPr>
            </a:p>
          </p:txBody>
        </p:sp>
        <p:sp>
          <p:nvSpPr>
            <p:cNvPr id="19" name="Text 16">
              <a:extLst>
                <a:ext uri="{FF2B5EF4-FFF2-40B4-BE49-F238E27FC236}">
                  <a16:creationId xmlns:a16="http://schemas.microsoft.com/office/drawing/2014/main" id="{F7978522-464A-D9DC-38A5-EDFD07C10737}"/>
                </a:ext>
              </a:extLst>
            </p:cNvPr>
            <p:cNvSpPr/>
            <p:nvPr/>
          </p:nvSpPr>
          <p:spPr>
            <a:xfrm>
              <a:off x="2834640" y="3639312"/>
              <a:ext cx="6175796" cy="2743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Moving smoothly through latent space creates gradual transitions (morphing faces, blending styles)</a:t>
              </a:r>
              <a:endParaRPr lang="en-US" sz="1600" dirty="0">
                <a:latin typeface="Helvetica Neue Light"/>
              </a:endParaRPr>
            </a:p>
          </p:txBody>
        </p:sp>
        <p:sp>
          <p:nvSpPr>
            <p:cNvPr id="20" name="Shape 17">
              <a:extLst>
                <a:ext uri="{FF2B5EF4-FFF2-40B4-BE49-F238E27FC236}">
                  <a16:creationId xmlns:a16="http://schemas.microsoft.com/office/drawing/2014/main" id="{0C51FF83-80A4-5AC3-5D9F-4D3C47992539}"/>
                </a:ext>
              </a:extLst>
            </p:cNvPr>
            <p:cNvSpPr/>
            <p:nvPr/>
          </p:nvSpPr>
          <p:spPr>
            <a:xfrm>
              <a:off x="457200" y="4194330"/>
              <a:ext cx="274320" cy="201565"/>
            </a:xfrm>
            <a:prstGeom prst="ellipse">
              <a:avLst/>
            </a:prstGeom>
            <a:solidFill>
              <a:srgbClr val="1C7293"/>
            </a:solidFill>
            <a:ln/>
          </p:spPr>
          <p:txBody>
            <a:bodyPr/>
            <a:lstStyle/>
            <a:p>
              <a:endParaRPr lang="en-US" sz="2800">
                <a:latin typeface="Helvetica Neue Light"/>
              </a:endParaRPr>
            </a:p>
          </p:txBody>
        </p:sp>
        <p:sp>
          <p:nvSpPr>
            <p:cNvPr id="21" name="Text 18">
              <a:extLst>
                <a:ext uri="{FF2B5EF4-FFF2-40B4-BE49-F238E27FC236}">
                  <a16:creationId xmlns:a16="http://schemas.microsoft.com/office/drawing/2014/main" id="{ECCBE7BD-073A-815D-4149-4E40857531D2}"/>
                </a:ext>
              </a:extLst>
            </p:cNvPr>
            <p:cNvSpPr/>
            <p:nvPr/>
          </p:nvSpPr>
          <p:spPr>
            <a:xfrm>
              <a:off x="822960" y="4142232"/>
              <a:ext cx="2011680" cy="27432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VAE/GAN Revolution:</a:t>
              </a:r>
              <a:endParaRPr lang="en-US" sz="1600" dirty="0">
                <a:latin typeface="Helvetica Neue Light"/>
              </a:endParaRPr>
            </a:p>
          </p:txBody>
        </p:sp>
        <p:sp>
          <p:nvSpPr>
            <p:cNvPr id="22" name="Text 19">
              <a:extLst>
                <a:ext uri="{FF2B5EF4-FFF2-40B4-BE49-F238E27FC236}">
                  <a16:creationId xmlns:a16="http://schemas.microsoft.com/office/drawing/2014/main" id="{18250561-4E95-6414-46FC-62930DE20614}"/>
                </a:ext>
              </a:extLst>
            </p:cNvPr>
            <p:cNvSpPr/>
            <p:nvPr/>
          </p:nvSpPr>
          <p:spPr>
            <a:xfrm>
              <a:off x="2834640" y="4142232"/>
              <a:ext cx="6175796" cy="2743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Generative models use latent space as a control panel — adjust variables to change attributes</a:t>
              </a:r>
              <a:endParaRPr lang="en-US" sz="1600" dirty="0">
                <a:latin typeface="Helvetica Neue Light"/>
              </a:endParaRPr>
            </a:p>
          </p:txBody>
        </p:sp>
      </p:grpSp>
    </p:spTree>
    <p:extLst>
      <p:ext uri="{BB962C8B-B14F-4D97-AF65-F5344CB8AC3E}">
        <p14:creationId xmlns:p14="http://schemas.microsoft.com/office/powerpoint/2010/main" val="37011683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9B96-21F0-9832-DEBC-9C99F2DEB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AF90F-2416-6EB7-98D4-B5F639572DAA}"/>
              </a:ext>
            </a:extLst>
          </p:cNvPr>
          <p:cNvSpPr>
            <a:spLocks noGrp="1"/>
          </p:cNvSpPr>
          <p:nvPr>
            <p:ph type="title"/>
          </p:nvPr>
        </p:nvSpPr>
        <p:spPr>
          <a:xfrm>
            <a:off x="457200" y="365126"/>
            <a:ext cx="8229600" cy="592213"/>
          </a:xfrm>
        </p:spPr>
        <p:txBody>
          <a:bodyPr/>
          <a:lstStyle/>
          <a:p>
            <a:r>
              <a:rPr lang="en-US" dirty="0"/>
              <a:t>Vector arithmetic in the latent space</a:t>
            </a:r>
          </a:p>
        </p:txBody>
      </p:sp>
      <p:sp>
        <p:nvSpPr>
          <p:cNvPr id="3" name="Content Placeholder 2">
            <a:extLst>
              <a:ext uri="{FF2B5EF4-FFF2-40B4-BE49-F238E27FC236}">
                <a16:creationId xmlns:a16="http://schemas.microsoft.com/office/drawing/2014/main" id="{EDE2405E-1250-9357-4C8E-376974A9C4E2}"/>
              </a:ext>
            </a:extLst>
          </p:cNvPr>
          <p:cNvSpPr>
            <a:spLocks noGrp="1"/>
          </p:cNvSpPr>
          <p:nvPr>
            <p:ph idx="1"/>
          </p:nvPr>
        </p:nvSpPr>
        <p:spPr>
          <a:xfrm>
            <a:off x="404647" y="1439330"/>
            <a:ext cx="8471339" cy="5292545"/>
          </a:xfrm>
        </p:spPr>
        <p:txBody>
          <a:bodyPr>
            <a:normAutofit/>
          </a:bodyPr>
          <a:lstStyle/>
          <a:p>
            <a:pPr marL="0" indent="0">
              <a:lnSpc>
                <a:spcPct val="100000"/>
              </a:lnSpc>
              <a:spcBef>
                <a:spcPts val="300"/>
              </a:spcBef>
              <a:buNone/>
            </a:pPr>
            <a:r>
              <a:rPr lang="en-US" sz="1800" b="1" dirty="0"/>
              <a:t>Example:</a:t>
            </a:r>
          </a:p>
          <a:p>
            <a:pPr marL="0" indent="0">
              <a:lnSpc>
                <a:spcPct val="100000"/>
              </a:lnSpc>
              <a:spcBef>
                <a:spcPts val="300"/>
              </a:spcBef>
              <a:buNone/>
            </a:pPr>
            <a:r>
              <a:rPr lang="en-US" sz="1800" b="1" dirty="0"/>
              <a:t>	</a:t>
            </a:r>
            <a:r>
              <a:rPr lang="en-US" sz="1800" dirty="0">
                <a:latin typeface="Courier New" panose="02070309020205020404" pitchFamily="49" charset="0"/>
                <a:cs typeface="Courier New" panose="02070309020205020404" pitchFamily="49" charset="0"/>
              </a:rPr>
              <a:t>Woman + (King – Man) = Queen</a:t>
            </a:r>
          </a:p>
          <a:p>
            <a:pPr marL="0" indent="0">
              <a:lnSpc>
                <a:spcPct val="100000"/>
              </a:lnSpc>
              <a:spcBef>
                <a:spcPts val="300"/>
              </a:spcBef>
              <a:buNone/>
            </a:pPr>
            <a:r>
              <a:rPr lang="en-US" sz="1800" dirty="0">
                <a:latin typeface="Courier New" panose="02070309020205020404" pitchFamily="49" charset="0"/>
                <a:cs typeface="Courier New" panose="02070309020205020404" pitchFamily="49" charset="0"/>
              </a:rPr>
              <a:t>	Woman + (King – Queen) = Man</a:t>
            </a:r>
          </a:p>
        </p:txBody>
      </p:sp>
      <p:sp>
        <p:nvSpPr>
          <p:cNvPr id="5" name="Slide Number Placeholder 4">
            <a:extLst>
              <a:ext uri="{FF2B5EF4-FFF2-40B4-BE49-F238E27FC236}">
                <a16:creationId xmlns:a16="http://schemas.microsoft.com/office/drawing/2014/main" id="{ABF8B6CF-80C4-6CC9-F0E4-0B75D4EA7721}"/>
              </a:ext>
            </a:extLst>
          </p:cNvPr>
          <p:cNvSpPr>
            <a:spLocks noGrp="1"/>
          </p:cNvSpPr>
          <p:nvPr>
            <p:ph type="sldNum" sz="quarter" idx="12"/>
          </p:nvPr>
        </p:nvSpPr>
        <p:spPr/>
        <p:txBody>
          <a:bodyPr/>
          <a:lstStyle/>
          <a:p>
            <a:fld id="{21EF4C0E-91FA-4D94-8941-E22F3A83D5F1}" type="slidenum">
              <a:rPr lang="en-US" smtClean="0"/>
              <a:t>78</a:t>
            </a:fld>
            <a:endParaRPr lang="en-US"/>
          </a:p>
        </p:txBody>
      </p:sp>
      <p:sp>
        <p:nvSpPr>
          <p:cNvPr id="9" name="TextBox 8">
            <a:extLst>
              <a:ext uri="{FF2B5EF4-FFF2-40B4-BE49-F238E27FC236}">
                <a16:creationId xmlns:a16="http://schemas.microsoft.com/office/drawing/2014/main" id="{FD3BDD27-E427-6ACB-5F3E-224E104B6AE3}"/>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https://share.google/images/vkLrLBGpaFURWAhlO</a:t>
            </a:r>
          </a:p>
        </p:txBody>
      </p:sp>
      <p:pic>
        <p:nvPicPr>
          <p:cNvPr id="4098" name="Picture 2" descr="Embeddings, Embeddings Everywhere! | by Tommaso Buonocore | TDS Archive |  Medium">
            <a:extLst>
              <a:ext uri="{FF2B5EF4-FFF2-40B4-BE49-F238E27FC236}">
                <a16:creationId xmlns:a16="http://schemas.microsoft.com/office/drawing/2014/main" id="{406AEE73-F147-C709-A196-70D6036EA7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83" y="2994132"/>
            <a:ext cx="6088117" cy="380080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BCAD13-C646-6271-206E-7767A54B5586}"/>
              </a:ext>
            </a:extLst>
          </p:cNvPr>
          <p:cNvSpPr txBox="1"/>
          <p:nvPr/>
        </p:nvSpPr>
        <p:spPr>
          <a:xfrm>
            <a:off x="4072758" y="1376267"/>
            <a:ext cx="1735090" cy="369332"/>
          </a:xfrm>
          <a:prstGeom prst="rect">
            <a:avLst/>
          </a:prstGeom>
          <a:noFill/>
        </p:spPr>
        <p:txBody>
          <a:bodyPr wrap="none" rtlCol="0">
            <a:spAutoFit/>
          </a:bodyPr>
          <a:lstStyle/>
          <a:p>
            <a:r>
              <a:rPr lang="en-US" dirty="0">
                <a:solidFill>
                  <a:schemeClr val="accent4">
                    <a:lumMod val="75000"/>
                  </a:schemeClr>
                </a:solidFill>
              </a:rPr>
              <a:t>Vector of royalty</a:t>
            </a:r>
          </a:p>
        </p:txBody>
      </p:sp>
      <p:sp>
        <p:nvSpPr>
          <p:cNvPr id="6" name="TextBox 5">
            <a:extLst>
              <a:ext uri="{FF2B5EF4-FFF2-40B4-BE49-F238E27FC236}">
                <a16:creationId xmlns:a16="http://schemas.microsoft.com/office/drawing/2014/main" id="{19F4167B-B1AA-A995-3DF8-EFD4E87F9C54}"/>
              </a:ext>
            </a:extLst>
          </p:cNvPr>
          <p:cNvSpPr txBox="1"/>
          <p:nvPr/>
        </p:nvSpPr>
        <p:spPr>
          <a:xfrm>
            <a:off x="4072758" y="2482322"/>
            <a:ext cx="1754391" cy="369332"/>
          </a:xfrm>
          <a:prstGeom prst="rect">
            <a:avLst/>
          </a:prstGeom>
          <a:noFill/>
          <a:ln>
            <a:noFill/>
          </a:ln>
        </p:spPr>
        <p:txBody>
          <a:bodyPr wrap="none" rtlCol="0">
            <a:spAutoFit/>
          </a:bodyPr>
          <a:lstStyle/>
          <a:p>
            <a:r>
              <a:rPr lang="en-US" dirty="0">
                <a:solidFill>
                  <a:srgbClr val="7030A0"/>
                </a:solidFill>
              </a:rPr>
              <a:t>Vector of gender</a:t>
            </a:r>
          </a:p>
        </p:txBody>
      </p:sp>
      <p:cxnSp>
        <p:nvCxnSpPr>
          <p:cNvPr id="8" name="Straight Arrow Connector 7">
            <a:extLst>
              <a:ext uri="{FF2B5EF4-FFF2-40B4-BE49-F238E27FC236}">
                <a16:creationId xmlns:a16="http://schemas.microsoft.com/office/drawing/2014/main" id="{E66E22F0-FFE8-F8D6-EABB-A30025C79EF5}"/>
              </a:ext>
            </a:extLst>
          </p:cNvPr>
          <p:cNvCxnSpPr>
            <a:cxnSpLocks/>
          </p:cNvCxnSpPr>
          <p:nvPr/>
        </p:nvCxnSpPr>
        <p:spPr>
          <a:xfrm flipH="1">
            <a:off x="3394841" y="1653958"/>
            <a:ext cx="641131" cy="195863"/>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A875B34-6DEF-46D6-C092-B18C33B172ED}"/>
              </a:ext>
            </a:extLst>
          </p:cNvPr>
          <p:cNvCxnSpPr>
            <a:cxnSpLocks/>
            <a:stCxn id="6" idx="1"/>
          </p:cNvCxnSpPr>
          <p:nvPr/>
        </p:nvCxnSpPr>
        <p:spPr>
          <a:xfrm flipH="1" flipV="1">
            <a:off x="3394841" y="2363037"/>
            <a:ext cx="677917" cy="30395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7883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1103F454-5852-7160-4193-85E97B4AF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22818-ED93-0925-5697-CEFD966448EB}"/>
              </a:ext>
            </a:extLst>
          </p:cNvPr>
          <p:cNvSpPr>
            <a:spLocks noGrp="1"/>
          </p:cNvSpPr>
          <p:nvPr>
            <p:ph type="title"/>
          </p:nvPr>
        </p:nvSpPr>
        <p:spPr>
          <a:xfrm>
            <a:off x="457200" y="365126"/>
            <a:ext cx="8229600" cy="592213"/>
          </a:xfrm>
        </p:spPr>
        <p:txBody>
          <a:bodyPr/>
          <a:lstStyle/>
          <a:p>
            <a:r>
              <a:rPr lang="en-US" dirty="0"/>
              <a:t>Applications and Challenges</a:t>
            </a:r>
          </a:p>
        </p:txBody>
      </p:sp>
      <p:sp>
        <p:nvSpPr>
          <p:cNvPr id="5" name="Slide Number Placeholder 4">
            <a:extLst>
              <a:ext uri="{FF2B5EF4-FFF2-40B4-BE49-F238E27FC236}">
                <a16:creationId xmlns:a16="http://schemas.microsoft.com/office/drawing/2014/main" id="{AB54E351-CCED-6486-8CE4-D31A63D826A5}"/>
              </a:ext>
            </a:extLst>
          </p:cNvPr>
          <p:cNvSpPr>
            <a:spLocks noGrp="1"/>
          </p:cNvSpPr>
          <p:nvPr>
            <p:ph type="sldNum" sz="quarter" idx="12"/>
          </p:nvPr>
        </p:nvSpPr>
        <p:spPr/>
        <p:txBody>
          <a:bodyPr/>
          <a:lstStyle/>
          <a:p>
            <a:fld id="{21EF4C0E-91FA-4D94-8941-E22F3A83D5F1}" type="slidenum">
              <a:rPr lang="en-US" smtClean="0"/>
              <a:t>79</a:t>
            </a:fld>
            <a:endParaRPr lang="en-US"/>
          </a:p>
        </p:txBody>
      </p:sp>
      <p:sp>
        <p:nvSpPr>
          <p:cNvPr id="6" name="TextBox 5">
            <a:extLst>
              <a:ext uri="{FF2B5EF4-FFF2-40B4-BE49-F238E27FC236}">
                <a16:creationId xmlns:a16="http://schemas.microsoft.com/office/drawing/2014/main" id="{85D51855-957C-D814-012B-D32EE1E80E0F}"/>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17" name="Group 16">
            <a:extLst>
              <a:ext uri="{FF2B5EF4-FFF2-40B4-BE49-F238E27FC236}">
                <a16:creationId xmlns:a16="http://schemas.microsoft.com/office/drawing/2014/main" id="{E535D7FA-964A-07A1-2E25-8585DBC46F55}"/>
              </a:ext>
            </a:extLst>
          </p:cNvPr>
          <p:cNvGrpSpPr/>
          <p:nvPr/>
        </p:nvGrpSpPr>
        <p:grpSpPr>
          <a:xfrm>
            <a:off x="457200" y="1234439"/>
            <a:ext cx="8395013" cy="3902639"/>
            <a:chOff x="457200" y="1234440"/>
            <a:chExt cx="8395013" cy="2240280"/>
          </a:xfrm>
        </p:grpSpPr>
        <p:sp>
          <p:nvSpPr>
            <p:cNvPr id="18" name="Shape 3">
              <a:extLst>
                <a:ext uri="{FF2B5EF4-FFF2-40B4-BE49-F238E27FC236}">
                  <a16:creationId xmlns:a16="http://schemas.microsoft.com/office/drawing/2014/main" id="{5CB434A7-64E5-A47C-BDB9-C2BB69D32DF3}"/>
                </a:ext>
              </a:extLst>
            </p:cNvPr>
            <p:cNvSpPr/>
            <p:nvPr/>
          </p:nvSpPr>
          <p:spPr>
            <a:xfrm>
              <a:off x="457200" y="1234440"/>
              <a:ext cx="4023360" cy="1508953"/>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9" name="Shape 4">
              <a:extLst>
                <a:ext uri="{FF2B5EF4-FFF2-40B4-BE49-F238E27FC236}">
                  <a16:creationId xmlns:a16="http://schemas.microsoft.com/office/drawing/2014/main" id="{E65AA247-3B08-5462-7C2A-C89CDBBF61CC}"/>
                </a:ext>
              </a:extLst>
            </p:cNvPr>
            <p:cNvSpPr/>
            <p:nvPr/>
          </p:nvSpPr>
          <p:spPr>
            <a:xfrm>
              <a:off x="457200" y="1234440"/>
              <a:ext cx="54864" cy="1371600"/>
            </a:xfrm>
            <a:prstGeom prst="rect">
              <a:avLst/>
            </a:prstGeom>
            <a:solidFill>
              <a:srgbClr val="1C7293"/>
            </a:solidFill>
            <a:ln/>
          </p:spPr>
          <p:txBody>
            <a:bodyPr/>
            <a:lstStyle/>
            <a:p>
              <a:endParaRPr lang="en-US" sz="3200">
                <a:latin typeface="Helvetica Neue Light"/>
              </a:endParaRPr>
            </a:p>
          </p:txBody>
        </p:sp>
        <p:sp>
          <p:nvSpPr>
            <p:cNvPr id="20" name="Text 5">
              <a:extLst>
                <a:ext uri="{FF2B5EF4-FFF2-40B4-BE49-F238E27FC236}">
                  <a16:creationId xmlns:a16="http://schemas.microsoft.com/office/drawing/2014/main" id="{39312248-1ED9-5554-7FB2-532717608660}"/>
                </a:ext>
              </a:extLst>
            </p:cNvPr>
            <p:cNvSpPr/>
            <p:nvPr/>
          </p:nvSpPr>
          <p:spPr>
            <a:xfrm>
              <a:off x="68580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Real-World Applications</a:t>
              </a:r>
              <a:endParaRPr lang="en-US" sz="2000" dirty="0">
                <a:latin typeface="Helvetica Neue Light"/>
              </a:endParaRPr>
            </a:p>
          </p:txBody>
        </p:sp>
        <p:sp>
          <p:nvSpPr>
            <p:cNvPr id="21" name="Text 6">
              <a:extLst>
                <a:ext uri="{FF2B5EF4-FFF2-40B4-BE49-F238E27FC236}">
                  <a16:creationId xmlns:a16="http://schemas.microsoft.com/office/drawing/2014/main" id="{39169991-9F4D-2441-3F57-4F1FB54D4FEB}"/>
                </a:ext>
              </a:extLst>
            </p:cNvPr>
            <p:cNvSpPr/>
            <p:nvPr/>
          </p:nvSpPr>
          <p:spPr>
            <a:xfrm>
              <a:off x="685800" y="1600200"/>
              <a:ext cx="3794760" cy="1005840"/>
            </a:xfrm>
            <a:prstGeom prst="rect">
              <a:avLst/>
            </a:prstGeom>
            <a:noFill/>
            <a:ln/>
          </p:spPr>
          <p:txBody>
            <a:bodyPr wrap="square" rtlCol="0" anchor="t"/>
            <a:lstStyle/>
            <a:p>
              <a:pPr marL="0" indent="0">
                <a:buNone/>
              </a:pPr>
              <a:r>
                <a:rPr lang="en-US" sz="1600" b="1" dirty="0">
                  <a:solidFill>
                    <a:srgbClr val="2D3436"/>
                  </a:solidFill>
                  <a:latin typeface="Helvetica Neue Light"/>
                  <a:ea typeface="Calibri" pitchFamily="34" charset="-122"/>
                  <a:cs typeface="Calibri" pitchFamily="34" charset="-120"/>
                </a:rPr>
                <a:t>Facial recognition </a:t>
              </a:r>
              <a:r>
                <a:rPr lang="en-US" sz="1600" dirty="0">
                  <a:solidFill>
                    <a:srgbClr val="2D3436"/>
                  </a:solidFill>
                  <a:latin typeface="Helvetica Neue Light"/>
                  <a:ea typeface="Calibri" pitchFamily="34" charset="-122"/>
                  <a:cs typeface="Calibri" pitchFamily="34" charset="-120"/>
                </a:rPr>
                <a:t>(comparing face 	embeddings)</a:t>
              </a: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Recommendation systems </a:t>
              </a:r>
              <a:r>
                <a:rPr lang="en-US" sz="1600" dirty="0">
                  <a:solidFill>
                    <a:srgbClr val="2D3436"/>
                  </a:solidFill>
                  <a:latin typeface="Helvetica Neue Light"/>
                  <a:ea typeface="Calibri" pitchFamily="34" charset="-122"/>
                  <a:cs typeface="Calibri" pitchFamily="34" charset="-120"/>
                </a:rPr>
                <a:t>(finding 	similar items)</a:t>
              </a:r>
              <a:endParaRPr lang="en-US" sz="1600" dirty="0">
                <a:latin typeface="Helvetica Neue Light"/>
              </a:endParaRPr>
            </a:p>
            <a:p>
              <a:pPr marL="0" indent="0">
                <a:buNone/>
              </a:pPr>
              <a:r>
                <a:rPr lang="en-US" sz="1600" b="1" dirty="0">
                  <a:solidFill>
                    <a:srgbClr val="2D3436"/>
                  </a:solidFill>
                  <a:latin typeface="Helvetica Neue Light"/>
                  <a:ea typeface="Calibri" pitchFamily="34" charset="-122"/>
                  <a:cs typeface="Calibri" pitchFamily="34" charset="-120"/>
                </a:rPr>
                <a:t>Drug discovery </a:t>
              </a:r>
              <a:r>
                <a:rPr lang="en-US" sz="1600" dirty="0">
                  <a:solidFill>
                    <a:srgbClr val="2D3436"/>
                  </a:solidFill>
                  <a:latin typeface="Helvetica Neue Light"/>
                  <a:ea typeface="Calibri" pitchFamily="34" charset="-122"/>
                  <a:cs typeface="Calibri" pitchFamily="34" charset="-120"/>
                </a:rPr>
                <a:t>(molecular latent spaces)</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Style transfer </a:t>
              </a:r>
              <a:r>
                <a:rPr lang="en-US" sz="1600" dirty="0">
                  <a:solidFill>
                    <a:srgbClr val="2D3436"/>
                  </a:solidFill>
                  <a:latin typeface="Helvetica Neue Light"/>
                  <a:ea typeface="Calibri" pitchFamily="34" charset="-122"/>
                  <a:cs typeface="Calibri" pitchFamily="34" charset="-120"/>
                </a:rPr>
                <a:t>in art</a:t>
              </a:r>
              <a:endParaRPr lang="en-US" sz="1600" dirty="0">
                <a:latin typeface="Helvetica Neue Light"/>
              </a:endParaRPr>
            </a:p>
          </p:txBody>
        </p:sp>
        <p:sp>
          <p:nvSpPr>
            <p:cNvPr id="22" name="Shape 7">
              <a:extLst>
                <a:ext uri="{FF2B5EF4-FFF2-40B4-BE49-F238E27FC236}">
                  <a16:creationId xmlns:a16="http://schemas.microsoft.com/office/drawing/2014/main" id="{078AE9AF-0660-52BA-62BA-FEDFCC770CF7}"/>
                </a:ext>
              </a:extLst>
            </p:cNvPr>
            <p:cNvSpPr/>
            <p:nvPr/>
          </p:nvSpPr>
          <p:spPr>
            <a:xfrm>
              <a:off x="4663439" y="1234440"/>
              <a:ext cx="4188774" cy="1508953"/>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23" name="Shape 8">
              <a:extLst>
                <a:ext uri="{FF2B5EF4-FFF2-40B4-BE49-F238E27FC236}">
                  <a16:creationId xmlns:a16="http://schemas.microsoft.com/office/drawing/2014/main" id="{3AE4A1E2-86DF-F979-7A69-AA4B81765F6A}"/>
                </a:ext>
              </a:extLst>
            </p:cNvPr>
            <p:cNvSpPr/>
            <p:nvPr/>
          </p:nvSpPr>
          <p:spPr>
            <a:xfrm>
              <a:off x="4663440" y="1234440"/>
              <a:ext cx="54864" cy="1371600"/>
            </a:xfrm>
            <a:prstGeom prst="rect">
              <a:avLst/>
            </a:prstGeom>
            <a:solidFill>
              <a:srgbClr val="E07A5F"/>
            </a:solidFill>
            <a:ln/>
          </p:spPr>
          <p:txBody>
            <a:bodyPr/>
            <a:lstStyle/>
            <a:p>
              <a:endParaRPr lang="en-US" sz="3200">
                <a:latin typeface="Helvetica Neue Light"/>
              </a:endParaRPr>
            </a:p>
          </p:txBody>
        </p:sp>
        <p:sp>
          <p:nvSpPr>
            <p:cNvPr id="24" name="Text 9">
              <a:extLst>
                <a:ext uri="{FF2B5EF4-FFF2-40B4-BE49-F238E27FC236}">
                  <a16:creationId xmlns:a16="http://schemas.microsoft.com/office/drawing/2014/main" id="{2A114328-72A6-F26F-53BB-FC6B02396D3C}"/>
                </a:ext>
              </a:extLst>
            </p:cNvPr>
            <p:cNvSpPr/>
            <p:nvPr/>
          </p:nvSpPr>
          <p:spPr>
            <a:xfrm>
              <a:off x="489204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Key Challenges</a:t>
              </a:r>
              <a:endParaRPr lang="en-US" sz="2000" dirty="0">
                <a:latin typeface="Helvetica Neue Light"/>
              </a:endParaRPr>
            </a:p>
          </p:txBody>
        </p:sp>
        <p:sp>
          <p:nvSpPr>
            <p:cNvPr id="25" name="Text 10">
              <a:extLst>
                <a:ext uri="{FF2B5EF4-FFF2-40B4-BE49-F238E27FC236}">
                  <a16:creationId xmlns:a16="http://schemas.microsoft.com/office/drawing/2014/main" id="{9B48044F-3194-34A9-37AF-C315DD97B2DD}"/>
                </a:ext>
              </a:extLst>
            </p:cNvPr>
            <p:cNvSpPr/>
            <p:nvPr/>
          </p:nvSpPr>
          <p:spPr>
            <a:xfrm>
              <a:off x="4892040" y="1600200"/>
              <a:ext cx="3794760" cy="914400"/>
            </a:xfrm>
            <a:prstGeom prst="rect">
              <a:avLst/>
            </a:prstGeom>
            <a:noFill/>
            <a:ln/>
          </p:spPr>
          <p:txBody>
            <a:bodyPr wrap="square" rtlCol="0" anchor="t"/>
            <a:lstStyle/>
            <a:p>
              <a:pPr marL="0" indent="0">
                <a:buNone/>
              </a:pPr>
              <a:r>
                <a:rPr lang="en-US" sz="1600" b="1" dirty="0">
                  <a:solidFill>
                    <a:srgbClr val="2D3436"/>
                  </a:solidFill>
                  <a:latin typeface="Helvetica Neue Light"/>
                  <a:ea typeface="Calibri" pitchFamily="34" charset="-122"/>
                  <a:cs typeface="Calibri" pitchFamily="34" charset="-120"/>
                </a:rPr>
                <a:t>Interpretability Problem: </a:t>
              </a:r>
              <a:r>
                <a:rPr lang="en-US" sz="1600" dirty="0">
                  <a:solidFill>
                    <a:srgbClr val="2D3436"/>
                  </a:solidFill>
                  <a:latin typeface="Helvetica Neue Light"/>
                  <a:ea typeface="Calibri" pitchFamily="34" charset="-122"/>
                  <a:cs typeface="Calibri" pitchFamily="34" charset="-120"/>
                </a:rPr>
                <a:t>Dimensions often encode mixed, entangled concepts</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Disentanglement Challenge: </a:t>
              </a:r>
              <a:r>
                <a:rPr lang="en-US" sz="1600" dirty="0">
                  <a:solidFill>
                    <a:srgbClr val="2D3436"/>
                  </a:solidFill>
                  <a:latin typeface="Helvetica Neue Light"/>
                  <a:ea typeface="Calibri" pitchFamily="34" charset="-122"/>
                  <a:cs typeface="Calibri" pitchFamily="34" charset="-120"/>
                </a:rPr>
                <a:t>Achieving one dimension per concept remains unsolved</a:t>
              </a:r>
              <a:endParaRPr lang="en-US" sz="1600" dirty="0">
                <a:latin typeface="Helvetica Neue Light"/>
              </a:endParaRPr>
            </a:p>
          </p:txBody>
        </p:sp>
        <p:sp>
          <p:nvSpPr>
            <p:cNvPr id="26" name="Shape 11">
              <a:extLst>
                <a:ext uri="{FF2B5EF4-FFF2-40B4-BE49-F238E27FC236}">
                  <a16:creationId xmlns:a16="http://schemas.microsoft.com/office/drawing/2014/main" id="{E0FE03CC-6F7F-D41A-3645-19F98F01B37E}"/>
                </a:ext>
              </a:extLst>
            </p:cNvPr>
            <p:cNvSpPr/>
            <p:nvPr/>
          </p:nvSpPr>
          <p:spPr>
            <a:xfrm>
              <a:off x="457200" y="2788920"/>
              <a:ext cx="8395013" cy="685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27" name="Shape 12">
              <a:extLst>
                <a:ext uri="{FF2B5EF4-FFF2-40B4-BE49-F238E27FC236}">
                  <a16:creationId xmlns:a16="http://schemas.microsoft.com/office/drawing/2014/main" id="{5AF575A1-3814-1E83-CF44-4ED076D482E0}"/>
                </a:ext>
              </a:extLst>
            </p:cNvPr>
            <p:cNvSpPr/>
            <p:nvPr/>
          </p:nvSpPr>
          <p:spPr>
            <a:xfrm>
              <a:off x="457200" y="2788920"/>
              <a:ext cx="54864" cy="685800"/>
            </a:xfrm>
            <a:prstGeom prst="rect">
              <a:avLst/>
            </a:prstGeom>
            <a:solidFill>
              <a:srgbClr val="84B59F"/>
            </a:solidFill>
            <a:ln/>
          </p:spPr>
          <p:txBody>
            <a:bodyPr/>
            <a:lstStyle/>
            <a:p>
              <a:endParaRPr lang="en-US" sz="3200">
                <a:latin typeface="Helvetica Neue Light"/>
              </a:endParaRPr>
            </a:p>
          </p:txBody>
        </p:sp>
        <p:sp>
          <p:nvSpPr>
            <p:cNvPr id="28" name="Text 13">
              <a:extLst>
                <a:ext uri="{FF2B5EF4-FFF2-40B4-BE49-F238E27FC236}">
                  <a16:creationId xmlns:a16="http://schemas.microsoft.com/office/drawing/2014/main" id="{8DC82A7D-ACDA-7A12-E784-8FFE19511DBB}"/>
                </a:ext>
              </a:extLst>
            </p:cNvPr>
            <p:cNvSpPr/>
            <p:nvPr/>
          </p:nvSpPr>
          <p:spPr>
            <a:xfrm>
              <a:off x="685800" y="2926080"/>
              <a:ext cx="8001000" cy="457200"/>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Future Direction: </a:t>
              </a:r>
              <a:r>
                <a:rPr lang="en-US" dirty="0">
                  <a:solidFill>
                    <a:srgbClr val="2D3436"/>
                  </a:solidFill>
                  <a:latin typeface="Helvetica Neue Light"/>
                  <a:ea typeface="Calibri" pitchFamily="34" charset="-122"/>
                  <a:cs typeface="Calibri" pitchFamily="34" charset="-120"/>
                </a:rPr>
                <a:t>Building interpretable latent spaces where each dimension has clear meaning, enabling precise control over AI generation and better understanding of how AI "thinks" about concepts.</a:t>
              </a:r>
              <a:endParaRPr lang="en-US" dirty="0">
                <a:latin typeface="Helvetica Neue Light"/>
              </a:endParaRPr>
            </a:p>
          </p:txBody>
        </p:sp>
      </p:grpSp>
    </p:spTree>
    <p:extLst>
      <p:ext uri="{BB962C8B-B14F-4D97-AF65-F5344CB8AC3E}">
        <p14:creationId xmlns:p14="http://schemas.microsoft.com/office/powerpoint/2010/main" val="26705188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9276E-6EBB-970C-DCC1-D8835941C7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18A873-56CC-A413-E285-3D0DF511F42C}"/>
              </a:ext>
            </a:extLst>
          </p:cNvPr>
          <p:cNvSpPr>
            <a:spLocks noGrp="1"/>
          </p:cNvSpPr>
          <p:nvPr>
            <p:ph type="title"/>
          </p:nvPr>
        </p:nvSpPr>
        <p:spPr>
          <a:xfrm>
            <a:off x="623888" y="3415944"/>
            <a:ext cx="7886700" cy="1146532"/>
          </a:xfrm>
        </p:spPr>
        <p:txBody>
          <a:bodyPr/>
          <a:lstStyle/>
          <a:p>
            <a:r>
              <a:rPr lang="en-US" sz="3200" i="1" dirty="0"/>
              <a:t>Part 15</a:t>
            </a:r>
            <a:br>
              <a:rPr lang="en-US" sz="4400" dirty="0"/>
            </a:br>
            <a:r>
              <a:rPr lang="en-US" sz="4400" dirty="0"/>
              <a:t>	“Jailbroken” Models in AI</a:t>
            </a:r>
          </a:p>
        </p:txBody>
      </p:sp>
      <p:sp>
        <p:nvSpPr>
          <p:cNvPr id="2" name="Text Placeholder 1">
            <a:extLst>
              <a:ext uri="{FF2B5EF4-FFF2-40B4-BE49-F238E27FC236}">
                <a16:creationId xmlns:a16="http://schemas.microsoft.com/office/drawing/2014/main" id="{7934B51B-1756-1735-53FE-C207A15D74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0CD04B-2D77-9DF4-B1F4-1883BDE37F33}"/>
              </a:ext>
            </a:extLst>
          </p:cNvPr>
          <p:cNvSpPr>
            <a:spLocks noGrp="1"/>
          </p:cNvSpPr>
          <p:nvPr>
            <p:ph type="sldNum" sz="quarter" idx="12"/>
          </p:nvPr>
        </p:nvSpPr>
        <p:spPr/>
        <p:txBody>
          <a:bodyPr/>
          <a:lstStyle/>
          <a:p>
            <a:fld id="{21EF4C0E-91FA-4D94-8941-E22F3A83D5F1}" type="slidenum">
              <a:rPr lang="en-US" smtClean="0"/>
              <a:t>80</a:t>
            </a:fld>
            <a:endParaRPr lang="en-US"/>
          </a:p>
        </p:txBody>
      </p:sp>
    </p:spTree>
    <p:extLst>
      <p:ext uri="{BB962C8B-B14F-4D97-AF65-F5344CB8AC3E}">
        <p14:creationId xmlns:p14="http://schemas.microsoft.com/office/powerpoint/2010/main" val="42654096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B5C3A-73D0-1330-F28D-A4847D13D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7C2C3-B019-741C-73B2-B1D31A772C51}"/>
              </a:ext>
            </a:extLst>
          </p:cNvPr>
          <p:cNvSpPr>
            <a:spLocks noGrp="1"/>
          </p:cNvSpPr>
          <p:nvPr>
            <p:ph type="title"/>
          </p:nvPr>
        </p:nvSpPr>
        <p:spPr/>
        <p:txBody>
          <a:bodyPr/>
          <a:lstStyle/>
          <a:p>
            <a:r>
              <a:rPr lang="en-US" dirty="0"/>
              <a:t>“Jailbroken” Models in AI - Video (1:54)</a:t>
            </a:r>
          </a:p>
        </p:txBody>
      </p:sp>
      <p:sp>
        <p:nvSpPr>
          <p:cNvPr id="5" name="Slide Number Placeholder 4">
            <a:extLst>
              <a:ext uri="{FF2B5EF4-FFF2-40B4-BE49-F238E27FC236}">
                <a16:creationId xmlns:a16="http://schemas.microsoft.com/office/drawing/2014/main" id="{59D4D442-ADFE-D902-5816-DF0CD6CC0AAB}"/>
              </a:ext>
            </a:extLst>
          </p:cNvPr>
          <p:cNvSpPr>
            <a:spLocks noGrp="1"/>
          </p:cNvSpPr>
          <p:nvPr>
            <p:ph type="sldNum" sz="quarter" idx="12"/>
          </p:nvPr>
        </p:nvSpPr>
        <p:spPr/>
        <p:txBody>
          <a:bodyPr/>
          <a:lstStyle/>
          <a:p>
            <a:fld id="{21EF4C0E-91FA-4D94-8941-E22F3A83D5F1}" type="slidenum">
              <a:rPr lang="en-US" smtClean="0"/>
              <a:t>81</a:t>
            </a:fld>
            <a:endParaRPr lang="en-US"/>
          </a:p>
        </p:txBody>
      </p:sp>
      <p:sp>
        <p:nvSpPr>
          <p:cNvPr id="9" name="TextBox 8">
            <a:extLst>
              <a:ext uri="{FF2B5EF4-FFF2-40B4-BE49-F238E27FC236}">
                <a16:creationId xmlns:a16="http://schemas.microsoft.com/office/drawing/2014/main" id="{81CF255D-1ADF-D10D-48F4-135D0271BB49}"/>
              </a:ext>
            </a:extLst>
          </p:cNvPr>
          <p:cNvSpPr txBox="1"/>
          <p:nvPr/>
        </p:nvSpPr>
        <p:spPr>
          <a:xfrm>
            <a:off x="457200" y="6578493"/>
            <a:ext cx="3128765" cy="230832"/>
          </a:xfrm>
          <a:prstGeom prst="rect">
            <a:avLst/>
          </a:prstGeom>
          <a:noFill/>
        </p:spPr>
        <p:txBody>
          <a:bodyPr wrap="square">
            <a:spAutoFit/>
          </a:bodyPr>
          <a:lstStyle/>
          <a:p>
            <a:r>
              <a:rPr lang="en-US" sz="900" dirty="0">
                <a:solidFill>
                  <a:schemeClr val="tx1">
                    <a:lumMod val="65000"/>
                  </a:schemeClr>
                </a:solidFill>
              </a:rPr>
              <a:t>https://www.youtube.com/watch?v=qfWbbMMWlG4</a:t>
            </a:r>
          </a:p>
        </p:txBody>
      </p:sp>
      <p:pic>
        <p:nvPicPr>
          <p:cNvPr id="4" name="Online Media 3" title="OpenAI CEO on jailbreaking GPT-4 | Sam Altman and Lex Fridman">
            <a:hlinkClick r:id="" action="ppaction://media"/>
            <a:extLst>
              <a:ext uri="{FF2B5EF4-FFF2-40B4-BE49-F238E27FC236}">
                <a16:creationId xmlns:a16="http://schemas.microsoft.com/office/drawing/2014/main" id="{FA69D353-BD94-9B02-5065-3FCE1ACAC8B5}"/>
              </a:ext>
            </a:extLst>
          </p:cNvPr>
          <p:cNvPicPr>
            <a:picLocks noRot="1" noChangeAspect="1"/>
          </p:cNvPicPr>
          <p:nvPr>
            <a:videoFile r:link="rId1"/>
          </p:nvPr>
        </p:nvPicPr>
        <p:blipFill>
          <a:blip r:embed="rId3"/>
          <a:stretch>
            <a:fillRect/>
          </a:stretch>
        </p:blipFill>
        <p:spPr>
          <a:xfrm>
            <a:off x="520262" y="1530131"/>
            <a:ext cx="8336062" cy="4706402"/>
          </a:xfrm>
          <a:prstGeom prst="rect">
            <a:avLst/>
          </a:prstGeom>
        </p:spPr>
      </p:pic>
      <p:sp>
        <p:nvSpPr>
          <p:cNvPr id="6" name="TextBox 5">
            <a:extLst>
              <a:ext uri="{FF2B5EF4-FFF2-40B4-BE49-F238E27FC236}">
                <a16:creationId xmlns:a16="http://schemas.microsoft.com/office/drawing/2014/main" id="{8B01941A-A337-F7BA-2FC1-12B04F9266E7}"/>
              </a:ext>
            </a:extLst>
          </p:cNvPr>
          <p:cNvSpPr txBox="1"/>
          <p:nvPr/>
        </p:nvSpPr>
        <p:spPr>
          <a:xfrm>
            <a:off x="457200" y="1057147"/>
            <a:ext cx="6172200" cy="369332"/>
          </a:xfrm>
          <a:prstGeom prst="rect">
            <a:avLst/>
          </a:prstGeom>
          <a:noFill/>
        </p:spPr>
        <p:txBody>
          <a:bodyPr wrap="square">
            <a:spAutoFit/>
          </a:bodyPr>
          <a:lstStyle/>
          <a:p>
            <a:r>
              <a:rPr lang="en-US" i="1" dirty="0">
                <a:latin typeface="Helvetica Neue Light"/>
              </a:rPr>
              <a:t>Understanding how AI safety measures can be bypassed</a:t>
            </a:r>
          </a:p>
        </p:txBody>
      </p:sp>
    </p:spTree>
    <p:extLst>
      <p:ext uri="{BB962C8B-B14F-4D97-AF65-F5344CB8AC3E}">
        <p14:creationId xmlns:p14="http://schemas.microsoft.com/office/powerpoint/2010/main" val="278421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E03D6490-D5CE-1016-FB56-CE0CDDBF1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BDD56-78DC-E894-E0C6-0006FFCDA71A}"/>
              </a:ext>
            </a:extLst>
          </p:cNvPr>
          <p:cNvSpPr>
            <a:spLocks noGrp="1"/>
          </p:cNvSpPr>
          <p:nvPr>
            <p:ph type="title"/>
          </p:nvPr>
        </p:nvSpPr>
        <p:spPr>
          <a:xfrm>
            <a:off x="457200" y="365126"/>
            <a:ext cx="8229600" cy="592213"/>
          </a:xfrm>
        </p:spPr>
        <p:txBody>
          <a:bodyPr/>
          <a:lstStyle/>
          <a:p>
            <a:r>
              <a:rPr lang="en-US" dirty="0"/>
              <a:t>Overview</a:t>
            </a:r>
          </a:p>
        </p:txBody>
      </p:sp>
      <p:sp>
        <p:nvSpPr>
          <p:cNvPr id="5" name="Slide Number Placeholder 4">
            <a:extLst>
              <a:ext uri="{FF2B5EF4-FFF2-40B4-BE49-F238E27FC236}">
                <a16:creationId xmlns:a16="http://schemas.microsoft.com/office/drawing/2014/main" id="{C159A46A-0CC3-C03A-F381-B2A7511F4E64}"/>
              </a:ext>
            </a:extLst>
          </p:cNvPr>
          <p:cNvSpPr>
            <a:spLocks noGrp="1"/>
          </p:cNvSpPr>
          <p:nvPr>
            <p:ph type="sldNum" sz="quarter" idx="12"/>
          </p:nvPr>
        </p:nvSpPr>
        <p:spPr/>
        <p:txBody>
          <a:bodyPr/>
          <a:lstStyle/>
          <a:p>
            <a:fld id="{21EF4C0E-91FA-4D94-8941-E22F3A83D5F1}" type="slidenum">
              <a:rPr lang="en-US" smtClean="0"/>
              <a:t>82</a:t>
            </a:fld>
            <a:endParaRPr lang="en-US"/>
          </a:p>
        </p:txBody>
      </p:sp>
      <p:sp>
        <p:nvSpPr>
          <p:cNvPr id="6" name="TextBox 5">
            <a:extLst>
              <a:ext uri="{FF2B5EF4-FFF2-40B4-BE49-F238E27FC236}">
                <a16:creationId xmlns:a16="http://schemas.microsoft.com/office/drawing/2014/main" id="{482790A7-7C6E-2BD5-E795-F155E2FBC5C5}"/>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8ADC69E9-4D40-EAAB-6518-44067537E13C}"/>
              </a:ext>
            </a:extLst>
          </p:cNvPr>
          <p:cNvGrpSpPr/>
          <p:nvPr/>
        </p:nvGrpSpPr>
        <p:grpSpPr>
          <a:xfrm>
            <a:off x="506683" y="957339"/>
            <a:ext cx="8553236" cy="4200589"/>
            <a:chOff x="457200" y="1234440"/>
            <a:chExt cx="8229600" cy="2788920"/>
          </a:xfrm>
        </p:grpSpPr>
        <p:sp>
          <p:nvSpPr>
            <p:cNvPr id="4" name="Shape 3">
              <a:extLst>
                <a:ext uri="{FF2B5EF4-FFF2-40B4-BE49-F238E27FC236}">
                  <a16:creationId xmlns:a16="http://schemas.microsoft.com/office/drawing/2014/main" id="{8028B389-C8BF-5828-9990-6D5DD8F80FD3}"/>
                </a:ext>
              </a:extLst>
            </p:cNvPr>
            <p:cNvSpPr/>
            <p:nvPr/>
          </p:nvSpPr>
          <p:spPr>
            <a:xfrm>
              <a:off x="457200" y="1234440"/>
              <a:ext cx="822960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948C3500-F06D-29D0-1205-B9DD11415AAF}"/>
                </a:ext>
              </a:extLst>
            </p:cNvPr>
            <p:cNvSpPr/>
            <p:nvPr/>
          </p:nvSpPr>
          <p:spPr>
            <a:xfrm>
              <a:off x="457200" y="1234440"/>
              <a:ext cx="54864" cy="91440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4719E81E-0325-DCF9-90B0-0A52EE4F9B61}"/>
                </a:ext>
              </a:extLst>
            </p:cNvPr>
            <p:cNvSpPr/>
            <p:nvPr/>
          </p:nvSpPr>
          <p:spPr>
            <a:xfrm>
              <a:off x="685800" y="1271310"/>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Core Definition:</a:t>
              </a:r>
              <a:endParaRPr lang="en-US" dirty="0">
                <a:latin typeface="Helvetica Neue Light"/>
              </a:endParaRPr>
            </a:p>
          </p:txBody>
        </p:sp>
        <p:sp>
          <p:nvSpPr>
            <p:cNvPr id="9" name="Text 6">
              <a:extLst>
                <a:ext uri="{FF2B5EF4-FFF2-40B4-BE49-F238E27FC236}">
                  <a16:creationId xmlns:a16="http://schemas.microsoft.com/office/drawing/2014/main" id="{F0FB0671-896A-5E84-E3FB-FE3AF93E5B57}"/>
                </a:ext>
              </a:extLst>
            </p:cNvPr>
            <p:cNvSpPr/>
            <p:nvPr/>
          </p:nvSpPr>
          <p:spPr>
            <a:xfrm>
              <a:off x="685800" y="1554480"/>
              <a:ext cx="800100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Jailbreaking is manipulating AI models through crafted prompts to bypass built-in safety restrictions, making them generate prohibited content (harmful, illegal, or unethical outputs) they're designed to refuse.</a:t>
              </a:r>
              <a:endParaRPr lang="en-US" sz="1600" dirty="0">
                <a:latin typeface="Helvetica Neue Light"/>
              </a:endParaRPr>
            </a:p>
          </p:txBody>
        </p:sp>
        <p:sp>
          <p:nvSpPr>
            <p:cNvPr id="10" name="Shape 7">
              <a:extLst>
                <a:ext uri="{FF2B5EF4-FFF2-40B4-BE49-F238E27FC236}">
                  <a16:creationId xmlns:a16="http://schemas.microsoft.com/office/drawing/2014/main" id="{7620C793-C405-1BDA-DB91-EAD062C3A2DC}"/>
                </a:ext>
              </a:extLst>
            </p:cNvPr>
            <p:cNvSpPr/>
            <p:nvPr/>
          </p:nvSpPr>
          <p:spPr>
            <a:xfrm>
              <a:off x="457200" y="2286000"/>
              <a:ext cx="8229600"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6CB845AB-D1E4-7CB2-174E-BE334D0820E7}"/>
                </a:ext>
              </a:extLst>
            </p:cNvPr>
            <p:cNvSpPr/>
            <p:nvPr/>
          </p:nvSpPr>
          <p:spPr>
            <a:xfrm>
              <a:off x="457200" y="2286000"/>
              <a:ext cx="54864" cy="914400"/>
            </a:xfrm>
            <a:prstGeom prst="rect">
              <a:avLst/>
            </a:prstGeom>
            <a:solidFill>
              <a:srgbClr val="1C7293"/>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202FB543-9AE5-1065-4C3B-423998463B3E}"/>
                </a:ext>
              </a:extLst>
            </p:cNvPr>
            <p:cNvSpPr/>
            <p:nvPr/>
          </p:nvSpPr>
          <p:spPr>
            <a:xfrm>
              <a:off x="685800" y="2322872"/>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How It Works:</a:t>
              </a:r>
              <a:endParaRPr lang="en-US" dirty="0">
                <a:latin typeface="Helvetica Neue Light"/>
              </a:endParaRPr>
            </a:p>
          </p:txBody>
        </p:sp>
        <p:sp>
          <p:nvSpPr>
            <p:cNvPr id="13" name="Text 10">
              <a:extLst>
                <a:ext uri="{FF2B5EF4-FFF2-40B4-BE49-F238E27FC236}">
                  <a16:creationId xmlns:a16="http://schemas.microsoft.com/office/drawing/2014/main" id="{779B6F86-1F28-F571-4237-F1AB5583DFA1}"/>
                </a:ext>
              </a:extLst>
            </p:cNvPr>
            <p:cNvSpPr/>
            <p:nvPr/>
          </p:nvSpPr>
          <p:spPr>
            <a:xfrm>
              <a:off x="685800" y="2606040"/>
              <a:ext cx="8001000" cy="5029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Attackers use techniques like roleplay scenarios ("pretend you're a villain"), encoding tricks (Base64, foreign languages), or logical contradictions to confuse the model's safety training while preserving its capabilities.</a:t>
              </a:r>
              <a:endParaRPr lang="en-US" sz="1600" dirty="0">
                <a:latin typeface="Helvetica Neue Light"/>
              </a:endParaRPr>
            </a:p>
          </p:txBody>
        </p:sp>
        <p:sp>
          <p:nvSpPr>
            <p:cNvPr id="14" name="Shape 11">
              <a:extLst>
                <a:ext uri="{FF2B5EF4-FFF2-40B4-BE49-F238E27FC236}">
                  <a16:creationId xmlns:a16="http://schemas.microsoft.com/office/drawing/2014/main" id="{557AD572-B332-3AE2-B5CA-7794A2830F86}"/>
                </a:ext>
              </a:extLst>
            </p:cNvPr>
            <p:cNvSpPr/>
            <p:nvPr/>
          </p:nvSpPr>
          <p:spPr>
            <a:xfrm>
              <a:off x="457200" y="3337560"/>
              <a:ext cx="8229600" cy="685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5" name="Shape 12">
              <a:extLst>
                <a:ext uri="{FF2B5EF4-FFF2-40B4-BE49-F238E27FC236}">
                  <a16:creationId xmlns:a16="http://schemas.microsoft.com/office/drawing/2014/main" id="{390275F2-10DE-823E-8F90-1BDE11E584A5}"/>
                </a:ext>
              </a:extLst>
            </p:cNvPr>
            <p:cNvSpPr/>
            <p:nvPr/>
          </p:nvSpPr>
          <p:spPr>
            <a:xfrm>
              <a:off x="457200" y="3337560"/>
              <a:ext cx="54864" cy="685800"/>
            </a:xfrm>
            <a:prstGeom prst="rect">
              <a:avLst/>
            </a:prstGeom>
            <a:solidFill>
              <a:srgbClr val="84B59F"/>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61A8DA4A-9214-97FD-F0F1-C2968265FDBD}"/>
                </a:ext>
              </a:extLst>
            </p:cNvPr>
            <p:cNvSpPr/>
            <p:nvPr/>
          </p:nvSpPr>
          <p:spPr>
            <a:xfrm>
              <a:off x="685800" y="3474720"/>
              <a:ext cx="8001000" cy="457200"/>
            </a:xfrm>
            <a:prstGeom prst="rect">
              <a:avLst/>
            </a:prstGeom>
            <a:noFill/>
            <a:ln/>
          </p:spPr>
          <p:txBody>
            <a:bodyPr wrap="square" rtlCol="0" anchor="ctr"/>
            <a:lstStyle/>
            <a:p>
              <a:pPr marL="0" indent="0">
                <a:buNone/>
              </a:pPr>
              <a:r>
                <a:rPr lang="en-US" sz="1600" b="1" dirty="0">
                  <a:solidFill>
                    <a:srgbClr val="2D3436"/>
                  </a:solidFill>
                  <a:latin typeface="Helvetica Neue Light"/>
                  <a:ea typeface="Calibri" pitchFamily="34" charset="-122"/>
                  <a:cs typeface="Calibri" pitchFamily="34" charset="-120"/>
                </a:rPr>
                <a:t>The Motivation Spectrum: </a:t>
              </a:r>
              <a:r>
                <a:rPr lang="en-US" sz="1600" dirty="0">
                  <a:solidFill>
                    <a:srgbClr val="2D3436"/>
                  </a:solidFill>
                  <a:latin typeface="Helvetica Neue Light"/>
                  <a:ea typeface="Calibri" pitchFamily="34" charset="-122"/>
                  <a:cs typeface="Calibri" pitchFamily="34" charset="-120"/>
                </a:rPr>
                <a:t>Ranges from researchers testing vulnerabilities and exposing safety flaws, to malicious actors seeking to generate harmful content or misinformation at scale.</a:t>
              </a:r>
              <a:endParaRPr lang="en-US" sz="1600" dirty="0">
                <a:latin typeface="Helvetica Neue Light"/>
              </a:endParaRPr>
            </a:p>
          </p:txBody>
        </p:sp>
      </p:grpSp>
      <p:sp>
        <p:nvSpPr>
          <p:cNvPr id="17" name="TextBox 16">
            <a:extLst>
              <a:ext uri="{FF2B5EF4-FFF2-40B4-BE49-F238E27FC236}">
                <a16:creationId xmlns:a16="http://schemas.microsoft.com/office/drawing/2014/main" id="{FD624220-92C3-B4B2-4827-3291FEC91F68}"/>
              </a:ext>
            </a:extLst>
          </p:cNvPr>
          <p:cNvSpPr txBox="1"/>
          <p:nvPr/>
        </p:nvSpPr>
        <p:spPr>
          <a:xfrm>
            <a:off x="6582824" y="6642035"/>
            <a:ext cx="2477095" cy="215444"/>
          </a:xfrm>
          <a:prstGeom prst="rect">
            <a:avLst/>
          </a:prstGeom>
          <a:noFill/>
        </p:spPr>
        <p:txBody>
          <a:bodyPr wrap="square">
            <a:spAutoFit/>
          </a:bodyPr>
          <a:lstStyle/>
          <a:p>
            <a:r>
              <a:rPr lang="en-US" sz="800" dirty="0">
                <a:solidFill>
                  <a:schemeClr val="bg2">
                    <a:lumMod val="90000"/>
                  </a:schemeClr>
                </a:solidFill>
              </a:rPr>
              <a:t>https://share.google/images/1YtNjUaUcPtkOQyHI</a:t>
            </a:r>
          </a:p>
        </p:txBody>
      </p:sp>
      <p:pic>
        <p:nvPicPr>
          <p:cNvPr id="18" name="Picture 3" descr="Jailbreaking LLM-Controlled Robots – Machine Learning Blog | ML@CMU |  Carnegie Mellon University">
            <a:extLst>
              <a:ext uri="{FF2B5EF4-FFF2-40B4-BE49-F238E27FC236}">
                <a16:creationId xmlns:a16="http://schemas.microsoft.com/office/drawing/2014/main" id="{379B27D8-4CCC-901E-6ADC-AE76B48B92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1177" y="5020973"/>
            <a:ext cx="3346763" cy="1759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0464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DC7FA528-3952-B7BE-D69A-D57D1904B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D6B42-7828-7318-479D-6F8E3004C797}"/>
              </a:ext>
            </a:extLst>
          </p:cNvPr>
          <p:cNvSpPr>
            <a:spLocks noGrp="1"/>
          </p:cNvSpPr>
          <p:nvPr>
            <p:ph type="title"/>
          </p:nvPr>
        </p:nvSpPr>
        <p:spPr>
          <a:xfrm>
            <a:off x="457200" y="365126"/>
            <a:ext cx="8229600" cy="592213"/>
          </a:xfrm>
        </p:spPr>
        <p:txBody>
          <a:bodyPr/>
          <a:lstStyle/>
          <a:p>
            <a:r>
              <a:rPr lang="en-US" dirty="0"/>
              <a:t>Risks &amp; Mitigation</a:t>
            </a:r>
          </a:p>
        </p:txBody>
      </p:sp>
      <p:sp>
        <p:nvSpPr>
          <p:cNvPr id="5" name="Slide Number Placeholder 4">
            <a:extLst>
              <a:ext uri="{FF2B5EF4-FFF2-40B4-BE49-F238E27FC236}">
                <a16:creationId xmlns:a16="http://schemas.microsoft.com/office/drawing/2014/main" id="{F4DE49B3-614C-E8B6-0409-5A81B8D36F58}"/>
              </a:ext>
            </a:extLst>
          </p:cNvPr>
          <p:cNvSpPr>
            <a:spLocks noGrp="1"/>
          </p:cNvSpPr>
          <p:nvPr>
            <p:ph type="sldNum" sz="quarter" idx="12"/>
          </p:nvPr>
        </p:nvSpPr>
        <p:spPr/>
        <p:txBody>
          <a:bodyPr/>
          <a:lstStyle/>
          <a:p>
            <a:fld id="{21EF4C0E-91FA-4D94-8941-E22F3A83D5F1}" type="slidenum">
              <a:rPr lang="en-US" smtClean="0"/>
              <a:t>83</a:t>
            </a:fld>
            <a:endParaRPr lang="en-US"/>
          </a:p>
        </p:txBody>
      </p:sp>
      <p:sp>
        <p:nvSpPr>
          <p:cNvPr id="6" name="TextBox 5">
            <a:extLst>
              <a:ext uri="{FF2B5EF4-FFF2-40B4-BE49-F238E27FC236}">
                <a16:creationId xmlns:a16="http://schemas.microsoft.com/office/drawing/2014/main" id="{B0163669-AE1B-F43B-D840-6B8C49CD8C76}"/>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7D42CADA-EBA8-75C3-D9BB-509E338F11D9}"/>
              </a:ext>
            </a:extLst>
          </p:cNvPr>
          <p:cNvGrpSpPr/>
          <p:nvPr/>
        </p:nvGrpSpPr>
        <p:grpSpPr>
          <a:xfrm>
            <a:off x="457200" y="1234439"/>
            <a:ext cx="8503920" cy="4293057"/>
            <a:chOff x="457200" y="1234440"/>
            <a:chExt cx="8503920" cy="2880360"/>
          </a:xfrm>
        </p:grpSpPr>
        <p:sp>
          <p:nvSpPr>
            <p:cNvPr id="4" name="Shape 3">
              <a:extLst>
                <a:ext uri="{FF2B5EF4-FFF2-40B4-BE49-F238E27FC236}">
                  <a16:creationId xmlns:a16="http://schemas.microsoft.com/office/drawing/2014/main" id="{D0C9F6B0-C097-D8F8-C48A-58B5249599C5}"/>
                </a:ext>
              </a:extLst>
            </p:cNvPr>
            <p:cNvSpPr/>
            <p:nvPr/>
          </p:nvSpPr>
          <p:spPr>
            <a:xfrm>
              <a:off x="457200" y="12344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0E5BEBEC-6F8A-FA73-305E-ED1D38CAAD55}"/>
                </a:ext>
              </a:extLst>
            </p:cNvPr>
            <p:cNvSpPr/>
            <p:nvPr/>
          </p:nvSpPr>
          <p:spPr>
            <a:xfrm>
              <a:off x="457200" y="1234440"/>
              <a:ext cx="54864" cy="77724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D1A291CB-18FF-CE2C-036D-F1D1B4278B2E}"/>
                </a:ext>
              </a:extLst>
            </p:cNvPr>
            <p:cNvSpPr/>
            <p:nvPr/>
          </p:nvSpPr>
          <p:spPr>
            <a:xfrm>
              <a:off x="685800" y="1250057"/>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Arms Race Dynamic:</a:t>
              </a:r>
              <a:endParaRPr lang="en-US" dirty="0">
                <a:latin typeface="Helvetica Neue Light"/>
              </a:endParaRPr>
            </a:p>
          </p:txBody>
        </p:sp>
        <p:sp>
          <p:nvSpPr>
            <p:cNvPr id="9" name="Text 6">
              <a:extLst>
                <a:ext uri="{FF2B5EF4-FFF2-40B4-BE49-F238E27FC236}">
                  <a16:creationId xmlns:a16="http://schemas.microsoft.com/office/drawing/2014/main" id="{73F65CA2-53B0-BCA3-5481-0C5EDEE6974C}"/>
                </a:ext>
              </a:extLst>
            </p:cNvPr>
            <p:cNvSpPr/>
            <p:nvPr/>
          </p:nvSpPr>
          <p:spPr>
            <a:xfrm>
              <a:off x="685800" y="1554480"/>
              <a:ext cx="80010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As developers patch specific jailbreak methods, attackers discover new exploits — creating a continuous cycle of attack and defense that drives AI safety research forward.</a:t>
              </a:r>
              <a:endParaRPr lang="en-US" sz="1600" dirty="0">
                <a:latin typeface="Helvetica Neue Light"/>
              </a:endParaRPr>
            </a:p>
          </p:txBody>
        </p:sp>
        <p:sp>
          <p:nvSpPr>
            <p:cNvPr id="10" name="Shape 7">
              <a:extLst>
                <a:ext uri="{FF2B5EF4-FFF2-40B4-BE49-F238E27FC236}">
                  <a16:creationId xmlns:a16="http://schemas.microsoft.com/office/drawing/2014/main" id="{818BAA85-25D0-EC9D-73D1-15720F122E93}"/>
                </a:ext>
              </a:extLst>
            </p:cNvPr>
            <p:cNvSpPr/>
            <p:nvPr/>
          </p:nvSpPr>
          <p:spPr>
            <a:xfrm>
              <a:off x="457200" y="21488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D5223525-A6C3-DD49-D241-43BA04E69DD7}"/>
                </a:ext>
              </a:extLst>
            </p:cNvPr>
            <p:cNvSpPr/>
            <p:nvPr/>
          </p:nvSpPr>
          <p:spPr>
            <a:xfrm>
              <a:off x="457200" y="2148840"/>
              <a:ext cx="54864" cy="777240"/>
            </a:xfrm>
            <a:prstGeom prst="rect">
              <a:avLst/>
            </a:prstGeom>
            <a:solidFill>
              <a:srgbClr val="1C7293"/>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8DFC706C-1C27-4A6C-7291-6813D793ED73}"/>
                </a:ext>
              </a:extLst>
            </p:cNvPr>
            <p:cNvSpPr/>
            <p:nvPr/>
          </p:nvSpPr>
          <p:spPr>
            <a:xfrm>
              <a:off x="685800" y="2164457"/>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Critical Risk to AI Deployment:</a:t>
              </a:r>
              <a:endParaRPr lang="en-US" dirty="0">
                <a:latin typeface="Helvetica Neue Light"/>
              </a:endParaRPr>
            </a:p>
          </p:txBody>
        </p:sp>
        <p:sp>
          <p:nvSpPr>
            <p:cNvPr id="13" name="Text 10">
              <a:extLst>
                <a:ext uri="{FF2B5EF4-FFF2-40B4-BE49-F238E27FC236}">
                  <a16:creationId xmlns:a16="http://schemas.microsoft.com/office/drawing/2014/main" id="{4B7C0E05-C07B-3AFD-3A74-A6EDF71FD16C}"/>
                </a:ext>
              </a:extLst>
            </p:cNvPr>
            <p:cNvSpPr/>
            <p:nvPr/>
          </p:nvSpPr>
          <p:spPr>
            <a:xfrm>
              <a:off x="685800" y="2468880"/>
              <a:ext cx="80010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Jailbroken models undermine trust in AI systems, could enable automated harassment or scams, and represent a fundamental challenge to deploying powerful AI safely in public-facing applications.</a:t>
              </a:r>
              <a:endParaRPr lang="en-US" sz="1600" dirty="0">
                <a:latin typeface="Helvetica Neue Light"/>
              </a:endParaRPr>
            </a:p>
          </p:txBody>
        </p:sp>
        <p:sp>
          <p:nvSpPr>
            <p:cNvPr id="14" name="Text 11">
              <a:extLst>
                <a:ext uri="{FF2B5EF4-FFF2-40B4-BE49-F238E27FC236}">
                  <a16:creationId xmlns:a16="http://schemas.microsoft.com/office/drawing/2014/main" id="{DB7CC8B1-406B-B515-C5A7-55325EAB57B1}"/>
                </a:ext>
              </a:extLst>
            </p:cNvPr>
            <p:cNvSpPr/>
            <p:nvPr/>
          </p:nvSpPr>
          <p:spPr>
            <a:xfrm>
              <a:off x="457200" y="310896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Defense Layers:</a:t>
              </a:r>
              <a:endParaRPr lang="en-US" sz="2000" dirty="0">
                <a:latin typeface="Helvetica Neue Light"/>
              </a:endParaRPr>
            </a:p>
          </p:txBody>
        </p:sp>
        <p:sp>
          <p:nvSpPr>
            <p:cNvPr id="15" name="Shape 12">
              <a:extLst>
                <a:ext uri="{FF2B5EF4-FFF2-40B4-BE49-F238E27FC236}">
                  <a16:creationId xmlns:a16="http://schemas.microsoft.com/office/drawing/2014/main" id="{6E8112CE-420B-8AD2-245B-A13BD2EF05B5}"/>
                </a:ext>
              </a:extLst>
            </p:cNvPr>
            <p:cNvSpPr/>
            <p:nvPr/>
          </p:nvSpPr>
          <p:spPr>
            <a:xfrm>
              <a:off x="457200" y="3474720"/>
              <a:ext cx="265176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6" name="Shape 13">
              <a:extLst>
                <a:ext uri="{FF2B5EF4-FFF2-40B4-BE49-F238E27FC236}">
                  <a16:creationId xmlns:a16="http://schemas.microsoft.com/office/drawing/2014/main" id="{6F74A1EA-E179-BCA2-583A-1CB3D47F0ED9}"/>
                </a:ext>
              </a:extLst>
            </p:cNvPr>
            <p:cNvSpPr/>
            <p:nvPr/>
          </p:nvSpPr>
          <p:spPr>
            <a:xfrm>
              <a:off x="457200" y="3474720"/>
              <a:ext cx="54864" cy="640080"/>
            </a:xfrm>
            <a:prstGeom prst="rect">
              <a:avLst/>
            </a:prstGeom>
            <a:solidFill>
              <a:srgbClr val="E07A5F"/>
            </a:solidFill>
            <a:ln/>
          </p:spPr>
          <p:txBody>
            <a:bodyPr/>
            <a:lstStyle/>
            <a:p>
              <a:endParaRPr lang="en-US" sz="2800">
                <a:latin typeface="Helvetica Neue Light"/>
              </a:endParaRPr>
            </a:p>
          </p:txBody>
        </p:sp>
        <p:sp>
          <p:nvSpPr>
            <p:cNvPr id="17" name="Text 14">
              <a:extLst>
                <a:ext uri="{FF2B5EF4-FFF2-40B4-BE49-F238E27FC236}">
                  <a16:creationId xmlns:a16="http://schemas.microsoft.com/office/drawing/2014/main" id="{605FC878-5096-496E-E892-03A692F1A8DF}"/>
                </a:ext>
              </a:extLst>
            </p:cNvPr>
            <p:cNvSpPr/>
            <p:nvPr/>
          </p:nvSpPr>
          <p:spPr>
            <a:xfrm>
              <a:off x="740664" y="3490337"/>
              <a:ext cx="2286000"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Input/Output Filters</a:t>
              </a:r>
              <a:endParaRPr lang="en-US" sz="1600" dirty="0">
                <a:latin typeface="Helvetica Neue Light"/>
              </a:endParaRPr>
            </a:p>
          </p:txBody>
        </p:sp>
        <p:sp>
          <p:nvSpPr>
            <p:cNvPr id="18" name="Text 15">
              <a:extLst>
                <a:ext uri="{FF2B5EF4-FFF2-40B4-BE49-F238E27FC236}">
                  <a16:creationId xmlns:a16="http://schemas.microsoft.com/office/drawing/2014/main" id="{37AAF85C-0AB9-E738-9A6A-D839E60EF659}"/>
                </a:ext>
              </a:extLst>
            </p:cNvPr>
            <p:cNvSpPr/>
            <p:nvPr/>
          </p:nvSpPr>
          <p:spPr>
            <a:xfrm>
              <a:off x="740664" y="3794760"/>
              <a:ext cx="228600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Screen prompts and responses</a:t>
              </a:r>
              <a:endParaRPr lang="en-US" sz="1600" dirty="0">
                <a:latin typeface="Helvetica Neue Light"/>
              </a:endParaRPr>
            </a:p>
          </p:txBody>
        </p:sp>
        <p:sp>
          <p:nvSpPr>
            <p:cNvPr id="19" name="Shape 16">
              <a:extLst>
                <a:ext uri="{FF2B5EF4-FFF2-40B4-BE49-F238E27FC236}">
                  <a16:creationId xmlns:a16="http://schemas.microsoft.com/office/drawing/2014/main" id="{72B09D98-F613-5D64-11B6-DCB7D6A6CBAF}"/>
                </a:ext>
              </a:extLst>
            </p:cNvPr>
            <p:cNvSpPr/>
            <p:nvPr/>
          </p:nvSpPr>
          <p:spPr>
            <a:xfrm>
              <a:off x="3383280" y="3474720"/>
              <a:ext cx="265176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20" name="Shape 17">
              <a:extLst>
                <a:ext uri="{FF2B5EF4-FFF2-40B4-BE49-F238E27FC236}">
                  <a16:creationId xmlns:a16="http://schemas.microsoft.com/office/drawing/2014/main" id="{32BFBD0A-F39F-5C7C-A945-BFCE4095BA9B}"/>
                </a:ext>
              </a:extLst>
            </p:cNvPr>
            <p:cNvSpPr/>
            <p:nvPr/>
          </p:nvSpPr>
          <p:spPr>
            <a:xfrm>
              <a:off x="3383280" y="3474720"/>
              <a:ext cx="54864" cy="640080"/>
            </a:xfrm>
            <a:prstGeom prst="rect">
              <a:avLst/>
            </a:prstGeom>
            <a:solidFill>
              <a:srgbClr val="1C7293"/>
            </a:solidFill>
            <a:ln/>
          </p:spPr>
          <p:txBody>
            <a:bodyPr/>
            <a:lstStyle/>
            <a:p>
              <a:endParaRPr lang="en-US" sz="2800">
                <a:latin typeface="Helvetica Neue Light"/>
              </a:endParaRPr>
            </a:p>
          </p:txBody>
        </p:sp>
        <p:sp>
          <p:nvSpPr>
            <p:cNvPr id="21" name="Text 18">
              <a:extLst>
                <a:ext uri="{FF2B5EF4-FFF2-40B4-BE49-F238E27FC236}">
                  <a16:creationId xmlns:a16="http://schemas.microsoft.com/office/drawing/2014/main" id="{48673C5B-FC76-03D3-A2B2-862C29FDB4FA}"/>
                </a:ext>
              </a:extLst>
            </p:cNvPr>
            <p:cNvSpPr/>
            <p:nvPr/>
          </p:nvSpPr>
          <p:spPr>
            <a:xfrm>
              <a:off x="3666744" y="3490337"/>
              <a:ext cx="2286000"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Identity Management</a:t>
              </a:r>
              <a:endParaRPr lang="en-US" sz="1600" dirty="0">
                <a:latin typeface="Helvetica Neue Light"/>
              </a:endParaRPr>
            </a:p>
          </p:txBody>
        </p:sp>
        <p:sp>
          <p:nvSpPr>
            <p:cNvPr id="22" name="Text 19">
              <a:extLst>
                <a:ext uri="{FF2B5EF4-FFF2-40B4-BE49-F238E27FC236}">
                  <a16:creationId xmlns:a16="http://schemas.microsoft.com/office/drawing/2014/main" id="{B889FC87-4E63-C47E-7330-549A75426D76}"/>
                </a:ext>
              </a:extLst>
            </p:cNvPr>
            <p:cNvSpPr/>
            <p:nvPr/>
          </p:nvSpPr>
          <p:spPr>
            <a:xfrm>
              <a:off x="3666744" y="3794760"/>
              <a:ext cx="228600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Control data access</a:t>
              </a:r>
              <a:endParaRPr lang="en-US" sz="1600" dirty="0">
                <a:latin typeface="Helvetica Neue Light"/>
              </a:endParaRPr>
            </a:p>
          </p:txBody>
        </p:sp>
        <p:sp>
          <p:nvSpPr>
            <p:cNvPr id="23" name="Shape 20">
              <a:extLst>
                <a:ext uri="{FF2B5EF4-FFF2-40B4-BE49-F238E27FC236}">
                  <a16:creationId xmlns:a16="http://schemas.microsoft.com/office/drawing/2014/main" id="{E47815DE-86DC-3739-A629-610BA78FDA6F}"/>
                </a:ext>
              </a:extLst>
            </p:cNvPr>
            <p:cNvSpPr/>
            <p:nvPr/>
          </p:nvSpPr>
          <p:spPr>
            <a:xfrm>
              <a:off x="6309360" y="3474720"/>
              <a:ext cx="265176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24" name="Shape 21">
              <a:extLst>
                <a:ext uri="{FF2B5EF4-FFF2-40B4-BE49-F238E27FC236}">
                  <a16:creationId xmlns:a16="http://schemas.microsoft.com/office/drawing/2014/main" id="{8121D3D4-F5D9-E3F4-A25D-3A4F83A7B0D0}"/>
                </a:ext>
              </a:extLst>
            </p:cNvPr>
            <p:cNvSpPr/>
            <p:nvPr/>
          </p:nvSpPr>
          <p:spPr>
            <a:xfrm>
              <a:off x="6309360" y="3474720"/>
              <a:ext cx="54864" cy="640080"/>
            </a:xfrm>
            <a:prstGeom prst="rect">
              <a:avLst/>
            </a:prstGeom>
            <a:solidFill>
              <a:srgbClr val="84B59F"/>
            </a:solidFill>
            <a:ln/>
          </p:spPr>
          <p:txBody>
            <a:bodyPr/>
            <a:lstStyle/>
            <a:p>
              <a:endParaRPr lang="en-US" sz="2800">
                <a:latin typeface="Helvetica Neue Light"/>
              </a:endParaRPr>
            </a:p>
          </p:txBody>
        </p:sp>
        <p:sp>
          <p:nvSpPr>
            <p:cNvPr id="25" name="Text 22">
              <a:extLst>
                <a:ext uri="{FF2B5EF4-FFF2-40B4-BE49-F238E27FC236}">
                  <a16:creationId xmlns:a16="http://schemas.microsoft.com/office/drawing/2014/main" id="{5BD389C6-E22F-DE72-7231-CE8573BD9271}"/>
                </a:ext>
              </a:extLst>
            </p:cNvPr>
            <p:cNvSpPr/>
            <p:nvPr/>
          </p:nvSpPr>
          <p:spPr>
            <a:xfrm>
              <a:off x="6537960" y="3490337"/>
              <a:ext cx="2286000"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Content Filtering</a:t>
              </a:r>
              <a:endParaRPr lang="en-US" sz="1600" dirty="0">
                <a:latin typeface="Helvetica Neue Light"/>
              </a:endParaRPr>
            </a:p>
          </p:txBody>
        </p:sp>
        <p:sp>
          <p:nvSpPr>
            <p:cNvPr id="26" name="Text 23">
              <a:extLst>
                <a:ext uri="{FF2B5EF4-FFF2-40B4-BE49-F238E27FC236}">
                  <a16:creationId xmlns:a16="http://schemas.microsoft.com/office/drawing/2014/main" id="{4CDAE57E-942C-C266-C1D8-A4C854B667F8}"/>
                </a:ext>
              </a:extLst>
            </p:cNvPr>
            <p:cNvSpPr/>
            <p:nvPr/>
          </p:nvSpPr>
          <p:spPr>
            <a:xfrm>
              <a:off x="6537960" y="3794760"/>
              <a:ext cx="228600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Monitor for abuse patterns</a:t>
              </a:r>
              <a:endParaRPr lang="en-US" sz="1600" dirty="0">
                <a:latin typeface="Helvetica Neue Light"/>
              </a:endParaRPr>
            </a:p>
          </p:txBody>
        </p:sp>
      </p:grpSp>
    </p:spTree>
    <p:extLst>
      <p:ext uri="{BB962C8B-B14F-4D97-AF65-F5344CB8AC3E}">
        <p14:creationId xmlns:p14="http://schemas.microsoft.com/office/powerpoint/2010/main" val="35675919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3DBD7-DF72-6E70-14D7-78EC7064D93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F98156-AF6A-1B9A-C572-B82C7BF69A06}"/>
              </a:ext>
            </a:extLst>
          </p:cNvPr>
          <p:cNvSpPr>
            <a:spLocks noGrp="1"/>
          </p:cNvSpPr>
          <p:nvPr>
            <p:ph type="title"/>
          </p:nvPr>
        </p:nvSpPr>
        <p:spPr>
          <a:xfrm>
            <a:off x="623888" y="3305016"/>
            <a:ext cx="7886700" cy="1257460"/>
          </a:xfrm>
        </p:spPr>
        <p:txBody>
          <a:bodyPr/>
          <a:lstStyle/>
          <a:p>
            <a:r>
              <a:rPr lang="en-US" sz="3600" i="1" dirty="0"/>
              <a:t>Part 16:</a:t>
            </a:r>
            <a:br>
              <a:rPr lang="en-US" sz="3600" i="1" dirty="0"/>
            </a:br>
            <a:r>
              <a:rPr lang="en-US" sz="3600" i="1" dirty="0"/>
              <a:t>	</a:t>
            </a:r>
            <a:r>
              <a:rPr lang="en-US" sz="4800" dirty="0"/>
              <a:t>“Vibe Coding” in AI</a:t>
            </a:r>
          </a:p>
        </p:txBody>
      </p:sp>
      <p:sp>
        <p:nvSpPr>
          <p:cNvPr id="2" name="Text Placeholder 1">
            <a:extLst>
              <a:ext uri="{FF2B5EF4-FFF2-40B4-BE49-F238E27FC236}">
                <a16:creationId xmlns:a16="http://schemas.microsoft.com/office/drawing/2014/main" id="{8F6BE589-3134-596E-3D27-CA471B8B48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30FA77-A745-98AA-1335-FE1C76BAD112}"/>
              </a:ext>
            </a:extLst>
          </p:cNvPr>
          <p:cNvSpPr>
            <a:spLocks noGrp="1"/>
          </p:cNvSpPr>
          <p:nvPr>
            <p:ph type="sldNum" sz="quarter" idx="12"/>
          </p:nvPr>
        </p:nvSpPr>
        <p:spPr/>
        <p:txBody>
          <a:bodyPr/>
          <a:lstStyle/>
          <a:p>
            <a:fld id="{21EF4C0E-91FA-4D94-8941-E22F3A83D5F1}" type="slidenum">
              <a:rPr lang="en-US" smtClean="0"/>
              <a:t>84</a:t>
            </a:fld>
            <a:endParaRPr lang="en-US"/>
          </a:p>
        </p:txBody>
      </p:sp>
    </p:spTree>
    <p:extLst>
      <p:ext uri="{BB962C8B-B14F-4D97-AF65-F5344CB8AC3E}">
        <p14:creationId xmlns:p14="http://schemas.microsoft.com/office/powerpoint/2010/main" val="8297803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B6643-ECA3-1194-6314-604219979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3D74D-3D55-E6B4-6AA4-C8474D14DD75}"/>
              </a:ext>
            </a:extLst>
          </p:cNvPr>
          <p:cNvSpPr>
            <a:spLocks noGrp="1"/>
          </p:cNvSpPr>
          <p:nvPr>
            <p:ph type="title"/>
          </p:nvPr>
        </p:nvSpPr>
        <p:spPr/>
        <p:txBody>
          <a:bodyPr/>
          <a:lstStyle/>
          <a:p>
            <a:r>
              <a:rPr lang="en-US" dirty="0"/>
              <a:t>Vibe Coding in AI (3:36)</a:t>
            </a:r>
          </a:p>
        </p:txBody>
      </p:sp>
      <p:sp>
        <p:nvSpPr>
          <p:cNvPr id="5" name="Slide Number Placeholder 4">
            <a:extLst>
              <a:ext uri="{FF2B5EF4-FFF2-40B4-BE49-F238E27FC236}">
                <a16:creationId xmlns:a16="http://schemas.microsoft.com/office/drawing/2014/main" id="{816EBA68-BD8B-5795-04F8-7924B04A68AD}"/>
              </a:ext>
            </a:extLst>
          </p:cNvPr>
          <p:cNvSpPr>
            <a:spLocks noGrp="1"/>
          </p:cNvSpPr>
          <p:nvPr>
            <p:ph type="sldNum" sz="quarter" idx="12"/>
          </p:nvPr>
        </p:nvSpPr>
        <p:spPr/>
        <p:txBody>
          <a:bodyPr/>
          <a:lstStyle/>
          <a:p>
            <a:fld id="{21EF4C0E-91FA-4D94-8941-E22F3A83D5F1}" type="slidenum">
              <a:rPr lang="en-US" smtClean="0"/>
              <a:t>85</a:t>
            </a:fld>
            <a:endParaRPr lang="en-US"/>
          </a:p>
        </p:txBody>
      </p:sp>
      <p:sp>
        <p:nvSpPr>
          <p:cNvPr id="9" name="TextBox 8">
            <a:extLst>
              <a:ext uri="{FF2B5EF4-FFF2-40B4-BE49-F238E27FC236}">
                <a16:creationId xmlns:a16="http://schemas.microsoft.com/office/drawing/2014/main" id="{DF9AC657-759B-E6D4-780E-A2A85832522E}"/>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https://www.youtube.com/watch?v=w-Dk7sTba2I</a:t>
            </a:r>
          </a:p>
        </p:txBody>
      </p:sp>
      <p:pic>
        <p:nvPicPr>
          <p:cNvPr id="3" name="Online Media 2" title="'Vibe coding' comes to big tech">
            <a:hlinkClick r:id="" action="ppaction://media"/>
            <a:extLst>
              <a:ext uri="{FF2B5EF4-FFF2-40B4-BE49-F238E27FC236}">
                <a16:creationId xmlns:a16="http://schemas.microsoft.com/office/drawing/2014/main" id="{19B766B8-CBB1-39D1-BCD0-BFC4F21ACCAE}"/>
              </a:ext>
            </a:extLst>
          </p:cNvPr>
          <p:cNvPicPr>
            <a:picLocks noRot="1" noChangeAspect="1"/>
          </p:cNvPicPr>
          <p:nvPr>
            <a:videoFile r:link="rId1"/>
          </p:nvPr>
        </p:nvPicPr>
        <p:blipFill>
          <a:blip r:embed="rId3"/>
          <a:stretch>
            <a:fillRect/>
          </a:stretch>
        </p:blipFill>
        <p:spPr>
          <a:xfrm>
            <a:off x="593835" y="1705369"/>
            <a:ext cx="8271641" cy="4670031"/>
          </a:xfrm>
          <a:prstGeom prst="rect">
            <a:avLst/>
          </a:prstGeom>
        </p:spPr>
      </p:pic>
      <p:sp>
        <p:nvSpPr>
          <p:cNvPr id="6" name="TextBox 5">
            <a:extLst>
              <a:ext uri="{FF2B5EF4-FFF2-40B4-BE49-F238E27FC236}">
                <a16:creationId xmlns:a16="http://schemas.microsoft.com/office/drawing/2014/main" id="{1D1A4EBE-9C97-16BE-8629-D61E0A952BFC}"/>
              </a:ext>
            </a:extLst>
          </p:cNvPr>
          <p:cNvSpPr txBox="1"/>
          <p:nvPr/>
        </p:nvSpPr>
        <p:spPr>
          <a:xfrm>
            <a:off x="457200" y="1146688"/>
            <a:ext cx="4572000" cy="369332"/>
          </a:xfrm>
          <a:prstGeom prst="rect">
            <a:avLst/>
          </a:prstGeom>
          <a:noFill/>
        </p:spPr>
        <p:txBody>
          <a:bodyPr wrap="square">
            <a:spAutoFit/>
          </a:bodyPr>
          <a:lstStyle/>
          <a:p>
            <a:r>
              <a:rPr lang="en-US" i="1" dirty="0">
                <a:latin typeface="Helvetica Neue Light"/>
              </a:rPr>
              <a:t>The rise of natural language programming</a:t>
            </a:r>
          </a:p>
        </p:txBody>
      </p:sp>
    </p:spTree>
    <p:extLst>
      <p:ext uri="{BB962C8B-B14F-4D97-AF65-F5344CB8AC3E}">
        <p14:creationId xmlns:p14="http://schemas.microsoft.com/office/powerpoint/2010/main" val="98665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5DEB9689-B6E5-8DB4-AF2D-5B546A520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7EFCC-FB3B-9611-69E1-EE47B7DB381C}"/>
              </a:ext>
            </a:extLst>
          </p:cNvPr>
          <p:cNvSpPr>
            <a:spLocks noGrp="1"/>
          </p:cNvSpPr>
          <p:nvPr>
            <p:ph type="title"/>
          </p:nvPr>
        </p:nvSpPr>
        <p:spPr>
          <a:xfrm>
            <a:off x="457200" y="365126"/>
            <a:ext cx="8229600" cy="592213"/>
          </a:xfrm>
        </p:spPr>
        <p:txBody>
          <a:bodyPr/>
          <a:lstStyle/>
          <a:p>
            <a:r>
              <a:rPr lang="en-US" dirty="0"/>
              <a:t>Overview</a:t>
            </a:r>
          </a:p>
        </p:txBody>
      </p:sp>
      <p:sp>
        <p:nvSpPr>
          <p:cNvPr id="5" name="Slide Number Placeholder 4">
            <a:extLst>
              <a:ext uri="{FF2B5EF4-FFF2-40B4-BE49-F238E27FC236}">
                <a16:creationId xmlns:a16="http://schemas.microsoft.com/office/drawing/2014/main" id="{6803AD64-76C1-8AD6-CAEE-548CB0D76D7A}"/>
              </a:ext>
            </a:extLst>
          </p:cNvPr>
          <p:cNvSpPr>
            <a:spLocks noGrp="1"/>
          </p:cNvSpPr>
          <p:nvPr>
            <p:ph type="sldNum" sz="quarter" idx="12"/>
          </p:nvPr>
        </p:nvSpPr>
        <p:spPr/>
        <p:txBody>
          <a:bodyPr/>
          <a:lstStyle/>
          <a:p>
            <a:fld id="{21EF4C0E-91FA-4D94-8941-E22F3A83D5F1}" type="slidenum">
              <a:rPr lang="en-US" smtClean="0"/>
              <a:t>86</a:t>
            </a:fld>
            <a:endParaRPr lang="en-US"/>
          </a:p>
        </p:txBody>
      </p:sp>
      <p:grpSp>
        <p:nvGrpSpPr>
          <p:cNvPr id="3" name="Group 2">
            <a:extLst>
              <a:ext uri="{FF2B5EF4-FFF2-40B4-BE49-F238E27FC236}">
                <a16:creationId xmlns:a16="http://schemas.microsoft.com/office/drawing/2014/main" id="{27C7E84D-FDBF-2593-F021-5AFC04A7CE9A}"/>
              </a:ext>
            </a:extLst>
          </p:cNvPr>
          <p:cNvGrpSpPr/>
          <p:nvPr/>
        </p:nvGrpSpPr>
        <p:grpSpPr>
          <a:xfrm>
            <a:off x="451549" y="1234439"/>
            <a:ext cx="9060265" cy="3781712"/>
            <a:chOff x="451549" y="1234440"/>
            <a:chExt cx="9060265" cy="2890017"/>
          </a:xfrm>
        </p:grpSpPr>
        <p:sp>
          <p:nvSpPr>
            <p:cNvPr id="4" name="Shape 3">
              <a:extLst>
                <a:ext uri="{FF2B5EF4-FFF2-40B4-BE49-F238E27FC236}">
                  <a16:creationId xmlns:a16="http://schemas.microsoft.com/office/drawing/2014/main" id="{8240B571-E23A-2D99-F9AF-222767A80C43}"/>
                </a:ext>
              </a:extLst>
            </p:cNvPr>
            <p:cNvSpPr/>
            <p:nvPr/>
          </p:nvSpPr>
          <p:spPr>
            <a:xfrm>
              <a:off x="457199" y="1234440"/>
              <a:ext cx="8501865" cy="9144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7" name="Shape 4">
              <a:extLst>
                <a:ext uri="{FF2B5EF4-FFF2-40B4-BE49-F238E27FC236}">
                  <a16:creationId xmlns:a16="http://schemas.microsoft.com/office/drawing/2014/main" id="{26395A56-8BF0-8B1D-5A77-004F6941576F}"/>
                </a:ext>
              </a:extLst>
            </p:cNvPr>
            <p:cNvSpPr/>
            <p:nvPr/>
          </p:nvSpPr>
          <p:spPr>
            <a:xfrm>
              <a:off x="457200" y="1234440"/>
              <a:ext cx="54864" cy="914400"/>
            </a:xfrm>
            <a:prstGeom prst="rect">
              <a:avLst/>
            </a:prstGeom>
            <a:solidFill>
              <a:srgbClr val="E07A5F"/>
            </a:solidFill>
            <a:ln/>
          </p:spPr>
          <p:txBody>
            <a:bodyPr/>
            <a:lstStyle/>
            <a:p>
              <a:endParaRPr lang="en-US" sz="2800">
                <a:latin typeface="Helvetica Neue Light"/>
              </a:endParaRPr>
            </a:p>
          </p:txBody>
        </p:sp>
        <p:sp>
          <p:nvSpPr>
            <p:cNvPr id="8" name="Text 5">
              <a:extLst>
                <a:ext uri="{FF2B5EF4-FFF2-40B4-BE49-F238E27FC236}">
                  <a16:creationId xmlns:a16="http://schemas.microsoft.com/office/drawing/2014/main" id="{0237DA04-ABB6-92BF-2C3E-15527901867F}"/>
                </a:ext>
              </a:extLst>
            </p:cNvPr>
            <p:cNvSpPr/>
            <p:nvPr/>
          </p:nvSpPr>
          <p:spPr>
            <a:xfrm>
              <a:off x="685800" y="1263067"/>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Core Definition:</a:t>
              </a:r>
              <a:endParaRPr lang="en-US" dirty="0">
                <a:latin typeface="Helvetica Neue Light"/>
              </a:endParaRPr>
            </a:p>
          </p:txBody>
        </p:sp>
        <p:sp>
          <p:nvSpPr>
            <p:cNvPr id="9" name="Text 6">
              <a:extLst>
                <a:ext uri="{FF2B5EF4-FFF2-40B4-BE49-F238E27FC236}">
                  <a16:creationId xmlns:a16="http://schemas.microsoft.com/office/drawing/2014/main" id="{11D6851C-D525-F3F4-373E-FE4281EFD7FC}"/>
                </a:ext>
              </a:extLst>
            </p:cNvPr>
            <p:cNvSpPr/>
            <p:nvPr/>
          </p:nvSpPr>
          <p:spPr>
            <a:xfrm>
              <a:off x="685800" y="1554480"/>
              <a:ext cx="8218400" cy="502920"/>
            </a:xfrm>
            <a:prstGeom prst="rect">
              <a:avLst/>
            </a:prstGeom>
            <a:noFill/>
            <a:ln/>
          </p:spPr>
          <p:txBody>
            <a:bodyPr wrap="square" rtlCol="0" anchor="ctr"/>
            <a:lstStyle/>
            <a:p>
              <a:r>
                <a:rPr lang="en-US" sz="1600" dirty="0">
                  <a:solidFill>
                    <a:srgbClr val="2D3436"/>
                  </a:solidFill>
                  <a:latin typeface="Helvetica Neue Light"/>
                  <a:ea typeface="Calibri" pitchFamily="34" charset="-122"/>
                  <a:cs typeface="Calibri" pitchFamily="34" charset="-120"/>
                </a:rPr>
                <a:t>Vibe coding (a term coined by Andrej </a:t>
              </a:r>
              <a:r>
                <a:rPr lang="en-US" sz="1600" dirty="0" err="1">
                  <a:solidFill>
                    <a:srgbClr val="2D3436"/>
                  </a:solidFill>
                  <a:latin typeface="Helvetica Neue Light"/>
                  <a:ea typeface="Calibri" pitchFamily="34" charset="-122"/>
                  <a:cs typeface="Calibri" pitchFamily="34" charset="-120"/>
                </a:rPr>
                <a:t>Karpathy</a:t>
              </a:r>
              <a:r>
                <a:rPr lang="en-US" sz="1600" dirty="0">
                  <a:solidFill>
                    <a:srgbClr val="2D3436"/>
                  </a:solidFill>
                  <a:latin typeface="Helvetica Neue Light"/>
                  <a:ea typeface="Calibri" pitchFamily="34" charset="-122"/>
                  <a:cs typeface="Calibri" pitchFamily="34" charset="-120"/>
                </a:rPr>
                <a:t> in February 2025 ) is writing software by describing what you want in natural language rather than explicit syntax — telling AI the "vibe" of your program and letting it handle implementation details. </a:t>
              </a:r>
              <a:endParaRPr lang="en-US" sz="1600" dirty="0">
                <a:latin typeface="Helvetica Neue Light"/>
              </a:endParaRPr>
            </a:p>
          </p:txBody>
        </p:sp>
        <p:sp>
          <p:nvSpPr>
            <p:cNvPr id="10" name="Shape 7">
              <a:extLst>
                <a:ext uri="{FF2B5EF4-FFF2-40B4-BE49-F238E27FC236}">
                  <a16:creationId xmlns:a16="http://schemas.microsoft.com/office/drawing/2014/main" id="{D074D717-DC79-840B-6D5A-BAA4E7BA70A0}"/>
                </a:ext>
              </a:extLst>
            </p:cNvPr>
            <p:cNvSpPr/>
            <p:nvPr/>
          </p:nvSpPr>
          <p:spPr>
            <a:xfrm>
              <a:off x="457199" y="2286000"/>
              <a:ext cx="8501865"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1" name="Shape 8">
              <a:extLst>
                <a:ext uri="{FF2B5EF4-FFF2-40B4-BE49-F238E27FC236}">
                  <a16:creationId xmlns:a16="http://schemas.microsoft.com/office/drawing/2014/main" id="{40F57141-360F-2C8E-FF41-199C9C93BC2C}"/>
                </a:ext>
              </a:extLst>
            </p:cNvPr>
            <p:cNvSpPr/>
            <p:nvPr/>
          </p:nvSpPr>
          <p:spPr>
            <a:xfrm>
              <a:off x="457200" y="2286000"/>
              <a:ext cx="54864" cy="777240"/>
            </a:xfrm>
            <a:prstGeom prst="rect">
              <a:avLst/>
            </a:prstGeom>
            <a:solidFill>
              <a:srgbClr val="1C7293"/>
            </a:solidFill>
            <a:ln/>
          </p:spPr>
          <p:txBody>
            <a:bodyPr/>
            <a:lstStyle/>
            <a:p>
              <a:endParaRPr lang="en-US" sz="2800">
                <a:latin typeface="Helvetica Neue Light"/>
              </a:endParaRPr>
            </a:p>
          </p:txBody>
        </p:sp>
        <p:sp>
          <p:nvSpPr>
            <p:cNvPr id="12" name="Text 9">
              <a:extLst>
                <a:ext uri="{FF2B5EF4-FFF2-40B4-BE49-F238E27FC236}">
                  <a16:creationId xmlns:a16="http://schemas.microsoft.com/office/drawing/2014/main" id="{7E8872CB-1678-BBFC-EFA7-2DC0DD36A664}"/>
                </a:ext>
              </a:extLst>
            </p:cNvPr>
            <p:cNvSpPr/>
            <p:nvPr/>
          </p:nvSpPr>
          <p:spPr>
            <a:xfrm>
              <a:off x="685800" y="2314628"/>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The Paradigm Shift:</a:t>
              </a:r>
              <a:endParaRPr lang="en-US" dirty="0">
                <a:latin typeface="Helvetica Neue Light"/>
              </a:endParaRPr>
            </a:p>
          </p:txBody>
        </p:sp>
        <p:sp>
          <p:nvSpPr>
            <p:cNvPr id="13" name="Text 10">
              <a:extLst>
                <a:ext uri="{FF2B5EF4-FFF2-40B4-BE49-F238E27FC236}">
                  <a16:creationId xmlns:a16="http://schemas.microsoft.com/office/drawing/2014/main" id="{3BAEE998-EC03-769F-B690-089BC6AEDAE4}"/>
                </a:ext>
              </a:extLst>
            </p:cNvPr>
            <p:cNvSpPr/>
            <p:nvPr/>
          </p:nvSpPr>
          <p:spPr>
            <a:xfrm>
              <a:off x="685800" y="2606040"/>
              <a:ext cx="80010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Moving from "write every line of code" to "describe the outcome you want" — like being a director rather than an actor in software development.</a:t>
              </a:r>
              <a:endParaRPr lang="en-US" sz="1600" dirty="0">
                <a:latin typeface="Helvetica Neue Light"/>
              </a:endParaRPr>
            </a:p>
          </p:txBody>
        </p:sp>
        <p:sp>
          <p:nvSpPr>
            <p:cNvPr id="14" name="Text 11">
              <a:extLst>
                <a:ext uri="{FF2B5EF4-FFF2-40B4-BE49-F238E27FC236}">
                  <a16:creationId xmlns:a16="http://schemas.microsoft.com/office/drawing/2014/main" id="{B5D78B5E-3A83-E7F4-4C7F-066086921A92}"/>
                </a:ext>
              </a:extLst>
            </p:cNvPr>
            <p:cNvSpPr/>
            <p:nvPr/>
          </p:nvSpPr>
          <p:spPr>
            <a:xfrm>
              <a:off x="457200" y="3246120"/>
              <a:ext cx="8229600" cy="320040"/>
            </a:xfrm>
            <a:prstGeom prst="rect">
              <a:avLst/>
            </a:prstGeom>
            <a:noFill/>
            <a:ln/>
          </p:spPr>
          <p:txBody>
            <a:bodyPr wrap="square" rtlCol="0" anchor="ctr"/>
            <a:lstStyle/>
            <a:p>
              <a:pPr marL="0" indent="0">
                <a:buNone/>
              </a:pPr>
              <a:r>
                <a:rPr lang="en-US" sz="2000" b="1" dirty="0">
                  <a:solidFill>
                    <a:srgbClr val="065A82"/>
                  </a:solidFill>
                  <a:latin typeface="Helvetica Neue Light"/>
                  <a:ea typeface="Georgia" pitchFamily="34" charset="-122"/>
                  <a:cs typeface="Georgia" pitchFamily="34" charset="-120"/>
                </a:rPr>
                <a:t>Typical Workflow:</a:t>
              </a:r>
              <a:endParaRPr lang="en-US" sz="2000" dirty="0">
                <a:latin typeface="Helvetica Neue Light"/>
              </a:endParaRPr>
            </a:p>
          </p:txBody>
        </p:sp>
        <p:sp>
          <p:nvSpPr>
            <p:cNvPr id="15" name="Shape 12">
              <a:extLst>
                <a:ext uri="{FF2B5EF4-FFF2-40B4-BE49-F238E27FC236}">
                  <a16:creationId xmlns:a16="http://schemas.microsoft.com/office/drawing/2014/main" id="{EE4BA82C-0141-06A9-CA0F-2180F4D77830}"/>
                </a:ext>
              </a:extLst>
            </p:cNvPr>
            <p:cNvSpPr/>
            <p:nvPr/>
          </p:nvSpPr>
          <p:spPr>
            <a:xfrm>
              <a:off x="457200" y="3675111"/>
              <a:ext cx="365760" cy="302530"/>
            </a:xfrm>
            <a:prstGeom prst="ellipse">
              <a:avLst/>
            </a:prstGeom>
            <a:solidFill>
              <a:srgbClr val="1C7293"/>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CA4DCDE6-388C-180E-4BD4-61BE0012291B}"/>
                </a:ext>
              </a:extLst>
            </p:cNvPr>
            <p:cNvSpPr/>
            <p:nvPr/>
          </p:nvSpPr>
          <p:spPr>
            <a:xfrm>
              <a:off x="451549" y="3655015"/>
              <a:ext cx="365760" cy="320040"/>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1</a:t>
              </a:r>
              <a:endParaRPr lang="en-US" sz="2000" dirty="0">
                <a:latin typeface="Helvetica Neue Light"/>
              </a:endParaRPr>
            </a:p>
          </p:txBody>
        </p:sp>
        <p:sp>
          <p:nvSpPr>
            <p:cNvPr id="17" name="Text 14">
              <a:extLst>
                <a:ext uri="{FF2B5EF4-FFF2-40B4-BE49-F238E27FC236}">
                  <a16:creationId xmlns:a16="http://schemas.microsoft.com/office/drawing/2014/main" id="{6C6EC01D-65B4-DB65-BA33-29D472A2D0C9}"/>
                </a:ext>
              </a:extLst>
            </p:cNvPr>
            <p:cNvSpPr/>
            <p:nvPr/>
          </p:nvSpPr>
          <p:spPr>
            <a:xfrm>
              <a:off x="914399" y="3566160"/>
              <a:ext cx="2013735"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Describe</a:t>
              </a:r>
              <a:endParaRPr lang="en-US" sz="1600" dirty="0">
                <a:latin typeface="Helvetica Neue Light"/>
              </a:endParaRPr>
            </a:p>
          </p:txBody>
        </p:sp>
        <p:sp>
          <p:nvSpPr>
            <p:cNvPr id="18" name="Text 15">
              <a:extLst>
                <a:ext uri="{FF2B5EF4-FFF2-40B4-BE49-F238E27FC236}">
                  <a16:creationId xmlns:a16="http://schemas.microsoft.com/office/drawing/2014/main" id="{85A5A25F-E183-D112-888D-CB08CCF48226}"/>
                </a:ext>
              </a:extLst>
            </p:cNvPr>
            <p:cNvSpPr/>
            <p:nvPr/>
          </p:nvSpPr>
          <p:spPr>
            <a:xfrm>
              <a:off x="914399" y="3794760"/>
              <a:ext cx="2013735" cy="3200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Write comments/descriptions</a:t>
              </a:r>
              <a:endParaRPr lang="en-US" sz="1400" dirty="0">
                <a:latin typeface="Helvetica Neue Light"/>
              </a:endParaRPr>
            </a:p>
          </p:txBody>
        </p:sp>
        <p:sp>
          <p:nvSpPr>
            <p:cNvPr id="19" name="Shape 16">
              <a:extLst>
                <a:ext uri="{FF2B5EF4-FFF2-40B4-BE49-F238E27FC236}">
                  <a16:creationId xmlns:a16="http://schemas.microsoft.com/office/drawing/2014/main" id="{E0CCD6AD-B2B3-5C7F-306B-F2B24EEFEE9B}"/>
                </a:ext>
              </a:extLst>
            </p:cNvPr>
            <p:cNvSpPr/>
            <p:nvPr/>
          </p:nvSpPr>
          <p:spPr>
            <a:xfrm>
              <a:off x="2826418" y="3675111"/>
              <a:ext cx="365760" cy="302530"/>
            </a:xfrm>
            <a:prstGeom prst="ellipse">
              <a:avLst/>
            </a:prstGeom>
            <a:solidFill>
              <a:srgbClr val="1C7293"/>
            </a:solidFill>
            <a:ln/>
          </p:spPr>
          <p:txBody>
            <a:bodyPr/>
            <a:lstStyle/>
            <a:p>
              <a:endParaRPr lang="en-US" sz="2800">
                <a:latin typeface="Helvetica Neue Light"/>
              </a:endParaRPr>
            </a:p>
          </p:txBody>
        </p:sp>
        <p:sp>
          <p:nvSpPr>
            <p:cNvPr id="20" name="Text 17">
              <a:extLst>
                <a:ext uri="{FF2B5EF4-FFF2-40B4-BE49-F238E27FC236}">
                  <a16:creationId xmlns:a16="http://schemas.microsoft.com/office/drawing/2014/main" id="{D6550261-A3D8-26CF-063F-2B3CC63F398C}"/>
                </a:ext>
              </a:extLst>
            </p:cNvPr>
            <p:cNvSpPr/>
            <p:nvPr/>
          </p:nvSpPr>
          <p:spPr>
            <a:xfrm>
              <a:off x="2826418" y="3682962"/>
              <a:ext cx="365760" cy="276388"/>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2</a:t>
              </a:r>
              <a:endParaRPr lang="en-US" sz="2000" dirty="0">
                <a:latin typeface="Helvetica Neue Light"/>
              </a:endParaRPr>
            </a:p>
          </p:txBody>
        </p:sp>
        <p:sp>
          <p:nvSpPr>
            <p:cNvPr id="21" name="Text 18">
              <a:extLst>
                <a:ext uri="{FF2B5EF4-FFF2-40B4-BE49-F238E27FC236}">
                  <a16:creationId xmlns:a16="http://schemas.microsoft.com/office/drawing/2014/main" id="{751590E5-CAAD-A950-DF66-C68DD4E3580D}"/>
                </a:ext>
              </a:extLst>
            </p:cNvPr>
            <p:cNvSpPr/>
            <p:nvPr/>
          </p:nvSpPr>
          <p:spPr>
            <a:xfrm>
              <a:off x="3283617" y="3566160"/>
              <a:ext cx="2013735"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Generate</a:t>
              </a:r>
              <a:endParaRPr lang="en-US" sz="1600" dirty="0">
                <a:latin typeface="Helvetica Neue Light"/>
              </a:endParaRPr>
            </a:p>
          </p:txBody>
        </p:sp>
        <p:sp>
          <p:nvSpPr>
            <p:cNvPr id="22" name="Text 19">
              <a:extLst>
                <a:ext uri="{FF2B5EF4-FFF2-40B4-BE49-F238E27FC236}">
                  <a16:creationId xmlns:a16="http://schemas.microsoft.com/office/drawing/2014/main" id="{832F6F71-C757-64C3-7550-95A96C35F582}"/>
                </a:ext>
              </a:extLst>
            </p:cNvPr>
            <p:cNvSpPr/>
            <p:nvPr/>
          </p:nvSpPr>
          <p:spPr>
            <a:xfrm>
              <a:off x="3283617" y="3804417"/>
              <a:ext cx="2013735" cy="3200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AI creates the code</a:t>
              </a:r>
              <a:endParaRPr lang="en-US" sz="1400" dirty="0">
                <a:latin typeface="Helvetica Neue Light"/>
              </a:endParaRPr>
            </a:p>
          </p:txBody>
        </p:sp>
        <p:sp>
          <p:nvSpPr>
            <p:cNvPr id="23" name="Shape 20">
              <a:extLst>
                <a:ext uri="{FF2B5EF4-FFF2-40B4-BE49-F238E27FC236}">
                  <a16:creationId xmlns:a16="http://schemas.microsoft.com/office/drawing/2014/main" id="{08980F43-0577-7EFA-628C-2047952E266D}"/>
                </a:ext>
              </a:extLst>
            </p:cNvPr>
            <p:cNvSpPr/>
            <p:nvPr/>
          </p:nvSpPr>
          <p:spPr>
            <a:xfrm>
              <a:off x="5031252" y="3659407"/>
              <a:ext cx="365760" cy="302530"/>
            </a:xfrm>
            <a:prstGeom prst="ellipse">
              <a:avLst/>
            </a:prstGeom>
            <a:solidFill>
              <a:srgbClr val="1C7293"/>
            </a:solidFill>
            <a:ln/>
          </p:spPr>
          <p:txBody>
            <a:bodyPr/>
            <a:lstStyle/>
            <a:p>
              <a:endParaRPr lang="en-US" sz="2800">
                <a:latin typeface="Helvetica Neue Light"/>
              </a:endParaRPr>
            </a:p>
          </p:txBody>
        </p:sp>
        <p:sp>
          <p:nvSpPr>
            <p:cNvPr id="24" name="Text 21">
              <a:extLst>
                <a:ext uri="{FF2B5EF4-FFF2-40B4-BE49-F238E27FC236}">
                  <a16:creationId xmlns:a16="http://schemas.microsoft.com/office/drawing/2014/main" id="{21775ED0-CC2E-BFF7-AE15-377EB76B8A90}"/>
                </a:ext>
              </a:extLst>
            </p:cNvPr>
            <p:cNvSpPr/>
            <p:nvPr/>
          </p:nvSpPr>
          <p:spPr>
            <a:xfrm>
              <a:off x="5031252" y="3639312"/>
              <a:ext cx="365760" cy="320040"/>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3</a:t>
              </a:r>
              <a:endParaRPr lang="en-US" sz="2000" dirty="0">
                <a:latin typeface="Helvetica Neue Light"/>
              </a:endParaRPr>
            </a:p>
          </p:txBody>
        </p:sp>
        <p:sp>
          <p:nvSpPr>
            <p:cNvPr id="25" name="Text 22">
              <a:extLst>
                <a:ext uri="{FF2B5EF4-FFF2-40B4-BE49-F238E27FC236}">
                  <a16:creationId xmlns:a16="http://schemas.microsoft.com/office/drawing/2014/main" id="{E4AD0C37-FF93-2F38-0848-B050DE035CBA}"/>
                </a:ext>
              </a:extLst>
            </p:cNvPr>
            <p:cNvSpPr/>
            <p:nvPr/>
          </p:nvSpPr>
          <p:spPr>
            <a:xfrm>
              <a:off x="5488451" y="3566160"/>
              <a:ext cx="2013735"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Review</a:t>
              </a:r>
              <a:endParaRPr lang="en-US" sz="1600" dirty="0">
                <a:latin typeface="Helvetica Neue Light"/>
              </a:endParaRPr>
            </a:p>
          </p:txBody>
        </p:sp>
        <p:sp>
          <p:nvSpPr>
            <p:cNvPr id="26" name="Text 23">
              <a:extLst>
                <a:ext uri="{FF2B5EF4-FFF2-40B4-BE49-F238E27FC236}">
                  <a16:creationId xmlns:a16="http://schemas.microsoft.com/office/drawing/2014/main" id="{CFC96662-3344-2038-2E2B-30F2EEBDDEC6}"/>
                </a:ext>
              </a:extLst>
            </p:cNvPr>
            <p:cNvSpPr/>
            <p:nvPr/>
          </p:nvSpPr>
          <p:spPr>
            <a:xfrm>
              <a:off x="5488451" y="3794760"/>
              <a:ext cx="2013735" cy="3200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Refine through conversation</a:t>
              </a:r>
              <a:endParaRPr lang="en-US" sz="1400" dirty="0">
                <a:latin typeface="Helvetica Neue Light"/>
              </a:endParaRPr>
            </a:p>
          </p:txBody>
        </p:sp>
        <p:sp>
          <p:nvSpPr>
            <p:cNvPr id="27" name="Shape 24">
              <a:extLst>
                <a:ext uri="{FF2B5EF4-FFF2-40B4-BE49-F238E27FC236}">
                  <a16:creationId xmlns:a16="http://schemas.microsoft.com/office/drawing/2014/main" id="{9A34B159-EC2F-069E-456D-F7018874469C}"/>
                </a:ext>
              </a:extLst>
            </p:cNvPr>
            <p:cNvSpPr/>
            <p:nvPr/>
          </p:nvSpPr>
          <p:spPr>
            <a:xfrm>
              <a:off x="7040880" y="3675111"/>
              <a:ext cx="365760" cy="302530"/>
            </a:xfrm>
            <a:prstGeom prst="ellipse">
              <a:avLst/>
            </a:prstGeom>
            <a:solidFill>
              <a:srgbClr val="1C7293"/>
            </a:solidFill>
            <a:ln/>
          </p:spPr>
          <p:txBody>
            <a:bodyPr/>
            <a:lstStyle/>
            <a:p>
              <a:endParaRPr lang="en-US" sz="2800">
                <a:latin typeface="Helvetica Neue Light"/>
              </a:endParaRPr>
            </a:p>
          </p:txBody>
        </p:sp>
        <p:sp>
          <p:nvSpPr>
            <p:cNvPr id="28" name="Text 25">
              <a:extLst>
                <a:ext uri="{FF2B5EF4-FFF2-40B4-BE49-F238E27FC236}">
                  <a16:creationId xmlns:a16="http://schemas.microsoft.com/office/drawing/2014/main" id="{7E63222B-CFDB-54FE-FB9B-94214DD35574}"/>
                </a:ext>
              </a:extLst>
            </p:cNvPr>
            <p:cNvSpPr/>
            <p:nvPr/>
          </p:nvSpPr>
          <p:spPr>
            <a:xfrm>
              <a:off x="7010058" y="3655015"/>
              <a:ext cx="365760" cy="320040"/>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4</a:t>
              </a:r>
              <a:endParaRPr lang="en-US" sz="2000" dirty="0">
                <a:latin typeface="Helvetica Neue Light"/>
              </a:endParaRPr>
            </a:p>
          </p:txBody>
        </p:sp>
        <p:sp>
          <p:nvSpPr>
            <p:cNvPr id="29" name="Text 26">
              <a:extLst>
                <a:ext uri="{FF2B5EF4-FFF2-40B4-BE49-F238E27FC236}">
                  <a16:creationId xmlns:a16="http://schemas.microsoft.com/office/drawing/2014/main" id="{EF5B6629-4BD1-C1CE-790B-1393DA488F9F}"/>
                </a:ext>
              </a:extLst>
            </p:cNvPr>
            <p:cNvSpPr/>
            <p:nvPr/>
          </p:nvSpPr>
          <p:spPr>
            <a:xfrm>
              <a:off x="7498079" y="3566160"/>
              <a:ext cx="2013735"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Iterate</a:t>
              </a:r>
              <a:endParaRPr lang="en-US" sz="1600" dirty="0">
                <a:latin typeface="Helvetica Neue Light"/>
              </a:endParaRPr>
            </a:p>
          </p:txBody>
        </p:sp>
        <p:sp>
          <p:nvSpPr>
            <p:cNvPr id="30" name="Text 27">
              <a:extLst>
                <a:ext uri="{FF2B5EF4-FFF2-40B4-BE49-F238E27FC236}">
                  <a16:creationId xmlns:a16="http://schemas.microsoft.com/office/drawing/2014/main" id="{25CFBFE7-494B-5352-304F-137E21611F8E}"/>
                </a:ext>
              </a:extLst>
            </p:cNvPr>
            <p:cNvSpPr/>
            <p:nvPr/>
          </p:nvSpPr>
          <p:spPr>
            <a:xfrm>
              <a:off x="7498079" y="3794760"/>
              <a:ext cx="2013735" cy="320040"/>
            </a:xfrm>
            <a:prstGeom prst="rect">
              <a:avLst/>
            </a:prstGeom>
            <a:noFill/>
            <a:ln/>
          </p:spPr>
          <p:txBody>
            <a:bodyPr wrap="square" rtlCol="0" anchor="ctr"/>
            <a:lstStyle/>
            <a:p>
              <a:pPr marL="0" indent="0">
                <a:buNone/>
              </a:pPr>
              <a:r>
                <a:rPr lang="en-US" sz="1400" dirty="0">
                  <a:solidFill>
                    <a:srgbClr val="2D3436"/>
                  </a:solidFill>
                  <a:latin typeface="Helvetica Neue Light"/>
                  <a:ea typeface="Calibri" pitchFamily="34" charset="-122"/>
                  <a:cs typeface="Calibri" pitchFamily="34" charset="-120"/>
                </a:rPr>
                <a:t>Until it matches the "vibe"</a:t>
              </a:r>
              <a:endParaRPr lang="en-US" sz="1400" dirty="0">
                <a:latin typeface="Helvetica Neue Light"/>
              </a:endParaRPr>
            </a:p>
          </p:txBody>
        </p:sp>
      </p:grpSp>
      <p:sp>
        <p:nvSpPr>
          <p:cNvPr id="31" name="TextBox 30">
            <a:extLst>
              <a:ext uri="{FF2B5EF4-FFF2-40B4-BE49-F238E27FC236}">
                <a16:creationId xmlns:a16="http://schemas.microsoft.com/office/drawing/2014/main" id="{B5C10CA1-F798-9668-CEEA-ADF3403B0D13}"/>
              </a:ext>
            </a:extLst>
          </p:cNvPr>
          <p:cNvSpPr txBox="1"/>
          <p:nvPr/>
        </p:nvSpPr>
        <p:spPr>
          <a:xfrm>
            <a:off x="6518949" y="6687059"/>
            <a:ext cx="2777687" cy="215444"/>
          </a:xfrm>
          <a:prstGeom prst="rect">
            <a:avLst/>
          </a:prstGeom>
          <a:noFill/>
        </p:spPr>
        <p:txBody>
          <a:bodyPr wrap="square">
            <a:spAutoFit/>
          </a:bodyPr>
          <a:lstStyle/>
          <a:p>
            <a:r>
              <a:rPr lang="en-US" sz="800" dirty="0">
                <a:solidFill>
                  <a:schemeClr val="bg2">
                    <a:lumMod val="90000"/>
                  </a:schemeClr>
                </a:solidFill>
              </a:rPr>
              <a:t>https://share.google/images/JgIvYyWXS339PO0ip</a:t>
            </a:r>
          </a:p>
        </p:txBody>
      </p:sp>
      <p:pic>
        <p:nvPicPr>
          <p:cNvPr id="32" name="Picture 2" descr="Discover Vibe Coding: The Creative Revolution in Software Development">
            <a:extLst>
              <a:ext uri="{FF2B5EF4-FFF2-40B4-BE49-F238E27FC236}">
                <a16:creationId xmlns:a16="http://schemas.microsoft.com/office/drawing/2014/main" id="{C76C5B24-6A67-9DF8-59BD-EF8067C4D3C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1964"/>
          <a:stretch>
            <a:fillRect/>
          </a:stretch>
        </p:blipFill>
        <p:spPr bwMode="auto">
          <a:xfrm>
            <a:off x="2381554" y="5099235"/>
            <a:ext cx="3389438" cy="179967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7678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862ACB6-9486-6599-A4BE-50A3AD684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0AA24-17B1-C1E6-D3A0-9048C1C2FCB4}"/>
              </a:ext>
            </a:extLst>
          </p:cNvPr>
          <p:cNvSpPr>
            <a:spLocks noGrp="1"/>
          </p:cNvSpPr>
          <p:nvPr>
            <p:ph type="title"/>
          </p:nvPr>
        </p:nvSpPr>
        <p:spPr>
          <a:xfrm>
            <a:off x="457200" y="365126"/>
            <a:ext cx="8229600" cy="592213"/>
          </a:xfrm>
        </p:spPr>
        <p:txBody>
          <a:bodyPr/>
          <a:lstStyle/>
          <a:p>
            <a:r>
              <a:rPr lang="en-US" dirty="0"/>
              <a:t>The New Programming Language</a:t>
            </a:r>
          </a:p>
        </p:txBody>
      </p:sp>
      <p:sp>
        <p:nvSpPr>
          <p:cNvPr id="5" name="Slide Number Placeholder 4">
            <a:extLst>
              <a:ext uri="{FF2B5EF4-FFF2-40B4-BE49-F238E27FC236}">
                <a16:creationId xmlns:a16="http://schemas.microsoft.com/office/drawing/2014/main" id="{3D72CD48-9028-A479-DCCC-8B69D35B4789}"/>
              </a:ext>
            </a:extLst>
          </p:cNvPr>
          <p:cNvSpPr>
            <a:spLocks noGrp="1"/>
          </p:cNvSpPr>
          <p:nvPr>
            <p:ph type="sldNum" sz="quarter" idx="12"/>
          </p:nvPr>
        </p:nvSpPr>
        <p:spPr/>
        <p:txBody>
          <a:bodyPr/>
          <a:lstStyle/>
          <a:p>
            <a:fld id="{21EF4C0E-91FA-4D94-8941-E22F3A83D5F1}" type="slidenum">
              <a:rPr lang="en-US" smtClean="0"/>
              <a:t>87</a:t>
            </a:fld>
            <a:endParaRPr lang="en-US"/>
          </a:p>
        </p:txBody>
      </p:sp>
      <p:sp>
        <p:nvSpPr>
          <p:cNvPr id="6" name="TextBox 5">
            <a:extLst>
              <a:ext uri="{FF2B5EF4-FFF2-40B4-BE49-F238E27FC236}">
                <a16:creationId xmlns:a16="http://schemas.microsoft.com/office/drawing/2014/main" id="{20C90C99-AF5E-2C84-3D14-2D49CB5EFE4F}"/>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303153BA-8A15-5701-710C-401DEF74C4A3}"/>
              </a:ext>
            </a:extLst>
          </p:cNvPr>
          <p:cNvGrpSpPr/>
          <p:nvPr/>
        </p:nvGrpSpPr>
        <p:grpSpPr>
          <a:xfrm>
            <a:off x="457200" y="5854528"/>
            <a:ext cx="8686800" cy="777240"/>
            <a:chOff x="457200" y="3246120"/>
            <a:chExt cx="8229600" cy="777240"/>
          </a:xfrm>
        </p:grpSpPr>
        <p:sp>
          <p:nvSpPr>
            <p:cNvPr id="9" name="Shape 6">
              <a:extLst>
                <a:ext uri="{FF2B5EF4-FFF2-40B4-BE49-F238E27FC236}">
                  <a16:creationId xmlns:a16="http://schemas.microsoft.com/office/drawing/2014/main" id="{09F6E69F-48E1-8D73-83C9-518ED72044B1}"/>
                </a:ext>
              </a:extLst>
            </p:cNvPr>
            <p:cNvSpPr/>
            <p:nvPr/>
          </p:nvSpPr>
          <p:spPr>
            <a:xfrm>
              <a:off x="457200" y="324612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000">
                <a:latin typeface="Helvetica Neue Light"/>
              </a:endParaRPr>
            </a:p>
          </p:txBody>
        </p:sp>
        <p:sp>
          <p:nvSpPr>
            <p:cNvPr id="10" name="Shape 7">
              <a:extLst>
                <a:ext uri="{FF2B5EF4-FFF2-40B4-BE49-F238E27FC236}">
                  <a16:creationId xmlns:a16="http://schemas.microsoft.com/office/drawing/2014/main" id="{FB6597D2-D558-005A-B2C4-BC97FD580A51}"/>
                </a:ext>
              </a:extLst>
            </p:cNvPr>
            <p:cNvSpPr/>
            <p:nvPr/>
          </p:nvSpPr>
          <p:spPr>
            <a:xfrm>
              <a:off x="457200" y="3246120"/>
              <a:ext cx="54864" cy="777240"/>
            </a:xfrm>
            <a:prstGeom prst="rect">
              <a:avLst/>
            </a:prstGeom>
            <a:solidFill>
              <a:srgbClr val="84B59F"/>
            </a:solidFill>
            <a:ln/>
          </p:spPr>
          <p:txBody>
            <a:bodyPr/>
            <a:lstStyle/>
            <a:p>
              <a:endParaRPr lang="en-US" sz="2000">
                <a:latin typeface="Helvetica Neue Light"/>
              </a:endParaRPr>
            </a:p>
          </p:txBody>
        </p:sp>
        <p:sp>
          <p:nvSpPr>
            <p:cNvPr id="11" name="Text 8">
              <a:extLst>
                <a:ext uri="{FF2B5EF4-FFF2-40B4-BE49-F238E27FC236}">
                  <a16:creationId xmlns:a16="http://schemas.microsoft.com/office/drawing/2014/main" id="{6F89F47A-3E78-5D09-8C68-F7A48C5C0A7E}"/>
                </a:ext>
              </a:extLst>
            </p:cNvPr>
            <p:cNvSpPr/>
            <p:nvPr/>
          </p:nvSpPr>
          <p:spPr>
            <a:xfrm>
              <a:off x="685800" y="3429000"/>
              <a:ext cx="7772400" cy="45720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This represents a fundamental shift: programming knowledge becomes less about memorizing syntax and more about clearly articulating what you want to build.</a:t>
              </a:r>
              <a:endParaRPr lang="en-US" dirty="0">
                <a:latin typeface="Helvetica Neue Light"/>
              </a:endParaRPr>
            </a:p>
          </p:txBody>
        </p:sp>
      </p:grpSp>
      <p:pic>
        <p:nvPicPr>
          <p:cNvPr id="13" name="Picture 12" descr="The hottest new programming language is English! Or maybe not.">
            <a:extLst>
              <a:ext uri="{FF2B5EF4-FFF2-40B4-BE49-F238E27FC236}">
                <a16:creationId xmlns:a16="http://schemas.microsoft.com/office/drawing/2014/main" id="{52089A4A-D968-FF75-D360-5BDDE76CDBBF}"/>
              </a:ext>
            </a:extLst>
          </p:cNvPr>
          <p:cNvPicPr>
            <a:picLocks noChangeAspect="1"/>
          </p:cNvPicPr>
          <p:nvPr/>
        </p:nvPicPr>
        <p:blipFill>
          <a:blip r:embed="rId2"/>
          <a:stretch>
            <a:fillRect/>
          </a:stretch>
        </p:blipFill>
        <p:spPr>
          <a:xfrm>
            <a:off x="563995" y="1765324"/>
            <a:ext cx="8470099" cy="2802058"/>
          </a:xfrm>
          <a:prstGeom prst="rect">
            <a:avLst/>
          </a:prstGeom>
        </p:spPr>
      </p:pic>
    </p:spTree>
    <p:extLst>
      <p:ext uri="{BB962C8B-B14F-4D97-AF65-F5344CB8AC3E}">
        <p14:creationId xmlns:p14="http://schemas.microsoft.com/office/powerpoint/2010/main" val="15284383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4BDD35E8-576F-4D1C-93EE-EE8F88685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B23B7-BB16-DDE6-92F5-FCAA814D68D2}"/>
              </a:ext>
            </a:extLst>
          </p:cNvPr>
          <p:cNvSpPr>
            <a:spLocks noGrp="1"/>
          </p:cNvSpPr>
          <p:nvPr>
            <p:ph type="title"/>
          </p:nvPr>
        </p:nvSpPr>
        <p:spPr>
          <a:xfrm>
            <a:off x="457200" y="365126"/>
            <a:ext cx="8229600" cy="592213"/>
          </a:xfrm>
        </p:spPr>
        <p:txBody>
          <a:bodyPr/>
          <a:lstStyle/>
          <a:p>
            <a:r>
              <a:rPr lang="en-US" dirty="0"/>
              <a:t>Benefits vs Risks</a:t>
            </a:r>
          </a:p>
        </p:txBody>
      </p:sp>
      <p:sp>
        <p:nvSpPr>
          <p:cNvPr id="5" name="Slide Number Placeholder 4">
            <a:extLst>
              <a:ext uri="{FF2B5EF4-FFF2-40B4-BE49-F238E27FC236}">
                <a16:creationId xmlns:a16="http://schemas.microsoft.com/office/drawing/2014/main" id="{6943D520-1A09-D45A-0E1E-E1D581951E07}"/>
              </a:ext>
            </a:extLst>
          </p:cNvPr>
          <p:cNvSpPr>
            <a:spLocks noGrp="1"/>
          </p:cNvSpPr>
          <p:nvPr>
            <p:ph type="sldNum" sz="quarter" idx="12"/>
          </p:nvPr>
        </p:nvSpPr>
        <p:spPr/>
        <p:txBody>
          <a:bodyPr/>
          <a:lstStyle/>
          <a:p>
            <a:fld id="{21EF4C0E-91FA-4D94-8941-E22F3A83D5F1}" type="slidenum">
              <a:rPr lang="en-US" smtClean="0"/>
              <a:t>88</a:t>
            </a:fld>
            <a:endParaRPr lang="en-US"/>
          </a:p>
        </p:txBody>
      </p:sp>
      <p:grpSp>
        <p:nvGrpSpPr>
          <p:cNvPr id="3" name="Group 2">
            <a:extLst>
              <a:ext uri="{FF2B5EF4-FFF2-40B4-BE49-F238E27FC236}">
                <a16:creationId xmlns:a16="http://schemas.microsoft.com/office/drawing/2014/main" id="{0A97277D-D2AB-BFB0-D456-DF916F3A5203}"/>
              </a:ext>
            </a:extLst>
          </p:cNvPr>
          <p:cNvGrpSpPr/>
          <p:nvPr/>
        </p:nvGrpSpPr>
        <p:grpSpPr>
          <a:xfrm>
            <a:off x="425196" y="1145151"/>
            <a:ext cx="8261604" cy="4126207"/>
            <a:chOff x="425196" y="1234440"/>
            <a:chExt cx="8261604" cy="3910028"/>
          </a:xfrm>
        </p:grpSpPr>
        <p:sp>
          <p:nvSpPr>
            <p:cNvPr id="4" name="Shape 3">
              <a:extLst>
                <a:ext uri="{FF2B5EF4-FFF2-40B4-BE49-F238E27FC236}">
                  <a16:creationId xmlns:a16="http://schemas.microsoft.com/office/drawing/2014/main" id="{67811AA2-EBD0-1DBA-C985-7C3A31DA1201}"/>
                </a:ext>
              </a:extLst>
            </p:cNvPr>
            <p:cNvSpPr/>
            <p:nvPr/>
          </p:nvSpPr>
          <p:spPr>
            <a:xfrm>
              <a:off x="457200" y="1234440"/>
              <a:ext cx="4023360" cy="2626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FCC7B95E-60A8-DBFF-7A23-9A29737B0563}"/>
                </a:ext>
              </a:extLst>
            </p:cNvPr>
            <p:cNvSpPr/>
            <p:nvPr/>
          </p:nvSpPr>
          <p:spPr>
            <a:xfrm>
              <a:off x="457200" y="1234440"/>
              <a:ext cx="46234" cy="2574153"/>
            </a:xfrm>
            <a:prstGeom prst="rect">
              <a:avLst/>
            </a:prstGeom>
            <a:solidFill>
              <a:srgbClr val="1C7293"/>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E98B702E-774B-2D24-D82E-EA2B4F9A7414}"/>
                </a:ext>
              </a:extLst>
            </p:cNvPr>
            <p:cNvSpPr/>
            <p:nvPr/>
          </p:nvSpPr>
          <p:spPr>
            <a:xfrm>
              <a:off x="68580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Benefits (PROS)</a:t>
              </a:r>
              <a:endParaRPr lang="en-US" sz="2000" dirty="0">
                <a:latin typeface="Helvetica Neue Light"/>
              </a:endParaRPr>
            </a:p>
          </p:txBody>
        </p:sp>
        <p:sp>
          <p:nvSpPr>
            <p:cNvPr id="9" name="Text 6">
              <a:extLst>
                <a:ext uri="{FF2B5EF4-FFF2-40B4-BE49-F238E27FC236}">
                  <a16:creationId xmlns:a16="http://schemas.microsoft.com/office/drawing/2014/main" id="{132D9CEB-D6A0-1D48-8AD5-38EBA58581D5}"/>
                </a:ext>
              </a:extLst>
            </p:cNvPr>
            <p:cNvSpPr/>
            <p:nvPr/>
          </p:nvSpPr>
          <p:spPr>
            <a:xfrm>
              <a:off x="685800" y="1600200"/>
              <a:ext cx="3657600" cy="2208394"/>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Increased Accessibility: </a:t>
              </a:r>
              <a:r>
                <a:rPr lang="en-US" sz="1600" dirty="0">
                  <a:solidFill>
                    <a:srgbClr val="2D3436"/>
                  </a:solidFill>
                  <a:latin typeface="Helvetica Neue Light"/>
                  <a:ea typeface="Calibri" pitchFamily="34" charset="-122"/>
                  <a:cs typeface="Calibri" pitchFamily="34" charset="-120"/>
                </a:rPr>
                <a:t>Non-experts can build software through intuitive descriptions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Faster Development: </a:t>
              </a:r>
              <a:r>
                <a:rPr lang="en-US" sz="1600" dirty="0">
                  <a:solidFill>
                    <a:srgbClr val="2D3436"/>
                  </a:solidFill>
                  <a:latin typeface="Helvetica Neue Light"/>
                  <a:ea typeface="Calibri" pitchFamily="34" charset="-122"/>
                  <a:cs typeface="Calibri" pitchFamily="34" charset="-120"/>
                </a:rPr>
                <a:t>Much faster prototyping by focusing on intent, not syntax</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Innovation Catalyst: </a:t>
              </a:r>
              <a:r>
                <a:rPr lang="en-US" sz="1600" dirty="0">
                  <a:solidFill>
                    <a:srgbClr val="2D3436"/>
                  </a:solidFill>
                  <a:latin typeface="Helvetica Neue Light"/>
                  <a:ea typeface="Calibri" pitchFamily="34" charset="-122"/>
                  <a:cs typeface="Calibri" pitchFamily="34" charset="-120"/>
                </a:rPr>
                <a:t>Frees developers to focus on architecture and problem-solving</a:t>
              </a:r>
              <a:endParaRPr lang="en-US" sz="1600" dirty="0">
                <a:latin typeface="Helvetica Neue Light"/>
              </a:endParaRPr>
            </a:p>
          </p:txBody>
        </p:sp>
        <p:sp>
          <p:nvSpPr>
            <p:cNvPr id="10" name="Shape 7">
              <a:extLst>
                <a:ext uri="{FF2B5EF4-FFF2-40B4-BE49-F238E27FC236}">
                  <a16:creationId xmlns:a16="http://schemas.microsoft.com/office/drawing/2014/main" id="{6A4491A9-E7CD-714F-34E0-B3C74FC67F8E}"/>
                </a:ext>
              </a:extLst>
            </p:cNvPr>
            <p:cNvSpPr/>
            <p:nvPr/>
          </p:nvSpPr>
          <p:spPr>
            <a:xfrm>
              <a:off x="4663440" y="1234440"/>
              <a:ext cx="4023360" cy="2626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C4C28D1C-BA0D-00A1-5137-90F2B9CEF0F5}"/>
                </a:ext>
              </a:extLst>
            </p:cNvPr>
            <p:cNvSpPr/>
            <p:nvPr/>
          </p:nvSpPr>
          <p:spPr>
            <a:xfrm>
              <a:off x="4663440" y="1234440"/>
              <a:ext cx="46234" cy="2574153"/>
            </a:xfrm>
            <a:prstGeom prst="rect">
              <a:avLst/>
            </a:prstGeom>
            <a:solidFill>
              <a:srgbClr val="E07A5F"/>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B8E4770E-553E-035D-7441-77882674938F}"/>
                </a:ext>
              </a:extLst>
            </p:cNvPr>
            <p:cNvSpPr/>
            <p:nvPr/>
          </p:nvSpPr>
          <p:spPr>
            <a:xfrm>
              <a:off x="489204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Risks (CONS)</a:t>
              </a:r>
              <a:endParaRPr lang="en-US" sz="2000" dirty="0">
                <a:latin typeface="Helvetica Neue Light"/>
              </a:endParaRPr>
            </a:p>
          </p:txBody>
        </p:sp>
        <p:sp>
          <p:nvSpPr>
            <p:cNvPr id="13" name="Text 10">
              <a:extLst>
                <a:ext uri="{FF2B5EF4-FFF2-40B4-BE49-F238E27FC236}">
                  <a16:creationId xmlns:a16="http://schemas.microsoft.com/office/drawing/2014/main" id="{F6878D64-9FB7-5040-32AF-33F20A59651A}"/>
                </a:ext>
              </a:extLst>
            </p:cNvPr>
            <p:cNvSpPr/>
            <p:nvPr/>
          </p:nvSpPr>
          <p:spPr>
            <a:xfrm>
              <a:off x="4892040" y="1600200"/>
              <a:ext cx="3657600" cy="2208394"/>
            </a:xfrm>
            <a:prstGeom prst="rect">
              <a:avLst/>
            </a:prstGeom>
            <a:noFill/>
            <a:ln/>
          </p:spPr>
          <p:txBody>
            <a:bodyPr wrap="square" rtlCol="0" anchor="t"/>
            <a:lstStyle/>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Security Concerns: </a:t>
              </a:r>
              <a:r>
                <a:rPr lang="en-US" sz="1600" dirty="0">
                  <a:solidFill>
                    <a:srgbClr val="2D3436"/>
                  </a:solidFill>
                  <a:latin typeface="Helvetica Neue Light"/>
                  <a:ea typeface="Calibri" pitchFamily="34" charset="-122"/>
                  <a:cs typeface="Calibri" pitchFamily="34" charset="-120"/>
                </a:rPr>
                <a:t>AI-generated code may have hidden vulnerabilities</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Scaling Challenges: </a:t>
              </a:r>
              <a:r>
                <a:rPr lang="en-US" sz="1600" dirty="0">
                  <a:solidFill>
                    <a:srgbClr val="2D3436"/>
                  </a:solidFill>
                  <a:latin typeface="Helvetica Neue Light"/>
                  <a:ea typeface="Calibri" pitchFamily="34" charset="-122"/>
                  <a:cs typeface="Calibri" pitchFamily="34" charset="-120"/>
                </a:rPr>
                <a:t>Complex projects may exceed AI's contextual understanding</a:t>
              </a:r>
              <a:endParaRPr lang="en-US" sz="1600" dirty="0">
                <a:latin typeface="Helvetica Neue Light"/>
              </a:endParaRPr>
            </a:p>
            <a:p>
              <a:pPr marL="285750" indent="-285750">
                <a:buFont typeface="Arial" panose="020B0604020202020204" pitchFamily="34" charset="0"/>
                <a:buChar char="•"/>
              </a:pPr>
              <a:r>
                <a:rPr lang="en-US" sz="1600" b="1" dirty="0">
                  <a:solidFill>
                    <a:srgbClr val="2D3436"/>
                  </a:solidFill>
                  <a:latin typeface="Helvetica Neue Light"/>
                  <a:ea typeface="Calibri" pitchFamily="34" charset="-122"/>
                  <a:cs typeface="Calibri" pitchFamily="34" charset="-120"/>
                </a:rPr>
                <a:t>Quality Control Issues: </a:t>
              </a:r>
              <a:r>
                <a:rPr lang="en-US" sz="1600" dirty="0">
                  <a:solidFill>
                    <a:srgbClr val="2D3436"/>
                  </a:solidFill>
                  <a:latin typeface="Helvetica Neue Light"/>
                  <a:ea typeface="Calibri" pitchFamily="34" charset="-122"/>
                  <a:cs typeface="Calibri" pitchFamily="34" charset="-120"/>
                </a:rPr>
                <a:t>Code may work but be inefficient or poorly structured</a:t>
              </a:r>
              <a:endParaRPr lang="en-US" sz="1600" dirty="0">
                <a:latin typeface="Helvetica Neue Light"/>
              </a:endParaRPr>
            </a:p>
          </p:txBody>
        </p:sp>
        <p:sp>
          <p:nvSpPr>
            <p:cNvPr id="14" name="Shape 11">
              <a:extLst>
                <a:ext uri="{FF2B5EF4-FFF2-40B4-BE49-F238E27FC236}">
                  <a16:creationId xmlns:a16="http://schemas.microsoft.com/office/drawing/2014/main" id="{ADC0A28B-7E6C-921C-0B4D-41382BC4C202}"/>
                </a:ext>
              </a:extLst>
            </p:cNvPr>
            <p:cNvSpPr/>
            <p:nvPr/>
          </p:nvSpPr>
          <p:spPr>
            <a:xfrm>
              <a:off x="457200" y="4084953"/>
              <a:ext cx="8229600" cy="997347"/>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5" name="Shape 12">
              <a:extLst>
                <a:ext uri="{FF2B5EF4-FFF2-40B4-BE49-F238E27FC236}">
                  <a16:creationId xmlns:a16="http://schemas.microsoft.com/office/drawing/2014/main" id="{5CB410D5-B3B7-64AA-E51F-310A9920B204}"/>
                </a:ext>
              </a:extLst>
            </p:cNvPr>
            <p:cNvSpPr/>
            <p:nvPr/>
          </p:nvSpPr>
          <p:spPr>
            <a:xfrm>
              <a:off x="425196" y="4022784"/>
              <a:ext cx="64008" cy="1121684"/>
            </a:xfrm>
            <a:prstGeom prst="rect">
              <a:avLst/>
            </a:prstGeom>
            <a:solidFill>
              <a:srgbClr val="E07A5F"/>
            </a:solidFill>
            <a:ln/>
          </p:spPr>
          <p:txBody>
            <a:bodyPr/>
            <a:lstStyle/>
            <a:p>
              <a:endParaRPr lang="en-US" sz="3200">
                <a:latin typeface="Helvetica Neue Light"/>
              </a:endParaRPr>
            </a:p>
          </p:txBody>
        </p:sp>
        <p:sp>
          <p:nvSpPr>
            <p:cNvPr id="16" name="Text 13">
              <a:extLst>
                <a:ext uri="{FF2B5EF4-FFF2-40B4-BE49-F238E27FC236}">
                  <a16:creationId xmlns:a16="http://schemas.microsoft.com/office/drawing/2014/main" id="{AA58D723-FB4C-117E-4E6C-3DD64634416C}"/>
                </a:ext>
              </a:extLst>
            </p:cNvPr>
            <p:cNvSpPr/>
            <p:nvPr/>
          </p:nvSpPr>
          <p:spPr>
            <a:xfrm>
              <a:off x="685800" y="4309307"/>
              <a:ext cx="7946136" cy="548641"/>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Major Risk </a:t>
              </a:r>
              <a:r>
                <a:rPr lang="en-US" dirty="0">
                  <a:solidFill>
                    <a:srgbClr val="2D3436"/>
                  </a:solidFill>
                  <a:latin typeface="Helvetica Neue Light"/>
                  <a:ea typeface="Calibri" pitchFamily="34" charset="-122"/>
                  <a:cs typeface="Calibri" pitchFamily="34" charset="-120"/>
                </a:rPr>
                <a:t>- Lost Understanding: Developers may lose grasp of how their code 	actually works, creating maintenance nightmares when AI-generated 	code needs debugging or optimization.</a:t>
              </a:r>
              <a:endParaRPr lang="en-US" dirty="0">
                <a:latin typeface="Helvetica Neue Light"/>
              </a:endParaRPr>
            </a:p>
          </p:txBody>
        </p:sp>
      </p:grpSp>
    </p:spTree>
    <p:extLst>
      <p:ext uri="{BB962C8B-B14F-4D97-AF65-F5344CB8AC3E}">
        <p14:creationId xmlns:p14="http://schemas.microsoft.com/office/powerpoint/2010/main" val="42569847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8718B81D-B8D3-9CD1-A18C-FE4602175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F8774-F100-9DC0-0A9E-543FC371F0B3}"/>
              </a:ext>
            </a:extLst>
          </p:cNvPr>
          <p:cNvSpPr>
            <a:spLocks noGrp="1"/>
          </p:cNvSpPr>
          <p:nvPr>
            <p:ph type="title"/>
          </p:nvPr>
        </p:nvSpPr>
        <p:spPr>
          <a:xfrm>
            <a:off x="457200" y="365126"/>
            <a:ext cx="8229600" cy="592213"/>
          </a:xfrm>
        </p:spPr>
        <p:txBody>
          <a:bodyPr/>
          <a:lstStyle/>
          <a:p>
            <a:r>
              <a:rPr lang="en-US" dirty="0"/>
              <a:t>Challenges &amp; Future</a:t>
            </a:r>
          </a:p>
        </p:txBody>
      </p:sp>
      <p:sp>
        <p:nvSpPr>
          <p:cNvPr id="5" name="Slide Number Placeholder 4">
            <a:extLst>
              <a:ext uri="{FF2B5EF4-FFF2-40B4-BE49-F238E27FC236}">
                <a16:creationId xmlns:a16="http://schemas.microsoft.com/office/drawing/2014/main" id="{DE9C4678-5F5C-7D00-E3BE-5682DBC5A81E}"/>
              </a:ext>
            </a:extLst>
          </p:cNvPr>
          <p:cNvSpPr>
            <a:spLocks noGrp="1"/>
          </p:cNvSpPr>
          <p:nvPr>
            <p:ph type="sldNum" sz="quarter" idx="12"/>
          </p:nvPr>
        </p:nvSpPr>
        <p:spPr/>
        <p:txBody>
          <a:bodyPr/>
          <a:lstStyle/>
          <a:p>
            <a:fld id="{21EF4C0E-91FA-4D94-8941-E22F3A83D5F1}" type="slidenum">
              <a:rPr lang="en-US" smtClean="0"/>
              <a:t>89</a:t>
            </a:fld>
            <a:endParaRPr lang="en-US"/>
          </a:p>
        </p:txBody>
      </p:sp>
      <p:sp>
        <p:nvSpPr>
          <p:cNvPr id="6" name="TextBox 5">
            <a:extLst>
              <a:ext uri="{FF2B5EF4-FFF2-40B4-BE49-F238E27FC236}">
                <a16:creationId xmlns:a16="http://schemas.microsoft.com/office/drawing/2014/main" id="{3F1DA701-C023-5085-BE57-8A30883C56D2}"/>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B279BB20-56C7-182E-6E04-2C79C14AB7A8}"/>
              </a:ext>
            </a:extLst>
          </p:cNvPr>
          <p:cNvGrpSpPr/>
          <p:nvPr/>
        </p:nvGrpSpPr>
        <p:grpSpPr>
          <a:xfrm>
            <a:off x="457200" y="1188720"/>
            <a:ext cx="8229600" cy="4184664"/>
            <a:chOff x="457200" y="1188720"/>
            <a:chExt cx="8229600" cy="3200400"/>
          </a:xfrm>
        </p:grpSpPr>
        <p:sp>
          <p:nvSpPr>
            <p:cNvPr id="4" name="Shape 3">
              <a:extLst>
                <a:ext uri="{FF2B5EF4-FFF2-40B4-BE49-F238E27FC236}">
                  <a16:creationId xmlns:a16="http://schemas.microsoft.com/office/drawing/2014/main" id="{2745EACA-9ABA-52D6-59AC-B0F59E6A3076}"/>
                </a:ext>
              </a:extLst>
            </p:cNvPr>
            <p:cNvSpPr/>
            <p:nvPr/>
          </p:nvSpPr>
          <p:spPr>
            <a:xfrm>
              <a:off x="457200" y="1188720"/>
              <a:ext cx="8229600" cy="7315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48D99B9C-1363-D8EA-CBD4-71946C47ECF3}"/>
                </a:ext>
              </a:extLst>
            </p:cNvPr>
            <p:cNvSpPr/>
            <p:nvPr/>
          </p:nvSpPr>
          <p:spPr>
            <a:xfrm>
              <a:off x="457200" y="1188720"/>
              <a:ext cx="54864" cy="731520"/>
            </a:xfrm>
            <a:prstGeom prst="rect">
              <a:avLst/>
            </a:prstGeom>
            <a:solidFill>
              <a:srgbClr val="1C7293"/>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93116250-DA8E-E08C-E5BC-09403E1789B6}"/>
                </a:ext>
              </a:extLst>
            </p:cNvPr>
            <p:cNvSpPr/>
            <p:nvPr/>
          </p:nvSpPr>
          <p:spPr>
            <a:xfrm>
              <a:off x="685800" y="1214860"/>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The Quality Problem:</a:t>
              </a:r>
              <a:endParaRPr lang="en-US" sz="2000" dirty="0">
                <a:latin typeface="Helvetica Neue Light"/>
              </a:endParaRPr>
            </a:p>
          </p:txBody>
        </p:sp>
        <p:sp>
          <p:nvSpPr>
            <p:cNvPr id="9" name="Text 6">
              <a:extLst>
                <a:ext uri="{FF2B5EF4-FFF2-40B4-BE49-F238E27FC236}">
                  <a16:creationId xmlns:a16="http://schemas.microsoft.com/office/drawing/2014/main" id="{2F8D341B-13FC-1025-C38F-FC9E7D5F378D}"/>
                </a:ext>
              </a:extLst>
            </p:cNvPr>
            <p:cNvSpPr/>
            <p:nvPr/>
          </p:nvSpPr>
          <p:spPr>
            <a:xfrm>
              <a:off x="685800" y="150876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"Vibes" are ambiguous — "make it user-friendly" means different things to different people, leading to inconsistent implementations</a:t>
              </a:r>
              <a:endParaRPr lang="en-US" sz="1600" dirty="0">
                <a:latin typeface="Helvetica Neue Light"/>
              </a:endParaRPr>
            </a:p>
          </p:txBody>
        </p:sp>
        <p:sp>
          <p:nvSpPr>
            <p:cNvPr id="10" name="Shape 7">
              <a:extLst>
                <a:ext uri="{FF2B5EF4-FFF2-40B4-BE49-F238E27FC236}">
                  <a16:creationId xmlns:a16="http://schemas.microsoft.com/office/drawing/2014/main" id="{7F8757F8-0C68-7489-4E1F-7D4305C0DDE6}"/>
                </a:ext>
              </a:extLst>
            </p:cNvPr>
            <p:cNvSpPr/>
            <p:nvPr/>
          </p:nvSpPr>
          <p:spPr>
            <a:xfrm>
              <a:off x="457200" y="2011680"/>
              <a:ext cx="8229600" cy="7315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4F075BFA-2F22-C835-DF63-03DD26D29C79}"/>
                </a:ext>
              </a:extLst>
            </p:cNvPr>
            <p:cNvSpPr/>
            <p:nvPr/>
          </p:nvSpPr>
          <p:spPr>
            <a:xfrm>
              <a:off x="457200" y="2011680"/>
              <a:ext cx="54864" cy="731520"/>
            </a:xfrm>
            <a:prstGeom prst="rect">
              <a:avLst/>
            </a:prstGeom>
            <a:solidFill>
              <a:srgbClr val="E07A5F"/>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32222625-47F8-1E03-0150-9D139B930546}"/>
                </a:ext>
              </a:extLst>
            </p:cNvPr>
            <p:cNvSpPr/>
            <p:nvPr/>
          </p:nvSpPr>
          <p:spPr>
            <a:xfrm>
              <a:off x="685800" y="2037819"/>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Testing Challenge:</a:t>
              </a:r>
              <a:endParaRPr lang="en-US" sz="2000" dirty="0">
                <a:latin typeface="Helvetica Neue Light"/>
              </a:endParaRPr>
            </a:p>
          </p:txBody>
        </p:sp>
        <p:sp>
          <p:nvSpPr>
            <p:cNvPr id="13" name="Text 10">
              <a:extLst>
                <a:ext uri="{FF2B5EF4-FFF2-40B4-BE49-F238E27FC236}">
                  <a16:creationId xmlns:a16="http://schemas.microsoft.com/office/drawing/2014/main" id="{1014113F-C209-6732-C968-963A7EA4A1C0}"/>
                </a:ext>
              </a:extLst>
            </p:cNvPr>
            <p:cNvSpPr/>
            <p:nvPr/>
          </p:nvSpPr>
          <p:spPr>
            <a:xfrm>
              <a:off x="685800" y="233172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Code that "feels right" might not be correct — vibe coding can produce plausible-looking code with subtle bugs</a:t>
              </a:r>
              <a:endParaRPr lang="en-US" sz="1600" dirty="0">
                <a:latin typeface="Helvetica Neue Light"/>
              </a:endParaRPr>
            </a:p>
          </p:txBody>
        </p:sp>
        <p:sp>
          <p:nvSpPr>
            <p:cNvPr id="14" name="Shape 11">
              <a:extLst>
                <a:ext uri="{FF2B5EF4-FFF2-40B4-BE49-F238E27FC236}">
                  <a16:creationId xmlns:a16="http://schemas.microsoft.com/office/drawing/2014/main" id="{7F0602E5-F09F-2317-1740-5780837A9F1C}"/>
                </a:ext>
              </a:extLst>
            </p:cNvPr>
            <p:cNvSpPr/>
            <p:nvPr/>
          </p:nvSpPr>
          <p:spPr>
            <a:xfrm>
              <a:off x="457200" y="2834640"/>
              <a:ext cx="8229600" cy="7315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5" name="Shape 12">
              <a:extLst>
                <a:ext uri="{FF2B5EF4-FFF2-40B4-BE49-F238E27FC236}">
                  <a16:creationId xmlns:a16="http://schemas.microsoft.com/office/drawing/2014/main" id="{E309D5F5-EA42-B433-2EBB-B0E9B875F3E6}"/>
                </a:ext>
              </a:extLst>
            </p:cNvPr>
            <p:cNvSpPr/>
            <p:nvPr/>
          </p:nvSpPr>
          <p:spPr>
            <a:xfrm>
              <a:off x="457200" y="2834640"/>
              <a:ext cx="54864" cy="731520"/>
            </a:xfrm>
            <a:prstGeom prst="rect">
              <a:avLst/>
            </a:prstGeom>
            <a:solidFill>
              <a:srgbClr val="1C7293"/>
            </a:solidFill>
            <a:ln/>
          </p:spPr>
          <p:txBody>
            <a:bodyPr/>
            <a:lstStyle/>
            <a:p>
              <a:endParaRPr lang="en-US" sz="3200">
                <a:latin typeface="Helvetica Neue Light"/>
              </a:endParaRPr>
            </a:p>
          </p:txBody>
        </p:sp>
        <p:sp>
          <p:nvSpPr>
            <p:cNvPr id="16" name="Text 13">
              <a:extLst>
                <a:ext uri="{FF2B5EF4-FFF2-40B4-BE49-F238E27FC236}">
                  <a16:creationId xmlns:a16="http://schemas.microsoft.com/office/drawing/2014/main" id="{7C6CC449-3431-4107-994E-3290D9156A2D}"/>
                </a:ext>
              </a:extLst>
            </p:cNvPr>
            <p:cNvSpPr/>
            <p:nvPr/>
          </p:nvSpPr>
          <p:spPr>
            <a:xfrm>
              <a:off x="685800" y="2860779"/>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The Skill Debate:</a:t>
              </a:r>
              <a:endParaRPr lang="en-US" sz="2000" dirty="0">
                <a:latin typeface="Helvetica Neue Light"/>
              </a:endParaRPr>
            </a:p>
          </p:txBody>
        </p:sp>
        <p:sp>
          <p:nvSpPr>
            <p:cNvPr id="17" name="Text 14">
              <a:extLst>
                <a:ext uri="{FF2B5EF4-FFF2-40B4-BE49-F238E27FC236}">
                  <a16:creationId xmlns:a16="http://schemas.microsoft.com/office/drawing/2014/main" id="{C0FF2D0C-27DF-4A93-276C-9DF7B13ACA75}"/>
                </a:ext>
              </a:extLst>
            </p:cNvPr>
            <p:cNvSpPr/>
            <p:nvPr/>
          </p:nvSpPr>
          <p:spPr>
            <a:xfrm>
              <a:off x="685800" y="315468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Critics: creates "prompt engineers" not programmers. Advocates: frees developers to focus on architecture over syntax</a:t>
              </a:r>
              <a:endParaRPr lang="en-US" sz="1600" dirty="0">
                <a:latin typeface="Helvetica Neue Light"/>
              </a:endParaRPr>
            </a:p>
          </p:txBody>
        </p:sp>
        <p:sp>
          <p:nvSpPr>
            <p:cNvPr id="18" name="Shape 15">
              <a:extLst>
                <a:ext uri="{FF2B5EF4-FFF2-40B4-BE49-F238E27FC236}">
                  <a16:creationId xmlns:a16="http://schemas.microsoft.com/office/drawing/2014/main" id="{F3F665CA-A869-6116-2B96-635BD0AD2C70}"/>
                </a:ext>
              </a:extLst>
            </p:cNvPr>
            <p:cNvSpPr/>
            <p:nvPr/>
          </p:nvSpPr>
          <p:spPr>
            <a:xfrm>
              <a:off x="457200" y="3657600"/>
              <a:ext cx="8229600" cy="73152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9" name="Shape 16">
              <a:extLst>
                <a:ext uri="{FF2B5EF4-FFF2-40B4-BE49-F238E27FC236}">
                  <a16:creationId xmlns:a16="http://schemas.microsoft.com/office/drawing/2014/main" id="{B1E71192-75A3-09DA-19C3-724445AFF6C4}"/>
                </a:ext>
              </a:extLst>
            </p:cNvPr>
            <p:cNvSpPr/>
            <p:nvPr/>
          </p:nvSpPr>
          <p:spPr>
            <a:xfrm>
              <a:off x="457200" y="3657600"/>
              <a:ext cx="54864" cy="731520"/>
            </a:xfrm>
            <a:prstGeom prst="rect">
              <a:avLst/>
            </a:prstGeom>
            <a:solidFill>
              <a:srgbClr val="E07A5F"/>
            </a:solidFill>
            <a:ln/>
          </p:spPr>
          <p:txBody>
            <a:bodyPr/>
            <a:lstStyle/>
            <a:p>
              <a:endParaRPr lang="en-US" sz="3200">
                <a:latin typeface="Helvetica Neue Light"/>
              </a:endParaRPr>
            </a:p>
          </p:txBody>
        </p:sp>
        <p:sp>
          <p:nvSpPr>
            <p:cNvPr id="20" name="Text 17">
              <a:extLst>
                <a:ext uri="{FF2B5EF4-FFF2-40B4-BE49-F238E27FC236}">
                  <a16:creationId xmlns:a16="http://schemas.microsoft.com/office/drawing/2014/main" id="{EF874A12-7713-B2EA-C525-58B417A40F5B}"/>
                </a:ext>
              </a:extLst>
            </p:cNvPr>
            <p:cNvSpPr/>
            <p:nvPr/>
          </p:nvSpPr>
          <p:spPr>
            <a:xfrm>
              <a:off x="685800" y="3662607"/>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Future Evolution:</a:t>
              </a:r>
              <a:endParaRPr lang="en-US" sz="2000" dirty="0">
                <a:latin typeface="Helvetica Neue Light"/>
              </a:endParaRPr>
            </a:p>
          </p:txBody>
        </p:sp>
        <p:sp>
          <p:nvSpPr>
            <p:cNvPr id="21" name="Text 18">
              <a:extLst>
                <a:ext uri="{FF2B5EF4-FFF2-40B4-BE49-F238E27FC236}">
                  <a16:creationId xmlns:a16="http://schemas.microsoft.com/office/drawing/2014/main" id="{D7005FED-F156-64B4-B66E-3A26220B8EEF}"/>
                </a:ext>
              </a:extLst>
            </p:cNvPr>
            <p:cNvSpPr/>
            <p:nvPr/>
          </p:nvSpPr>
          <p:spPr>
            <a:xfrm>
              <a:off x="685800" y="397764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Moving toward AI that understands context, maintains coding standards, and translates vibes into production-ready, secure code</a:t>
              </a:r>
              <a:endParaRPr lang="en-US" sz="1600" dirty="0">
                <a:latin typeface="Helvetica Neue Light"/>
              </a:endParaRPr>
            </a:p>
          </p:txBody>
        </p:sp>
      </p:grpSp>
    </p:spTree>
    <p:extLst>
      <p:ext uri="{BB962C8B-B14F-4D97-AF65-F5344CB8AC3E}">
        <p14:creationId xmlns:p14="http://schemas.microsoft.com/office/powerpoint/2010/main" val="10184275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9F12D-60BC-391D-2480-D8AD001FFB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A0DB1F-BA94-4EC5-CD81-3CAEDE61158C}"/>
              </a:ext>
            </a:extLst>
          </p:cNvPr>
          <p:cNvSpPr>
            <a:spLocks noGrp="1"/>
          </p:cNvSpPr>
          <p:nvPr>
            <p:ph type="title"/>
          </p:nvPr>
        </p:nvSpPr>
        <p:spPr>
          <a:xfrm>
            <a:off x="623888" y="3305016"/>
            <a:ext cx="7886700" cy="1257460"/>
          </a:xfrm>
        </p:spPr>
        <p:txBody>
          <a:bodyPr/>
          <a:lstStyle/>
          <a:p>
            <a:r>
              <a:rPr lang="en-US" sz="3600" dirty="0"/>
              <a:t>Part 17</a:t>
            </a:r>
            <a:br>
              <a:rPr lang="en-US" sz="4800" dirty="0"/>
            </a:br>
            <a:r>
              <a:rPr lang="en-US" sz="4800" dirty="0"/>
              <a:t>	Causal AI</a:t>
            </a:r>
          </a:p>
        </p:txBody>
      </p:sp>
      <p:sp>
        <p:nvSpPr>
          <p:cNvPr id="2" name="Text Placeholder 1">
            <a:extLst>
              <a:ext uri="{FF2B5EF4-FFF2-40B4-BE49-F238E27FC236}">
                <a16:creationId xmlns:a16="http://schemas.microsoft.com/office/drawing/2014/main" id="{D131855E-B6D3-3E8C-CB77-72285A5A0D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1BE909-5E3F-8022-3FF5-D5E8A5023829}"/>
              </a:ext>
            </a:extLst>
          </p:cNvPr>
          <p:cNvSpPr>
            <a:spLocks noGrp="1"/>
          </p:cNvSpPr>
          <p:nvPr>
            <p:ph type="sldNum" sz="quarter" idx="12"/>
          </p:nvPr>
        </p:nvSpPr>
        <p:spPr/>
        <p:txBody>
          <a:bodyPr/>
          <a:lstStyle/>
          <a:p>
            <a:fld id="{21EF4C0E-91FA-4D94-8941-E22F3A83D5F1}" type="slidenum">
              <a:rPr lang="en-US" smtClean="0"/>
              <a:t>90</a:t>
            </a:fld>
            <a:endParaRPr lang="en-US"/>
          </a:p>
        </p:txBody>
      </p:sp>
    </p:spTree>
    <p:extLst>
      <p:ext uri="{BB962C8B-B14F-4D97-AF65-F5344CB8AC3E}">
        <p14:creationId xmlns:p14="http://schemas.microsoft.com/office/powerpoint/2010/main" val="20572707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95928-EFD1-B36F-3D32-2A96A072F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E9A71-28B8-9569-2705-150DC33D4D02}"/>
              </a:ext>
            </a:extLst>
          </p:cNvPr>
          <p:cNvSpPr>
            <a:spLocks noGrp="1"/>
          </p:cNvSpPr>
          <p:nvPr>
            <p:ph type="title"/>
          </p:nvPr>
        </p:nvSpPr>
        <p:spPr>
          <a:xfrm>
            <a:off x="457200" y="365126"/>
            <a:ext cx="8229600" cy="647741"/>
          </a:xfrm>
        </p:spPr>
        <p:txBody>
          <a:bodyPr/>
          <a:lstStyle/>
          <a:p>
            <a:r>
              <a:rPr lang="en-US" sz="4000" dirty="0"/>
              <a:t>Causal AI - Video (2:47 )</a:t>
            </a:r>
          </a:p>
        </p:txBody>
      </p:sp>
      <p:sp>
        <p:nvSpPr>
          <p:cNvPr id="5" name="Slide Number Placeholder 4">
            <a:extLst>
              <a:ext uri="{FF2B5EF4-FFF2-40B4-BE49-F238E27FC236}">
                <a16:creationId xmlns:a16="http://schemas.microsoft.com/office/drawing/2014/main" id="{0171858A-6006-47CD-8665-885E940C5FA5}"/>
              </a:ext>
            </a:extLst>
          </p:cNvPr>
          <p:cNvSpPr>
            <a:spLocks noGrp="1"/>
          </p:cNvSpPr>
          <p:nvPr>
            <p:ph type="sldNum" sz="quarter" idx="12"/>
          </p:nvPr>
        </p:nvSpPr>
        <p:spPr/>
        <p:txBody>
          <a:bodyPr/>
          <a:lstStyle/>
          <a:p>
            <a:fld id="{21EF4C0E-91FA-4D94-8941-E22F3A83D5F1}" type="slidenum">
              <a:rPr lang="en-US" smtClean="0"/>
              <a:t>91</a:t>
            </a:fld>
            <a:endParaRPr lang="en-US"/>
          </a:p>
        </p:txBody>
      </p:sp>
      <p:sp>
        <p:nvSpPr>
          <p:cNvPr id="9" name="TextBox 8">
            <a:extLst>
              <a:ext uri="{FF2B5EF4-FFF2-40B4-BE49-F238E27FC236}">
                <a16:creationId xmlns:a16="http://schemas.microsoft.com/office/drawing/2014/main" id="{1EA4910C-FA9F-8E04-7881-51A910A42884}"/>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https://www.youtube.com/watch?v=7QlQKTGsPt8</a:t>
            </a:r>
          </a:p>
        </p:txBody>
      </p:sp>
      <p:pic>
        <p:nvPicPr>
          <p:cNvPr id="4" name="Online Media 3" title="What is Causal AI?">
            <a:hlinkClick r:id="" action="ppaction://media"/>
            <a:extLst>
              <a:ext uri="{FF2B5EF4-FFF2-40B4-BE49-F238E27FC236}">
                <a16:creationId xmlns:a16="http://schemas.microsoft.com/office/drawing/2014/main" id="{F2D1EABB-1996-321E-78BF-52B5E74B0E3E}"/>
              </a:ext>
            </a:extLst>
          </p:cNvPr>
          <p:cNvPicPr>
            <a:picLocks noRot="1" noChangeAspect="1"/>
          </p:cNvPicPr>
          <p:nvPr>
            <a:videoFile r:link="rId1"/>
          </p:nvPr>
        </p:nvPicPr>
        <p:blipFill>
          <a:blip r:embed="rId3"/>
          <a:stretch>
            <a:fillRect/>
          </a:stretch>
        </p:blipFill>
        <p:spPr>
          <a:xfrm>
            <a:off x="542227" y="1642088"/>
            <a:ext cx="8301332" cy="4686793"/>
          </a:xfrm>
          <a:prstGeom prst="rect">
            <a:avLst/>
          </a:prstGeom>
        </p:spPr>
      </p:pic>
      <p:sp>
        <p:nvSpPr>
          <p:cNvPr id="6" name="TextBox 5">
            <a:extLst>
              <a:ext uri="{FF2B5EF4-FFF2-40B4-BE49-F238E27FC236}">
                <a16:creationId xmlns:a16="http://schemas.microsoft.com/office/drawing/2014/main" id="{BFDA937E-C905-34F9-7A63-5F64901B09E4}"/>
              </a:ext>
            </a:extLst>
          </p:cNvPr>
          <p:cNvSpPr txBox="1"/>
          <p:nvPr/>
        </p:nvSpPr>
        <p:spPr>
          <a:xfrm>
            <a:off x="457200" y="1086303"/>
            <a:ext cx="5935974" cy="369332"/>
          </a:xfrm>
          <a:prstGeom prst="rect">
            <a:avLst/>
          </a:prstGeom>
          <a:noFill/>
        </p:spPr>
        <p:txBody>
          <a:bodyPr wrap="square">
            <a:spAutoFit/>
          </a:bodyPr>
          <a:lstStyle/>
          <a:p>
            <a:pPr marL="0" indent="0" algn="ctr">
              <a:buNone/>
            </a:pPr>
            <a:r>
              <a:rPr lang="en-US" sz="1800" i="1" dirty="0">
                <a:solidFill>
                  <a:srgbClr val="E8F4F8"/>
                </a:solidFill>
                <a:latin typeface="Helvetica Neue Light"/>
                <a:ea typeface="Calibri" pitchFamily="34" charset="-122"/>
                <a:cs typeface="Calibri" pitchFamily="34" charset="-120"/>
              </a:rPr>
              <a:t>Moving beyond correlation to understand cause and effect</a:t>
            </a:r>
            <a:endParaRPr lang="en-US" sz="1800" dirty="0">
              <a:latin typeface="Helvetica Neue Light"/>
            </a:endParaRPr>
          </a:p>
        </p:txBody>
      </p:sp>
    </p:spTree>
    <p:extLst>
      <p:ext uri="{BB962C8B-B14F-4D97-AF65-F5344CB8AC3E}">
        <p14:creationId xmlns:p14="http://schemas.microsoft.com/office/powerpoint/2010/main" val="264417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49411B7-BA4A-0BF3-940A-1C7E0AF3B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2BFC0-DF98-2C49-AFD6-26ADC32D7FAA}"/>
              </a:ext>
            </a:extLst>
          </p:cNvPr>
          <p:cNvSpPr>
            <a:spLocks noGrp="1"/>
          </p:cNvSpPr>
          <p:nvPr>
            <p:ph type="title"/>
          </p:nvPr>
        </p:nvSpPr>
        <p:spPr>
          <a:xfrm>
            <a:off x="457200" y="365126"/>
            <a:ext cx="8686800" cy="528726"/>
          </a:xfrm>
        </p:spPr>
        <p:txBody>
          <a:bodyPr/>
          <a:lstStyle/>
          <a:p>
            <a:r>
              <a:rPr lang="en-US" sz="2800" dirty="0"/>
              <a:t>Moving Beyond Correlation to Understand Cause and Effect</a:t>
            </a:r>
          </a:p>
        </p:txBody>
      </p:sp>
      <p:sp>
        <p:nvSpPr>
          <p:cNvPr id="5" name="Slide Number Placeholder 4">
            <a:extLst>
              <a:ext uri="{FF2B5EF4-FFF2-40B4-BE49-F238E27FC236}">
                <a16:creationId xmlns:a16="http://schemas.microsoft.com/office/drawing/2014/main" id="{C79E5390-68AD-912A-1C44-002584CFA24A}"/>
              </a:ext>
            </a:extLst>
          </p:cNvPr>
          <p:cNvSpPr>
            <a:spLocks noGrp="1"/>
          </p:cNvSpPr>
          <p:nvPr>
            <p:ph type="sldNum" sz="quarter" idx="12"/>
          </p:nvPr>
        </p:nvSpPr>
        <p:spPr/>
        <p:txBody>
          <a:bodyPr/>
          <a:lstStyle/>
          <a:p>
            <a:fld id="{21EF4C0E-91FA-4D94-8941-E22F3A83D5F1}" type="slidenum">
              <a:rPr lang="en-US" smtClean="0"/>
              <a:t>92</a:t>
            </a:fld>
            <a:endParaRPr lang="en-US"/>
          </a:p>
        </p:txBody>
      </p:sp>
      <p:grpSp>
        <p:nvGrpSpPr>
          <p:cNvPr id="3" name="Group 2">
            <a:extLst>
              <a:ext uri="{FF2B5EF4-FFF2-40B4-BE49-F238E27FC236}">
                <a16:creationId xmlns:a16="http://schemas.microsoft.com/office/drawing/2014/main" id="{B8D41C91-EF6E-3093-AE69-D3E5B4BD1607}"/>
              </a:ext>
            </a:extLst>
          </p:cNvPr>
          <p:cNvGrpSpPr/>
          <p:nvPr/>
        </p:nvGrpSpPr>
        <p:grpSpPr>
          <a:xfrm>
            <a:off x="457200" y="1233112"/>
            <a:ext cx="8542962" cy="4356030"/>
            <a:chOff x="457200" y="1233646"/>
            <a:chExt cx="8229600" cy="2606834"/>
          </a:xfrm>
        </p:grpSpPr>
        <p:sp>
          <p:nvSpPr>
            <p:cNvPr id="4" name="Shape 3">
              <a:extLst>
                <a:ext uri="{FF2B5EF4-FFF2-40B4-BE49-F238E27FC236}">
                  <a16:creationId xmlns:a16="http://schemas.microsoft.com/office/drawing/2014/main" id="{A67760CD-E990-6760-03D7-601CA5FEECC5}"/>
                </a:ext>
              </a:extLst>
            </p:cNvPr>
            <p:cNvSpPr/>
            <p:nvPr/>
          </p:nvSpPr>
          <p:spPr>
            <a:xfrm>
              <a:off x="457200" y="12344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7B06EAE0-CAF5-968B-EF20-9343E86F4FE8}"/>
                </a:ext>
              </a:extLst>
            </p:cNvPr>
            <p:cNvSpPr/>
            <p:nvPr/>
          </p:nvSpPr>
          <p:spPr>
            <a:xfrm>
              <a:off x="457200" y="1234440"/>
              <a:ext cx="54864" cy="77724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B72739ED-7597-97B5-E22B-4E69B3B13309}"/>
                </a:ext>
              </a:extLst>
            </p:cNvPr>
            <p:cNvSpPr/>
            <p:nvPr/>
          </p:nvSpPr>
          <p:spPr>
            <a:xfrm>
              <a:off x="685800" y="1233646"/>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Core Purpose:</a:t>
              </a:r>
              <a:endParaRPr lang="en-US" sz="2000" dirty="0">
                <a:latin typeface="Helvetica Neue Light"/>
              </a:endParaRPr>
            </a:p>
          </p:txBody>
        </p:sp>
        <p:sp>
          <p:nvSpPr>
            <p:cNvPr id="9" name="Text 6">
              <a:extLst>
                <a:ext uri="{FF2B5EF4-FFF2-40B4-BE49-F238E27FC236}">
                  <a16:creationId xmlns:a16="http://schemas.microsoft.com/office/drawing/2014/main" id="{7CC7FD01-E9BF-0389-A6C3-206E21B68FD2}"/>
                </a:ext>
              </a:extLst>
            </p:cNvPr>
            <p:cNvSpPr/>
            <p:nvPr/>
          </p:nvSpPr>
          <p:spPr>
            <a:xfrm>
              <a:off x="685800" y="1554480"/>
              <a:ext cx="777240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Causal AI identifies true cause-and-effect relationships in data, answering "what causes what?" and "what happens if we intervene?" rather than just finding patterns and correlations.</a:t>
              </a:r>
              <a:endParaRPr lang="en-US" dirty="0">
                <a:latin typeface="Helvetica Neue Light"/>
              </a:endParaRPr>
            </a:p>
          </p:txBody>
        </p:sp>
        <p:sp>
          <p:nvSpPr>
            <p:cNvPr id="10" name="Shape 7">
              <a:extLst>
                <a:ext uri="{FF2B5EF4-FFF2-40B4-BE49-F238E27FC236}">
                  <a16:creationId xmlns:a16="http://schemas.microsoft.com/office/drawing/2014/main" id="{CA060C6F-E58E-A676-B9E7-374708A9D624}"/>
                </a:ext>
              </a:extLst>
            </p:cNvPr>
            <p:cNvSpPr/>
            <p:nvPr/>
          </p:nvSpPr>
          <p:spPr>
            <a:xfrm>
              <a:off x="457200" y="21488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5182911F-C7E7-87BC-9F0D-60AC600B7592}"/>
                </a:ext>
              </a:extLst>
            </p:cNvPr>
            <p:cNvSpPr/>
            <p:nvPr/>
          </p:nvSpPr>
          <p:spPr>
            <a:xfrm>
              <a:off x="457200" y="2148840"/>
              <a:ext cx="54864" cy="777240"/>
            </a:xfrm>
            <a:prstGeom prst="rect">
              <a:avLst/>
            </a:prstGeom>
            <a:solidFill>
              <a:srgbClr val="1C7293"/>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3C52D6A4-0FB1-206F-00F0-398D1FA7711D}"/>
                </a:ext>
              </a:extLst>
            </p:cNvPr>
            <p:cNvSpPr/>
            <p:nvPr/>
          </p:nvSpPr>
          <p:spPr>
            <a:xfrm>
              <a:off x="685800" y="2148046"/>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The Fundamental Difference:</a:t>
              </a:r>
              <a:endParaRPr lang="en-US" sz="2000" dirty="0">
                <a:latin typeface="Helvetica Neue Light"/>
              </a:endParaRPr>
            </a:p>
          </p:txBody>
        </p:sp>
        <p:sp>
          <p:nvSpPr>
            <p:cNvPr id="13" name="Text 10">
              <a:extLst>
                <a:ext uri="{FF2B5EF4-FFF2-40B4-BE49-F238E27FC236}">
                  <a16:creationId xmlns:a16="http://schemas.microsoft.com/office/drawing/2014/main" id="{74EDCE64-49E3-0F5A-9FD8-8FCA2DDD123C}"/>
                </a:ext>
              </a:extLst>
            </p:cNvPr>
            <p:cNvSpPr/>
            <p:nvPr/>
          </p:nvSpPr>
          <p:spPr>
            <a:xfrm>
              <a:off x="685800" y="2468880"/>
              <a:ext cx="777240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Traditional ML: ice cream sales correlate with drownings (both increase in summer). Causal AI: understands that heat causes both, and banning ice cream won't prevent drownings.</a:t>
              </a:r>
              <a:endParaRPr lang="en-US" dirty="0">
                <a:latin typeface="Helvetica Neue Light"/>
              </a:endParaRPr>
            </a:p>
          </p:txBody>
        </p:sp>
        <p:sp>
          <p:nvSpPr>
            <p:cNvPr id="14" name="Shape 11">
              <a:extLst>
                <a:ext uri="{FF2B5EF4-FFF2-40B4-BE49-F238E27FC236}">
                  <a16:creationId xmlns:a16="http://schemas.microsoft.com/office/drawing/2014/main" id="{C0E20A2D-5A4F-A33F-7F83-A9C59F5D4E01}"/>
                </a:ext>
              </a:extLst>
            </p:cNvPr>
            <p:cNvSpPr/>
            <p:nvPr/>
          </p:nvSpPr>
          <p:spPr>
            <a:xfrm>
              <a:off x="457200" y="30632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5" name="Shape 12">
              <a:extLst>
                <a:ext uri="{FF2B5EF4-FFF2-40B4-BE49-F238E27FC236}">
                  <a16:creationId xmlns:a16="http://schemas.microsoft.com/office/drawing/2014/main" id="{1544EF48-C1B0-FEE0-7933-09949F657BFA}"/>
                </a:ext>
              </a:extLst>
            </p:cNvPr>
            <p:cNvSpPr/>
            <p:nvPr/>
          </p:nvSpPr>
          <p:spPr>
            <a:xfrm>
              <a:off x="457200" y="3063240"/>
              <a:ext cx="54864" cy="777240"/>
            </a:xfrm>
            <a:prstGeom prst="rect">
              <a:avLst/>
            </a:prstGeom>
            <a:solidFill>
              <a:srgbClr val="84B59F"/>
            </a:solidFill>
            <a:ln/>
          </p:spPr>
          <p:txBody>
            <a:bodyPr/>
            <a:lstStyle/>
            <a:p>
              <a:endParaRPr lang="en-US" sz="3200">
                <a:latin typeface="Helvetica Neue Light"/>
              </a:endParaRPr>
            </a:p>
          </p:txBody>
        </p:sp>
        <p:sp>
          <p:nvSpPr>
            <p:cNvPr id="16" name="Text 13">
              <a:extLst>
                <a:ext uri="{FF2B5EF4-FFF2-40B4-BE49-F238E27FC236}">
                  <a16:creationId xmlns:a16="http://schemas.microsoft.com/office/drawing/2014/main" id="{B8941D05-DDC8-09FA-15AE-5E60FB0BE389}"/>
                </a:ext>
              </a:extLst>
            </p:cNvPr>
            <p:cNvSpPr/>
            <p:nvPr/>
          </p:nvSpPr>
          <p:spPr>
            <a:xfrm>
              <a:off x="685800" y="3062450"/>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Key Workflow - Causal Graphs:</a:t>
              </a:r>
              <a:endParaRPr lang="en-US" sz="2000" dirty="0">
                <a:latin typeface="Helvetica Neue Light"/>
              </a:endParaRPr>
            </a:p>
          </p:txBody>
        </p:sp>
        <p:sp>
          <p:nvSpPr>
            <p:cNvPr id="17" name="Text 14">
              <a:extLst>
                <a:ext uri="{FF2B5EF4-FFF2-40B4-BE49-F238E27FC236}">
                  <a16:creationId xmlns:a16="http://schemas.microsoft.com/office/drawing/2014/main" id="{D4112E34-D2C4-B5CE-817C-FD651ED38805}"/>
                </a:ext>
              </a:extLst>
            </p:cNvPr>
            <p:cNvSpPr/>
            <p:nvPr/>
          </p:nvSpPr>
          <p:spPr>
            <a:xfrm>
              <a:off x="685800" y="3383280"/>
              <a:ext cx="777240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Build directed graphs showing causal relationships (smoking → lung disease), identify confounders (genetics affects both), then use techniques like do-calculus to estimate causal effects.</a:t>
              </a:r>
              <a:endParaRPr lang="en-US" dirty="0">
                <a:latin typeface="Helvetica Neue Light"/>
              </a:endParaRPr>
            </a:p>
          </p:txBody>
        </p:sp>
      </p:grpSp>
    </p:spTree>
    <p:extLst>
      <p:ext uri="{BB962C8B-B14F-4D97-AF65-F5344CB8AC3E}">
        <p14:creationId xmlns:p14="http://schemas.microsoft.com/office/powerpoint/2010/main" val="2174546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EB4A94AC-6F8F-BC2D-BAE3-5749F7B8E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11B2C-99F4-A4C6-A89B-F6DA220295C1}"/>
              </a:ext>
            </a:extLst>
          </p:cNvPr>
          <p:cNvSpPr>
            <a:spLocks noGrp="1"/>
          </p:cNvSpPr>
          <p:nvPr>
            <p:ph type="title"/>
          </p:nvPr>
        </p:nvSpPr>
        <p:spPr>
          <a:xfrm>
            <a:off x="457200" y="365126"/>
            <a:ext cx="8229600" cy="647741"/>
          </a:xfrm>
        </p:spPr>
        <p:txBody>
          <a:bodyPr/>
          <a:lstStyle/>
          <a:p>
            <a:r>
              <a:rPr lang="en-US" sz="4000" dirty="0"/>
              <a:t>Applications &amp; Challenges</a:t>
            </a:r>
          </a:p>
        </p:txBody>
      </p:sp>
      <p:sp>
        <p:nvSpPr>
          <p:cNvPr id="5" name="Slide Number Placeholder 4">
            <a:extLst>
              <a:ext uri="{FF2B5EF4-FFF2-40B4-BE49-F238E27FC236}">
                <a16:creationId xmlns:a16="http://schemas.microsoft.com/office/drawing/2014/main" id="{712D2B9B-85BE-DA2B-FFE1-AC2BE95A66D2}"/>
              </a:ext>
            </a:extLst>
          </p:cNvPr>
          <p:cNvSpPr>
            <a:spLocks noGrp="1"/>
          </p:cNvSpPr>
          <p:nvPr>
            <p:ph type="sldNum" sz="quarter" idx="12"/>
          </p:nvPr>
        </p:nvSpPr>
        <p:spPr/>
        <p:txBody>
          <a:bodyPr/>
          <a:lstStyle/>
          <a:p>
            <a:fld id="{21EF4C0E-91FA-4D94-8941-E22F3A83D5F1}" type="slidenum">
              <a:rPr lang="en-US" smtClean="0"/>
              <a:t>93</a:t>
            </a:fld>
            <a:endParaRPr lang="en-US"/>
          </a:p>
        </p:txBody>
      </p:sp>
      <p:sp>
        <p:nvSpPr>
          <p:cNvPr id="6" name="TextBox 5">
            <a:extLst>
              <a:ext uri="{FF2B5EF4-FFF2-40B4-BE49-F238E27FC236}">
                <a16:creationId xmlns:a16="http://schemas.microsoft.com/office/drawing/2014/main" id="{7BD9205F-93D0-0950-B623-0B632DA9125F}"/>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EDFC5178-293B-71DF-6304-2D8EEC17E71C}"/>
              </a:ext>
            </a:extLst>
          </p:cNvPr>
          <p:cNvGrpSpPr/>
          <p:nvPr/>
        </p:nvGrpSpPr>
        <p:grpSpPr>
          <a:xfrm>
            <a:off x="457200" y="1234440"/>
            <a:ext cx="8546690" cy="4241686"/>
            <a:chOff x="457200" y="1234440"/>
            <a:chExt cx="8366760" cy="3017520"/>
          </a:xfrm>
        </p:grpSpPr>
        <p:sp>
          <p:nvSpPr>
            <p:cNvPr id="4" name="Shape 3">
              <a:extLst>
                <a:ext uri="{FF2B5EF4-FFF2-40B4-BE49-F238E27FC236}">
                  <a16:creationId xmlns:a16="http://schemas.microsoft.com/office/drawing/2014/main" id="{9DDD134B-9E6A-709B-C00C-523C615A5140}"/>
                </a:ext>
              </a:extLst>
            </p:cNvPr>
            <p:cNvSpPr/>
            <p:nvPr/>
          </p:nvSpPr>
          <p:spPr>
            <a:xfrm>
              <a:off x="457200" y="1234440"/>
              <a:ext cx="4023360" cy="1227606"/>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7" name="Shape 4">
              <a:extLst>
                <a:ext uri="{FF2B5EF4-FFF2-40B4-BE49-F238E27FC236}">
                  <a16:creationId xmlns:a16="http://schemas.microsoft.com/office/drawing/2014/main" id="{5E031F57-D571-C8C4-BB2C-7DEDA9E68544}"/>
                </a:ext>
              </a:extLst>
            </p:cNvPr>
            <p:cNvSpPr/>
            <p:nvPr/>
          </p:nvSpPr>
          <p:spPr>
            <a:xfrm>
              <a:off x="457200" y="1234440"/>
              <a:ext cx="54864" cy="1188720"/>
            </a:xfrm>
            <a:prstGeom prst="rect">
              <a:avLst/>
            </a:prstGeom>
            <a:solidFill>
              <a:srgbClr val="1C7293"/>
            </a:solidFill>
            <a:ln/>
          </p:spPr>
          <p:txBody>
            <a:bodyPr/>
            <a:lstStyle/>
            <a:p>
              <a:endParaRPr lang="en-US" sz="3600">
                <a:latin typeface="Helvetica Neue Light"/>
              </a:endParaRPr>
            </a:p>
          </p:txBody>
        </p:sp>
        <p:sp>
          <p:nvSpPr>
            <p:cNvPr id="8" name="Text 5">
              <a:extLst>
                <a:ext uri="{FF2B5EF4-FFF2-40B4-BE49-F238E27FC236}">
                  <a16:creationId xmlns:a16="http://schemas.microsoft.com/office/drawing/2014/main" id="{FE136005-245F-7F61-290F-44643ECAA2C2}"/>
                </a:ext>
              </a:extLst>
            </p:cNvPr>
            <p:cNvSpPr/>
            <p:nvPr/>
          </p:nvSpPr>
          <p:spPr>
            <a:xfrm>
              <a:off x="685800" y="1260099"/>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The Intervention Problem</a:t>
              </a:r>
              <a:endParaRPr lang="en-US" sz="2000" dirty="0">
                <a:latin typeface="Helvetica Neue Light"/>
              </a:endParaRPr>
            </a:p>
          </p:txBody>
        </p:sp>
        <p:sp>
          <p:nvSpPr>
            <p:cNvPr id="9" name="Text 6">
              <a:extLst>
                <a:ext uri="{FF2B5EF4-FFF2-40B4-BE49-F238E27FC236}">
                  <a16:creationId xmlns:a16="http://schemas.microsoft.com/office/drawing/2014/main" id="{C8743135-5823-0D41-FF26-D4B0F9EA49A8}"/>
                </a:ext>
              </a:extLst>
            </p:cNvPr>
            <p:cNvSpPr/>
            <p:nvPr/>
          </p:nvSpPr>
          <p:spPr>
            <a:xfrm>
              <a:off x="685800" y="1600200"/>
              <a:ext cx="3657600" cy="7315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Causal AI can predict what happens when we actively change something (if we force people to exercise) versus just observing correlations (people who exercise are healthier).</a:t>
              </a:r>
              <a:endParaRPr lang="en-US" sz="1600" dirty="0">
                <a:latin typeface="Helvetica Neue Light"/>
              </a:endParaRPr>
            </a:p>
          </p:txBody>
        </p:sp>
        <p:sp>
          <p:nvSpPr>
            <p:cNvPr id="10" name="Shape 7">
              <a:extLst>
                <a:ext uri="{FF2B5EF4-FFF2-40B4-BE49-F238E27FC236}">
                  <a16:creationId xmlns:a16="http://schemas.microsoft.com/office/drawing/2014/main" id="{EEDA1124-44E9-4EFA-3AD3-CC5ECFC6F3BB}"/>
                </a:ext>
              </a:extLst>
            </p:cNvPr>
            <p:cNvSpPr/>
            <p:nvPr/>
          </p:nvSpPr>
          <p:spPr>
            <a:xfrm>
              <a:off x="4663440" y="1234440"/>
              <a:ext cx="4023360" cy="1227606"/>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11" name="Shape 8">
              <a:extLst>
                <a:ext uri="{FF2B5EF4-FFF2-40B4-BE49-F238E27FC236}">
                  <a16:creationId xmlns:a16="http://schemas.microsoft.com/office/drawing/2014/main" id="{C45A1280-6FCA-87CF-5779-594460CE9B6A}"/>
                </a:ext>
              </a:extLst>
            </p:cNvPr>
            <p:cNvSpPr/>
            <p:nvPr/>
          </p:nvSpPr>
          <p:spPr>
            <a:xfrm>
              <a:off x="4663440" y="1234440"/>
              <a:ext cx="54864" cy="1188720"/>
            </a:xfrm>
            <a:prstGeom prst="rect">
              <a:avLst/>
            </a:prstGeom>
            <a:solidFill>
              <a:srgbClr val="E07A5F"/>
            </a:solidFill>
            <a:ln/>
          </p:spPr>
          <p:txBody>
            <a:bodyPr/>
            <a:lstStyle/>
            <a:p>
              <a:endParaRPr lang="en-US" sz="3600">
                <a:latin typeface="Helvetica Neue Light"/>
              </a:endParaRPr>
            </a:p>
          </p:txBody>
        </p:sp>
        <p:sp>
          <p:nvSpPr>
            <p:cNvPr id="12" name="Text 9">
              <a:extLst>
                <a:ext uri="{FF2B5EF4-FFF2-40B4-BE49-F238E27FC236}">
                  <a16:creationId xmlns:a16="http://schemas.microsoft.com/office/drawing/2014/main" id="{2331E5CC-9EDA-3AA6-3E1F-AE86F12D8834}"/>
                </a:ext>
              </a:extLst>
            </p:cNvPr>
            <p:cNvSpPr/>
            <p:nvPr/>
          </p:nvSpPr>
          <p:spPr>
            <a:xfrm>
              <a:off x="4892040" y="1260099"/>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Hidden Confounders Challenge</a:t>
              </a:r>
              <a:endParaRPr lang="en-US" sz="2000" dirty="0">
                <a:latin typeface="Helvetica Neue Light"/>
              </a:endParaRPr>
            </a:p>
          </p:txBody>
        </p:sp>
        <p:sp>
          <p:nvSpPr>
            <p:cNvPr id="13" name="Text 10">
              <a:extLst>
                <a:ext uri="{FF2B5EF4-FFF2-40B4-BE49-F238E27FC236}">
                  <a16:creationId xmlns:a16="http://schemas.microsoft.com/office/drawing/2014/main" id="{10620F90-0217-B029-9041-6DC1E71218CB}"/>
                </a:ext>
              </a:extLst>
            </p:cNvPr>
            <p:cNvSpPr/>
            <p:nvPr/>
          </p:nvSpPr>
          <p:spPr>
            <a:xfrm>
              <a:off x="4892040" y="1600200"/>
              <a:ext cx="3657600" cy="73152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Unknown variables that affect multiple outcomes can create false causal relationships — making it seem like one thing causes another when an unseen third factor causes both.</a:t>
              </a:r>
              <a:endParaRPr lang="en-US" sz="1600" dirty="0">
                <a:latin typeface="Helvetica Neue Light"/>
              </a:endParaRPr>
            </a:p>
          </p:txBody>
        </p:sp>
        <p:sp>
          <p:nvSpPr>
            <p:cNvPr id="14" name="Text 11">
              <a:extLst>
                <a:ext uri="{FF2B5EF4-FFF2-40B4-BE49-F238E27FC236}">
                  <a16:creationId xmlns:a16="http://schemas.microsoft.com/office/drawing/2014/main" id="{9FE3267B-D235-4833-D8B2-4989647B3D26}"/>
                </a:ext>
              </a:extLst>
            </p:cNvPr>
            <p:cNvSpPr/>
            <p:nvPr/>
          </p:nvSpPr>
          <p:spPr>
            <a:xfrm>
              <a:off x="457200" y="2606040"/>
              <a:ext cx="8229600" cy="320040"/>
            </a:xfrm>
            <a:prstGeom prst="rect">
              <a:avLst/>
            </a:prstGeom>
            <a:noFill/>
            <a:ln/>
          </p:spPr>
          <p:txBody>
            <a:bodyPr wrap="square" rtlCol="0" anchor="ctr"/>
            <a:lstStyle/>
            <a:p>
              <a:pPr marL="0" indent="0">
                <a:buNone/>
              </a:pPr>
              <a:r>
                <a:rPr lang="en-US" sz="2400" b="1" dirty="0">
                  <a:solidFill>
                    <a:srgbClr val="065A82"/>
                  </a:solidFill>
                  <a:latin typeface="Helvetica Neue Light"/>
                  <a:ea typeface="Georgia" pitchFamily="34" charset="-122"/>
                  <a:cs typeface="Georgia" pitchFamily="34" charset="-120"/>
                </a:rPr>
                <a:t>Critical Applications:</a:t>
              </a:r>
              <a:endParaRPr lang="en-US" sz="2400" dirty="0">
                <a:latin typeface="Helvetica Neue Light"/>
              </a:endParaRPr>
            </a:p>
          </p:txBody>
        </p:sp>
        <p:sp>
          <p:nvSpPr>
            <p:cNvPr id="15" name="Shape 12">
              <a:extLst>
                <a:ext uri="{FF2B5EF4-FFF2-40B4-BE49-F238E27FC236}">
                  <a16:creationId xmlns:a16="http://schemas.microsoft.com/office/drawing/2014/main" id="{801CF7A2-F925-9FB2-7187-BDF339C8136C}"/>
                </a:ext>
              </a:extLst>
            </p:cNvPr>
            <p:cNvSpPr/>
            <p:nvPr/>
          </p:nvSpPr>
          <p:spPr>
            <a:xfrm>
              <a:off x="457200" y="2971800"/>
              <a:ext cx="265176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16" name="Shape 13">
              <a:extLst>
                <a:ext uri="{FF2B5EF4-FFF2-40B4-BE49-F238E27FC236}">
                  <a16:creationId xmlns:a16="http://schemas.microsoft.com/office/drawing/2014/main" id="{4343C8A5-9293-3EF2-7E81-11C8253EC677}"/>
                </a:ext>
              </a:extLst>
            </p:cNvPr>
            <p:cNvSpPr/>
            <p:nvPr/>
          </p:nvSpPr>
          <p:spPr>
            <a:xfrm>
              <a:off x="457200" y="2971800"/>
              <a:ext cx="54864" cy="640080"/>
            </a:xfrm>
            <a:prstGeom prst="rect">
              <a:avLst/>
            </a:prstGeom>
            <a:solidFill>
              <a:srgbClr val="1C7293"/>
            </a:solidFill>
            <a:ln/>
          </p:spPr>
          <p:txBody>
            <a:bodyPr/>
            <a:lstStyle/>
            <a:p>
              <a:endParaRPr lang="en-US" sz="3600">
                <a:latin typeface="Helvetica Neue Light"/>
              </a:endParaRPr>
            </a:p>
          </p:txBody>
        </p:sp>
        <p:sp>
          <p:nvSpPr>
            <p:cNvPr id="17" name="Text 14">
              <a:extLst>
                <a:ext uri="{FF2B5EF4-FFF2-40B4-BE49-F238E27FC236}">
                  <a16:creationId xmlns:a16="http://schemas.microsoft.com/office/drawing/2014/main" id="{4B016680-1A59-CE1A-9384-3D33E4BB81B0}"/>
                </a:ext>
              </a:extLst>
            </p:cNvPr>
            <p:cNvSpPr/>
            <p:nvPr/>
          </p:nvSpPr>
          <p:spPr>
            <a:xfrm>
              <a:off x="685800" y="2975532"/>
              <a:ext cx="2286000"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Drug Discovery</a:t>
              </a:r>
              <a:endParaRPr lang="en-US" sz="1600" dirty="0">
                <a:latin typeface="Helvetica Neue Light"/>
              </a:endParaRPr>
            </a:p>
          </p:txBody>
        </p:sp>
        <p:sp>
          <p:nvSpPr>
            <p:cNvPr id="18" name="Text 15">
              <a:extLst>
                <a:ext uri="{FF2B5EF4-FFF2-40B4-BE49-F238E27FC236}">
                  <a16:creationId xmlns:a16="http://schemas.microsoft.com/office/drawing/2014/main" id="{F499F553-C627-A482-85C8-2BB32308A99D}"/>
                </a:ext>
              </a:extLst>
            </p:cNvPr>
            <p:cNvSpPr/>
            <p:nvPr/>
          </p:nvSpPr>
          <p:spPr>
            <a:xfrm>
              <a:off x="685800" y="3291840"/>
              <a:ext cx="2368295"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Will this medication actually help?</a:t>
              </a:r>
              <a:endParaRPr lang="en-US" sz="1600" dirty="0">
                <a:latin typeface="Helvetica Neue Light"/>
              </a:endParaRPr>
            </a:p>
          </p:txBody>
        </p:sp>
        <p:sp>
          <p:nvSpPr>
            <p:cNvPr id="19" name="Shape 16">
              <a:extLst>
                <a:ext uri="{FF2B5EF4-FFF2-40B4-BE49-F238E27FC236}">
                  <a16:creationId xmlns:a16="http://schemas.microsoft.com/office/drawing/2014/main" id="{313A351E-EB87-1239-3D25-CCAC78E1EF15}"/>
                </a:ext>
              </a:extLst>
            </p:cNvPr>
            <p:cNvSpPr/>
            <p:nvPr/>
          </p:nvSpPr>
          <p:spPr>
            <a:xfrm>
              <a:off x="3383280" y="2971800"/>
              <a:ext cx="265176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20" name="Shape 17">
              <a:extLst>
                <a:ext uri="{FF2B5EF4-FFF2-40B4-BE49-F238E27FC236}">
                  <a16:creationId xmlns:a16="http://schemas.microsoft.com/office/drawing/2014/main" id="{7A4F1DF8-2116-40C2-5145-D17A0ECCD20D}"/>
                </a:ext>
              </a:extLst>
            </p:cNvPr>
            <p:cNvSpPr/>
            <p:nvPr/>
          </p:nvSpPr>
          <p:spPr>
            <a:xfrm>
              <a:off x="3383280" y="2971800"/>
              <a:ext cx="54864" cy="640080"/>
            </a:xfrm>
            <a:prstGeom prst="rect">
              <a:avLst/>
            </a:prstGeom>
            <a:solidFill>
              <a:srgbClr val="E07A5F"/>
            </a:solidFill>
            <a:ln/>
          </p:spPr>
          <p:txBody>
            <a:bodyPr/>
            <a:lstStyle/>
            <a:p>
              <a:endParaRPr lang="en-US" sz="3600">
                <a:latin typeface="Helvetica Neue Light"/>
              </a:endParaRPr>
            </a:p>
          </p:txBody>
        </p:sp>
        <p:sp>
          <p:nvSpPr>
            <p:cNvPr id="21" name="Text 18">
              <a:extLst>
                <a:ext uri="{FF2B5EF4-FFF2-40B4-BE49-F238E27FC236}">
                  <a16:creationId xmlns:a16="http://schemas.microsoft.com/office/drawing/2014/main" id="{151E5B45-6A88-F408-4288-D4490AA7A962}"/>
                </a:ext>
              </a:extLst>
            </p:cNvPr>
            <p:cNvSpPr/>
            <p:nvPr/>
          </p:nvSpPr>
          <p:spPr>
            <a:xfrm>
              <a:off x="3611880" y="2975532"/>
              <a:ext cx="2286000"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Policy Making</a:t>
              </a:r>
              <a:endParaRPr lang="en-US" sz="1600" dirty="0">
                <a:latin typeface="Helvetica Neue Light"/>
              </a:endParaRPr>
            </a:p>
          </p:txBody>
        </p:sp>
        <p:sp>
          <p:nvSpPr>
            <p:cNvPr id="22" name="Text 19">
              <a:extLst>
                <a:ext uri="{FF2B5EF4-FFF2-40B4-BE49-F238E27FC236}">
                  <a16:creationId xmlns:a16="http://schemas.microsoft.com/office/drawing/2014/main" id="{9538061D-C316-4254-FD32-DF1F365F0D4A}"/>
                </a:ext>
              </a:extLst>
            </p:cNvPr>
            <p:cNvSpPr/>
            <p:nvPr/>
          </p:nvSpPr>
          <p:spPr>
            <a:xfrm>
              <a:off x="3611880" y="3291840"/>
              <a:ext cx="242316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Will this law reduce crime?</a:t>
              </a:r>
              <a:endParaRPr lang="en-US" sz="1600" dirty="0">
                <a:latin typeface="Helvetica Neue Light"/>
              </a:endParaRPr>
            </a:p>
          </p:txBody>
        </p:sp>
        <p:sp>
          <p:nvSpPr>
            <p:cNvPr id="23" name="Shape 20">
              <a:extLst>
                <a:ext uri="{FF2B5EF4-FFF2-40B4-BE49-F238E27FC236}">
                  <a16:creationId xmlns:a16="http://schemas.microsoft.com/office/drawing/2014/main" id="{87EA8020-5B83-6214-6B32-7F65CE54E021}"/>
                </a:ext>
              </a:extLst>
            </p:cNvPr>
            <p:cNvSpPr/>
            <p:nvPr/>
          </p:nvSpPr>
          <p:spPr>
            <a:xfrm>
              <a:off x="6309361" y="2971800"/>
              <a:ext cx="237744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600">
                <a:latin typeface="Helvetica Neue Light"/>
              </a:endParaRPr>
            </a:p>
          </p:txBody>
        </p:sp>
        <p:sp>
          <p:nvSpPr>
            <p:cNvPr id="24" name="Shape 21">
              <a:extLst>
                <a:ext uri="{FF2B5EF4-FFF2-40B4-BE49-F238E27FC236}">
                  <a16:creationId xmlns:a16="http://schemas.microsoft.com/office/drawing/2014/main" id="{25871069-AFCC-2315-3E22-5557FB97282C}"/>
                </a:ext>
              </a:extLst>
            </p:cNvPr>
            <p:cNvSpPr/>
            <p:nvPr/>
          </p:nvSpPr>
          <p:spPr>
            <a:xfrm>
              <a:off x="6309360" y="2971800"/>
              <a:ext cx="54864" cy="640080"/>
            </a:xfrm>
            <a:prstGeom prst="rect">
              <a:avLst/>
            </a:prstGeom>
            <a:solidFill>
              <a:srgbClr val="84B59F"/>
            </a:solidFill>
            <a:ln/>
          </p:spPr>
          <p:txBody>
            <a:bodyPr/>
            <a:lstStyle/>
            <a:p>
              <a:endParaRPr lang="en-US" sz="3600">
                <a:latin typeface="Helvetica Neue Light"/>
              </a:endParaRPr>
            </a:p>
          </p:txBody>
        </p:sp>
        <p:sp>
          <p:nvSpPr>
            <p:cNvPr id="25" name="Text 22">
              <a:extLst>
                <a:ext uri="{FF2B5EF4-FFF2-40B4-BE49-F238E27FC236}">
                  <a16:creationId xmlns:a16="http://schemas.microsoft.com/office/drawing/2014/main" id="{09065758-4FB2-2AE3-3777-F478B61A86E0}"/>
                </a:ext>
              </a:extLst>
            </p:cNvPr>
            <p:cNvSpPr/>
            <p:nvPr/>
          </p:nvSpPr>
          <p:spPr>
            <a:xfrm>
              <a:off x="6537960" y="2975532"/>
              <a:ext cx="2286000" cy="228600"/>
            </a:xfrm>
            <a:prstGeom prst="rect">
              <a:avLst/>
            </a:prstGeom>
            <a:noFill/>
            <a:ln/>
          </p:spPr>
          <p:txBody>
            <a:bodyPr wrap="square" rtlCol="0" anchor="ctr"/>
            <a:lstStyle/>
            <a:p>
              <a:pPr marL="0" indent="0">
                <a:buNone/>
              </a:pPr>
              <a:r>
                <a:rPr lang="en-US" sz="1600" b="1" dirty="0">
                  <a:solidFill>
                    <a:srgbClr val="065A82"/>
                  </a:solidFill>
                  <a:latin typeface="Helvetica Neue Light"/>
                  <a:ea typeface="Calibri" pitchFamily="34" charset="-122"/>
                  <a:cs typeface="Calibri" pitchFamily="34" charset="-120"/>
                </a:rPr>
                <a:t>Business Decisions</a:t>
              </a:r>
              <a:endParaRPr lang="en-US" sz="1600" dirty="0">
                <a:latin typeface="Helvetica Neue Light"/>
              </a:endParaRPr>
            </a:p>
          </p:txBody>
        </p:sp>
        <p:sp>
          <p:nvSpPr>
            <p:cNvPr id="26" name="Text 23">
              <a:extLst>
                <a:ext uri="{FF2B5EF4-FFF2-40B4-BE49-F238E27FC236}">
                  <a16:creationId xmlns:a16="http://schemas.microsoft.com/office/drawing/2014/main" id="{F28219B3-9B3D-AAC9-B464-455B3B792286}"/>
                </a:ext>
              </a:extLst>
            </p:cNvPr>
            <p:cNvSpPr/>
            <p:nvPr/>
          </p:nvSpPr>
          <p:spPr>
            <a:xfrm>
              <a:off x="6537960" y="3291840"/>
              <a:ext cx="228600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Will raising prices decrease sales?</a:t>
              </a:r>
              <a:endParaRPr lang="en-US" sz="1600" dirty="0">
                <a:latin typeface="Helvetica Neue Light"/>
              </a:endParaRPr>
            </a:p>
          </p:txBody>
        </p:sp>
        <p:sp>
          <p:nvSpPr>
            <p:cNvPr id="27" name="Shape 24">
              <a:extLst>
                <a:ext uri="{FF2B5EF4-FFF2-40B4-BE49-F238E27FC236}">
                  <a16:creationId xmlns:a16="http://schemas.microsoft.com/office/drawing/2014/main" id="{C2250314-166C-5E94-6A2B-1B3818BE01DF}"/>
                </a:ext>
              </a:extLst>
            </p:cNvPr>
            <p:cNvSpPr/>
            <p:nvPr/>
          </p:nvSpPr>
          <p:spPr>
            <a:xfrm>
              <a:off x="457200" y="3794760"/>
              <a:ext cx="8229600" cy="457200"/>
            </a:xfrm>
            <a:prstGeom prst="rect">
              <a:avLst/>
            </a:prstGeom>
            <a:solidFill>
              <a:srgbClr val="21295C"/>
            </a:solidFill>
            <a:ln/>
          </p:spPr>
          <p:txBody>
            <a:bodyPr/>
            <a:lstStyle/>
            <a:p>
              <a:endParaRPr lang="en-US" sz="3600">
                <a:latin typeface="Helvetica Neue Light"/>
              </a:endParaRPr>
            </a:p>
          </p:txBody>
        </p:sp>
        <p:sp>
          <p:nvSpPr>
            <p:cNvPr id="28" name="Text 25">
              <a:extLst>
                <a:ext uri="{FF2B5EF4-FFF2-40B4-BE49-F238E27FC236}">
                  <a16:creationId xmlns:a16="http://schemas.microsoft.com/office/drawing/2014/main" id="{24744002-50A5-AF4A-66C3-55E12DB70B02}"/>
                </a:ext>
              </a:extLst>
            </p:cNvPr>
            <p:cNvSpPr/>
            <p:nvPr/>
          </p:nvSpPr>
          <p:spPr>
            <a:xfrm>
              <a:off x="594360" y="3886200"/>
              <a:ext cx="7955280" cy="274320"/>
            </a:xfrm>
            <a:prstGeom prst="rect">
              <a:avLst/>
            </a:prstGeom>
            <a:noFill/>
            <a:ln/>
          </p:spPr>
          <p:txBody>
            <a:bodyPr wrap="square" rtlCol="0" anchor="ctr"/>
            <a:lstStyle/>
            <a:p>
              <a:pPr marL="0" indent="0" algn="ctr">
                <a:buNone/>
              </a:pPr>
              <a:r>
                <a:rPr lang="en-US" sz="2000" b="1" dirty="0">
                  <a:solidFill>
                    <a:srgbClr val="FFFFFF"/>
                  </a:solidFill>
                  <a:latin typeface="Helvetica Neue Light"/>
                  <a:ea typeface="Calibri" pitchFamily="34" charset="-122"/>
                  <a:cs typeface="Calibri" pitchFamily="34" charset="-120"/>
                </a:rPr>
                <a:t>Key Insight: </a:t>
              </a:r>
              <a:r>
                <a:rPr lang="en-US" sz="2000" dirty="0">
                  <a:solidFill>
                    <a:srgbClr val="FFFFFF"/>
                  </a:solidFill>
                  <a:latin typeface="Helvetica Neue Light"/>
                  <a:ea typeface="Calibri" pitchFamily="34" charset="-122"/>
                  <a:cs typeface="Calibri" pitchFamily="34" charset="-120"/>
                </a:rPr>
                <a:t>Understanding causation, not just correlation, is essential for making effective interventions</a:t>
              </a:r>
              <a:endParaRPr lang="en-US" sz="2000" dirty="0">
                <a:latin typeface="Helvetica Neue Light"/>
              </a:endParaRPr>
            </a:p>
          </p:txBody>
        </p:sp>
      </p:grpSp>
    </p:spTree>
    <p:extLst>
      <p:ext uri="{BB962C8B-B14F-4D97-AF65-F5344CB8AC3E}">
        <p14:creationId xmlns:p14="http://schemas.microsoft.com/office/powerpoint/2010/main" val="12953074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A1DD4-EB94-02A0-61A3-A400B780AA9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50B9FF-6E4D-1751-65DD-7940E640A018}"/>
              </a:ext>
            </a:extLst>
          </p:cNvPr>
          <p:cNvSpPr>
            <a:spLocks noGrp="1"/>
          </p:cNvSpPr>
          <p:nvPr>
            <p:ph type="title"/>
          </p:nvPr>
        </p:nvSpPr>
        <p:spPr>
          <a:xfrm>
            <a:off x="623888" y="3305016"/>
            <a:ext cx="7886700" cy="1257460"/>
          </a:xfrm>
        </p:spPr>
        <p:txBody>
          <a:bodyPr/>
          <a:lstStyle/>
          <a:p>
            <a:r>
              <a:rPr lang="en-US" sz="3600" i="1" dirty="0"/>
              <a:t>Part 18</a:t>
            </a:r>
            <a:br>
              <a:rPr lang="en-US" sz="4800" dirty="0"/>
            </a:br>
            <a:r>
              <a:rPr lang="en-US" sz="4800" dirty="0"/>
              <a:t>	Multimodal AI</a:t>
            </a:r>
          </a:p>
        </p:txBody>
      </p:sp>
      <p:sp>
        <p:nvSpPr>
          <p:cNvPr id="2" name="Text Placeholder 1">
            <a:extLst>
              <a:ext uri="{FF2B5EF4-FFF2-40B4-BE49-F238E27FC236}">
                <a16:creationId xmlns:a16="http://schemas.microsoft.com/office/drawing/2014/main" id="{15F2F39D-5329-BAD2-2820-3C7D7C05D1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C0FD60-F322-9E75-16F1-0FCF22C0DAD8}"/>
              </a:ext>
            </a:extLst>
          </p:cNvPr>
          <p:cNvSpPr>
            <a:spLocks noGrp="1"/>
          </p:cNvSpPr>
          <p:nvPr>
            <p:ph type="sldNum" sz="quarter" idx="12"/>
          </p:nvPr>
        </p:nvSpPr>
        <p:spPr/>
        <p:txBody>
          <a:bodyPr/>
          <a:lstStyle/>
          <a:p>
            <a:fld id="{21EF4C0E-91FA-4D94-8941-E22F3A83D5F1}" type="slidenum">
              <a:rPr lang="en-US" smtClean="0"/>
              <a:t>94</a:t>
            </a:fld>
            <a:endParaRPr lang="en-US"/>
          </a:p>
        </p:txBody>
      </p:sp>
    </p:spTree>
    <p:extLst>
      <p:ext uri="{BB962C8B-B14F-4D97-AF65-F5344CB8AC3E}">
        <p14:creationId xmlns:p14="http://schemas.microsoft.com/office/powerpoint/2010/main" val="15678537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9120F-1E4B-4277-2259-BE5FC6A0A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3313A-BB9D-C4C0-0EF5-0678529CB89C}"/>
              </a:ext>
            </a:extLst>
          </p:cNvPr>
          <p:cNvSpPr>
            <a:spLocks noGrp="1"/>
          </p:cNvSpPr>
          <p:nvPr>
            <p:ph type="title"/>
          </p:nvPr>
        </p:nvSpPr>
        <p:spPr>
          <a:xfrm>
            <a:off x="457200" y="365126"/>
            <a:ext cx="8229600" cy="647741"/>
          </a:xfrm>
        </p:spPr>
        <p:txBody>
          <a:bodyPr/>
          <a:lstStyle/>
          <a:p>
            <a:r>
              <a:rPr lang="en-US" sz="4000" dirty="0"/>
              <a:t>Multimodal AI  (2:10)</a:t>
            </a:r>
          </a:p>
        </p:txBody>
      </p:sp>
      <p:sp>
        <p:nvSpPr>
          <p:cNvPr id="5" name="Slide Number Placeholder 4">
            <a:extLst>
              <a:ext uri="{FF2B5EF4-FFF2-40B4-BE49-F238E27FC236}">
                <a16:creationId xmlns:a16="http://schemas.microsoft.com/office/drawing/2014/main" id="{3ADDEDE7-E275-41C2-70C3-D51A01E44DB9}"/>
              </a:ext>
            </a:extLst>
          </p:cNvPr>
          <p:cNvSpPr>
            <a:spLocks noGrp="1"/>
          </p:cNvSpPr>
          <p:nvPr>
            <p:ph type="sldNum" sz="quarter" idx="12"/>
          </p:nvPr>
        </p:nvSpPr>
        <p:spPr/>
        <p:txBody>
          <a:bodyPr/>
          <a:lstStyle/>
          <a:p>
            <a:fld id="{21EF4C0E-91FA-4D94-8941-E22F3A83D5F1}" type="slidenum">
              <a:rPr lang="en-US" smtClean="0"/>
              <a:t>95</a:t>
            </a:fld>
            <a:endParaRPr lang="en-US"/>
          </a:p>
        </p:txBody>
      </p:sp>
      <p:sp>
        <p:nvSpPr>
          <p:cNvPr id="9" name="TextBox 8">
            <a:extLst>
              <a:ext uri="{FF2B5EF4-FFF2-40B4-BE49-F238E27FC236}">
                <a16:creationId xmlns:a16="http://schemas.microsoft.com/office/drawing/2014/main" id="{6F2C753A-60EA-026D-583C-F137C1A65FEF}"/>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https://www.youtube.com/watch?v=NCkMlNwTSv4</a:t>
            </a:r>
          </a:p>
        </p:txBody>
      </p:sp>
      <p:pic>
        <p:nvPicPr>
          <p:cNvPr id="3" name="Online Media 2" title="Multimodal AI with Logan Kilpatrick">
            <a:hlinkClick r:id="" action="ppaction://media"/>
            <a:extLst>
              <a:ext uri="{FF2B5EF4-FFF2-40B4-BE49-F238E27FC236}">
                <a16:creationId xmlns:a16="http://schemas.microsoft.com/office/drawing/2014/main" id="{05ECC9AD-E223-C1F7-B926-8FA92630A187}"/>
              </a:ext>
            </a:extLst>
          </p:cNvPr>
          <p:cNvPicPr>
            <a:picLocks noRot="1" noChangeAspect="1"/>
          </p:cNvPicPr>
          <p:nvPr>
            <a:videoFile r:link="rId1"/>
          </p:nvPr>
        </p:nvPicPr>
        <p:blipFill>
          <a:blip r:embed="rId3"/>
          <a:stretch>
            <a:fillRect/>
          </a:stretch>
        </p:blipFill>
        <p:spPr>
          <a:xfrm>
            <a:off x="457200" y="1727900"/>
            <a:ext cx="8439807" cy="4764974"/>
          </a:xfrm>
          <a:prstGeom prst="rect">
            <a:avLst/>
          </a:prstGeom>
        </p:spPr>
      </p:pic>
      <p:sp>
        <p:nvSpPr>
          <p:cNvPr id="6" name="TextBox 5">
            <a:extLst>
              <a:ext uri="{FF2B5EF4-FFF2-40B4-BE49-F238E27FC236}">
                <a16:creationId xmlns:a16="http://schemas.microsoft.com/office/drawing/2014/main" id="{D89D8C9B-3D9A-4723-B10C-A285A3F1A726}"/>
              </a:ext>
            </a:extLst>
          </p:cNvPr>
          <p:cNvSpPr txBox="1"/>
          <p:nvPr/>
        </p:nvSpPr>
        <p:spPr>
          <a:xfrm>
            <a:off x="331133" y="1208886"/>
            <a:ext cx="5761441" cy="369332"/>
          </a:xfrm>
          <a:prstGeom prst="rect">
            <a:avLst/>
          </a:prstGeom>
          <a:noFill/>
        </p:spPr>
        <p:txBody>
          <a:bodyPr wrap="square">
            <a:spAutoFit/>
          </a:bodyPr>
          <a:lstStyle/>
          <a:p>
            <a:pPr marL="0" indent="0" algn="ctr">
              <a:buNone/>
            </a:pPr>
            <a:r>
              <a:rPr lang="en-US" sz="1800" i="1" dirty="0">
                <a:solidFill>
                  <a:srgbClr val="E8F4F8"/>
                </a:solidFill>
                <a:latin typeface="Helvetica Neue Light"/>
                <a:ea typeface="Calibri" pitchFamily="34" charset="-122"/>
                <a:cs typeface="Calibri" pitchFamily="34" charset="-120"/>
              </a:rPr>
              <a:t>When AI processes multiple types of data simultaneously</a:t>
            </a:r>
            <a:endParaRPr lang="en-US" sz="1800" dirty="0">
              <a:latin typeface="Helvetica Neue Light"/>
            </a:endParaRPr>
          </a:p>
        </p:txBody>
      </p:sp>
    </p:spTree>
    <p:extLst>
      <p:ext uri="{BB962C8B-B14F-4D97-AF65-F5344CB8AC3E}">
        <p14:creationId xmlns:p14="http://schemas.microsoft.com/office/powerpoint/2010/main" val="389673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1382FC8-9375-6D05-2BD6-4D075BF8D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16A02-2D9F-A646-C83C-877B598640DB}"/>
              </a:ext>
            </a:extLst>
          </p:cNvPr>
          <p:cNvSpPr>
            <a:spLocks noGrp="1"/>
          </p:cNvSpPr>
          <p:nvPr>
            <p:ph type="title"/>
          </p:nvPr>
        </p:nvSpPr>
        <p:spPr>
          <a:xfrm>
            <a:off x="457200" y="365126"/>
            <a:ext cx="8686800" cy="481094"/>
          </a:xfrm>
        </p:spPr>
        <p:txBody>
          <a:bodyPr/>
          <a:lstStyle/>
          <a:p>
            <a:r>
              <a:rPr lang="en-US" sz="2800" dirty="0"/>
              <a:t>When AI Processes Multiple Types of Data Simultaneously</a:t>
            </a:r>
          </a:p>
        </p:txBody>
      </p:sp>
      <p:sp>
        <p:nvSpPr>
          <p:cNvPr id="5" name="Slide Number Placeholder 4">
            <a:extLst>
              <a:ext uri="{FF2B5EF4-FFF2-40B4-BE49-F238E27FC236}">
                <a16:creationId xmlns:a16="http://schemas.microsoft.com/office/drawing/2014/main" id="{D93A1B95-8AE4-25FB-3683-FE0C114C53DC}"/>
              </a:ext>
            </a:extLst>
          </p:cNvPr>
          <p:cNvSpPr>
            <a:spLocks noGrp="1"/>
          </p:cNvSpPr>
          <p:nvPr>
            <p:ph type="sldNum" sz="quarter" idx="12"/>
          </p:nvPr>
        </p:nvSpPr>
        <p:spPr/>
        <p:txBody>
          <a:bodyPr/>
          <a:lstStyle/>
          <a:p>
            <a:fld id="{21EF4C0E-91FA-4D94-8941-E22F3A83D5F1}" type="slidenum">
              <a:rPr lang="en-US" smtClean="0"/>
              <a:t>96</a:t>
            </a:fld>
            <a:endParaRPr lang="en-US"/>
          </a:p>
        </p:txBody>
      </p:sp>
      <p:grpSp>
        <p:nvGrpSpPr>
          <p:cNvPr id="6" name="Group 5">
            <a:extLst>
              <a:ext uri="{FF2B5EF4-FFF2-40B4-BE49-F238E27FC236}">
                <a16:creationId xmlns:a16="http://schemas.microsoft.com/office/drawing/2014/main" id="{37616048-57AA-6314-6A2F-5B31FCAB31EE}"/>
              </a:ext>
            </a:extLst>
          </p:cNvPr>
          <p:cNvGrpSpPr/>
          <p:nvPr/>
        </p:nvGrpSpPr>
        <p:grpSpPr>
          <a:xfrm>
            <a:off x="457200" y="1234439"/>
            <a:ext cx="8542962" cy="4067026"/>
            <a:chOff x="457200" y="1234440"/>
            <a:chExt cx="8229600" cy="2606040"/>
          </a:xfrm>
        </p:grpSpPr>
        <p:sp>
          <p:nvSpPr>
            <p:cNvPr id="18" name="Shape 3">
              <a:extLst>
                <a:ext uri="{FF2B5EF4-FFF2-40B4-BE49-F238E27FC236}">
                  <a16:creationId xmlns:a16="http://schemas.microsoft.com/office/drawing/2014/main" id="{AF171928-AEAE-527F-6321-D34E9E142829}"/>
                </a:ext>
              </a:extLst>
            </p:cNvPr>
            <p:cNvSpPr/>
            <p:nvPr/>
          </p:nvSpPr>
          <p:spPr>
            <a:xfrm>
              <a:off x="457200" y="12344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19" name="Shape 4">
              <a:extLst>
                <a:ext uri="{FF2B5EF4-FFF2-40B4-BE49-F238E27FC236}">
                  <a16:creationId xmlns:a16="http://schemas.microsoft.com/office/drawing/2014/main" id="{B6F676A1-2658-D5E6-C5E3-5A7EB56E7663}"/>
                </a:ext>
              </a:extLst>
            </p:cNvPr>
            <p:cNvSpPr/>
            <p:nvPr/>
          </p:nvSpPr>
          <p:spPr>
            <a:xfrm>
              <a:off x="457200" y="1234440"/>
              <a:ext cx="54864" cy="777240"/>
            </a:xfrm>
            <a:prstGeom prst="rect">
              <a:avLst/>
            </a:prstGeom>
            <a:solidFill>
              <a:srgbClr val="E07A5F"/>
            </a:solidFill>
            <a:ln/>
          </p:spPr>
          <p:txBody>
            <a:bodyPr/>
            <a:lstStyle/>
            <a:p>
              <a:endParaRPr lang="en-US" sz="2800">
                <a:latin typeface="Helvetica Neue Light"/>
              </a:endParaRPr>
            </a:p>
          </p:txBody>
        </p:sp>
        <p:sp>
          <p:nvSpPr>
            <p:cNvPr id="20" name="Text 5">
              <a:extLst>
                <a:ext uri="{FF2B5EF4-FFF2-40B4-BE49-F238E27FC236}">
                  <a16:creationId xmlns:a16="http://schemas.microsoft.com/office/drawing/2014/main" id="{E159790F-AF64-C95E-742F-D7BD2478414C}"/>
                </a:ext>
              </a:extLst>
            </p:cNvPr>
            <p:cNvSpPr/>
            <p:nvPr/>
          </p:nvSpPr>
          <p:spPr>
            <a:xfrm>
              <a:off x="685800" y="1240299"/>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Core Purpose:</a:t>
              </a:r>
              <a:endParaRPr lang="en-US" dirty="0">
                <a:latin typeface="Helvetica Neue Light"/>
              </a:endParaRPr>
            </a:p>
          </p:txBody>
        </p:sp>
        <p:sp>
          <p:nvSpPr>
            <p:cNvPr id="21" name="Text 6">
              <a:extLst>
                <a:ext uri="{FF2B5EF4-FFF2-40B4-BE49-F238E27FC236}">
                  <a16:creationId xmlns:a16="http://schemas.microsoft.com/office/drawing/2014/main" id="{C07CC161-4BF0-0DB2-3DE6-456607A7AFB2}"/>
                </a:ext>
              </a:extLst>
            </p:cNvPr>
            <p:cNvSpPr/>
            <p:nvPr/>
          </p:nvSpPr>
          <p:spPr>
            <a:xfrm>
              <a:off x="685800" y="155448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Multimodal AI processes and connects multiple data types (text, images, audio, video) simultaneously, mimicking how humans naturally perceive and understand the world through combined senses.</a:t>
              </a:r>
              <a:endParaRPr lang="en-US" sz="1600" dirty="0">
                <a:latin typeface="Helvetica Neue Light"/>
              </a:endParaRPr>
            </a:p>
          </p:txBody>
        </p:sp>
        <p:sp>
          <p:nvSpPr>
            <p:cNvPr id="22" name="Shape 7">
              <a:extLst>
                <a:ext uri="{FF2B5EF4-FFF2-40B4-BE49-F238E27FC236}">
                  <a16:creationId xmlns:a16="http://schemas.microsoft.com/office/drawing/2014/main" id="{B85CCB25-9ACC-78FD-1442-DB5527AAAC10}"/>
                </a:ext>
              </a:extLst>
            </p:cNvPr>
            <p:cNvSpPr/>
            <p:nvPr/>
          </p:nvSpPr>
          <p:spPr>
            <a:xfrm>
              <a:off x="457200" y="21488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23" name="Shape 8">
              <a:extLst>
                <a:ext uri="{FF2B5EF4-FFF2-40B4-BE49-F238E27FC236}">
                  <a16:creationId xmlns:a16="http://schemas.microsoft.com/office/drawing/2014/main" id="{16330804-0FB0-4FC9-7028-572B7D78722B}"/>
                </a:ext>
              </a:extLst>
            </p:cNvPr>
            <p:cNvSpPr/>
            <p:nvPr/>
          </p:nvSpPr>
          <p:spPr>
            <a:xfrm>
              <a:off x="457200" y="2148840"/>
              <a:ext cx="54864" cy="777240"/>
            </a:xfrm>
            <a:prstGeom prst="rect">
              <a:avLst/>
            </a:prstGeom>
            <a:solidFill>
              <a:srgbClr val="1C7293"/>
            </a:solidFill>
            <a:ln/>
          </p:spPr>
          <p:txBody>
            <a:bodyPr/>
            <a:lstStyle/>
            <a:p>
              <a:endParaRPr lang="en-US" sz="2800">
                <a:latin typeface="Helvetica Neue Light"/>
              </a:endParaRPr>
            </a:p>
          </p:txBody>
        </p:sp>
        <p:sp>
          <p:nvSpPr>
            <p:cNvPr id="24" name="Text 9">
              <a:extLst>
                <a:ext uri="{FF2B5EF4-FFF2-40B4-BE49-F238E27FC236}">
                  <a16:creationId xmlns:a16="http://schemas.microsoft.com/office/drawing/2014/main" id="{76780AA8-67F2-7B07-4F68-5A402980C5F7}"/>
                </a:ext>
              </a:extLst>
            </p:cNvPr>
            <p:cNvSpPr/>
            <p:nvPr/>
          </p:nvSpPr>
          <p:spPr>
            <a:xfrm>
              <a:off x="685800" y="2154698"/>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How It Works:</a:t>
              </a:r>
              <a:endParaRPr lang="en-US" dirty="0">
                <a:latin typeface="Helvetica Neue Light"/>
              </a:endParaRPr>
            </a:p>
          </p:txBody>
        </p:sp>
        <p:sp>
          <p:nvSpPr>
            <p:cNvPr id="25" name="Text 10">
              <a:extLst>
                <a:ext uri="{FF2B5EF4-FFF2-40B4-BE49-F238E27FC236}">
                  <a16:creationId xmlns:a16="http://schemas.microsoft.com/office/drawing/2014/main" id="{D32D16D8-C207-C75E-EB9D-164CBFAFDF44}"/>
                </a:ext>
              </a:extLst>
            </p:cNvPr>
            <p:cNvSpPr/>
            <p:nvPr/>
          </p:nvSpPr>
          <p:spPr>
            <a:xfrm>
              <a:off x="685800" y="246888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Different encoders process each modality (vision transformer for images, language model for text), then fusion layers combine these representations in a shared latent space.</a:t>
              </a:r>
              <a:endParaRPr lang="en-US" sz="1600" dirty="0">
                <a:latin typeface="Helvetica Neue Light"/>
              </a:endParaRPr>
            </a:p>
          </p:txBody>
        </p:sp>
        <p:sp>
          <p:nvSpPr>
            <p:cNvPr id="26" name="Shape 11">
              <a:extLst>
                <a:ext uri="{FF2B5EF4-FFF2-40B4-BE49-F238E27FC236}">
                  <a16:creationId xmlns:a16="http://schemas.microsoft.com/office/drawing/2014/main" id="{1B2C9DC5-65F0-CC5E-1965-A0080188BF46}"/>
                </a:ext>
              </a:extLst>
            </p:cNvPr>
            <p:cNvSpPr/>
            <p:nvPr/>
          </p:nvSpPr>
          <p:spPr>
            <a:xfrm>
              <a:off x="457200" y="30632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2800">
                <a:latin typeface="Helvetica Neue Light"/>
              </a:endParaRPr>
            </a:p>
          </p:txBody>
        </p:sp>
        <p:sp>
          <p:nvSpPr>
            <p:cNvPr id="27" name="Shape 12">
              <a:extLst>
                <a:ext uri="{FF2B5EF4-FFF2-40B4-BE49-F238E27FC236}">
                  <a16:creationId xmlns:a16="http://schemas.microsoft.com/office/drawing/2014/main" id="{D49592C9-DB73-94F3-7549-9A024ABD7553}"/>
                </a:ext>
              </a:extLst>
            </p:cNvPr>
            <p:cNvSpPr/>
            <p:nvPr/>
          </p:nvSpPr>
          <p:spPr>
            <a:xfrm>
              <a:off x="457200" y="3063240"/>
              <a:ext cx="54864" cy="777240"/>
            </a:xfrm>
            <a:prstGeom prst="rect">
              <a:avLst/>
            </a:prstGeom>
            <a:solidFill>
              <a:srgbClr val="84B59F"/>
            </a:solidFill>
            <a:ln/>
          </p:spPr>
          <p:txBody>
            <a:bodyPr/>
            <a:lstStyle/>
            <a:p>
              <a:endParaRPr lang="en-US" sz="2800">
                <a:latin typeface="Helvetica Neue Light"/>
              </a:endParaRPr>
            </a:p>
          </p:txBody>
        </p:sp>
        <p:sp>
          <p:nvSpPr>
            <p:cNvPr id="28" name="Text 13">
              <a:extLst>
                <a:ext uri="{FF2B5EF4-FFF2-40B4-BE49-F238E27FC236}">
                  <a16:creationId xmlns:a16="http://schemas.microsoft.com/office/drawing/2014/main" id="{08E1302A-20D6-DED0-50D4-9A582FF2A654}"/>
                </a:ext>
              </a:extLst>
            </p:cNvPr>
            <p:cNvSpPr/>
            <p:nvPr/>
          </p:nvSpPr>
          <p:spPr>
            <a:xfrm>
              <a:off x="685800" y="3069099"/>
              <a:ext cx="77724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Cross-Modal Understanding:</a:t>
              </a:r>
              <a:endParaRPr lang="en-US" dirty="0">
                <a:latin typeface="Helvetica Neue Light"/>
              </a:endParaRPr>
            </a:p>
          </p:txBody>
        </p:sp>
        <p:sp>
          <p:nvSpPr>
            <p:cNvPr id="29" name="Text 14">
              <a:extLst>
                <a:ext uri="{FF2B5EF4-FFF2-40B4-BE49-F238E27FC236}">
                  <a16:creationId xmlns:a16="http://schemas.microsoft.com/office/drawing/2014/main" id="{0F2DD4E5-4E96-444F-8E4E-7133C1AD7163}"/>
                </a:ext>
              </a:extLst>
            </p:cNvPr>
            <p:cNvSpPr/>
            <p:nvPr/>
          </p:nvSpPr>
          <p:spPr>
            <a:xfrm>
              <a:off x="685800" y="3383280"/>
              <a:ext cx="7772400" cy="36576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Can answer "What's happening in this video?", generate images from text descriptions, or find relevant videos using text search — bridging the gap between different types of information.</a:t>
              </a:r>
              <a:endParaRPr lang="en-US" sz="1600" dirty="0">
                <a:latin typeface="Helvetica Neue Light"/>
              </a:endParaRPr>
            </a:p>
          </p:txBody>
        </p:sp>
      </p:grpSp>
      <p:pic>
        <p:nvPicPr>
          <p:cNvPr id="31" name="Picture 2" descr="What is Multimodal AI? | dida ML Basics">
            <a:extLst>
              <a:ext uri="{FF2B5EF4-FFF2-40B4-BE49-F238E27FC236}">
                <a16:creationId xmlns:a16="http://schemas.microsoft.com/office/drawing/2014/main" id="{A7BF0F51-F39A-E20A-5525-A69BECD0A6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27" t="4995" r="8727" b="14665"/>
          <a:stretch>
            <a:fillRect/>
          </a:stretch>
        </p:blipFill>
        <p:spPr bwMode="auto">
          <a:xfrm>
            <a:off x="2369573" y="2670608"/>
            <a:ext cx="6630590" cy="3891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81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F4A90FD9-9AD1-1D50-DAE7-CFC57536F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F4F41-BD87-62B5-9186-0E3802189B98}"/>
              </a:ext>
            </a:extLst>
          </p:cNvPr>
          <p:cNvSpPr>
            <a:spLocks noGrp="1"/>
          </p:cNvSpPr>
          <p:nvPr>
            <p:ph type="title"/>
          </p:nvPr>
        </p:nvSpPr>
        <p:spPr>
          <a:xfrm>
            <a:off x="457200" y="365126"/>
            <a:ext cx="8229600" cy="647741"/>
          </a:xfrm>
        </p:spPr>
        <p:txBody>
          <a:bodyPr/>
          <a:lstStyle/>
          <a:p>
            <a:r>
              <a:rPr lang="en-US" sz="4000" dirty="0"/>
              <a:t>Challenges &amp; Future</a:t>
            </a:r>
          </a:p>
        </p:txBody>
      </p:sp>
      <p:sp>
        <p:nvSpPr>
          <p:cNvPr id="5" name="Slide Number Placeholder 4">
            <a:extLst>
              <a:ext uri="{FF2B5EF4-FFF2-40B4-BE49-F238E27FC236}">
                <a16:creationId xmlns:a16="http://schemas.microsoft.com/office/drawing/2014/main" id="{5CE33435-8B66-9149-5AE2-9A30805104F3}"/>
              </a:ext>
            </a:extLst>
          </p:cNvPr>
          <p:cNvSpPr>
            <a:spLocks noGrp="1"/>
          </p:cNvSpPr>
          <p:nvPr>
            <p:ph type="sldNum" sz="quarter" idx="12"/>
          </p:nvPr>
        </p:nvSpPr>
        <p:spPr/>
        <p:txBody>
          <a:bodyPr/>
          <a:lstStyle/>
          <a:p>
            <a:fld id="{21EF4C0E-91FA-4D94-8941-E22F3A83D5F1}" type="slidenum">
              <a:rPr lang="en-US" smtClean="0"/>
              <a:t>97</a:t>
            </a:fld>
            <a:endParaRPr lang="en-US"/>
          </a:p>
        </p:txBody>
      </p:sp>
      <p:sp>
        <p:nvSpPr>
          <p:cNvPr id="6" name="TextBox 5">
            <a:extLst>
              <a:ext uri="{FF2B5EF4-FFF2-40B4-BE49-F238E27FC236}">
                <a16:creationId xmlns:a16="http://schemas.microsoft.com/office/drawing/2014/main" id="{1C488ABB-B172-D648-3BC6-6EB79EF0527B}"/>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29" name="Group 28">
            <a:extLst>
              <a:ext uri="{FF2B5EF4-FFF2-40B4-BE49-F238E27FC236}">
                <a16:creationId xmlns:a16="http://schemas.microsoft.com/office/drawing/2014/main" id="{774D5B20-5DEF-0A3E-D2D4-DE1AB25D2308}"/>
              </a:ext>
            </a:extLst>
          </p:cNvPr>
          <p:cNvGrpSpPr/>
          <p:nvPr/>
        </p:nvGrpSpPr>
        <p:grpSpPr>
          <a:xfrm>
            <a:off x="457199" y="1234440"/>
            <a:ext cx="8614881" cy="4364976"/>
            <a:chOff x="457200" y="1234440"/>
            <a:chExt cx="8229600" cy="2240280"/>
          </a:xfrm>
        </p:grpSpPr>
        <p:sp>
          <p:nvSpPr>
            <p:cNvPr id="30" name="Shape 3">
              <a:extLst>
                <a:ext uri="{FF2B5EF4-FFF2-40B4-BE49-F238E27FC236}">
                  <a16:creationId xmlns:a16="http://schemas.microsoft.com/office/drawing/2014/main" id="{9B074C92-E7BE-757C-8F55-BC5B3271E680}"/>
                </a:ext>
              </a:extLst>
            </p:cNvPr>
            <p:cNvSpPr/>
            <p:nvPr/>
          </p:nvSpPr>
          <p:spPr>
            <a:xfrm>
              <a:off x="457200" y="1234440"/>
              <a:ext cx="4023360" cy="13716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31" name="Shape 4">
              <a:extLst>
                <a:ext uri="{FF2B5EF4-FFF2-40B4-BE49-F238E27FC236}">
                  <a16:creationId xmlns:a16="http://schemas.microsoft.com/office/drawing/2014/main" id="{6B6CA32C-C29C-0161-B964-0409A5F074B6}"/>
                </a:ext>
              </a:extLst>
            </p:cNvPr>
            <p:cNvSpPr/>
            <p:nvPr/>
          </p:nvSpPr>
          <p:spPr>
            <a:xfrm>
              <a:off x="457200" y="1234440"/>
              <a:ext cx="54864" cy="1371600"/>
            </a:xfrm>
            <a:prstGeom prst="rect">
              <a:avLst/>
            </a:prstGeom>
            <a:solidFill>
              <a:srgbClr val="E07A5F"/>
            </a:solidFill>
            <a:ln/>
          </p:spPr>
          <p:txBody>
            <a:bodyPr/>
            <a:lstStyle/>
            <a:p>
              <a:endParaRPr lang="en-US" sz="3200">
                <a:latin typeface="Helvetica Neue Light"/>
              </a:endParaRPr>
            </a:p>
          </p:txBody>
        </p:sp>
        <p:sp>
          <p:nvSpPr>
            <p:cNvPr id="32" name="Text 5">
              <a:extLst>
                <a:ext uri="{FF2B5EF4-FFF2-40B4-BE49-F238E27FC236}">
                  <a16:creationId xmlns:a16="http://schemas.microsoft.com/office/drawing/2014/main" id="{E4682AD3-89AD-1C50-D513-15E82019068B}"/>
                </a:ext>
              </a:extLst>
            </p:cNvPr>
            <p:cNvSpPr/>
            <p:nvPr/>
          </p:nvSpPr>
          <p:spPr>
            <a:xfrm>
              <a:off x="68580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Key Challenges</a:t>
              </a:r>
              <a:endParaRPr lang="en-US" sz="2000" dirty="0">
                <a:latin typeface="Helvetica Neue Light"/>
              </a:endParaRPr>
            </a:p>
          </p:txBody>
        </p:sp>
        <p:sp>
          <p:nvSpPr>
            <p:cNvPr id="33" name="Text 6">
              <a:extLst>
                <a:ext uri="{FF2B5EF4-FFF2-40B4-BE49-F238E27FC236}">
                  <a16:creationId xmlns:a16="http://schemas.microsoft.com/office/drawing/2014/main" id="{8A1F852C-C30B-02AC-6BAE-E5CDCC3BCDCB}"/>
                </a:ext>
              </a:extLst>
            </p:cNvPr>
            <p:cNvSpPr/>
            <p:nvPr/>
          </p:nvSpPr>
          <p:spPr>
            <a:xfrm>
              <a:off x="685800" y="1600200"/>
              <a:ext cx="3657600" cy="914400"/>
            </a:xfrm>
            <a:prstGeom prst="rect">
              <a:avLst/>
            </a:prstGeom>
            <a:noFill/>
            <a:ln/>
          </p:spPr>
          <p:txBody>
            <a:bodyPr wrap="square" rtlCol="0" anchor="t"/>
            <a:lstStyle/>
            <a:p>
              <a:pPr marL="0" indent="0">
                <a:buNone/>
              </a:pPr>
              <a:r>
                <a:rPr lang="en-US" sz="1600" b="1" dirty="0">
                  <a:solidFill>
                    <a:srgbClr val="2D3436"/>
                  </a:solidFill>
                  <a:latin typeface="Helvetica Neue Light"/>
                  <a:ea typeface="Calibri" pitchFamily="34" charset="-122"/>
                  <a:cs typeface="Calibri" pitchFamily="34" charset="-120"/>
                </a:rPr>
                <a:t>Alignment Challenge: </a:t>
              </a:r>
              <a:r>
                <a:rPr lang="en-US" sz="1600" dirty="0">
                  <a:solidFill>
                    <a:srgbClr val="2D3436"/>
                  </a:solidFill>
                  <a:latin typeface="Helvetica Neue Light"/>
                  <a:ea typeface="Calibri" pitchFamily="34" charset="-122"/>
                  <a:cs typeface="Calibri" pitchFamily="34" charset="-120"/>
                </a:rPr>
                <a:t>Learning which parts of different modalities correspond (matching "dog" to visual dogs)</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Data Scarcity: </a:t>
              </a:r>
              <a:r>
                <a:rPr lang="en-US" sz="1600" dirty="0">
                  <a:solidFill>
                    <a:srgbClr val="2D3436"/>
                  </a:solidFill>
                  <a:latin typeface="Helvetica Neue Light"/>
                  <a:ea typeface="Calibri" pitchFamily="34" charset="-122"/>
                  <a:cs typeface="Calibri" pitchFamily="34" charset="-120"/>
                </a:rPr>
                <a:t>Paired multimodal data (images with captions, videos with transcripts) is expensive and limited</a:t>
              </a:r>
              <a:endParaRPr lang="en-US" sz="1600" dirty="0">
                <a:latin typeface="Helvetica Neue Light"/>
              </a:endParaRPr>
            </a:p>
          </p:txBody>
        </p:sp>
        <p:sp>
          <p:nvSpPr>
            <p:cNvPr id="34" name="Shape 7">
              <a:extLst>
                <a:ext uri="{FF2B5EF4-FFF2-40B4-BE49-F238E27FC236}">
                  <a16:creationId xmlns:a16="http://schemas.microsoft.com/office/drawing/2014/main" id="{39F24214-78E7-BAEA-7978-F691DD3D3095}"/>
                </a:ext>
              </a:extLst>
            </p:cNvPr>
            <p:cNvSpPr/>
            <p:nvPr/>
          </p:nvSpPr>
          <p:spPr>
            <a:xfrm>
              <a:off x="4663440" y="1234440"/>
              <a:ext cx="4023360" cy="13716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35" name="Shape 8">
              <a:extLst>
                <a:ext uri="{FF2B5EF4-FFF2-40B4-BE49-F238E27FC236}">
                  <a16:creationId xmlns:a16="http://schemas.microsoft.com/office/drawing/2014/main" id="{C4E22F05-AE61-CACC-EE81-EB3245F132AE}"/>
                </a:ext>
              </a:extLst>
            </p:cNvPr>
            <p:cNvSpPr/>
            <p:nvPr/>
          </p:nvSpPr>
          <p:spPr>
            <a:xfrm>
              <a:off x="4663440" y="1234440"/>
              <a:ext cx="54864" cy="1371600"/>
            </a:xfrm>
            <a:prstGeom prst="rect">
              <a:avLst/>
            </a:prstGeom>
            <a:solidFill>
              <a:srgbClr val="1C7293"/>
            </a:solidFill>
            <a:ln/>
          </p:spPr>
          <p:txBody>
            <a:bodyPr/>
            <a:lstStyle/>
            <a:p>
              <a:endParaRPr lang="en-US" sz="3200">
                <a:latin typeface="Helvetica Neue Light"/>
              </a:endParaRPr>
            </a:p>
          </p:txBody>
        </p:sp>
        <p:sp>
          <p:nvSpPr>
            <p:cNvPr id="36" name="Text 9">
              <a:extLst>
                <a:ext uri="{FF2B5EF4-FFF2-40B4-BE49-F238E27FC236}">
                  <a16:creationId xmlns:a16="http://schemas.microsoft.com/office/drawing/2014/main" id="{46BCD115-35AC-4690-7170-47CE89392F42}"/>
                </a:ext>
              </a:extLst>
            </p:cNvPr>
            <p:cNvSpPr/>
            <p:nvPr/>
          </p:nvSpPr>
          <p:spPr>
            <a:xfrm>
              <a:off x="4892040" y="1325880"/>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Use Cases</a:t>
              </a:r>
              <a:endParaRPr lang="en-US" sz="2000" dirty="0">
                <a:latin typeface="Helvetica Neue Light"/>
              </a:endParaRPr>
            </a:p>
          </p:txBody>
        </p:sp>
        <p:sp>
          <p:nvSpPr>
            <p:cNvPr id="37" name="Text 10">
              <a:extLst>
                <a:ext uri="{FF2B5EF4-FFF2-40B4-BE49-F238E27FC236}">
                  <a16:creationId xmlns:a16="http://schemas.microsoft.com/office/drawing/2014/main" id="{7BAAF98A-16C0-8ABC-5249-46E5D0C06295}"/>
                </a:ext>
              </a:extLst>
            </p:cNvPr>
            <p:cNvSpPr/>
            <p:nvPr/>
          </p:nvSpPr>
          <p:spPr>
            <a:xfrm>
              <a:off x="4892040" y="1600200"/>
              <a:ext cx="3657600" cy="914400"/>
            </a:xfrm>
            <a:prstGeom prst="rect">
              <a:avLst/>
            </a:prstGeom>
            <a:noFill/>
            <a:ln/>
          </p:spPr>
          <p:txBody>
            <a:bodyPr wrap="square" rtlCol="0" anchor="t"/>
            <a:lstStyle/>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Human-Computer Interaction</a:t>
              </a: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Healthcare diagnostics</a:t>
              </a: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Weather forecasting</a:t>
              </a: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Language translation</a:t>
              </a:r>
              <a:endParaRPr lang="en-US" sz="1600" dirty="0">
                <a:latin typeface="Helvetica Neue Light"/>
              </a:endParaRPr>
            </a:p>
            <a:p>
              <a:pPr marL="285750" indent="-285750">
                <a:buFont typeface="Arial" panose="020B0604020202020204" pitchFamily="34" charset="0"/>
                <a:buChar char="•"/>
              </a:pPr>
              <a:r>
                <a:rPr lang="en-US" sz="1600" dirty="0">
                  <a:solidFill>
                    <a:srgbClr val="2D3436"/>
                  </a:solidFill>
                  <a:latin typeface="Helvetica Neue Light"/>
                  <a:ea typeface="Calibri" pitchFamily="34" charset="-122"/>
                  <a:cs typeface="Calibri" pitchFamily="34" charset="-120"/>
                </a:rPr>
                <a:t>Multimedia content creation</a:t>
              </a:r>
              <a:endParaRPr lang="en-US" sz="1600" dirty="0">
                <a:latin typeface="Helvetica Neue Light"/>
              </a:endParaRPr>
            </a:p>
          </p:txBody>
        </p:sp>
        <p:sp>
          <p:nvSpPr>
            <p:cNvPr id="38" name="Shape 11">
              <a:extLst>
                <a:ext uri="{FF2B5EF4-FFF2-40B4-BE49-F238E27FC236}">
                  <a16:creationId xmlns:a16="http://schemas.microsoft.com/office/drawing/2014/main" id="{C175BE40-F0FB-B2E6-2FE5-A0E19B4422E9}"/>
                </a:ext>
              </a:extLst>
            </p:cNvPr>
            <p:cNvSpPr/>
            <p:nvPr/>
          </p:nvSpPr>
          <p:spPr>
            <a:xfrm>
              <a:off x="457200" y="2788920"/>
              <a:ext cx="8229600" cy="685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39" name="Shape 12">
              <a:extLst>
                <a:ext uri="{FF2B5EF4-FFF2-40B4-BE49-F238E27FC236}">
                  <a16:creationId xmlns:a16="http://schemas.microsoft.com/office/drawing/2014/main" id="{976D3CCF-25FA-940D-E1F7-39E05A6CCD62}"/>
                </a:ext>
              </a:extLst>
            </p:cNvPr>
            <p:cNvSpPr/>
            <p:nvPr/>
          </p:nvSpPr>
          <p:spPr>
            <a:xfrm>
              <a:off x="457200" y="2788920"/>
              <a:ext cx="54864" cy="685800"/>
            </a:xfrm>
            <a:prstGeom prst="rect">
              <a:avLst/>
            </a:prstGeom>
            <a:solidFill>
              <a:srgbClr val="84B59F"/>
            </a:solidFill>
            <a:ln/>
          </p:spPr>
          <p:txBody>
            <a:bodyPr/>
            <a:lstStyle/>
            <a:p>
              <a:endParaRPr lang="en-US" sz="3200">
                <a:latin typeface="Helvetica Neue Light"/>
              </a:endParaRPr>
            </a:p>
          </p:txBody>
        </p:sp>
        <p:sp>
          <p:nvSpPr>
            <p:cNvPr id="40" name="Text 13">
              <a:extLst>
                <a:ext uri="{FF2B5EF4-FFF2-40B4-BE49-F238E27FC236}">
                  <a16:creationId xmlns:a16="http://schemas.microsoft.com/office/drawing/2014/main" id="{9834214C-04BB-9D32-14B8-1EF06E56F171}"/>
                </a:ext>
              </a:extLst>
            </p:cNvPr>
            <p:cNvSpPr/>
            <p:nvPr/>
          </p:nvSpPr>
          <p:spPr>
            <a:xfrm>
              <a:off x="685800" y="2926080"/>
              <a:ext cx="7863840" cy="457200"/>
            </a:xfrm>
            <a:prstGeom prst="rect">
              <a:avLst/>
            </a:prstGeom>
            <a:noFill/>
            <a:ln/>
          </p:spPr>
          <p:txBody>
            <a:bodyPr wrap="square" rtlCol="0" anchor="ctr"/>
            <a:lstStyle/>
            <a:p>
              <a:pPr marL="0" indent="0">
                <a:buNone/>
              </a:pPr>
              <a:r>
                <a:rPr lang="en-US" b="1" dirty="0">
                  <a:solidFill>
                    <a:srgbClr val="2D3436"/>
                  </a:solidFill>
                  <a:latin typeface="Helvetica Neue Light"/>
                  <a:ea typeface="Calibri" pitchFamily="34" charset="-122"/>
                  <a:cs typeface="Calibri" pitchFamily="34" charset="-120"/>
                </a:rPr>
                <a:t>Future Game-Changer: </a:t>
              </a:r>
              <a:r>
                <a:rPr lang="en-US" dirty="0">
                  <a:solidFill>
                    <a:srgbClr val="2D3436"/>
                  </a:solidFill>
                  <a:latin typeface="Helvetica Neue Light"/>
                  <a:ea typeface="Calibri" pitchFamily="34" charset="-122"/>
                  <a:cs typeface="Calibri" pitchFamily="34" charset="-120"/>
                </a:rPr>
                <a:t>Moving toward "any-to-any" models that can seamlessly 	translate between all modalities — describing sounds from images, 	generating videos from text, or creating music from visual art.</a:t>
              </a:r>
              <a:endParaRPr lang="en-US" dirty="0">
                <a:latin typeface="Helvetica Neue Light"/>
              </a:endParaRPr>
            </a:p>
          </p:txBody>
        </p:sp>
      </p:grpSp>
    </p:spTree>
    <p:extLst>
      <p:ext uri="{BB962C8B-B14F-4D97-AF65-F5344CB8AC3E}">
        <p14:creationId xmlns:p14="http://schemas.microsoft.com/office/powerpoint/2010/main" val="32398465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B7A4-496F-77E5-E128-5AE1EAE2339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00A7E3-FE99-EF15-51DD-7FF4E51BBA79}"/>
              </a:ext>
            </a:extLst>
          </p:cNvPr>
          <p:cNvSpPr>
            <a:spLocks noGrp="1"/>
          </p:cNvSpPr>
          <p:nvPr>
            <p:ph type="title"/>
          </p:nvPr>
        </p:nvSpPr>
        <p:spPr>
          <a:xfrm>
            <a:off x="623888" y="3305016"/>
            <a:ext cx="7886700" cy="1257460"/>
          </a:xfrm>
        </p:spPr>
        <p:txBody>
          <a:bodyPr/>
          <a:lstStyle/>
          <a:p>
            <a:r>
              <a:rPr lang="en-US" sz="3600" i="1" dirty="0"/>
              <a:t>Part 19</a:t>
            </a:r>
            <a:br>
              <a:rPr lang="en-US" sz="4800" dirty="0"/>
            </a:br>
            <a:r>
              <a:rPr lang="en-US" sz="4800" dirty="0"/>
              <a:t>	“Hallucinations” in AI</a:t>
            </a:r>
          </a:p>
        </p:txBody>
      </p:sp>
      <p:sp>
        <p:nvSpPr>
          <p:cNvPr id="2" name="Text Placeholder 1">
            <a:extLst>
              <a:ext uri="{FF2B5EF4-FFF2-40B4-BE49-F238E27FC236}">
                <a16:creationId xmlns:a16="http://schemas.microsoft.com/office/drawing/2014/main" id="{A73D6123-29B6-CBA6-2B68-4CBBB5B02A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A40094-9643-39F4-C466-17FA4EF438C2}"/>
              </a:ext>
            </a:extLst>
          </p:cNvPr>
          <p:cNvSpPr>
            <a:spLocks noGrp="1"/>
          </p:cNvSpPr>
          <p:nvPr>
            <p:ph type="sldNum" sz="quarter" idx="12"/>
          </p:nvPr>
        </p:nvSpPr>
        <p:spPr/>
        <p:txBody>
          <a:bodyPr/>
          <a:lstStyle/>
          <a:p>
            <a:fld id="{21EF4C0E-91FA-4D94-8941-E22F3A83D5F1}" type="slidenum">
              <a:rPr lang="en-US" smtClean="0"/>
              <a:t>98</a:t>
            </a:fld>
            <a:endParaRPr lang="en-US"/>
          </a:p>
        </p:txBody>
      </p:sp>
    </p:spTree>
    <p:extLst>
      <p:ext uri="{BB962C8B-B14F-4D97-AF65-F5344CB8AC3E}">
        <p14:creationId xmlns:p14="http://schemas.microsoft.com/office/powerpoint/2010/main" val="32521739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89441-E3F5-1864-9621-83C89959C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714A1-D917-9B5E-5888-83857A9D719A}"/>
              </a:ext>
            </a:extLst>
          </p:cNvPr>
          <p:cNvSpPr>
            <a:spLocks noGrp="1"/>
          </p:cNvSpPr>
          <p:nvPr>
            <p:ph type="title"/>
          </p:nvPr>
        </p:nvSpPr>
        <p:spPr>
          <a:xfrm>
            <a:off x="457200" y="365126"/>
            <a:ext cx="8229600" cy="592213"/>
          </a:xfrm>
        </p:spPr>
        <p:txBody>
          <a:bodyPr/>
          <a:lstStyle/>
          <a:p>
            <a:r>
              <a:rPr lang="en-US" dirty="0"/>
              <a:t>Hallucinations in AI  (2:04)</a:t>
            </a:r>
          </a:p>
        </p:txBody>
      </p:sp>
      <p:sp>
        <p:nvSpPr>
          <p:cNvPr id="5" name="Slide Number Placeholder 4">
            <a:extLst>
              <a:ext uri="{FF2B5EF4-FFF2-40B4-BE49-F238E27FC236}">
                <a16:creationId xmlns:a16="http://schemas.microsoft.com/office/drawing/2014/main" id="{0D3667EB-DB36-E289-BF73-5B76F5781ECA}"/>
              </a:ext>
            </a:extLst>
          </p:cNvPr>
          <p:cNvSpPr>
            <a:spLocks noGrp="1"/>
          </p:cNvSpPr>
          <p:nvPr>
            <p:ph type="sldNum" sz="quarter" idx="12"/>
          </p:nvPr>
        </p:nvSpPr>
        <p:spPr/>
        <p:txBody>
          <a:bodyPr/>
          <a:lstStyle/>
          <a:p>
            <a:fld id="{21EF4C0E-91FA-4D94-8941-E22F3A83D5F1}" type="slidenum">
              <a:rPr lang="en-US" smtClean="0"/>
              <a:t>99</a:t>
            </a:fld>
            <a:endParaRPr lang="en-US"/>
          </a:p>
        </p:txBody>
      </p:sp>
      <p:sp>
        <p:nvSpPr>
          <p:cNvPr id="9" name="TextBox 8">
            <a:extLst>
              <a:ext uri="{FF2B5EF4-FFF2-40B4-BE49-F238E27FC236}">
                <a16:creationId xmlns:a16="http://schemas.microsoft.com/office/drawing/2014/main" id="{17497886-0A9A-0D58-BF84-4CC4CA94E3D8}"/>
              </a:ext>
            </a:extLst>
          </p:cNvPr>
          <p:cNvSpPr txBox="1"/>
          <p:nvPr/>
        </p:nvSpPr>
        <p:spPr>
          <a:xfrm>
            <a:off x="6574035" y="6642556"/>
            <a:ext cx="2477095" cy="215444"/>
          </a:xfrm>
          <a:prstGeom prst="rect">
            <a:avLst/>
          </a:prstGeom>
          <a:noFill/>
        </p:spPr>
        <p:txBody>
          <a:bodyPr wrap="square">
            <a:spAutoFit/>
          </a:bodyPr>
          <a:lstStyle/>
          <a:p>
            <a:r>
              <a:rPr lang="en-US" sz="800" dirty="0">
                <a:solidFill>
                  <a:schemeClr val="bg2">
                    <a:lumMod val="90000"/>
                  </a:schemeClr>
                </a:solidFill>
              </a:rPr>
              <a:t>https://www.youtube.com/watch?v=nLbaUhEAx5c</a:t>
            </a:r>
          </a:p>
        </p:txBody>
      </p:sp>
      <p:pic>
        <p:nvPicPr>
          <p:cNvPr id="4" name="Online Media 3" title="Ai hallucinations explained">
            <a:hlinkClick r:id="" action="ppaction://media"/>
            <a:extLst>
              <a:ext uri="{FF2B5EF4-FFF2-40B4-BE49-F238E27FC236}">
                <a16:creationId xmlns:a16="http://schemas.microsoft.com/office/drawing/2014/main" id="{68676872-DA98-BADA-3162-633445B539E9}"/>
              </a:ext>
            </a:extLst>
          </p:cNvPr>
          <p:cNvPicPr>
            <a:picLocks noRot="1" noChangeAspect="1"/>
          </p:cNvPicPr>
          <p:nvPr>
            <a:videoFile r:link="rId1"/>
          </p:nvPr>
        </p:nvPicPr>
        <p:blipFill>
          <a:blip r:embed="rId3"/>
          <a:stretch>
            <a:fillRect/>
          </a:stretch>
        </p:blipFill>
        <p:spPr>
          <a:xfrm>
            <a:off x="525517" y="1579424"/>
            <a:ext cx="8229600" cy="4646295"/>
          </a:xfrm>
          <a:prstGeom prst="rect">
            <a:avLst/>
          </a:prstGeom>
        </p:spPr>
      </p:pic>
      <p:sp>
        <p:nvSpPr>
          <p:cNvPr id="6" name="TextBox 5">
            <a:extLst>
              <a:ext uri="{FF2B5EF4-FFF2-40B4-BE49-F238E27FC236}">
                <a16:creationId xmlns:a16="http://schemas.microsoft.com/office/drawing/2014/main" id="{09214626-2D53-DCD3-9EFA-12D227146D31}"/>
              </a:ext>
            </a:extLst>
          </p:cNvPr>
          <p:cNvSpPr txBox="1"/>
          <p:nvPr/>
        </p:nvSpPr>
        <p:spPr>
          <a:xfrm>
            <a:off x="457200" y="1083715"/>
            <a:ext cx="4572000" cy="369332"/>
          </a:xfrm>
          <a:prstGeom prst="rect">
            <a:avLst/>
          </a:prstGeom>
          <a:noFill/>
        </p:spPr>
        <p:txBody>
          <a:bodyPr wrap="square">
            <a:spAutoFit/>
          </a:bodyPr>
          <a:lstStyle/>
          <a:p>
            <a:pPr marL="0" indent="0">
              <a:buNone/>
            </a:pPr>
            <a:r>
              <a:rPr lang="en-US" sz="1800" i="1" dirty="0">
                <a:solidFill>
                  <a:srgbClr val="E8F4F8"/>
                </a:solidFill>
                <a:latin typeface="Helvetica Neue Light"/>
                <a:ea typeface="Calibri" pitchFamily="34" charset="-122"/>
                <a:cs typeface="Calibri" pitchFamily="34" charset="-120"/>
              </a:rPr>
              <a:t>When AI confidently makes things up</a:t>
            </a:r>
            <a:endParaRPr lang="en-US" sz="1800" dirty="0">
              <a:latin typeface="Helvetica Neue Light"/>
            </a:endParaRPr>
          </a:p>
        </p:txBody>
      </p:sp>
    </p:spTree>
    <p:extLst>
      <p:ext uri="{BB962C8B-B14F-4D97-AF65-F5344CB8AC3E}">
        <p14:creationId xmlns:p14="http://schemas.microsoft.com/office/powerpoint/2010/main" val="2017655913"/>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05C6034-9E70-DB00-1BCE-C806910AB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07FAB-987D-E972-9077-9C45B3AD3E57}"/>
              </a:ext>
            </a:extLst>
          </p:cNvPr>
          <p:cNvSpPr>
            <a:spLocks noGrp="1"/>
          </p:cNvSpPr>
          <p:nvPr>
            <p:ph type="title"/>
          </p:nvPr>
        </p:nvSpPr>
        <p:spPr>
          <a:xfrm>
            <a:off x="457200" y="365126"/>
            <a:ext cx="8686800" cy="592213"/>
          </a:xfrm>
        </p:spPr>
        <p:txBody>
          <a:bodyPr/>
          <a:lstStyle/>
          <a:p>
            <a:r>
              <a:rPr lang="en-US" dirty="0"/>
              <a:t>When AI Confidently Makes Things Up</a:t>
            </a:r>
          </a:p>
        </p:txBody>
      </p:sp>
      <p:sp>
        <p:nvSpPr>
          <p:cNvPr id="5" name="Slide Number Placeholder 4">
            <a:extLst>
              <a:ext uri="{FF2B5EF4-FFF2-40B4-BE49-F238E27FC236}">
                <a16:creationId xmlns:a16="http://schemas.microsoft.com/office/drawing/2014/main" id="{E0D64981-6824-B861-16F7-14307D3A4B5A}"/>
              </a:ext>
            </a:extLst>
          </p:cNvPr>
          <p:cNvSpPr>
            <a:spLocks noGrp="1"/>
          </p:cNvSpPr>
          <p:nvPr>
            <p:ph type="sldNum" sz="quarter" idx="12"/>
          </p:nvPr>
        </p:nvSpPr>
        <p:spPr/>
        <p:txBody>
          <a:bodyPr/>
          <a:lstStyle/>
          <a:p>
            <a:fld id="{21EF4C0E-91FA-4D94-8941-E22F3A83D5F1}" type="slidenum">
              <a:rPr lang="en-US" smtClean="0"/>
              <a:t>100</a:t>
            </a:fld>
            <a:endParaRPr lang="en-US"/>
          </a:p>
        </p:txBody>
      </p:sp>
      <p:grpSp>
        <p:nvGrpSpPr>
          <p:cNvPr id="3" name="Group 2">
            <a:extLst>
              <a:ext uri="{FF2B5EF4-FFF2-40B4-BE49-F238E27FC236}">
                <a16:creationId xmlns:a16="http://schemas.microsoft.com/office/drawing/2014/main" id="{4CF40EE4-0E54-F8AA-8EFC-7FE74694A747}"/>
              </a:ext>
            </a:extLst>
          </p:cNvPr>
          <p:cNvGrpSpPr/>
          <p:nvPr/>
        </p:nvGrpSpPr>
        <p:grpSpPr>
          <a:xfrm>
            <a:off x="457200" y="1195141"/>
            <a:ext cx="8686800" cy="4467717"/>
            <a:chOff x="457200" y="1234440"/>
            <a:chExt cx="8229600" cy="2606040"/>
          </a:xfrm>
        </p:grpSpPr>
        <p:sp>
          <p:nvSpPr>
            <p:cNvPr id="4" name="Shape 3">
              <a:extLst>
                <a:ext uri="{FF2B5EF4-FFF2-40B4-BE49-F238E27FC236}">
                  <a16:creationId xmlns:a16="http://schemas.microsoft.com/office/drawing/2014/main" id="{F128200F-8679-7BE1-23E3-EADE022654A7}"/>
                </a:ext>
              </a:extLst>
            </p:cNvPr>
            <p:cNvSpPr/>
            <p:nvPr/>
          </p:nvSpPr>
          <p:spPr>
            <a:xfrm>
              <a:off x="457200" y="12344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6" name="Shape 4">
              <a:extLst>
                <a:ext uri="{FF2B5EF4-FFF2-40B4-BE49-F238E27FC236}">
                  <a16:creationId xmlns:a16="http://schemas.microsoft.com/office/drawing/2014/main" id="{ADDD7119-CDCE-7534-928E-68193DF6FA64}"/>
                </a:ext>
              </a:extLst>
            </p:cNvPr>
            <p:cNvSpPr/>
            <p:nvPr/>
          </p:nvSpPr>
          <p:spPr>
            <a:xfrm>
              <a:off x="457200" y="1234440"/>
              <a:ext cx="54864" cy="777240"/>
            </a:xfrm>
            <a:prstGeom prst="rect">
              <a:avLst/>
            </a:prstGeom>
            <a:solidFill>
              <a:srgbClr val="E07A5F"/>
            </a:solidFill>
            <a:ln/>
          </p:spPr>
          <p:txBody>
            <a:bodyPr/>
            <a:lstStyle/>
            <a:p>
              <a:endParaRPr lang="en-US" sz="3200">
                <a:latin typeface="Helvetica Neue Light"/>
              </a:endParaRPr>
            </a:p>
          </p:txBody>
        </p:sp>
        <p:sp>
          <p:nvSpPr>
            <p:cNvPr id="7" name="Text 5">
              <a:extLst>
                <a:ext uri="{FF2B5EF4-FFF2-40B4-BE49-F238E27FC236}">
                  <a16:creationId xmlns:a16="http://schemas.microsoft.com/office/drawing/2014/main" id="{A9F1F6C7-C770-9A39-3CA0-E1EDA588E108}"/>
                </a:ext>
              </a:extLst>
            </p:cNvPr>
            <p:cNvSpPr/>
            <p:nvPr/>
          </p:nvSpPr>
          <p:spPr>
            <a:xfrm>
              <a:off x="685800" y="1247971"/>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Core Problem:</a:t>
              </a:r>
              <a:endParaRPr lang="en-US" sz="2000" dirty="0">
                <a:latin typeface="Helvetica Neue Light"/>
              </a:endParaRPr>
            </a:p>
          </p:txBody>
        </p:sp>
        <p:sp>
          <p:nvSpPr>
            <p:cNvPr id="8" name="Text 6">
              <a:extLst>
                <a:ext uri="{FF2B5EF4-FFF2-40B4-BE49-F238E27FC236}">
                  <a16:creationId xmlns:a16="http://schemas.microsoft.com/office/drawing/2014/main" id="{ECAF4BBA-FEA5-C60A-B0F1-97D0EF7426FA}"/>
                </a:ext>
              </a:extLst>
            </p:cNvPr>
            <p:cNvSpPr/>
            <p:nvPr/>
          </p:nvSpPr>
          <p:spPr>
            <a:xfrm>
              <a:off x="685800" y="1554480"/>
              <a:ext cx="800100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Hallucinations occur when AI generates false, fabricated, or nonsensical information while appearing completely confident — like citing non-existent research papers or inventing historical events.</a:t>
              </a:r>
              <a:endParaRPr lang="en-US" dirty="0">
                <a:latin typeface="Helvetica Neue Light"/>
              </a:endParaRPr>
            </a:p>
          </p:txBody>
        </p:sp>
        <p:sp>
          <p:nvSpPr>
            <p:cNvPr id="9" name="Shape 7">
              <a:extLst>
                <a:ext uri="{FF2B5EF4-FFF2-40B4-BE49-F238E27FC236}">
                  <a16:creationId xmlns:a16="http://schemas.microsoft.com/office/drawing/2014/main" id="{4A95A6BD-E543-AED5-845C-A33AEDC49088}"/>
                </a:ext>
              </a:extLst>
            </p:cNvPr>
            <p:cNvSpPr/>
            <p:nvPr/>
          </p:nvSpPr>
          <p:spPr>
            <a:xfrm>
              <a:off x="457200" y="21488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0" name="Shape 8">
              <a:extLst>
                <a:ext uri="{FF2B5EF4-FFF2-40B4-BE49-F238E27FC236}">
                  <a16:creationId xmlns:a16="http://schemas.microsoft.com/office/drawing/2014/main" id="{7FA037DD-6A58-2FB1-862C-61C1F6782A97}"/>
                </a:ext>
              </a:extLst>
            </p:cNvPr>
            <p:cNvSpPr/>
            <p:nvPr/>
          </p:nvSpPr>
          <p:spPr>
            <a:xfrm>
              <a:off x="457200" y="2148840"/>
              <a:ext cx="54864" cy="777240"/>
            </a:xfrm>
            <a:prstGeom prst="rect">
              <a:avLst/>
            </a:prstGeom>
            <a:solidFill>
              <a:srgbClr val="1C7293"/>
            </a:solidFill>
            <a:ln/>
          </p:spPr>
          <p:txBody>
            <a:bodyPr/>
            <a:lstStyle/>
            <a:p>
              <a:endParaRPr lang="en-US" sz="3200">
                <a:latin typeface="Helvetica Neue Light"/>
              </a:endParaRPr>
            </a:p>
          </p:txBody>
        </p:sp>
        <p:sp>
          <p:nvSpPr>
            <p:cNvPr id="11" name="Text 9">
              <a:extLst>
                <a:ext uri="{FF2B5EF4-FFF2-40B4-BE49-F238E27FC236}">
                  <a16:creationId xmlns:a16="http://schemas.microsoft.com/office/drawing/2014/main" id="{600FCC78-DC51-7014-0CD6-964F7B9AB9DC}"/>
                </a:ext>
              </a:extLst>
            </p:cNvPr>
            <p:cNvSpPr/>
            <p:nvPr/>
          </p:nvSpPr>
          <p:spPr>
            <a:xfrm>
              <a:off x="685800" y="2162371"/>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Why They Happen:</a:t>
              </a:r>
              <a:endParaRPr lang="en-US" sz="2000" dirty="0">
                <a:latin typeface="Helvetica Neue Light"/>
              </a:endParaRPr>
            </a:p>
          </p:txBody>
        </p:sp>
        <p:sp>
          <p:nvSpPr>
            <p:cNvPr id="12" name="Text 10">
              <a:extLst>
                <a:ext uri="{FF2B5EF4-FFF2-40B4-BE49-F238E27FC236}">
                  <a16:creationId xmlns:a16="http://schemas.microsoft.com/office/drawing/2014/main" id="{56BBA9A2-F0F0-69E7-85B7-4AA13DF1D1B7}"/>
                </a:ext>
              </a:extLst>
            </p:cNvPr>
            <p:cNvSpPr/>
            <p:nvPr/>
          </p:nvSpPr>
          <p:spPr>
            <a:xfrm>
              <a:off x="685800" y="2468880"/>
              <a:ext cx="800100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AI models are trained to predict statistically likely text patterns, not verify truth — they excel at generating plausible-sounding content without any mechanism for fact-checking their outputs.</a:t>
              </a:r>
              <a:endParaRPr lang="en-US" dirty="0">
                <a:latin typeface="Helvetica Neue Light"/>
              </a:endParaRPr>
            </a:p>
          </p:txBody>
        </p:sp>
        <p:sp>
          <p:nvSpPr>
            <p:cNvPr id="13" name="Shape 11">
              <a:extLst>
                <a:ext uri="{FF2B5EF4-FFF2-40B4-BE49-F238E27FC236}">
                  <a16:creationId xmlns:a16="http://schemas.microsoft.com/office/drawing/2014/main" id="{199745C3-E78E-E2E7-CF99-B98E84B25BD3}"/>
                </a:ext>
              </a:extLst>
            </p:cNvPr>
            <p:cNvSpPr/>
            <p:nvPr/>
          </p:nvSpPr>
          <p:spPr>
            <a:xfrm>
              <a:off x="457200" y="30632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4" name="Shape 12">
              <a:extLst>
                <a:ext uri="{FF2B5EF4-FFF2-40B4-BE49-F238E27FC236}">
                  <a16:creationId xmlns:a16="http://schemas.microsoft.com/office/drawing/2014/main" id="{B13DDCB4-304F-73B5-42EC-96BF29F13042}"/>
                </a:ext>
              </a:extLst>
            </p:cNvPr>
            <p:cNvSpPr/>
            <p:nvPr/>
          </p:nvSpPr>
          <p:spPr>
            <a:xfrm>
              <a:off x="457200" y="3063240"/>
              <a:ext cx="54864" cy="777240"/>
            </a:xfrm>
            <a:prstGeom prst="rect">
              <a:avLst/>
            </a:prstGeom>
            <a:solidFill>
              <a:srgbClr val="84B59F"/>
            </a:solidFill>
            <a:ln/>
          </p:spPr>
          <p:txBody>
            <a:bodyPr/>
            <a:lstStyle/>
            <a:p>
              <a:endParaRPr lang="en-US" sz="3200">
                <a:latin typeface="Helvetica Neue Light"/>
              </a:endParaRPr>
            </a:p>
          </p:txBody>
        </p:sp>
        <p:sp>
          <p:nvSpPr>
            <p:cNvPr id="15" name="Text 13">
              <a:extLst>
                <a:ext uri="{FF2B5EF4-FFF2-40B4-BE49-F238E27FC236}">
                  <a16:creationId xmlns:a16="http://schemas.microsoft.com/office/drawing/2014/main" id="{878A0870-50E8-5E93-85F9-F008FFDE6793}"/>
                </a:ext>
              </a:extLst>
            </p:cNvPr>
            <p:cNvSpPr/>
            <p:nvPr/>
          </p:nvSpPr>
          <p:spPr>
            <a:xfrm>
              <a:off x="685800" y="3076771"/>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The Confidence Paradox:</a:t>
              </a:r>
              <a:endParaRPr lang="en-US" sz="2000" dirty="0">
                <a:latin typeface="Helvetica Neue Light"/>
              </a:endParaRPr>
            </a:p>
          </p:txBody>
        </p:sp>
        <p:sp>
          <p:nvSpPr>
            <p:cNvPr id="16" name="Text 14">
              <a:extLst>
                <a:ext uri="{FF2B5EF4-FFF2-40B4-BE49-F238E27FC236}">
                  <a16:creationId xmlns:a16="http://schemas.microsoft.com/office/drawing/2014/main" id="{1816997D-0F2D-2629-CD04-1EE9CE6602B8}"/>
                </a:ext>
              </a:extLst>
            </p:cNvPr>
            <p:cNvSpPr/>
            <p:nvPr/>
          </p:nvSpPr>
          <p:spPr>
            <a:xfrm>
              <a:off x="685800" y="3383280"/>
              <a:ext cx="800100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Unlike humans who express uncertainty when unsure, AI maintains the same confident tone whether stating facts or complete fabrications — making hallucinations particularly dangerous for users.</a:t>
              </a:r>
              <a:endParaRPr lang="en-US" dirty="0">
                <a:latin typeface="Helvetica Neue Light"/>
              </a:endParaRPr>
            </a:p>
          </p:txBody>
        </p:sp>
      </p:grpSp>
    </p:spTree>
    <p:extLst>
      <p:ext uri="{BB962C8B-B14F-4D97-AF65-F5344CB8AC3E}">
        <p14:creationId xmlns:p14="http://schemas.microsoft.com/office/powerpoint/2010/main" val="13329437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6DF31260-730B-C987-B3EA-87140A8E0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97925-8268-CEF7-9554-CE5DAD59BDD6}"/>
              </a:ext>
            </a:extLst>
          </p:cNvPr>
          <p:cNvSpPr>
            <a:spLocks noGrp="1"/>
          </p:cNvSpPr>
          <p:nvPr>
            <p:ph type="title"/>
          </p:nvPr>
        </p:nvSpPr>
        <p:spPr>
          <a:xfrm>
            <a:off x="457200" y="365126"/>
            <a:ext cx="8229600" cy="647741"/>
          </a:xfrm>
        </p:spPr>
        <p:txBody>
          <a:bodyPr/>
          <a:lstStyle/>
          <a:p>
            <a:r>
              <a:rPr lang="en-US" sz="4000" dirty="0"/>
              <a:t>Risks &amp; Mitigation Strategies</a:t>
            </a:r>
          </a:p>
        </p:txBody>
      </p:sp>
      <p:sp>
        <p:nvSpPr>
          <p:cNvPr id="5" name="Slide Number Placeholder 4">
            <a:extLst>
              <a:ext uri="{FF2B5EF4-FFF2-40B4-BE49-F238E27FC236}">
                <a16:creationId xmlns:a16="http://schemas.microsoft.com/office/drawing/2014/main" id="{8AA63370-2279-B565-0633-CCA56F991606}"/>
              </a:ext>
            </a:extLst>
          </p:cNvPr>
          <p:cNvSpPr>
            <a:spLocks noGrp="1"/>
          </p:cNvSpPr>
          <p:nvPr>
            <p:ph type="sldNum" sz="quarter" idx="12"/>
          </p:nvPr>
        </p:nvSpPr>
        <p:spPr/>
        <p:txBody>
          <a:bodyPr/>
          <a:lstStyle/>
          <a:p>
            <a:fld id="{21EF4C0E-91FA-4D94-8941-E22F3A83D5F1}" type="slidenum">
              <a:rPr lang="en-US" smtClean="0"/>
              <a:t>101</a:t>
            </a:fld>
            <a:endParaRPr lang="en-US"/>
          </a:p>
        </p:txBody>
      </p:sp>
      <p:sp>
        <p:nvSpPr>
          <p:cNvPr id="6" name="TextBox 5">
            <a:extLst>
              <a:ext uri="{FF2B5EF4-FFF2-40B4-BE49-F238E27FC236}">
                <a16:creationId xmlns:a16="http://schemas.microsoft.com/office/drawing/2014/main" id="{38C1E18D-5F1F-E3CD-90E5-CDD098CC5D41}"/>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BED2E8B3-316B-0C95-7839-8FCF266A16D1}"/>
              </a:ext>
            </a:extLst>
          </p:cNvPr>
          <p:cNvGrpSpPr/>
          <p:nvPr/>
        </p:nvGrpSpPr>
        <p:grpSpPr>
          <a:xfrm>
            <a:off x="457200" y="1221190"/>
            <a:ext cx="8503920" cy="4774144"/>
            <a:chOff x="457200" y="1226424"/>
            <a:chExt cx="8503920" cy="2888376"/>
          </a:xfrm>
        </p:grpSpPr>
        <p:sp>
          <p:nvSpPr>
            <p:cNvPr id="4" name="Shape 3">
              <a:extLst>
                <a:ext uri="{FF2B5EF4-FFF2-40B4-BE49-F238E27FC236}">
                  <a16:creationId xmlns:a16="http://schemas.microsoft.com/office/drawing/2014/main" id="{AD71062D-F1E6-348E-A603-B0B786351C6F}"/>
                </a:ext>
              </a:extLst>
            </p:cNvPr>
            <p:cNvSpPr/>
            <p:nvPr/>
          </p:nvSpPr>
          <p:spPr>
            <a:xfrm>
              <a:off x="457200" y="1234440"/>
              <a:ext cx="850392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6959D4B8-1663-15D2-078C-5A3C3D331803}"/>
                </a:ext>
              </a:extLst>
            </p:cNvPr>
            <p:cNvSpPr/>
            <p:nvPr/>
          </p:nvSpPr>
          <p:spPr>
            <a:xfrm>
              <a:off x="457200" y="1234440"/>
              <a:ext cx="54864" cy="777240"/>
            </a:xfrm>
            <a:prstGeom prst="rect">
              <a:avLst/>
            </a:prstGeom>
            <a:solidFill>
              <a:srgbClr val="E07A5F"/>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94517CB7-9CA1-34D7-3BF2-9670DC14EAA7}"/>
                </a:ext>
              </a:extLst>
            </p:cNvPr>
            <p:cNvSpPr/>
            <p:nvPr/>
          </p:nvSpPr>
          <p:spPr>
            <a:xfrm>
              <a:off x="685800" y="1226424"/>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High-Stakes Risks:</a:t>
              </a:r>
              <a:endParaRPr lang="en-US" sz="2000" dirty="0">
                <a:latin typeface="Helvetica Neue Light"/>
              </a:endParaRPr>
            </a:p>
          </p:txBody>
        </p:sp>
        <p:sp>
          <p:nvSpPr>
            <p:cNvPr id="9" name="Text 6">
              <a:extLst>
                <a:ext uri="{FF2B5EF4-FFF2-40B4-BE49-F238E27FC236}">
                  <a16:creationId xmlns:a16="http://schemas.microsoft.com/office/drawing/2014/main" id="{26C39A1A-AF2D-A71C-96BB-E4AEDA0EE0B7}"/>
                </a:ext>
              </a:extLst>
            </p:cNvPr>
            <p:cNvSpPr/>
            <p:nvPr/>
          </p:nvSpPr>
          <p:spPr>
            <a:xfrm>
              <a:off x="685800" y="1554480"/>
              <a:ext cx="827532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In medical, legal, or educational contexts, hallucinated information could lead to harmful decisions — imagine AI inventing drug interactions or fabricating legal precedents.</a:t>
              </a:r>
              <a:endParaRPr lang="en-US" dirty="0">
                <a:latin typeface="Helvetica Neue Light"/>
              </a:endParaRPr>
            </a:p>
          </p:txBody>
        </p:sp>
        <p:sp>
          <p:nvSpPr>
            <p:cNvPr id="10" name="Shape 7">
              <a:extLst>
                <a:ext uri="{FF2B5EF4-FFF2-40B4-BE49-F238E27FC236}">
                  <a16:creationId xmlns:a16="http://schemas.microsoft.com/office/drawing/2014/main" id="{51F04873-A4FE-3149-A5C1-8582299239D5}"/>
                </a:ext>
              </a:extLst>
            </p:cNvPr>
            <p:cNvSpPr/>
            <p:nvPr/>
          </p:nvSpPr>
          <p:spPr>
            <a:xfrm>
              <a:off x="457200" y="2148840"/>
              <a:ext cx="850392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532CC406-19A7-A269-BEB5-9078AA2193B4}"/>
                </a:ext>
              </a:extLst>
            </p:cNvPr>
            <p:cNvSpPr/>
            <p:nvPr/>
          </p:nvSpPr>
          <p:spPr>
            <a:xfrm>
              <a:off x="457200" y="2148840"/>
              <a:ext cx="54864" cy="777240"/>
            </a:xfrm>
            <a:prstGeom prst="rect">
              <a:avLst/>
            </a:prstGeom>
            <a:solidFill>
              <a:srgbClr val="1C7293"/>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9285C4A4-2303-87AC-B3DB-CFA2CF1C526E}"/>
                </a:ext>
              </a:extLst>
            </p:cNvPr>
            <p:cNvSpPr/>
            <p:nvPr/>
          </p:nvSpPr>
          <p:spPr>
            <a:xfrm>
              <a:off x="685800" y="2140824"/>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Detection Challenge:</a:t>
              </a:r>
              <a:endParaRPr lang="en-US" sz="2000" dirty="0">
                <a:latin typeface="Helvetica Neue Light"/>
              </a:endParaRPr>
            </a:p>
          </p:txBody>
        </p:sp>
        <p:sp>
          <p:nvSpPr>
            <p:cNvPr id="13" name="Text 10">
              <a:extLst>
                <a:ext uri="{FF2B5EF4-FFF2-40B4-BE49-F238E27FC236}">
                  <a16:creationId xmlns:a16="http://schemas.microsoft.com/office/drawing/2014/main" id="{E4715DB9-FE2D-5DAB-53D0-DB5C804A4687}"/>
                </a:ext>
              </a:extLst>
            </p:cNvPr>
            <p:cNvSpPr/>
            <p:nvPr/>
          </p:nvSpPr>
          <p:spPr>
            <a:xfrm>
              <a:off x="685800" y="2468880"/>
              <a:ext cx="827532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Identifying hallucinations requires external knowledge verification — the AI itself cannot reliably tell when it's hallucinating, and automated detection remains an unsolved problem.</a:t>
              </a:r>
              <a:endParaRPr lang="en-US" dirty="0">
                <a:latin typeface="Helvetica Neue Light"/>
              </a:endParaRPr>
            </a:p>
          </p:txBody>
        </p:sp>
        <p:sp>
          <p:nvSpPr>
            <p:cNvPr id="14" name="Text 11">
              <a:extLst>
                <a:ext uri="{FF2B5EF4-FFF2-40B4-BE49-F238E27FC236}">
                  <a16:creationId xmlns:a16="http://schemas.microsoft.com/office/drawing/2014/main" id="{46D7DF8A-3651-A856-B42A-9839E76D25BF}"/>
                </a:ext>
              </a:extLst>
            </p:cNvPr>
            <p:cNvSpPr/>
            <p:nvPr/>
          </p:nvSpPr>
          <p:spPr>
            <a:xfrm>
              <a:off x="457200" y="3108960"/>
              <a:ext cx="8229600" cy="320040"/>
            </a:xfrm>
            <a:prstGeom prst="rect">
              <a:avLst/>
            </a:prstGeom>
            <a:noFill/>
            <a:ln/>
          </p:spPr>
          <p:txBody>
            <a:bodyPr wrap="square" rtlCol="0" anchor="ctr"/>
            <a:lstStyle/>
            <a:p>
              <a:pPr marL="0" indent="0">
                <a:buNone/>
              </a:pPr>
              <a:r>
                <a:rPr lang="en-US" sz="2400" b="1" dirty="0">
                  <a:solidFill>
                    <a:srgbClr val="065A82"/>
                  </a:solidFill>
                  <a:latin typeface="Helvetica Neue Light"/>
                  <a:ea typeface="Georgia" pitchFamily="34" charset="-122"/>
                  <a:cs typeface="Georgia" pitchFamily="34" charset="-120"/>
                </a:rPr>
                <a:t>Current Mitigation Strategies:</a:t>
              </a:r>
              <a:endParaRPr lang="en-US" sz="2400" dirty="0">
                <a:latin typeface="Helvetica Neue Light"/>
              </a:endParaRPr>
            </a:p>
          </p:txBody>
        </p:sp>
        <p:sp>
          <p:nvSpPr>
            <p:cNvPr id="15" name="Shape 12">
              <a:extLst>
                <a:ext uri="{FF2B5EF4-FFF2-40B4-BE49-F238E27FC236}">
                  <a16:creationId xmlns:a16="http://schemas.microsoft.com/office/drawing/2014/main" id="{82B20B66-4230-FB62-008A-10E301B7F5CF}"/>
                </a:ext>
              </a:extLst>
            </p:cNvPr>
            <p:cNvSpPr/>
            <p:nvPr/>
          </p:nvSpPr>
          <p:spPr>
            <a:xfrm>
              <a:off x="457200" y="3474720"/>
              <a:ext cx="265176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6" name="Shape 13">
              <a:extLst>
                <a:ext uri="{FF2B5EF4-FFF2-40B4-BE49-F238E27FC236}">
                  <a16:creationId xmlns:a16="http://schemas.microsoft.com/office/drawing/2014/main" id="{386010AE-9E5B-9595-EDE6-1E435B667B40}"/>
                </a:ext>
              </a:extLst>
            </p:cNvPr>
            <p:cNvSpPr/>
            <p:nvPr/>
          </p:nvSpPr>
          <p:spPr>
            <a:xfrm>
              <a:off x="457200" y="3474720"/>
              <a:ext cx="54864" cy="640080"/>
            </a:xfrm>
            <a:prstGeom prst="rect">
              <a:avLst/>
            </a:prstGeom>
            <a:solidFill>
              <a:srgbClr val="1C7293"/>
            </a:solidFill>
            <a:ln/>
          </p:spPr>
          <p:txBody>
            <a:bodyPr/>
            <a:lstStyle/>
            <a:p>
              <a:endParaRPr lang="en-US" sz="3200">
                <a:latin typeface="Helvetica Neue Light"/>
              </a:endParaRPr>
            </a:p>
          </p:txBody>
        </p:sp>
        <p:sp>
          <p:nvSpPr>
            <p:cNvPr id="17" name="Text 14">
              <a:extLst>
                <a:ext uri="{FF2B5EF4-FFF2-40B4-BE49-F238E27FC236}">
                  <a16:creationId xmlns:a16="http://schemas.microsoft.com/office/drawing/2014/main" id="{9540188C-DF9A-1DF4-9DD2-374628CF05F0}"/>
                </a:ext>
              </a:extLst>
            </p:cNvPr>
            <p:cNvSpPr/>
            <p:nvPr/>
          </p:nvSpPr>
          <p:spPr>
            <a:xfrm>
              <a:off x="786384" y="3479136"/>
              <a:ext cx="22860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RAG</a:t>
              </a:r>
              <a:endParaRPr lang="en-US" dirty="0">
                <a:latin typeface="Helvetica Neue Light"/>
              </a:endParaRPr>
            </a:p>
          </p:txBody>
        </p:sp>
        <p:sp>
          <p:nvSpPr>
            <p:cNvPr id="18" name="Text 15">
              <a:extLst>
                <a:ext uri="{FF2B5EF4-FFF2-40B4-BE49-F238E27FC236}">
                  <a16:creationId xmlns:a16="http://schemas.microsoft.com/office/drawing/2014/main" id="{6751DC7C-4F2F-D4B0-FC7B-5EE19BF471F7}"/>
                </a:ext>
              </a:extLst>
            </p:cNvPr>
            <p:cNvSpPr/>
            <p:nvPr/>
          </p:nvSpPr>
          <p:spPr>
            <a:xfrm>
              <a:off x="786384" y="3794760"/>
              <a:ext cx="228600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Ground responses in real documents</a:t>
              </a:r>
              <a:endParaRPr lang="en-US" sz="1600" dirty="0">
                <a:latin typeface="Helvetica Neue Light"/>
              </a:endParaRPr>
            </a:p>
          </p:txBody>
        </p:sp>
        <p:sp>
          <p:nvSpPr>
            <p:cNvPr id="19" name="Shape 16">
              <a:extLst>
                <a:ext uri="{FF2B5EF4-FFF2-40B4-BE49-F238E27FC236}">
                  <a16:creationId xmlns:a16="http://schemas.microsoft.com/office/drawing/2014/main" id="{233FB16E-6799-0AD0-03F8-E4BB3BA5B308}"/>
                </a:ext>
              </a:extLst>
            </p:cNvPr>
            <p:cNvSpPr/>
            <p:nvPr/>
          </p:nvSpPr>
          <p:spPr>
            <a:xfrm>
              <a:off x="3383280" y="3474720"/>
              <a:ext cx="265176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20" name="Shape 17">
              <a:extLst>
                <a:ext uri="{FF2B5EF4-FFF2-40B4-BE49-F238E27FC236}">
                  <a16:creationId xmlns:a16="http://schemas.microsoft.com/office/drawing/2014/main" id="{D0E7EB05-3571-38BA-AE4B-133579C78F06}"/>
                </a:ext>
              </a:extLst>
            </p:cNvPr>
            <p:cNvSpPr/>
            <p:nvPr/>
          </p:nvSpPr>
          <p:spPr>
            <a:xfrm>
              <a:off x="3383280" y="3474720"/>
              <a:ext cx="54864" cy="640080"/>
            </a:xfrm>
            <a:prstGeom prst="rect">
              <a:avLst/>
            </a:prstGeom>
            <a:solidFill>
              <a:srgbClr val="E07A5F"/>
            </a:solidFill>
            <a:ln/>
          </p:spPr>
          <p:txBody>
            <a:bodyPr/>
            <a:lstStyle/>
            <a:p>
              <a:endParaRPr lang="en-US" sz="3200">
                <a:latin typeface="Helvetica Neue Light"/>
              </a:endParaRPr>
            </a:p>
          </p:txBody>
        </p:sp>
        <p:sp>
          <p:nvSpPr>
            <p:cNvPr id="21" name="Text 18">
              <a:extLst>
                <a:ext uri="{FF2B5EF4-FFF2-40B4-BE49-F238E27FC236}">
                  <a16:creationId xmlns:a16="http://schemas.microsoft.com/office/drawing/2014/main" id="{FF781954-BA8D-52DA-E20F-E30FA029C7CC}"/>
                </a:ext>
              </a:extLst>
            </p:cNvPr>
            <p:cNvSpPr/>
            <p:nvPr/>
          </p:nvSpPr>
          <p:spPr>
            <a:xfrm>
              <a:off x="3712464" y="3479136"/>
              <a:ext cx="22860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Citations</a:t>
              </a:r>
              <a:endParaRPr lang="en-US" dirty="0">
                <a:latin typeface="Helvetica Neue Light"/>
              </a:endParaRPr>
            </a:p>
          </p:txBody>
        </p:sp>
        <p:sp>
          <p:nvSpPr>
            <p:cNvPr id="22" name="Text 19">
              <a:extLst>
                <a:ext uri="{FF2B5EF4-FFF2-40B4-BE49-F238E27FC236}">
                  <a16:creationId xmlns:a16="http://schemas.microsoft.com/office/drawing/2014/main" id="{BE0DC2B5-07C0-4ACC-42E2-1E153A404F79}"/>
                </a:ext>
              </a:extLst>
            </p:cNvPr>
            <p:cNvSpPr/>
            <p:nvPr/>
          </p:nvSpPr>
          <p:spPr>
            <a:xfrm>
              <a:off x="3712464" y="3794760"/>
              <a:ext cx="228600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Ask models to cite sources</a:t>
              </a:r>
              <a:endParaRPr lang="en-US" sz="1600" dirty="0">
                <a:latin typeface="Helvetica Neue Light"/>
              </a:endParaRPr>
            </a:p>
          </p:txBody>
        </p:sp>
        <p:sp>
          <p:nvSpPr>
            <p:cNvPr id="23" name="Shape 20">
              <a:extLst>
                <a:ext uri="{FF2B5EF4-FFF2-40B4-BE49-F238E27FC236}">
                  <a16:creationId xmlns:a16="http://schemas.microsoft.com/office/drawing/2014/main" id="{1562ED2F-F7CD-7728-AAD6-B7755714E3C8}"/>
                </a:ext>
              </a:extLst>
            </p:cNvPr>
            <p:cNvSpPr/>
            <p:nvPr/>
          </p:nvSpPr>
          <p:spPr>
            <a:xfrm>
              <a:off x="6309360" y="3474720"/>
              <a:ext cx="2651760" cy="64008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24" name="Shape 21">
              <a:extLst>
                <a:ext uri="{FF2B5EF4-FFF2-40B4-BE49-F238E27FC236}">
                  <a16:creationId xmlns:a16="http://schemas.microsoft.com/office/drawing/2014/main" id="{463229B2-559E-5E7D-5FA3-2AA6A2FFF8AC}"/>
                </a:ext>
              </a:extLst>
            </p:cNvPr>
            <p:cNvSpPr/>
            <p:nvPr/>
          </p:nvSpPr>
          <p:spPr>
            <a:xfrm>
              <a:off x="6309360" y="3474720"/>
              <a:ext cx="54864" cy="640080"/>
            </a:xfrm>
            <a:prstGeom prst="rect">
              <a:avLst/>
            </a:prstGeom>
            <a:solidFill>
              <a:srgbClr val="84B59F"/>
            </a:solidFill>
            <a:ln/>
          </p:spPr>
          <p:txBody>
            <a:bodyPr/>
            <a:lstStyle/>
            <a:p>
              <a:endParaRPr lang="en-US" sz="3200">
                <a:latin typeface="Helvetica Neue Light"/>
              </a:endParaRPr>
            </a:p>
          </p:txBody>
        </p:sp>
        <p:sp>
          <p:nvSpPr>
            <p:cNvPr id="25" name="Text 22">
              <a:extLst>
                <a:ext uri="{FF2B5EF4-FFF2-40B4-BE49-F238E27FC236}">
                  <a16:creationId xmlns:a16="http://schemas.microsoft.com/office/drawing/2014/main" id="{136ECB20-A19B-7EDB-3867-3E5445954D46}"/>
                </a:ext>
              </a:extLst>
            </p:cNvPr>
            <p:cNvSpPr/>
            <p:nvPr/>
          </p:nvSpPr>
          <p:spPr>
            <a:xfrm>
              <a:off x="6583680" y="3479136"/>
              <a:ext cx="2286000" cy="228600"/>
            </a:xfrm>
            <a:prstGeom prst="rect">
              <a:avLst/>
            </a:prstGeom>
            <a:noFill/>
            <a:ln/>
          </p:spPr>
          <p:txBody>
            <a:bodyPr wrap="square" rtlCol="0" anchor="ctr"/>
            <a:lstStyle/>
            <a:p>
              <a:pPr marL="0" indent="0">
                <a:buNone/>
              </a:pPr>
              <a:r>
                <a:rPr lang="en-US" b="1" dirty="0">
                  <a:solidFill>
                    <a:srgbClr val="065A82"/>
                  </a:solidFill>
                  <a:latin typeface="Helvetica Neue Light"/>
                  <a:ea typeface="Calibri" pitchFamily="34" charset="-122"/>
                  <a:cs typeface="Calibri" pitchFamily="34" charset="-120"/>
                </a:rPr>
                <a:t>User Education</a:t>
              </a:r>
              <a:endParaRPr lang="en-US" dirty="0">
                <a:latin typeface="Helvetica Neue Light"/>
              </a:endParaRPr>
            </a:p>
          </p:txBody>
        </p:sp>
        <p:sp>
          <p:nvSpPr>
            <p:cNvPr id="26" name="Text 23">
              <a:extLst>
                <a:ext uri="{FF2B5EF4-FFF2-40B4-BE49-F238E27FC236}">
                  <a16:creationId xmlns:a16="http://schemas.microsoft.com/office/drawing/2014/main" id="{0A836D01-C627-EB2A-96B5-6AE6B8FD09AD}"/>
                </a:ext>
              </a:extLst>
            </p:cNvPr>
            <p:cNvSpPr/>
            <p:nvPr/>
          </p:nvSpPr>
          <p:spPr>
            <a:xfrm>
              <a:off x="6537960" y="3794760"/>
              <a:ext cx="2286000" cy="228600"/>
            </a:xfrm>
            <a:prstGeom prst="rect">
              <a:avLst/>
            </a:prstGeom>
            <a:noFill/>
            <a:ln/>
          </p:spPr>
          <p:txBody>
            <a:bodyPr wrap="square" rtlCol="0" anchor="ctr"/>
            <a:lstStyle/>
            <a:p>
              <a:pPr marL="0" indent="0">
                <a:buNone/>
              </a:pPr>
              <a:r>
                <a:rPr lang="en-US" sz="1600" dirty="0">
                  <a:solidFill>
                    <a:srgbClr val="2D3436"/>
                  </a:solidFill>
                  <a:latin typeface="Helvetica Neue Light"/>
                  <a:ea typeface="Calibri" pitchFamily="34" charset="-122"/>
                  <a:cs typeface="Calibri" pitchFamily="34" charset="-120"/>
                </a:rPr>
                <a:t>Teach verification habits</a:t>
              </a:r>
              <a:endParaRPr lang="en-US" sz="1600" dirty="0">
                <a:latin typeface="Helvetica Neue Light"/>
              </a:endParaRPr>
            </a:p>
          </p:txBody>
        </p:sp>
      </p:grpSp>
      <p:pic>
        <p:nvPicPr>
          <p:cNvPr id="27" name="Picture 3" descr="How Vertex AI grounding helps build more reliable models | Google Cloud Blog">
            <a:extLst>
              <a:ext uri="{FF2B5EF4-FFF2-40B4-BE49-F238E27FC236}">
                <a16:creationId xmlns:a16="http://schemas.microsoft.com/office/drawing/2014/main" id="{E8280774-0DF1-9D4E-6B58-3AB77059E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 y="2199662"/>
            <a:ext cx="7213617" cy="453981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DD63B17A-8E81-B7EA-1C24-7E182E8F1924}"/>
              </a:ext>
            </a:extLst>
          </p:cNvPr>
          <p:cNvSpPr txBox="1"/>
          <p:nvPr/>
        </p:nvSpPr>
        <p:spPr>
          <a:xfrm>
            <a:off x="6755721" y="6713955"/>
            <a:ext cx="2358259" cy="215444"/>
          </a:xfrm>
          <a:prstGeom prst="rect">
            <a:avLst/>
          </a:prstGeom>
          <a:noFill/>
        </p:spPr>
        <p:txBody>
          <a:bodyPr wrap="square">
            <a:spAutoFit/>
          </a:bodyPr>
          <a:lstStyle/>
          <a:p>
            <a:r>
              <a:rPr lang="en-US" sz="800" dirty="0">
                <a:solidFill>
                  <a:schemeClr val="bg2">
                    <a:lumMod val="75000"/>
                  </a:schemeClr>
                </a:solidFill>
              </a:rPr>
              <a:t>https://share.google/images/VvgHSCuNUxXNRg86e</a:t>
            </a:r>
          </a:p>
        </p:txBody>
      </p:sp>
    </p:spTree>
    <p:extLst>
      <p:ext uri="{BB962C8B-B14F-4D97-AF65-F5344CB8AC3E}">
        <p14:creationId xmlns:p14="http://schemas.microsoft.com/office/powerpoint/2010/main" val="427221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66BAA-44C8-51C0-404A-778527FF827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8530178-A992-0433-5EEE-ECF5EDA1BADF}"/>
              </a:ext>
            </a:extLst>
          </p:cNvPr>
          <p:cNvSpPr>
            <a:spLocks noGrp="1"/>
          </p:cNvSpPr>
          <p:nvPr>
            <p:ph type="title"/>
          </p:nvPr>
        </p:nvSpPr>
        <p:spPr>
          <a:xfrm>
            <a:off x="623888" y="3471536"/>
            <a:ext cx="8242710" cy="1090940"/>
          </a:xfrm>
        </p:spPr>
        <p:txBody>
          <a:bodyPr/>
          <a:lstStyle/>
          <a:p>
            <a:r>
              <a:rPr lang="en-US" sz="3200" i="1" dirty="0"/>
              <a:t>Part 20</a:t>
            </a:r>
            <a:br>
              <a:rPr lang="en-US" sz="4000" dirty="0"/>
            </a:br>
            <a:r>
              <a:rPr lang="en-US" sz="4000" dirty="0"/>
              <a:t>	Mixture‑of‑Experts (</a:t>
            </a:r>
            <a:r>
              <a:rPr lang="en-US" sz="4000" dirty="0" err="1"/>
              <a:t>MoE</a:t>
            </a:r>
            <a:r>
              <a:rPr lang="en-US" sz="4000" dirty="0"/>
              <a:t>) in AI</a:t>
            </a:r>
          </a:p>
        </p:txBody>
      </p:sp>
      <p:sp>
        <p:nvSpPr>
          <p:cNvPr id="2" name="Text Placeholder 1">
            <a:extLst>
              <a:ext uri="{FF2B5EF4-FFF2-40B4-BE49-F238E27FC236}">
                <a16:creationId xmlns:a16="http://schemas.microsoft.com/office/drawing/2014/main" id="{F495E77A-2FCF-AA58-ED6F-EFA43D0E96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7428CD-5ED2-02F4-C9AB-41BBC098365C}"/>
              </a:ext>
            </a:extLst>
          </p:cNvPr>
          <p:cNvSpPr>
            <a:spLocks noGrp="1"/>
          </p:cNvSpPr>
          <p:nvPr>
            <p:ph type="sldNum" sz="quarter" idx="12"/>
          </p:nvPr>
        </p:nvSpPr>
        <p:spPr/>
        <p:txBody>
          <a:bodyPr/>
          <a:lstStyle/>
          <a:p>
            <a:fld id="{21EF4C0E-91FA-4D94-8941-E22F3A83D5F1}" type="slidenum">
              <a:rPr lang="en-US" smtClean="0"/>
              <a:t>102</a:t>
            </a:fld>
            <a:endParaRPr lang="en-US"/>
          </a:p>
        </p:txBody>
      </p:sp>
    </p:spTree>
    <p:extLst>
      <p:ext uri="{BB962C8B-B14F-4D97-AF65-F5344CB8AC3E}">
        <p14:creationId xmlns:p14="http://schemas.microsoft.com/office/powerpoint/2010/main" val="24013040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C90B-29A3-8AFC-AD38-4B20F9E02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5422B-4D1C-D924-163D-3A437C600860}"/>
              </a:ext>
            </a:extLst>
          </p:cNvPr>
          <p:cNvSpPr>
            <a:spLocks noGrp="1"/>
          </p:cNvSpPr>
          <p:nvPr>
            <p:ph type="title"/>
          </p:nvPr>
        </p:nvSpPr>
        <p:spPr>
          <a:xfrm>
            <a:off x="457200" y="365126"/>
            <a:ext cx="8593930" cy="592213"/>
          </a:xfrm>
        </p:spPr>
        <p:txBody>
          <a:bodyPr/>
          <a:lstStyle/>
          <a:p>
            <a:r>
              <a:rPr lang="en-US" dirty="0"/>
              <a:t>Mixture‑of‑Experts (</a:t>
            </a:r>
            <a:r>
              <a:rPr lang="en-US" dirty="0" err="1"/>
              <a:t>MoE</a:t>
            </a:r>
            <a:r>
              <a:rPr lang="en-US" dirty="0"/>
              <a:t>) (0:56)</a:t>
            </a:r>
          </a:p>
        </p:txBody>
      </p:sp>
      <p:sp>
        <p:nvSpPr>
          <p:cNvPr id="5" name="Slide Number Placeholder 4">
            <a:extLst>
              <a:ext uri="{FF2B5EF4-FFF2-40B4-BE49-F238E27FC236}">
                <a16:creationId xmlns:a16="http://schemas.microsoft.com/office/drawing/2014/main" id="{D81404E7-A3B7-E371-BA6D-2C2BFE78205C}"/>
              </a:ext>
            </a:extLst>
          </p:cNvPr>
          <p:cNvSpPr>
            <a:spLocks noGrp="1"/>
          </p:cNvSpPr>
          <p:nvPr>
            <p:ph type="sldNum" sz="quarter" idx="12"/>
          </p:nvPr>
        </p:nvSpPr>
        <p:spPr/>
        <p:txBody>
          <a:bodyPr/>
          <a:lstStyle/>
          <a:p>
            <a:fld id="{21EF4C0E-91FA-4D94-8941-E22F3A83D5F1}" type="slidenum">
              <a:rPr lang="en-US" smtClean="0"/>
              <a:t>103</a:t>
            </a:fld>
            <a:endParaRPr lang="en-US"/>
          </a:p>
        </p:txBody>
      </p:sp>
      <p:pic>
        <p:nvPicPr>
          <p:cNvPr id="3" name="Online Media 2" title="Mixture of Experts Explained in 1 minute">
            <a:hlinkClick r:id="" action="ppaction://media"/>
            <a:extLst>
              <a:ext uri="{FF2B5EF4-FFF2-40B4-BE49-F238E27FC236}">
                <a16:creationId xmlns:a16="http://schemas.microsoft.com/office/drawing/2014/main" id="{F49EDBE8-A6AF-9748-25AD-298F448FE3BF}"/>
              </a:ext>
            </a:extLst>
          </p:cNvPr>
          <p:cNvPicPr>
            <a:picLocks noRot="1" noChangeAspect="1"/>
          </p:cNvPicPr>
          <p:nvPr>
            <a:videoFile r:link="rId1"/>
          </p:nvPr>
        </p:nvPicPr>
        <p:blipFill>
          <a:blip r:embed="rId3"/>
          <a:stretch>
            <a:fillRect/>
          </a:stretch>
        </p:blipFill>
        <p:spPr>
          <a:xfrm>
            <a:off x="457200" y="1407560"/>
            <a:ext cx="8462576" cy="4777829"/>
          </a:xfrm>
          <a:prstGeom prst="rect">
            <a:avLst/>
          </a:prstGeom>
        </p:spPr>
      </p:pic>
      <p:sp>
        <p:nvSpPr>
          <p:cNvPr id="7" name="TextBox 6">
            <a:extLst>
              <a:ext uri="{FF2B5EF4-FFF2-40B4-BE49-F238E27FC236}">
                <a16:creationId xmlns:a16="http://schemas.microsoft.com/office/drawing/2014/main" id="{9D32221C-3934-CF2F-DB40-BC2DBB7A1B41}"/>
              </a:ext>
            </a:extLst>
          </p:cNvPr>
          <p:cNvSpPr txBox="1"/>
          <p:nvPr/>
        </p:nvSpPr>
        <p:spPr>
          <a:xfrm>
            <a:off x="457200" y="6559579"/>
            <a:ext cx="4572000" cy="246221"/>
          </a:xfrm>
          <a:prstGeom prst="rect">
            <a:avLst/>
          </a:prstGeom>
          <a:noFill/>
        </p:spPr>
        <p:txBody>
          <a:bodyPr wrap="square">
            <a:spAutoFit/>
          </a:bodyPr>
          <a:lstStyle/>
          <a:p>
            <a:r>
              <a:rPr lang="en-US" sz="1000" dirty="0">
                <a:solidFill>
                  <a:schemeClr val="tx1">
                    <a:lumMod val="50000"/>
                  </a:schemeClr>
                </a:solidFill>
              </a:rPr>
              <a:t>https://www.youtube.com/watch?v=LUaxETMekts</a:t>
            </a:r>
          </a:p>
        </p:txBody>
      </p:sp>
      <p:sp>
        <p:nvSpPr>
          <p:cNvPr id="6" name="TextBox 5">
            <a:extLst>
              <a:ext uri="{FF2B5EF4-FFF2-40B4-BE49-F238E27FC236}">
                <a16:creationId xmlns:a16="http://schemas.microsoft.com/office/drawing/2014/main" id="{82B05F80-5404-2EAA-22BB-ED726C795E74}"/>
              </a:ext>
            </a:extLst>
          </p:cNvPr>
          <p:cNvSpPr txBox="1"/>
          <p:nvPr/>
        </p:nvSpPr>
        <p:spPr>
          <a:xfrm>
            <a:off x="364733" y="1019326"/>
            <a:ext cx="6305764" cy="369332"/>
          </a:xfrm>
          <a:prstGeom prst="rect">
            <a:avLst/>
          </a:prstGeom>
          <a:noFill/>
        </p:spPr>
        <p:txBody>
          <a:bodyPr wrap="square">
            <a:spAutoFit/>
          </a:bodyPr>
          <a:lstStyle/>
          <a:p>
            <a:pPr marL="0" indent="0">
              <a:buNone/>
            </a:pPr>
            <a:r>
              <a:rPr lang="en-US" sz="1800" i="1" dirty="0">
                <a:solidFill>
                  <a:srgbClr val="E8F4F8"/>
                </a:solidFill>
                <a:latin typeface="Helvetica Neue Light"/>
                <a:ea typeface="Calibri" pitchFamily="34" charset="-122"/>
                <a:cs typeface="Calibri" pitchFamily="34" charset="-120"/>
              </a:rPr>
              <a:t>Understanding the architecture of specialized AI networks</a:t>
            </a:r>
            <a:endParaRPr lang="en-US" sz="1800" dirty="0">
              <a:latin typeface="Helvetica Neue Light"/>
            </a:endParaRPr>
          </a:p>
        </p:txBody>
      </p:sp>
    </p:spTree>
    <p:extLst>
      <p:ext uri="{BB962C8B-B14F-4D97-AF65-F5344CB8AC3E}">
        <p14:creationId xmlns:p14="http://schemas.microsoft.com/office/powerpoint/2010/main" val="331116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C90B-29A3-8AFC-AD38-4B20F9E02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5422B-4D1C-D924-163D-3A437C600860}"/>
              </a:ext>
            </a:extLst>
          </p:cNvPr>
          <p:cNvSpPr>
            <a:spLocks noGrp="1"/>
          </p:cNvSpPr>
          <p:nvPr>
            <p:ph type="title"/>
          </p:nvPr>
        </p:nvSpPr>
        <p:spPr>
          <a:xfrm>
            <a:off x="368300" y="365126"/>
            <a:ext cx="8593930" cy="647741"/>
          </a:xfrm>
        </p:spPr>
        <p:txBody>
          <a:bodyPr/>
          <a:lstStyle/>
          <a:p>
            <a:r>
              <a:rPr lang="en-US" sz="4000" dirty="0"/>
              <a:t>Mixture‑of‑Experts (</a:t>
            </a:r>
            <a:r>
              <a:rPr lang="en-US" sz="4000" dirty="0" err="1"/>
              <a:t>MoE</a:t>
            </a:r>
            <a:r>
              <a:rPr lang="en-US" sz="4000" dirty="0"/>
              <a:t>) (4:41)</a:t>
            </a:r>
          </a:p>
        </p:txBody>
      </p:sp>
      <p:sp>
        <p:nvSpPr>
          <p:cNvPr id="5" name="Slide Number Placeholder 4">
            <a:extLst>
              <a:ext uri="{FF2B5EF4-FFF2-40B4-BE49-F238E27FC236}">
                <a16:creationId xmlns:a16="http://schemas.microsoft.com/office/drawing/2014/main" id="{D81404E7-A3B7-E371-BA6D-2C2BFE78205C}"/>
              </a:ext>
            </a:extLst>
          </p:cNvPr>
          <p:cNvSpPr>
            <a:spLocks noGrp="1"/>
          </p:cNvSpPr>
          <p:nvPr>
            <p:ph type="sldNum" sz="quarter" idx="12"/>
          </p:nvPr>
        </p:nvSpPr>
        <p:spPr>
          <a:xfrm>
            <a:off x="6540500" y="521"/>
            <a:ext cx="2057400" cy="365125"/>
          </a:xfrm>
        </p:spPr>
        <p:txBody>
          <a:bodyPr/>
          <a:lstStyle/>
          <a:p>
            <a:fld id="{21EF4C0E-91FA-4D94-8941-E22F3A83D5F1}" type="slidenum">
              <a:rPr lang="en-US" smtClean="0"/>
              <a:t>104</a:t>
            </a:fld>
            <a:endParaRPr lang="en-US"/>
          </a:p>
        </p:txBody>
      </p:sp>
      <p:sp>
        <p:nvSpPr>
          <p:cNvPr id="7" name="TextBox 6">
            <a:extLst>
              <a:ext uri="{FF2B5EF4-FFF2-40B4-BE49-F238E27FC236}">
                <a16:creationId xmlns:a16="http://schemas.microsoft.com/office/drawing/2014/main" id="{9D32221C-3934-CF2F-DB40-BC2DBB7A1B41}"/>
              </a:ext>
            </a:extLst>
          </p:cNvPr>
          <p:cNvSpPr txBox="1"/>
          <p:nvPr/>
        </p:nvSpPr>
        <p:spPr>
          <a:xfrm>
            <a:off x="368300" y="6504057"/>
            <a:ext cx="4572000" cy="246221"/>
          </a:xfrm>
          <a:prstGeom prst="rect">
            <a:avLst/>
          </a:prstGeom>
          <a:noFill/>
        </p:spPr>
        <p:txBody>
          <a:bodyPr wrap="square">
            <a:spAutoFit/>
          </a:bodyPr>
          <a:lstStyle/>
          <a:p>
            <a:r>
              <a:rPr lang="en-US" sz="1000" dirty="0">
                <a:solidFill>
                  <a:schemeClr val="tx1">
                    <a:lumMod val="65000"/>
                  </a:schemeClr>
                </a:solidFill>
              </a:rPr>
              <a:t>https://www.youtube.com/watch?v=kb6eH0zCnl8</a:t>
            </a:r>
          </a:p>
        </p:txBody>
      </p:sp>
      <p:pic>
        <p:nvPicPr>
          <p:cNvPr id="4" name="Online Media 3" title="Introduction to Mixture-of-Experts | Original MoE Paper Explained">
            <a:hlinkClick r:id="" action="ppaction://media"/>
            <a:extLst>
              <a:ext uri="{FF2B5EF4-FFF2-40B4-BE49-F238E27FC236}">
                <a16:creationId xmlns:a16="http://schemas.microsoft.com/office/drawing/2014/main" id="{BB5705B0-CB36-B582-3863-50CFAE88FDA7}"/>
              </a:ext>
            </a:extLst>
          </p:cNvPr>
          <p:cNvPicPr>
            <a:picLocks noRot="1" noChangeAspect="1"/>
          </p:cNvPicPr>
          <p:nvPr>
            <a:videoFile r:link="rId1"/>
          </p:nvPr>
        </p:nvPicPr>
        <p:blipFill>
          <a:blip r:embed="rId3"/>
          <a:stretch>
            <a:fillRect/>
          </a:stretch>
        </p:blipFill>
        <p:spPr>
          <a:xfrm>
            <a:off x="368300" y="1713639"/>
            <a:ext cx="8167750" cy="4611375"/>
          </a:xfrm>
          <a:prstGeom prst="rect">
            <a:avLst/>
          </a:prstGeom>
        </p:spPr>
      </p:pic>
      <p:sp>
        <p:nvSpPr>
          <p:cNvPr id="6" name="TextBox 5">
            <a:extLst>
              <a:ext uri="{FF2B5EF4-FFF2-40B4-BE49-F238E27FC236}">
                <a16:creationId xmlns:a16="http://schemas.microsoft.com/office/drawing/2014/main" id="{1F5B7CEC-6114-BCF7-4DAB-5616CEBF7CDB}"/>
              </a:ext>
            </a:extLst>
          </p:cNvPr>
          <p:cNvSpPr txBox="1"/>
          <p:nvPr/>
        </p:nvSpPr>
        <p:spPr>
          <a:xfrm>
            <a:off x="368300" y="1165264"/>
            <a:ext cx="4572000" cy="369332"/>
          </a:xfrm>
          <a:prstGeom prst="rect">
            <a:avLst/>
          </a:prstGeom>
          <a:noFill/>
        </p:spPr>
        <p:txBody>
          <a:bodyPr wrap="square">
            <a:spAutoFit/>
          </a:bodyPr>
          <a:lstStyle/>
          <a:p>
            <a:r>
              <a:rPr lang="en-US" i="1" dirty="0">
                <a:latin typeface="Helvetica Neue Light"/>
              </a:rPr>
              <a:t>Introduction to </a:t>
            </a:r>
            <a:r>
              <a:rPr lang="en-US" i="1" dirty="0" err="1">
                <a:latin typeface="Helvetica Neue Light"/>
              </a:rPr>
              <a:t>MoE</a:t>
            </a:r>
            <a:r>
              <a:rPr lang="en-US" i="1" dirty="0">
                <a:latin typeface="Helvetica Neue Light"/>
              </a:rPr>
              <a:t> with Google</a:t>
            </a:r>
          </a:p>
        </p:txBody>
      </p:sp>
    </p:spTree>
    <p:extLst>
      <p:ext uri="{BB962C8B-B14F-4D97-AF65-F5344CB8AC3E}">
        <p14:creationId xmlns:p14="http://schemas.microsoft.com/office/powerpoint/2010/main" val="425170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D4709AD-A997-B8B8-393E-17900A10F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FBC19-2762-B693-0E89-DE63F0111FEC}"/>
              </a:ext>
            </a:extLst>
          </p:cNvPr>
          <p:cNvSpPr>
            <a:spLocks noGrp="1"/>
          </p:cNvSpPr>
          <p:nvPr>
            <p:ph type="title"/>
          </p:nvPr>
        </p:nvSpPr>
        <p:spPr>
          <a:xfrm>
            <a:off x="457200" y="365126"/>
            <a:ext cx="8686800" cy="592213"/>
          </a:xfrm>
        </p:spPr>
        <p:txBody>
          <a:bodyPr/>
          <a:lstStyle/>
          <a:p>
            <a:r>
              <a:rPr lang="en-US" dirty="0"/>
              <a:t>Key Concepts</a:t>
            </a:r>
          </a:p>
        </p:txBody>
      </p:sp>
      <p:sp>
        <p:nvSpPr>
          <p:cNvPr id="5" name="Slide Number Placeholder 4">
            <a:extLst>
              <a:ext uri="{FF2B5EF4-FFF2-40B4-BE49-F238E27FC236}">
                <a16:creationId xmlns:a16="http://schemas.microsoft.com/office/drawing/2014/main" id="{71449BDE-6AFB-8029-00C1-93569B9502A4}"/>
              </a:ext>
            </a:extLst>
          </p:cNvPr>
          <p:cNvSpPr>
            <a:spLocks noGrp="1"/>
          </p:cNvSpPr>
          <p:nvPr>
            <p:ph type="sldNum" sz="quarter" idx="12"/>
          </p:nvPr>
        </p:nvSpPr>
        <p:spPr/>
        <p:txBody>
          <a:bodyPr/>
          <a:lstStyle/>
          <a:p>
            <a:fld id="{21EF4C0E-91FA-4D94-8941-E22F3A83D5F1}" type="slidenum">
              <a:rPr lang="en-US" smtClean="0"/>
              <a:t>105</a:t>
            </a:fld>
            <a:endParaRPr lang="en-US"/>
          </a:p>
        </p:txBody>
      </p:sp>
      <p:grpSp>
        <p:nvGrpSpPr>
          <p:cNvPr id="3" name="Group 2">
            <a:extLst>
              <a:ext uri="{FF2B5EF4-FFF2-40B4-BE49-F238E27FC236}">
                <a16:creationId xmlns:a16="http://schemas.microsoft.com/office/drawing/2014/main" id="{C52DFBF9-32C4-7357-7B7F-01E07A239073}"/>
              </a:ext>
            </a:extLst>
          </p:cNvPr>
          <p:cNvGrpSpPr/>
          <p:nvPr/>
        </p:nvGrpSpPr>
        <p:grpSpPr>
          <a:xfrm>
            <a:off x="411988" y="1234440"/>
            <a:ext cx="8732012" cy="4342773"/>
            <a:chOff x="414368" y="1234440"/>
            <a:chExt cx="8272432" cy="2341039"/>
          </a:xfrm>
        </p:grpSpPr>
        <p:sp>
          <p:nvSpPr>
            <p:cNvPr id="4" name="Shape 3">
              <a:extLst>
                <a:ext uri="{FF2B5EF4-FFF2-40B4-BE49-F238E27FC236}">
                  <a16:creationId xmlns:a16="http://schemas.microsoft.com/office/drawing/2014/main" id="{3FFEF2AA-2265-4361-106A-2CD49932D442}"/>
                </a:ext>
              </a:extLst>
            </p:cNvPr>
            <p:cNvSpPr/>
            <p:nvPr/>
          </p:nvSpPr>
          <p:spPr>
            <a:xfrm>
              <a:off x="457200" y="12344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6" name="Shape 4">
              <a:extLst>
                <a:ext uri="{FF2B5EF4-FFF2-40B4-BE49-F238E27FC236}">
                  <a16:creationId xmlns:a16="http://schemas.microsoft.com/office/drawing/2014/main" id="{C3A27E63-98E6-3BA2-1F14-8591A9767EEF}"/>
                </a:ext>
              </a:extLst>
            </p:cNvPr>
            <p:cNvSpPr/>
            <p:nvPr/>
          </p:nvSpPr>
          <p:spPr>
            <a:xfrm>
              <a:off x="457200" y="1234440"/>
              <a:ext cx="54864" cy="777240"/>
            </a:xfrm>
            <a:prstGeom prst="rect">
              <a:avLst/>
            </a:prstGeom>
            <a:solidFill>
              <a:srgbClr val="E07A5F"/>
            </a:solidFill>
            <a:ln/>
          </p:spPr>
          <p:txBody>
            <a:bodyPr/>
            <a:lstStyle/>
            <a:p>
              <a:endParaRPr lang="en-US" sz="3200">
                <a:latin typeface="Helvetica Neue Light"/>
              </a:endParaRPr>
            </a:p>
          </p:txBody>
        </p:sp>
        <p:sp>
          <p:nvSpPr>
            <p:cNvPr id="7" name="Text 5">
              <a:extLst>
                <a:ext uri="{FF2B5EF4-FFF2-40B4-BE49-F238E27FC236}">
                  <a16:creationId xmlns:a16="http://schemas.microsoft.com/office/drawing/2014/main" id="{024BBA18-C463-3D22-3A35-871314683140}"/>
                </a:ext>
              </a:extLst>
            </p:cNvPr>
            <p:cNvSpPr/>
            <p:nvPr/>
          </p:nvSpPr>
          <p:spPr>
            <a:xfrm>
              <a:off x="685800" y="1259424"/>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Purpose:</a:t>
              </a:r>
              <a:endParaRPr lang="en-US" sz="2000" dirty="0">
                <a:latin typeface="Helvetica Neue Light"/>
              </a:endParaRPr>
            </a:p>
          </p:txBody>
        </p:sp>
        <p:sp>
          <p:nvSpPr>
            <p:cNvPr id="8" name="Text 6">
              <a:extLst>
                <a:ext uri="{FF2B5EF4-FFF2-40B4-BE49-F238E27FC236}">
                  <a16:creationId xmlns:a16="http://schemas.microsoft.com/office/drawing/2014/main" id="{3FD43F77-B35F-E7AB-0729-B729F8F17033}"/>
                </a:ext>
              </a:extLst>
            </p:cNvPr>
            <p:cNvSpPr/>
            <p:nvPr/>
          </p:nvSpPr>
          <p:spPr>
            <a:xfrm>
              <a:off x="685800" y="1554480"/>
              <a:ext cx="777240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Efficiently scale AI models by using multiple specialized "expert" networks instead of one giant network — like having a team of specialists instead of one generalist.</a:t>
              </a:r>
              <a:endParaRPr lang="en-US" dirty="0">
                <a:latin typeface="Helvetica Neue Light"/>
              </a:endParaRPr>
            </a:p>
          </p:txBody>
        </p:sp>
        <p:sp>
          <p:nvSpPr>
            <p:cNvPr id="9" name="Shape 7">
              <a:extLst>
                <a:ext uri="{FF2B5EF4-FFF2-40B4-BE49-F238E27FC236}">
                  <a16:creationId xmlns:a16="http://schemas.microsoft.com/office/drawing/2014/main" id="{2CD76055-AFB5-EBEC-E054-591D0771875F}"/>
                </a:ext>
              </a:extLst>
            </p:cNvPr>
            <p:cNvSpPr/>
            <p:nvPr/>
          </p:nvSpPr>
          <p:spPr>
            <a:xfrm>
              <a:off x="457200" y="2148840"/>
              <a:ext cx="8229600" cy="77724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0" name="Shape 8">
              <a:extLst>
                <a:ext uri="{FF2B5EF4-FFF2-40B4-BE49-F238E27FC236}">
                  <a16:creationId xmlns:a16="http://schemas.microsoft.com/office/drawing/2014/main" id="{9B551560-D780-0541-8418-18CC9E0D5D40}"/>
                </a:ext>
              </a:extLst>
            </p:cNvPr>
            <p:cNvSpPr/>
            <p:nvPr/>
          </p:nvSpPr>
          <p:spPr>
            <a:xfrm>
              <a:off x="457200" y="2148840"/>
              <a:ext cx="54864" cy="777240"/>
            </a:xfrm>
            <a:prstGeom prst="rect">
              <a:avLst/>
            </a:prstGeom>
            <a:solidFill>
              <a:srgbClr val="1C7293"/>
            </a:solidFill>
            <a:ln/>
          </p:spPr>
          <p:txBody>
            <a:bodyPr/>
            <a:lstStyle/>
            <a:p>
              <a:endParaRPr lang="en-US" sz="3200">
                <a:latin typeface="Helvetica Neue Light"/>
              </a:endParaRPr>
            </a:p>
          </p:txBody>
        </p:sp>
        <p:sp>
          <p:nvSpPr>
            <p:cNvPr id="11" name="Text 9">
              <a:extLst>
                <a:ext uri="{FF2B5EF4-FFF2-40B4-BE49-F238E27FC236}">
                  <a16:creationId xmlns:a16="http://schemas.microsoft.com/office/drawing/2014/main" id="{5315A996-AFDB-F7B8-9D5C-9EBC4B0D372E}"/>
                </a:ext>
              </a:extLst>
            </p:cNvPr>
            <p:cNvSpPr/>
            <p:nvPr/>
          </p:nvSpPr>
          <p:spPr>
            <a:xfrm>
              <a:off x="685800" y="2173822"/>
              <a:ext cx="77724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Workflow:</a:t>
              </a:r>
              <a:endParaRPr lang="en-US" sz="2000" dirty="0">
                <a:latin typeface="Helvetica Neue Light"/>
              </a:endParaRPr>
            </a:p>
          </p:txBody>
        </p:sp>
        <p:sp>
          <p:nvSpPr>
            <p:cNvPr id="12" name="Text 10">
              <a:extLst>
                <a:ext uri="{FF2B5EF4-FFF2-40B4-BE49-F238E27FC236}">
                  <a16:creationId xmlns:a16="http://schemas.microsoft.com/office/drawing/2014/main" id="{D7BD14A7-2F4E-78DC-F153-D63C6072CC5F}"/>
                </a:ext>
              </a:extLst>
            </p:cNvPr>
            <p:cNvSpPr/>
            <p:nvPr/>
          </p:nvSpPr>
          <p:spPr>
            <a:xfrm>
              <a:off x="685800" y="2468880"/>
              <a:ext cx="7772400" cy="36576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A gating network (router) acts like a smart dispatcher, analyzing each input and sending it to the most relevant experts (typically 1-2 out of many). Each expert is a submodel part of the LLM architecture.</a:t>
              </a:r>
              <a:endParaRPr lang="en-US" dirty="0">
                <a:latin typeface="Helvetica Neue Light"/>
              </a:endParaRPr>
            </a:p>
          </p:txBody>
        </p:sp>
        <p:sp>
          <p:nvSpPr>
            <p:cNvPr id="13" name="Text 11">
              <a:extLst>
                <a:ext uri="{FF2B5EF4-FFF2-40B4-BE49-F238E27FC236}">
                  <a16:creationId xmlns:a16="http://schemas.microsoft.com/office/drawing/2014/main" id="{B7893DBA-383A-59FE-128B-7A80548CABE9}"/>
                </a:ext>
              </a:extLst>
            </p:cNvPr>
            <p:cNvSpPr/>
            <p:nvPr/>
          </p:nvSpPr>
          <p:spPr>
            <a:xfrm>
              <a:off x="457200" y="2992538"/>
              <a:ext cx="8229600" cy="320040"/>
            </a:xfrm>
            <a:prstGeom prst="rect">
              <a:avLst/>
            </a:prstGeom>
            <a:noFill/>
            <a:ln/>
          </p:spPr>
          <p:txBody>
            <a:bodyPr wrap="square" rtlCol="0" anchor="ctr"/>
            <a:lstStyle/>
            <a:p>
              <a:pPr marL="0" indent="0">
                <a:buNone/>
              </a:pPr>
              <a:r>
                <a:rPr lang="en-US" sz="2400" b="1" dirty="0">
                  <a:solidFill>
                    <a:srgbClr val="065A82"/>
                  </a:solidFill>
                  <a:latin typeface="Helvetica Neue Light"/>
                  <a:ea typeface="Georgia" pitchFamily="34" charset="-122"/>
                  <a:cs typeface="Georgia" pitchFamily="34" charset="-120"/>
                </a:rPr>
                <a:t>Architecture:</a:t>
              </a:r>
              <a:endParaRPr lang="en-US" sz="2400" dirty="0">
                <a:latin typeface="Helvetica Neue Light"/>
              </a:endParaRPr>
            </a:p>
          </p:txBody>
        </p:sp>
        <p:sp>
          <p:nvSpPr>
            <p:cNvPr id="15" name="Text 13">
              <a:extLst>
                <a:ext uri="{FF2B5EF4-FFF2-40B4-BE49-F238E27FC236}">
                  <a16:creationId xmlns:a16="http://schemas.microsoft.com/office/drawing/2014/main" id="{2496790B-6DE5-7D54-A7A1-2FE35DDF7409}"/>
                </a:ext>
              </a:extLst>
            </p:cNvPr>
            <p:cNvSpPr/>
            <p:nvPr/>
          </p:nvSpPr>
          <p:spPr>
            <a:xfrm>
              <a:off x="414368" y="3301159"/>
              <a:ext cx="8229600" cy="274320"/>
            </a:xfrm>
            <a:prstGeom prst="rect">
              <a:avLst/>
            </a:prstGeom>
            <a:noFill/>
            <a:ln/>
          </p:spPr>
          <p:txBody>
            <a:bodyPr wrap="square" rtlCol="0" anchor="ctr"/>
            <a:lstStyle/>
            <a:p>
              <a:pPr marL="0" indent="0">
                <a:buNone/>
              </a:pPr>
              <a:r>
                <a:rPr lang="en-US" sz="1400" i="1" dirty="0">
                  <a:solidFill>
                    <a:srgbClr val="636E72"/>
                  </a:solidFill>
                  <a:latin typeface="Helvetica Neue Light"/>
                  <a:ea typeface="Calibri" pitchFamily="34" charset="-122"/>
                  <a:cs typeface="Calibri" pitchFamily="34" charset="-120"/>
                </a:rPr>
                <a:t>(Router activates only 1-2 experts per input)</a:t>
              </a:r>
              <a:endParaRPr lang="en-US" sz="1400" dirty="0">
                <a:latin typeface="Helvetica Neue Light"/>
              </a:endParaRPr>
            </a:p>
          </p:txBody>
        </p:sp>
      </p:grpSp>
      <p:pic>
        <p:nvPicPr>
          <p:cNvPr id="16" name="Picture 2">
            <a:extLst>
              <a:ext uri="{FF2B5EF4-FFF2-40B4-BE49-F238E27FC236}">
                <a16:creationId xmlns:a16="http://schemas.microsoft.com/office/drawing/2014/main" id="{F33DB754-1CBB-1522-6306-17FA690C20B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99" t="1047" r="5920"/>
          <a:stretch>
            <a:fillRect/>
          </a:stretch>
        </p:blipFill>
        <p:spPr bwMode="auto">
          <a:xfrm>
            <a:off x="3938039" y="4442770"/>
            <a:ext cx="5062123" cy="23403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794CBCB2-A2D6-A1D3-7ADF-B55C637CCFED}"/>
              </a:ext>
            </a:extLst>
          </p:cNvPr>
          <p:cNvSpPr txBox="1"/>
          <p:nvPr/>
        </p:nvSpPr>
        <p:spPr>
          <a:xfrm>
            <a:off x="4755388" y="6655050"/>
            <a:ext cx="4572000" cy="230832"/>
          </a:xfrm>
          <a:prstGeom prst="rect">
            <a:avLst/>
          </a:prstGeom>
          <a:noFill/>
        </p:spPr>
        <p:txBody>
          <a:bodyPr wrap="square">
            <a:spAutoFit/>
          </a:bodyPr>
          <a:lstStyle/>
          <a:p>
            <a:r>
              <a:rPr lang="en-US" sz="900" dirty="0">
                <a:solidFill>
                  <a:schemeClr val="bg1">
                    <a:lumMod val="65000"/>
                  </a:schemeClr>
                </a:solidFill>
              </a:rPr>
              <a:t>https://newsletter.maartengrootendorst.com/p/a-visual-guide-to-mixture-of-experts</a:t>
            </a:r>
          </a:p>
        </p:txBody>
      </p:sp>
    </p:spTree>
    <p:extLst>
      <p:ext uri="{BB962C8B-B14F-4D97-AF65-F5344CB8AC3E}">
        <p14:creationId xmlns:p14="http://schemas.microsoft.com/office/powerpoint/2010/main" val="325364530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EACF8269-6D3E-2435-0C74-1B98970CB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72568-9F46-CA69-304C-B864B4878334}"/>
              </a:ext>
            </a:extLst>
          </p:cNvPr>
          <p:cNvSpPr>
            <a:spLocks noGrp="1"/>
          </p:cNvSpPr>
          <p:nvPr>
            <p:ph type="title"/>
          </p:nvPr>
        </p:nvSpPr>
        <p:spPr>
          <a:xfrm>
            <a:off x="457200" y="365126"/>
            <a:ext cx="8229600" cy="647741"/>
          </a:xfrm>
        </p:spPr>
        <p:txBody>
          <a:bodyPr/>
          <a:lstStyle/>
          <a:p>
            <a:r>
              <a:rPr lang="en-US" sz="4000" dirty="0"/>
              <a:t>Benefits &amp; Challenges</a:t>
            </a:r>
          </a:p>
        </p:txBody>
      </p:sp>
      <p:sp>
        <p:nvSpPr>
          <p:cNvPr id="5" name="Slide Number Placeholder 4">
            <a:extLst>
              <a:ext uri="{FF2B5EF4-FFF2-40B4-BE49-F238E27FC236}">
                <a16:creationId xmlns:a16="http://schemas.microsoft.com/office/drawing/2014/main" id="{A259531A-63D9-D01F-8323-C83563C94D34}"/>
              </a:ext>
            </a:extLst>
          </p:cNvPr>
          <p:cNvSpPr>
            <a:spLocks noGrp="1"/>
          </p:cNvSpPr>
          <p:nvPr>
            <p:ph type="sldNum" sz="quarter" idx="12"/>
          </p:nvPr>
        </p:nvSpPr>
        <p:spPr/>
        <p:txBody>
          <a:bodyPr/>
          <a:lstStyle/>
          <a:p>
            <a:fld id="{21EF4C0E-91FA-4D94-8941-E22F3A83D5F1}" type="slidenum">
              <a:rPr lang="en-US" smtClean="0"/>
              <a:t>106</a:t>
            </a:fld>
            <a:endParaRPr lang="en-US"/>
          </a:p>
        </p:txBody>
      </p:sp>
      <p:sp>
        <p:nvSpPr>
          <p:cNvPr id="6" name="TextBox 5">
            <a:extLst>
              <a:ext uri="{FF2B5EF4-FFF2-40B4-BE49-F238E27FC236}">
                <a16:creationId xmlns:a16="http://schemas.microsoft.com/office/drawing/2014/main" id="{F73A4684-C522-2520-AB43-9F13B914284C}"/>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pSp>
        <p:nvGrpSpPr>
          <p:cNvPr id="3" name="Group 2">
            <a:extLst>
              <a:ext uri="{FF2B5EF4-FFF2-40B4-BE49-F238E27FC236}">
                <a16:creationId xmlns:a16="http://schemas.microsoft.com/office/drawing/2014/main" id="{CF687B73-A6DB-3FA9-864E-C7F890268443}"/>
              </a:ext>
            </a:extLst>
          </p:cNvPr>
          <p:cNvGrpSpPr/>
          <p:nvPr/>
        </p:nvGrpSpPr>
        <p:grpSpPr>
          <a:xfrm>
            <a:off x="457200" y="1234439"/>
            <a:ext cx="8584058" cy="4457443"/>
            <a:chOff x="457200" y="1234440"/>
            <a:chExt cx="8229600" cy="2743200"/>
          </a:xfrm>
        </p:grpSpPr>
        <p:sp>
          <p:nvSpPr>
            <p:cNvPr id="4" name="Shape 3">
              <a:extLst>
                <a:ext uri="{FF2B5EF4-FFF2-40B4-BE49-F238E27FC236}">
                  <a16:creationId xmlns:a16="http://schemas.microsoft.com/office/drawing/2014/main" id="{61834BFD-BF2F-3052-E50F-F4B8EB8FC5F5}"/>
                </a:ext>
              </a:extLst>
            </p:cNvPr>
            <p:cNvSpPr/>
            <p:nvPr/>
          </p:nvSpPr>
          <p:spPr>
            <a:xfrm>
              <a:off x="457200" y="1234440"/>
              <a:ext cx="4023360" cy="1280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7" name="Shape 4">
              <a:extLst>
                <a:ext uri="{FF2B5EF4-FFF2-40B4-BE49-F238E27FC236}">
                  <a16:creationId xmlns:a16="http://schemas.microsoft.com/office/drawing/2014/main" id="{DABB91A4-2C38-CC87-298F-5E7749360DD9}"/>
                </a:ext>
              </a:extLst>
            </p:cNvPr>
            <p:cNvSpPr/>
            <p:nvPr/>
          </p:nvSpPr>
          <p:spPr>
            <a:xfrm>
              <a:off x="457200" y="1234440"/>
              <a:ext cx="54864" cy="1188720"/>
            </a:xfrm>
            <a:prstGeom prst="rect">
              <a:avLst/>
            </a:prstGeom>
            <a:solidFill>
              <a:srgbClr val="1C7293"/>
            </a:solidFill>
            <a:ln/>
          </p:spPr>
          <p:txBody>
            <a:bodyPr/>
            <a:lstStyle/>
            <a:p>
              <a:endParaRPr lang="en-US" sz="3200">
                <a:latin typeface="Helvetica Neue Light"/>
              </a:endParaRPr>
            </a:p>
          </p:txBody>
        </p:sp>
        <p:sp>
          <p:nvSpPr>
            <p:cNvPr id="8" name="Text 5">
              <a:extLst>
                <a:ext uri="{FF2B5EF4-FFF2-40B4-BE49-F238E27FC236}">
                  <a16:creationId xmlns:a16="http://schemas.microsoft.com/office/drawing/2014/main" id="{BE541B65-5152-5C3E-8696-DD887781C611}"/>
                </a:ext>
              </a:extLst>
            </p:cNvPr>
            <p:cNvSpPr/>
            <p:nvPr/>
          </p:nvSpPr>
          <p:spPr>
            <a:xfrm>
              <a:off x="685800" y="1237358"/>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Key Benefits</a:t>
              </a:r>
              <a:endParaRPr lang="en-US" sz="2000" dirty="0">
                <a:latin typeface="Helvetica Neue Light"/>
              </a:endParaRPr>
            </a:p>
          </p:txBody>
        </p:sp>
        <p:sp>
          <p:nvSpPr>
            <p:cNvPr id="9" name="Text 6">
              <a:extLst>
                <a:ext uri="{FF2B5EF4-FFF2-40B4-BE49-F238E27FC236}">
                  <a16:creationId xmlns:a16="http://schemas.microsoft.com/office/drawing/2014/main" id="{4055484F-8A67-E90A-F8C0-DE9DEA320351}"/>
                </a:ext>
              </a:extLst>
            </p:cNvPr>
            <p:cNvSpPr/>
            <p:nvPr/>
          </p:nvSpPr>
          <p:spPr>
            <a:xfrm>
              <a:off x="685800" y="1557399"/>
              <a:ext cx="3794760" cy="774322"/>
            </a:xfrm>
            <a:prstGeom prst="rect">
              <a:avLst/>
            </a:prstGeom>
            <a:noFill/>
            <a:ln/>
          </p:spPr>
          <p:txBody>
            <a:bodyPr wrap="square" rtlCol="0" anchor="t"/>
            <a:lstStyle/>
            <a:p>
              <a:pPr marL="0" indent="0">
                <a:buNone/>
              </a:pPr>
              <a:r>
                <a:rPr lang="en-US" sz="1600" b="1" dirty="0">
                  <a:solidFill>
                    <a:srgbClr val="2D3436"/>
                  </a:solidFill>
                  <a:latin typeface="Helvetica Neue Light"/>
                  <a:ea typeface="Calibri" pitchFamily="34" charset="-122"/>
                  <a:cs typeface="Calibri" pitchFamily="34" charset="-120"/>
                </a:rPr>
                <a:t>Efficiency Gain: </a:t>
              </a:r>
              <a:r>
                <a:rPr lang="en-US" sz="1600" dirty="0">
                  <a:solidFill>
                    <a:srgbClr val="2D3436"/>
                  </a:solidFill>
                  <a:latin typeface="Helvetica Neue Light"/>
                  <a:ea typeface="Calibri" pitchFamily="34" charset="-122"/>
                  <a:cs typeface="Calibri" pitchFamily="34" charset="-120"/>
                </a:rPr>
                <a:t>Only a small fraction activates per input, reducing computational cost</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Specialization: </a:t>
              </a:r>
              <a:r>
                <a:rPr lang="en-US" sz="1600" dirty="0">
                  <a:solidFill>
                    <a:srgbClr val="2D3436"/>
                  </a:solidFill>
                  <a:latin typeface="Helvetica Neue Light"/>
                  <a:ea typeface="Calibri" pitchFamily="34" charset="-122"/>
                  <a:cs typeface="Calibri" pitchFamily="34" charset="-120"/>
                </a:rPr>
                <a:t>Experts naturally learn to handle different types of inputs/subtasks</a:t>
              </a:r>
              <a:endParaRPr lang="en-US" sz="1600" dirty="0">
                <a:latin typeface="Helvetica Neue Light"/>
              </a:endParaRPr>
            </a:p>
          </p:txBody>
        </p:sp>
        <p:sp>
          <p:nvSpPr>
            <p:cNvPr id="10" name="Shape 7">
              <a:extLst>
                <a:ext uri="{FF2B5EF4-FFF2-40B4-BE49-F238E27FC236}">
                  <a16:creationId xmlns:a16="http://schemas.microsoft.com/office/drawing/2014/main" id="{BF0CFB67-3A86-889C-D443-2E76C3B454C7}"/>
                </a:ext>
              </a:extLst>
            </p:cNvPr>
            <p:cNvSpPr/>
            <p:nvPr/>
          </p:nvSpPr>
          <p:spPr>
            <a:xfrm>
              <a:off x="4663440" y="1234440"/>
              <a:ext cx="4023360" cy="128016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1" name="Shape 8">
              <a:extLst>
                <a:ext uri="{FF2B5EF4-FFF2-40B4-BE49-F238E27FC236}">
                  <a16:creationId xmlns:a16="http://schemas.microsoft.com/office/drawing/2014/main" id="{232B2F71-0ABA-45EA-3563-1BF7F2542028}"/>
                </a:ext>
              </a:extLst>
            </p:cNvPr>
            <p:cNvSpPr/>
            <p:nvPr/>
          </p:nvSpPr>
          <p:spPr>
            <a:xfrm>
              <a:off x="4663440" y="1234440"/>
              <a:ext cx="54864" cy="1188720"/>
            </a:xfrm>
            <a:prstGeom prst="rect">
              <a:avLst/>
            </a:prstGeom>
            <a:solidFill>
              <a:srgbClr val="E07A5F"/>
            </a:solidFill>
            <a:ln/>
          </p:spPr>
          <p:txBody>
            <a:bodyPr/>
            <a:lstStyle/>
            <a:p>
              <a:endParaRPr lang="en-US" sz="3200">
                <a:latin typeface="Helvetica Neue Light"/>
              </a:endParaRPr>
            </a:p>
          </p:txBody>
        </p:sp>
        <p:sp>
          <p:nvSpPr>
            <p:cNvPr id="12" name="Text 9">
              <a:extLst>
                <a:ext uri="{FF2B5EF4-FFF2-40B4-BE49-F238E27FC236}">
                  <a16:creationId xmlns:a16="http://schemas.microsoft.com/office/drawing/2014/main" id="{99001076-7170-0CA3-FE57-9FAD063F3D42}"/>
                </a:ext>
              </a:extLst>
            </p:cNvPr>
            <p:cNvSpPr/>
            <p:nvPr/>
          </p:nvSpPr>
          <p:spPr>
            <a:xfrm>
              <a:off x="4892040" y="1237358"/>
              <a:ext cx="3657600" cy="228600"/>
            </a:xfrm>
            <a:prstGeom prst="rect">
              <a:avLst/>
            </a:prstGeom>
            <a:noFill/>
            <a:ln/>
          </p:spPr>
          <p:txBody>
            <a:bodyPr wrap="square" rtlCol="0" anchor="ctr"/>
            <a:lstStyle/>
            <a:p>
              <a:pPr marL="0" indent="0">
                <a:buNone/>
              </a:pPr>
              <a:r>
                <a:rPr lang="en-US" sz="2000" b="1" dirty="0">
                  <a:solidFill>
                    <a:srgbClr val="065A82"/>
                  </a:solidFill>
                  <a:latin typeface="Helvetica Neue Light"/>
                  <a:ea typeface="Calibri" pitchFamily="34" charset="-122"/>
                  <a:cs typeface="Calibri" pitchFamily="34" charset="-120"/>
                </a:rPr>
                <a:t>Key Challenges</a:t>
              </a:r>
              <a:endParaRPr lang="en-US" sz="2000" dirty="0">
                <a:latin typeface="Helvetica Neue Light"/>
              </a:endParaRPr>
            </a:p>
          </p:txBody>
        </p:sp>
        <p:sp>
          <p:nvSpPr>
            <p:cNvPr id="13" name="Text 10">
              <a:extLst>
                <a:ext uri="{FF2B5EF4-FFF2-40B4-BE49-F238E27FC236}">
                  <a16:creationId xmlns:a16="http://schemas.microsoft.com/office/drawing/2014/main" id="{77316380-AAA3-4E00-9BC9-1CD44813ABA5}"/>
                </a:ext>
              </a:extLst>
            </p:cNvPr>
            <p:cNvSpPr/>
            <p:nvPr/>
          </p:nvSpPr>
          <p:spPr>
            <a:xfrm>
              <a:off x="4892040" y="1557399"/>
              <a:ext cx="3794760" cy="774322"/>
            </a:xfrm>
            <a:prstGeom prst="rect">
              <a:avLst/>
            </a:prstGeom>
            <a:noFill/>
            <a:ln/>
          </p:spPr>
          <p:txBody>
            <a:bodyPr wrap="square" rtlCol="0" anchor="t"/>
            <a:lstStyle/>
            <a:p>
              <a:pPr marL="0" indent="0">
                <a:buNone/>
              </a:pPr>
              <a:r>
                <a:rPr lang="en-US" sz="1600" b="1" dirty="0">
                  <a:solidFill>
                    <a:srgbClr val="2D3436"/>
                  </a:solidFill>
                  <a:latin typeface="Helvetica Neue Light"/>
                  <a:ea typeface="Calibri" pitchFamily="34" charset="-122"/>
                  <a:cs typeface="Calibri" pitchFamily="34" charset="-120"/>
                </a:rPr>
                <a:t>Load Balancing: </a:t>
              </a:r>
              <a:r>
                <a:rPr lang="en-US" sz="1600" dirty="0">
                  <a:solidFill>
                    <a:srgbClr val="2D3436"/>
                  </a:solidFill>
                  <a:latin typeface="Helvetica Neue Light"/>
                  <a:ea typeface="Calibri" pitchFamily="34" charset="-122"/>
                  <a:cs typeface="Calibri" pitchFamily="34" charset="-120"/>
                </a:rPr>
                <a:t>Ensuring all experts are used to prevent underutilization</a:t>
              </a:r>
              <a:endParaRPr lang="en-US" sz="1600" dirty="0">
                <a:latin typeface="Helvetica Neue Light"/>
              </a:endParaRPr>
            </a:p>
            <a:p>
              <a:pPr marL="0" indent="0">
                <a:buNone/>
              </a:pPr>
              <a:endParaRPr lang="en-US" sz="1600" b="1" dirty="0">
                <a:solidFill>
                  <a:srgbClr val="2D3436"/>
                </a:solidFill>
                <a:latin typeface="Helvetica Neue Light"/>
                <a:ea typeface="Calibri" pitchFamily="34" charset="-122"/>
                <a:cs typeface="Calibri" pitchFamily="34" charset="-120"/>
              </a:endParaRPr>
            </a:p>
            <a:p>
              <a:pPr marL="0" indent="0">
                <a:buNone/>
              </a:pPr>
              <a:r>
                <a:rPr lang="en-US" sz="1600" b="1" dirty="0">
                  <a:solidFill>
                    <a:srgbClr val="2D3436"/>
                  </a:solidFill>
                  <a:latin typeface="Helvetica Neue Light"/>
                  <a:ea typeface="Calibri" pitchFamily="34" charset="-122"/>
                  <a:cs typeface="Calibri" pitchFamily="34" charset="-120"/>
                </a:rPr>
                <a:t>Training Stability: </a:t>
              </a:r>
              <a:r>
                <a:rPr lang="en-US" sz="1600" dirty="0">
                  <a:solidFill>
                    <a:srgbClr val="2D3436"/>
                  </a:solidFill>
                  <a:latin typeface="Helvetica Neue Light"/>
                  <a:ea typeface="Calibri" pitchFamily="34" charset="-122"/>
                  <a:cs typeface="Calibri" pitchFamily="34" charset="-120"/>
                </a:rPr>
                <a:t>Coordinating gating network and experts requires careful tuning</a:t>
              </a:r>
              <a:endParaRPr lang="en-US" sz="1600" dirty="0">
                <a:latin typeface="Helvetica Neue Light"/>
              </a:endParaRPr>
            </a:p>
          </p:txBody>
        </p:sp>
        <p:sp>
          <p:nvSpPr>
            <p:cNvPr id="14" name="Shape 11">
              <a:extLst>
                <a:ext uri="{FF2B5EF4-FFF2-40B4-BE49-F238E27FC236}">
                  <a16:creationId xmlns:a16="http://schemas.microsoft.com/office/drawing/2014/main" id="{8937F123-24FA-501B-313D-A745C8ED1CE5}"/>
                </a:ext>
              </a:extLst>
            </p:cNvPr>
            <p:cNvSpPr/>
            <p:nvPr/>
          </p:nvSpPr>
          <p:spPr>
            <a:xfrm>
              <a:off x="457200" y="2606040"/>
              <a:ext cx="8229600" cy="685800"/>
            </a:xfrm>
            <a:prstGeom prst="rect">
              <a:avLst/>
            </a:prstGeom>
            <a:solidFill>
              <a:srgbClr val="FFFFFF"/>
            </a:solidFill>
            <a:ln/>
            <a:effectLst>
              <a:outerShdw blurRad="38100" dist="25400" dir="2700000" algn="bl" rotWithShape="0">
                <a:srgbClr val="000000">
                  <a:alpha val="15000"/>
                </a:srgbClr>
              </a:outerShdw>
            </a:effectLst>
          </p:spPr>
          <p:txBody>
            <a:bodyPr/>
            <a:lstStyle/>
            <a:p>
              <a:endParaRPr lang="en-US" sz="3200">
                <a:latin typeface="Helvetica Neue Light"/>
              </a:endParaRPr>
            </a:p>
          </p:txBody>
        </p:sp>
        <p:sp>
          <p:nvSpPr>
            <p:cNvPr id="15" name="Shape 12">
              <a:extLst>
                <a:ext uri="{FF2B5EF4-FFF2-40B4-BE49-F238E27FC236}">
                  <a16:creationId xmlns:a16="http://schemas.microsoft.com/office/drawing/2014/main" id="{2547DFF8-08E8-1787-8F6D-83CF9BE57D09}"/>
                </a:ext>
              </a:extLst>
            </p:cNvPr>
            <p:cNvSpPr/>
            <p:nvPr/>
          </p:nvSpPr>
          <p:spPr>
            <a:xfrm>
              <a:off x="457200" y="2606040"/>
              <a:ext cx="54864" cy="685800"/>
            </a:xfrm>
            <a:prstGeom prst="rect">
              <a:avLst/>
            </a:prstGeom>
            <a:solidFill>
              <a:srgbClr val="84B59F"/>
            </a:solidFill>
            <a:ln/>
          </p:spPr>
          <p:txBody>
            <a:bodyPr/>
            <a:lstStyle/>
            <a:p>
              <a:endParaRPr lang="en-US" sz="3200">
                <a:latin typeface="Helvetica Neue Light"/>
              </a:endParaRPr>
            </a:p>
          </p:txBody>
        </p:sp>
        <p:sp>
          <p:nvSpPr>
            <p:cNvPr id="16" name="Text 13">
              <a:extLst>
                <a:ext uri="{FF2B5EF4-FFF2-40B4-BE49-F238E27FC236}">
                  <a16:creationId xmlns:a16="http://schemas.microsoft.com/office/drawing/2014/main" id="{DA9C3442-C6AB-3382-C6ED-B84C5138343C}"/>
                </a:ext>
              </a:extLst>
            </p:cNvPr>
            <p:cNvSpPr/>
            <p:nvPr/>
          </p:nvSpPr>
          <p:spPr>
            <a:xfrm>
              <a:off x="685800" y="2743200"/>
              <a:ext cx="7772400" cy="457200"/>
            </a:xfrm>
            <a:prstGeom prst="rect">
              <a:avLst/>
            </a:prstGeom>
            <a:noFill/>
            <a:ln/>
          </p:spPr>
          <p:txBody>
            <a:bodyPr wrap="square" rtlCol="0" anchor="ctr"/>
            <a:lstStyle/>
            <a:p>
              <a:pPr marL="0" indent="0">
                <a:buNone/>
              </a:pPr>
              <a:r>
                <a:rPr lang="en-US" dirty="0">
                  <a:solidFill>
                    <a:srgbClr val="2D3436"/>
                  </a:solidFill>
                  <a:latin typeface="Helvetica Neue Light"/>
                  <a:ea typeface="Calibri" pitchFamily="34" charset="-122"/>
                  <a:cs typeface="Calibri" pitchFamily="34" charset="-120"/>
                </a:rPr>
                <a:t>M</a:t>
              </a:r>
              <a:r>
                <a:rPr lang="en-US" b="1" dirty="0">
                  <a:solidFill>
                    <a:srgbClr val="2D3436"/>
                  </a:solidFill>
                  <a:latin typeface="Helvetica Neue Light"/>
                  <a:ea typeface="Calibri" pitchFamily="34" charset="-122"/>
                  <a:cs typeface="Calibri" pitchFamily="34" charset="-120"/>
                </a:rPr>
                <a:t>emory Overhead: </a:t>
              </a:r>
              <a:r>
                <a:rPr lang="en-US" dirty="0">
                  <a:solidFill>
                    <a:srgbClr val="2D3436"/>
                  </a:solidFill>
                  <a:latin typeface="Helvetica Neue Light"/>
                  <a:ea typeface="Calibri" pitchFamily="34" charset="-122"/>
                  <a:cs typeface="Calibri" pitchFamily="34" charset="-120"/>
                </a:rPr>
                <a:t>All experts must be loaded into memory even though only a few are used per input — trading compute efficiency for memory requirements.</a:t>
              </a:r>
              <a:endParaRPr lang="en-US" dirty="0">
                <a:latin typeface="Helvetica Neue Light"/>
              </a:endParaRPr>
            </a:p>
          </p:txBody>
        </p:sp>
        <p:sp>
          <p:nvSpPr>
            <p:cNvPr id="17" name="Shape 14">
              <a:extLst>
                <a:ext uri="{FF2B5EF4-FFF2-40B4-BE49-F238E27FC236}">
                  <a16:creationId xmlns:a16="http://schemas.microsoft.com/office/drawing/2014/main" id="{6C9551A7-010C-9C97-657C-D194BDE82EF9}"/>
                </a:ext>
              </a:extLst>
            </p:cNvPr>
            <p:cNvSpPr/>
            <p:nvPr/>
          </p:nvSpPr>
          <p:spPr>
            <a:xfrm>
              <a:off x="457200" y="3474720"/>
              <a:ext cx="8229600" cy="502920"/>
            </a:xfrm>
            <a:prstGeom prst="rect">
              <a:avLst/>
            </a:prstGeom>
            <a:solidFill>
              <a:srgbClr val="21295C"/>
            </a:solidFill>
            <a:ln/>
          </p:spPr>
          <p:txBody>
            <a:bodyPr/>
            <a:lstStyle/>
            <a:p>
              <a:endParaRPr lang="en-US" sz="3200">
                <a:latin typeface="Helvetica Neue Light"/>
              </a:endParaRPr>
            </a:p>
          </p:txBody>
        </p:sp>
        <p:sp>
          <p:nvSpPr>
            <p:cNvPr id="18" name="Text 15">
              <a:extLst>
                <a:ext uri="{FF2B5EF4-FFF2-40B4-BE49-F238E27FC236}">
                  <a16:creationId xmlns:a16="http://schemas.microsoft.com/office/drawing/2014/main" id="{F01AC9C3-8F95-C29F-2425-030552A94BBE}"/>
                </a:ext>
              </a:extLst>
            </p:cNvPr>
            <p:cNvSpPr/>
            <p:nvPr/>
          </p:nvSpPr>
          <p:spPr>
            <a:xfrm>
              <a:off x="594360" y="3566160"/>
              <a:ext cx="7955280" cy="320040"/>
            </a:xfrm>
            <a:prstGeom prst="rect">
              <a:avLst/>
            </a:prstGeom>
            <a:noFill/>
            <a:ln/>
          </p:spPr>
          <p:txBody>
            <a:bodyPr wrap="square" rtlCol="0" anchor="ctr"/>
            <a:lstStyle/>
            <a:p>
              <a:pPr marL="0" indent="0" algn="ctr">
                <a:buNone/>
              </a:pPr>
              <a:r>
                <a:rPr lang="en-US" b="1" dirty="0">
                  <a:solidFill>
                    <a:srgbClr val="FFFFFF"/>
                  </a:solidFill>
                  <a:latin typeface="Helvetica Neue Light"/>
                  <a:ea typeface="Calibri" pitchFamily="34" charset="-122"/>
                  <a:cs typeface="Calibri" pitchFamily="34" charset="-120"/>
                </a:rPr>
                <a:t>Bottom Line: </a:t>
              </a:r>
              <a:r>
                <a:rPr lang="en-US" dirty="0">
                  <a:solidFill>
                    <a:srgbClr val="FFFFFF"/>
                  </a:solidFill>
                  <a:latin typeface="Helvetica Neue Light"/>
                  <a:ea typeface="Calibri" pitchFamily="34" charset="-122"/>
                  <a:cs typeface="Calibri" pitchFamily="34" charset="-120"/>
                </a:rPr>
                <a:t>MoE enables massive scaling with efficient inference, but requires sophisticated training techniques to ensure all experts contribute meaningfully</a:t>
              </a:r>
              <a:endParaRPr lang="en-US" dirty="0">
                <a:latin typeface="Helvetica Neue Light"/>
              </a:endParaRPr>
            </a:p>
          </p:txBody>
        </p:sp>
      </p:grpSp>
    </p:spTree>
    <p:extLst>
      <p:ext uri="{BB962C8B-B14F-4D97-AF65-F5344CB8AC3E}">
        <p14:creationId xmlns:p14="http://schemas.microsoft.com/office/powerpoint/2010/main" val="32325167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F732C-626E-FFB5-BA15-6EE6EA07F0C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B05220D-F45B-B6C4-9063-75A04709FA97}"/>
              </a:ext>
            </a:extLst>
          </p:cNvPr>
          <p:cNvSpPr>
            <a:spLocks noGrp="1"/>
          </p:cNvSpPr>
          <p:nvPr>
            <p:ph type="title"/>
          </p:nvPr>
        </p:nvSpPr>
        <p:spPr>
          <a:xfrm>
            <a:off x="623888" y="3471536"/>
            <a:ext cx="8242710" cy="1090940"/>
          </a:xfrm>
        </p:spPr>
        <p:txBody>
          <a:bodyPr/>
          <a:lstStyle/>
          <a:p>
            <a:r>
              <a:rPr lang="en-US" sz="3200" i="1" dirty="0"/>
              <a:t>Part 21</a:t>
            </a:r>
            <a:br>
              <a:rPr lang="en-US" sz="4000" dirty="0"/>
            </a:br>
            <a:r>
              <a:rPr lang="en-US" sz="4000" dirty="0"/>
              <a:t>	Emergent Capabilities in AI</a:t>
            </a:r>
          </a:p>
        </p:txBody>
      </p:sp>
      <p:sp>
        <p:nvSpPr>
          <p:cNvPr id="2" name="Text Placeholder 1">
            <a:extLst>
              <a:ext uri="{FF2B5EF4-FFF2-40B4-BE49-F238E27FC236}">
                <a16:creationId xmlns:a16="http://schemas.microsoft.com/office/drawing/2014/main" id="{2192E6B2-E27C-6401-586D-01123D7CE8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69918B-2CB7-62DF-65DF-5B0520DB20FC}"/>
              </a:ext>
            </a:extLst>
          </p:cNvPr>
          <p:cNvSpPr>
            <a:spLocks noGrp="1"/>
          </p:cNvSpPr>
          <p:nvPr>
            <p:ph type="sldNum" sz="quarter" idx="12"/>
          </p:nvPr>
        </p:nvSpPr>
        <p:spPr/>
        <p:txBody>
          <a:bodyPr/>
          <a:lstStyle/>
          <a:p>
            <a:fld id="{21EF4C0E-91FA-4D94-8941-E22F3A83D5F1}" type="slidenum">
              <a:rPr lang="en-US" smtClean="0"/>
              <a:t>107</a:t>
            </a:fld>
            <a:endParaRPr lang="en-US"/>
          </a:p>
        </p:txBody>
      </p:sp>
    </p:spTree>
    <p:extLst>
      <p:ext uri="{BB962C8B-B14F-4D97-AF65-F5344CB8AC3E}">
        <p14:creationId xmlns:p14="http://schemas.microsoft.com/office/powerpoint/2010/main" val="461134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D955-C737-2A2D-3750-B1CED3C00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52F48-0AB2-9748-7804-E42C21A27D6B}"/>
              </a:ext>
            </a:extLst>
          </p:cNvPr>
          <p:cNvSpPr>
            <a:spLocks noGrp="1"/>
          </p:cNvSpPr>
          <p:nvPr>
            <p:ph type="title"/>
          </p:nvPr>
        </p:nvSpPr>
        <p:spPr>
          <a:xfrm>
            <a:off x="457200" y="365126"/>
            <a:ext cx="8593930" cy="592213"/>
          </a:xfrm>
        </p:spPr>
        <p:txBody>
          <a:bodyPr/>
          <a:lstStyle/>
          <a:p>
            <a:r>
              <a:rPr lang="en-US" dirty="0"/>
              <a:t>Emergent Capabilities in AI (1:54)</a:t>
            </a:r>
          </a:p>
        </p:txBody>
      </p:sp>
      <p:sp>
        <p:nvSpPr>
          <p:cNvPr id="5" name="Slide Number Placeholder 4">
            <a:extLst>
              <a:ext uri="{FF2B5EF4-FFF2-40B4-BE49-F238E27FC236}">
                <a16:creationId xmlns:a16="http://schemas.microsoft.com/office/drawing/2014/main" id="{24BD8B34-876E-53A2-48F6-B04D9A4B0C21}"/>
              </a:ext>
            </a:extLst>
          </p:cNvPr>
          <p:cNvSpPr>
            <a:spLocks noGrp="1"/>
          </p:cNvSpPr>
          <p:nvPr>
            <p:ph type="sldNum" sz="quarter" idx="12"/>
          </p:nvPr>
        </p:nvSpPr>
        <p:spPr/>
        <p:txBody>
          <a:bodyPr/>
          <a:lstStyle/>
          <a:p>
            <a:fld id="{21EF4C0E-91FA-4D94-8941-E22F3A83D5F1}" type="slidenum">
              <a:rPr lang="en-US" smtClean="0"/>
              <a:t>108</a:t>
            </a:fld>
            <a:endParaRPr lang="en-US"/>
          </a:p>
        </p:txBody>
      </p:sp>
      <p:sp>
        <p:nvSpPr>
          <p:cNvPr id="7" name="TextBox 6">
            <a:extLst>
              <a:ext uri="{FF2B5EF4-FFF2-40B4-BE49-F238E27FC236}">
                <a16:creationId xmlns:a16="http://schemas.microsoft.com/office/drawing/2014/main" id="{6C4F30DE-A517-83B8-5CBF-C2D586C37097}"/>
              </a:ext>
            </a:extLst>
          </p:cNvPr>
          <p:cNvSpPr txBox="1"/>
          <p:nvPr/>
        </p:nvSpPr>
        <p:spPr>
          <a:xfrm>
            <a:off x="457200" y="6559579"/>
            <a:ext cx="4572000" cy="246221"/>
          </a:xfrm>
          <a:prstGeom prst="rect">
            <a:avLst/>
          </a:prstGeom>
          <a:noFill/>
        </p:spPr>
        <p:txBody>
          <a:bodyPr wrap="square">
            <a:spAutoFit/>
          </a:bodyPr>
          <a:lstStyle/>
          <a:p>
            <a:r>
              <a:rPr lang="en-US" sz="1000" dirty="0">
                <a:solidFill>
                  <a:schemeClr val="tx1">
                    <a:lumMod val="50000"/>
                  </a:schemeClr>
                </a:solidFill>
              </a:rPr>
              <a:t>https://www.youtube.com/watch?v=8Kh9HoCsmrw</a:t>
            </a:r>
          </a:p>
        </p:txBody>
      </p:sp>
      <p:sp>
        <p:nvSpPr>
          <p:cNvPr id="6" name="TextBox 5">
            <a:extLst>
              <a:ext uri="{FF2B5EF4-FFF2-40B4-BE49-F238E27FC236}">
                <a16:creationId xmlns:a16="http://schemas.microsoft.com/office/drawing/2014/main" id="{DC008FE4-8B8A-26BE-CD5A-68A9602026BF}"/>
              </a:ext>
            </a:extLst>
          </p:cNvPr>
          <p:cNvSpPr txBox="1"/>
          <p:nvPr/>
        </p:nvSpPr>
        <p:spPr>
          <a:xfrm>
            <a:off x="364733" y="1019326"/>
            <a:ext cx="6305764" cy="369332"/>
          </a:xfrm>
          <a:prstGeom prst="rect">
            <a:avLst/>
          </a:prstGeom>
          <a:noFill/>
        </p:spPr>
        <p:txBody>
          <a:bodyPr wrap="square">
            <a:spAutoFit/>
          </a:bodyPr>
          <a:lstStyle/>
          <a:p>
            <a:pPr marL="0" indent="0">
              <a:buNone/>
            </a:pPr>
            <a:r>
              <a:rPr lang="en-US" sz="1800" i="1" dirty="0">
                <a:solidFill>
                  <a:srgbClr val="E8F4F8"/>
                </a:solidFill>
                <a:latin typeface="Helvetica Neue Light"/>
                <a:ea typeface="Calibri" pitchFamily="34" charset="-122"/>
                <a:cs typeface="Calibri" pitchFamily="34" charset="-120"/>
              </a:rPr>
              <a:t>How new abilities appear as models scale</a:t>
            </a:r>
            <a:endParaRPr lang="en-US" sz="1800" dirty="0">
              <a:latin typeface="Helvetica Neue Light"/>
            </a:endParaRPr>
          </a:p>
        </p:txBody>
      </p:sp>
      <p:pic>
        <p:nvPicPr>
          <p:cNvPr id="4" name="Online Media 3" title="Consciousness and emergent behavior from neural networks | Manolis Kellis and Lex Fridman">
            <a:hlinkClick r:id="" action="ppaction://media"/>
            <a:extLst>
              <a:ext uri="{FF2B5EF4-FFF2-40B4-BE49-F238E27FC236}">
                <a16:creationId xmlns:a16="http://schemas.microsoft.com/office/drawing/2014/main" id="{397E7BC7-262B-0A74-4661-87D781F2B21A}"/>
              </a:ext>
            </a:extLst>
          </p:cNvPr>
          <p:cNvPicPr>
            <a:picLocks noRot="1" noChangeAspect="1"/>
          </p:cNvPicPr>
          <p:nvPr>
            <a:videoFile r:link="rId1"/>
          </p:nvPr>
        </p:nvPicPr>
        <p:blipFill>
          <a:blip r:embed="rId3"/>
          <a:stretch>
            <a:fillRect/>
          </a:stretch>
        </p:blipFill>
        <p:spPr>
          <a:xfrm>
            <a:off x="457200" y="1649561"/>
            <a:ext cx="8157681" cy="4608523"/>
          </a:xfrm>
          <a:prstGeom prst="rect">
            <a:avLst/>
          </a:prstGeom>
        </p:spPr>
      </p:pic>
    </p:spTree>
    <p:extLst>
      <p:ext uri="{BB962C8B-B14F-4D97-AF65-F5344CB8AC3E}">
        <p14:creationId xmlns:p14="http://schemas.microsoft.com/office/powerpoint/2010/main" val="325352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0F72AF5-11D3-8F5D-7A14-B6EA46CD8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997DC-D180-4AF2-5551-0EF25DF6C4DB}"/>
              </a:ext>
            </a:extLst>
          </p:cNvPr>
          <p:cNvSpPr>
            <a:spLocks noGrp="1"/>
          </p:cNvSpPr>
          <p:nvPr>
            <p:ph type="title"/>
          </p:nvPr>
        </p:nvSpPr>
        <p:spPr>
          <a:xfrm>
            <a:off x="457200" y="365126"/>
            <a:ext cx="8686800" cy="425629"/>
          </a:xfrm>
        </p:spPr>
        <p:txBody>
          <a:bodyPr/>
          <a:lstStyle/>
          <a:p>
            <a:r>
              <a:rPr lang="en-US" sz="2400" dirty="0"/>
              <a:t>When AI Suddenly Learns Abilities It Wasn't Explicitly Taught</a:t>
            </a:r>
          </a:p>
        </p:txBody>
      </p:sp>
      <p:sp>
        <p:nvSpPr>
          <p:cNvPr id="5" name="Slide Number Placeholder 4">
            <a:extLst>
              <a:ext uri="{FF2B5EF4-FFF2-40B4-BE49-F238E27FC236}">
                <a16:creationId xmlns:a16="http://schemas.microsoft.com/office/drawing/2014/main" id="{C6EFC3E9-CCCF-B47A-74A7-6400D2A6B386}"/>
              </a:ext>
            </a:extLst>
          </p:cNvPr>
          <p:cNvSpPr>
            <a:spLocks noGrp="1"/>
          </p:cNvSpPr>
          <p:nvPr>
            <p:ph type="sldNum" sz="quarter" idx="12"/>
          </p:nvPr>
        </p:nvSpPr>
        <p:spPr/>
        <p:txBody>
          <a:bodyPr/>
          <a:lstStyle/>
          <a:p>
            <a:fld id="{21EF4C0E-91FA-4D94-8941-E22F3A83D5F1}" type="slidenum">
              <a:rPr lang="en-US" smtClean="0"/>
              <a:t>109</a:t>
            </a:fld>
            <a:endParaRPr lang="en-US"/>
          </a:p>
        </p:txBody>
      </p:sp>
      <p:grpSp>
        <p:nvGrpSpPr>
          <p:cNvPr id="3" name="Group 2">
            <a:extLst>
              <a:ext uri="{FF2B5EF4-FFF2-40B4-BE49-F238E27FC236}">
                <a16:creationId xmlns:a16="http://schemas.microsoft.com/office/drawing/2014/main" id="{82FA1F0A-E91C-8938-FFC1-564962D9F76D}"/>
              </a:ext>
            </a:extLst>
          </p:cNvPr>
          <p:cNvGrpSpPr/>
          <p:nvPr/>
        </p:nvGrpSpPr>
        <p:grpSpPr>
          <a:xfrm>
            <a:off x="457199" y="1275729"/>
            <a:ext cx="8522413" cy="4395605"/>
            <a:chOff x="457200" y="1277254"/>
            <a:chExt cx="8229600" cy="2883266"/>
          </a:xfrm>
        </p:grpSpPr>
        <p:sp>
          <p:nvSpPr>
            <p:cNvPr id="4" name="Shape 3">
              <a:extLst>
                <a:ext uri="{FF2B5EF4-FFF2-40B4-BE49-F238E27FC236}">
                  <a16:creationId xmlns:a16="http://schemas.microsoft.com/office/drawing/2014/main" id="{FDD099C5-8BB0-97DD-506C-DB6A1CFD4E42}"/>
                </a:ext>
              </a:extLst>
            </p:cNvPr>
            <p:cNvSpPr/>
            <p:nvPr/>
          </p:nvSpPr>
          <p:spPr>
            <a:xfrm>
              <a:off x="457200" y="1280160"/>
              <a:ext cx="8229600" cy="1069893"/>
            </a:xfrm>
            <a:prstGeom prst="rect">
              <a:avLst/>
            </a:prstGeom>
            <a:solidFill>
              <a:srgbClr val="FFFFFF"/>
            </a:solidFill>
            <a:ln/>
          </p:spPr>
          <p:txBody>
            <a:bodyPr/>
            <a:lstStyle/>
            <a:p>
              <a:endParaRPr lang="en-US" sz="2800">
                <a:latin typeface="Helvetica Neue Light"/>
              </a:endParaRPr>
            </a:p>
          </p:txBody>
        </p:sp>
        <p:sp>
          <p:nvSpPr>
            <p:cNvPr id="6" name="Shape 4">
              <a:extLst>
                <a:ext uri="{FF2B5EF4-FFF2-40B4-BE49-F238E27FC236}">
                  <a16:creationId xmlns:a16="http://schemas.microsoft.com/office/drawing/2014/main" id="{7FA2BF6D-4DEB-73D4-26DF-20888AE7F3E9}"/>
                </a:ext>
              </a:extLst>
            </p:cNvPr>
            <p:cNvSpPr/>
            <p:nvPr/>
          </p:nvSpPr>
          <p:spPr>
            <a:xfrm>
              <a:off x="457200" y="1280160"/>
              <a:ext cx="73152" cy="1056846"/>
            </a:xfrm>
            <a:prstGeom prst="rect">
              <a:avLst/>
            </a:prstGeom>
            <a:solidFill>
              <a:srgbClr val="E07A5F"/>
            </a:solidFill>
            <a:ln/>
          </p:spPr>
          <p:txBody>
            <a:bodyPr/>
            <a:lstStyle/>
            <a:p>
              <a:endParaRPr lang="en-US" sz="2800">
                <a:latin typeface="Helvetica Neue Light"/>
              </a:endParaRPr>
            </a:p>
          </p:txBody>
        </p:sp>
        <p:sp>
          <p:nvSpPr>
            <p:cNvPr id="7" name="Text 5">
              <a:extLst>
                <a:ext uri="{FF2B5EF4-FFF2-40B4-BE49-F238E27FC236}">
                  <a16:creationId xmlns:a16="http://schemas.microsoft.com/office/drawing/2014/main" id="{34875032-676F-E388-A5CF-C1016D510861}"/>
                </a:ext>
              </a:extLst>
            </p:cNvPr>
            <p:cNvSpPr/>
            <p:nvPr/>
          </p:nvSpPr>
          <p:spPr>
            <a:xfrm>
              <a:off x="685800" y="1277254"/>
              <a:ext cx="7772400" cy="320040"/>
            </a:xfrm>
            <a:prstGeom prst="rect">
              <a:avLst/>
            </a:prstGeom>
            <a:noFill/>
            <a:ln/>
          </p:spPr>
          <p:txBody>
            <a:bodyPr wrap="square" rtlCol="0" anchor="ctr"/>
            <a:lstStyle/>
            <a:p>
              <a:pPr marL="0" indent="0">
                <a:buNone/>
              </a:pPr>
              <a:r>
                <a:rPr lang="en-US" sz="2000" b="1" dirty="0">
                  <a:solidFill>
                    <a:srgbClr val="1E3A5F"/>
                  </a:solidFill>
                  <a:latin typeface="Helvetica Neue Light"/>
                  <a:ea typeface="Arial" pitchFamily="34" charset="-122"/>
                  <a:cs typeface="Arial" pitchFamily="34" charset="-120"/>
                </a:rPr>
                <a:t>Core Definition:</a:t>
              </a:r>
              <a:endParaRPr lang="en-US" sz="2000" dirty="0">
                <a:latin typeface="Helvetica Neue Light"/>
              </a:endParaRPr>
            </a:p>
          </p:txBody>
        </p:sp>
        <p:sp>
          <p:nvSpPr>
            <p:cNvPr id="8" name="Text 6">
              <a:extLst>
                <a:ext uri="{FF2B5EF4-FFF2-40B4-BE49-F238E27FC236}">
                  <a16:creationId xmlns:a16="http://schemas.microsoft.com/office/drawing/2014/main" id="{1ACAA8E9-2F71-29B9-FBC4-A1F82AAAE9AB}"/>
                </a:ext>
              </a:extLst>
            </p:cNvPr>
            <p:cNvSpPr/>
            <p:nvPr/>
          </p:nvSpPr>
          <p:spPr>
            <a:xfrm>
              <a:off x="685799" y="1651206"/>
              <a:ext cx="7927847" cy="685800"/>
            </a:xfrm>
            <a:prstGeom prst="rect">
              <a:avLst/>
            </a:prstGeom>
            <a:noFill/>
            <a:ln/>
          </p:spPr>
          <p:txBody>
            <a:bodyPr wrap="square" rtlCol="0" anchor="t"/>
            <a:lstStyle/>
            <a:p>
              <a:pPr marL="0" indent="0">
                <a:buNone/>
              </a:pPr>
              <a:r>
                <a:rPr lang="en-US" dirty="0">
                  <a:solidFill>
                    <a:srgbClr val="333333"/>
                  </a:solidFill>
                  <a:latin typeface="Helvetica Neue Light"/>
                  <a:ea typeface="Arial" pitchFamily="34" charset="-122"/>
                  <a:cs typeface="Arial" pitchFamily="34" charset="-120"/>
                </a:rPr>
                <a:t>Emergent capabilities are abilities that appear suddenly and unpredictably in AI models as they scale up in size—capabilities that weren't explicitly trained for and weren't present in smaller versions of the same model.</a:t>
              </a:r>
              <a:endParaRPr lang="en-US" dirty="0">
                <a:latin typeface="Helvetica Neue Light"/>
              </a:endParaRPr>
            </a:p>
          </p:txBody>
        </p:sp>
        <p:sp>
          <p:nvSpPr>
            <p:cNvPr id="9" name="Shape 7">
              <a:extLst>
                <a:ext uri="{FF2B5EF4-FFF2-40B4-BE49-F238E27FC236}">
                  <a16:creationId xmlns:a16="http://schemas.microsoft.com/office/drawing/2014/main" id="{DFCA4FB4-75CB-D9E4-2F92-76AE0823BC37}"/>
                </a:ext>
              </a:extLst>
            </p:cNvPr>
            <p:cNvSpPr/>
            <p:nvPr/>
          </p:nvSpPr>
          <p:spPr>
            <a:xfrm>
              <a:off x="457200" y="2628900"/>
              <a:ext cx="8229600" cy="1005840"/>
            </a:xfrm>
            <a:prstGeom prst="rect">
              <a:avLst/>
            </a:prstGeom>
            <a:solidFill>
              <a:srgbClr val="FFFFFF"/>
            </a:solidFill>
            <a:ln/>
          </p:spPr>
          <p:txBody>
            <a:bodyPr/>
            <a:lstStyle/>
            <a:p>
              <a:endParaRPr lang="en-US" sz="2800">
                <a:latin typeface="Helvetica Neue Light"/>
              </a:endParaRPr>
            </a:p>
          </p:txBody>
        </p:sp>
        <p:sp>
          <p:nvSpPr>
            <p:cNvPr id="10" name="Shape 8">
              <a:extLst>
                <a:ext uri="{FF2B5EF4-FFF2-40B4-BE49-F238E27FC236}">
                  <a16:creationId xmlns:a16="http://schemas.microsoft.com/office/drawing/2014/main" id="{7C5031CB-30BE-B1B7-F0E5-365C886D0FE9}"/>
                </a:ext>
              </a:extLst>
            </p:cNvPr>
            <p:cNvSpPr/>
            <p:nvPr/>
          </p:nvSpPr>
          <p:spPr>
            <a:xfrm>
              <a:off x="457200" y="2606040"/>
              <a:ext cx="73152" cy="1005840"/>
            </a:xfrm>
            <a:prstGeom prst="rect">
              <a:avLst/>
            </a:prstGeom>
            <a:solidFill>
              <a:srgbClr val="4A90A4"/>
            </a:solidFill>
            <a:ln/>
          </p:spPr>
          <p:txBody>
            <a:bodyPr/>
            <a:lstStyle/>
            <a:p>
              <a:endParaRPr lang="en-US" sz="2800">
                <a:latin typeface="Helvetica Neue Light"/>
              </a:endParaRPr>
            </a:p>
          </p:txBody>
        </p:sp>
        <p:sp>
          <p:nvSpPr>
            <p:cNvPr id="11" name="Text 9">
              <a:extLst>
                <a:ext uri="{FF2B5EF4-FFF2-40B4-BE49-F238E27FC236}">
                  <a16:creationId xmlns:a16="http://schemas.microsoft.com/office/drawing/2014/main" id="{5E4CF1D6-75E3-9C69-5640-6FF87DCD25BC}"/>
                </a:ext>
              </a:extLst>
            </p:cNvPr>
            <p:cNvSpPr/>
            <p:nvPr/>
          </p:nvSpPr>
          <p:spPr>
            <a:xfrm>
              <a:off x="685800" y="2603134"/>
              <a:ext cx="7772400" cy="320040"/>
            </a:xfrm>
            <a:prstGeom prst="rect">
              <a:avLst/>
            </a:prstGeom>
            <a:noFill/>
            <a:ln/>
          </p:spPr>
          <p:txBody>
            <a:bodyPr wrap="square" rtlCol="0" anchor="ctr"/>
            <a:lstStyle/>
            <a:p>
              <a:pPr marL="0" indent="0">
                <a:buNone/>
              </a:pPr>
              <a:r>
                <a:rPr lang="en-US" sz="2000" b="1" dirty="0">
                  <a:solidFill>
                    <a:srgbClr val="1E3A5F"/>
                  </a:solidFill>
                  <a:latin typeface="Helvetica Neue Light"/>
                  <a:ea typeface="Arial" pitchFamily="34" charset="-122"/>
                  <a:cs typeface="Arial" pitchFamily="34" charset="-120"/>
                </a:rPr>
                <a:t>The Surprise Factor:</a:t>
              </a:r>
              <a:endParaRPr lang="en-US" sz="2000" dirty="0">
                <a:latin typeface="Helvetica Neue Light"/>
              </a:endParaRPr>
            </a:p>
          </p:txBody>
        </p:sp>
        <p:sp>
          <p:nvSpPr>
            <p:cNvPr id="12" name="Text 10">
              <a:extLst>
                <a:ext uri="{FF2B5EF4-FFF2-40B4-BE49-F238E27FC236}">
                  <a16:creationId xmlns:a16="http://schemas.microsoft.com/office/drawing/2014/main" id="{538FDE86-99EB-5D93-1427-8BCDF7E48F33}"/>
                </a:ext>
              </a:extLst>
            </p:cNvPr>
            <p:cNvSpPr/>
            <p:nvPr/>
          </p:nvSpPr>
          <p:spPr>
            <a:xfrm>
              <a:off x="685799" y="2977086"/>
              <a:ext cx="7927847" cy="502920"/>
            </a:xfrm>
            <a:prstGeom prst="rect">
              <a:avLst/>
            </a:prstGeom>
            <a:noFill/>
            <a:ln/>
          </p:spPr>
          <p:txBody>
            <a:bodyPr wrap="square" rtlCol="0" anchor="t"/>
            <a:lstStyle/>
            <a:p>
              <a:pPr marL="0" indent="0">
                <a:buNone/>
              </a:pPr>
              <a:r>
                <a:rPr lang="en-US" dirty="0">
                  <a:solidFill>
                    <a:srgbClr val="333333"/>
                  </a:solidFill>
                  <a:latin typeface="Helvetica Neue Light"/>
                  <a:ea typeface="Arial" pitchFamily="34" charset="-122"/>
                  <a:cs typeface="Arial" pitchFamily="34" charset="-120"/>
                </a:rPr>
                <a:t>Unlike gradual improvement (where performance improves smoothly with scale), emergent capabilities appear abruptly—a model that couldn't do arithmetic at all suddenly can, simply because it crossed some size threshold.</a:t>
              </a:r>
              <a:endParaRPr lang="en-US" dirty="0">
                <a:latin typeface="Helvetica Neue Light"/>
              </a:endParaRPr>
            </a:p>
          </p:txBody>
        </p:sp>
        <p:sp>
          <p:nvSpPr>
            <p:cNvPr id="13" name="Text 11">
              <a:extLst>
                <a:ext uri="{FF2B5EF4-FFF2-40B4-BE49-F238E27FC236}">
                  <a16:creationId xmlns:a16="http://schemas.microsoft.com/office/drawing/2014/main" id="{F3EBD7B1-751A-A283-E2F8-30442371874E}"/>
                </a:ext>
              </a:extLst>
            </p:cNvPr>
            <p:cNvSpPr/>
            <p:nvPr/>
          </p:nvSpPr>
          <p:spPr>
            <a:xfrm>
              <a:off x="457200" y="3794760"/>
              <a:ext cx="8229600" cy="365760"/>
            </a:xfrm>
            <a:prstGeom prst="rect">
              <a:avLst/>
            </a:prstGeom>
            <a:noFill/>
            <a:ln/>
          </p:spPr>
          <p:txBody>
            <a:bodyPr wrap="square" rtlCol="0" anchor="ctr"/>
            <a:lstStyle/>
            <a:p>
              <a:pPr marL="0" indent="0" algn="ctr">
                <a:buNone/>
              </a:pPr>
              <a:r>
                <a:rPr lang="en-US" sz="2000" b="1" i="1" dirty="0">
                  <a:solidFill>
                    <a:srgbClr val="666666"/>
                  </a:solidFill>
                  <a:latin typeface="Helvetica Neue Light"/>
                  <a:ea typeface="Arial" pitchFamily="34" charset="-122"/>
                  <a:cs typeface="Arial" pitchFamily="34" charset="-120"/>
                </a:rPr>
                <a:t>Analogy: </a:t>
              </a:r>
              <a:r>
                <a:rPr lang="en-US" sz="2000" i="1" dirty="0">
                  <a:solidFill>
                    <a:srgbClr val="666666"/>
                  </a:solidFill>
                  <a:latin typeface="Helvetica Neue Light"/>
                  <a:ea typeface="Arial" pitchFamily="34" charset="-122"/>
                  <a:cs typeface="Arial" pitchFamily="34" charset="-120"/>
                </a:rPr>
                <a:t>Like water suddenly boiling at 100°C—temperature rises gradually, but the phase change is abrupt.</a:t>
              </a:r>
              <a:endParaRPr lang="en-US" sz="2000" dirty="0">
                <a:latin typeface="Helvetica Neue Light"/>
              </a:endParaRPr>
            </a:p>
          </p:txBody>
        </p:sp>
      </p:grpSp>
    </p:spTree>
    <p:extLst>
      <p:ext uri="{BB962C8B-B14F-4D97-AF65-F5344CB8AC3E}">
        <p14:creationId xmlns:p14="http://schemas.microsoft.com/office/powerpoint/2010/main" val="335303101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0EF5348A-91AC-00BD-F877-F65914D3C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212D3-5596-9AD8-42D1-17A269881B7E}"/>
              </a:ext>
            </a:extLst>
          </p:cNvPr>
          <p:cNvSpPr>
            <a:spLocks noGrp="1"/>
          </p:cNvSpPr>
          <p:nvPr>
            <p:ph type="title"/>
          </p:nvPr>
        </p:nvSpPr>
        <p:spPr>
          <a:xfrm>
            <a:off x="457200" y="365126"/>
            <a:ext cx="8229600" cy="647741"/>
          </a:xfrm>
        </p:spPr>
        <p:txBody>
          <a:bodyPr/>
          <a:lstStyle/>
          <a:p>
            <a:r>
              <a:rPr lang="en-US" sz="4000" dirty="0"/>
              <a:t>Documented Examples of Emergence</a:t>
            </a:r>
          </a:p>
        </p:txBody>
      </p:sp>
      <p:sp>
        <p:nvSpPr>
          <p:cNvPr id="5" name="Slide Number Placeholder 4">
            <a:extLst>
              <a:ext uri="{FF2B5EF4-FFF2-40B4-BE49-F238E27FC236}">
                <a16:creationId xmlns:a16="http://schemas.microsoft.com/office/drawing/2014/main" id="{B1191B74-5A78-5DD3-8C07-D647667D41AF}"/>
              </a:ext>
            </a:extLst>
          </p:cNvPr>
          <p:cNvSpPr>
            <a:spLocks noGrp="1"/>
          </p:cNvSpPr>
          <p:nvPr>
            <p:ph type="sldNum" sz="quarter" idx="12"/>
          </p:nvPr>
        </p:nvSpPr>
        <p:spPr/>
        <p:txBody>
          <a:bodyPr/>
          <a:lstStyle/>
          <a:p>
            <a:fld id="{21EF4C0E-91FA-4D94-8941-E22F3A83D5F1}" type="slidenum">
              <a:rPr lang="en-US" smtClean="0"/>
              <a:t>110</a:t>
            </a:fld>
            <a:endParaRPr lang="en-US"/>
          </a:p>
        </p:txBody>
      </p:sp>
      <p:grpSp>
        <p:nvGrpSpPr>
          <p:cNvPr id="3" name="Group 2">
            <a:extLst>
              <a:ext uri="{FF2B5EF4-FFF2-40B4-BE49-F238E27FC236}">
                <a16:creationId xmlns:a16="http://schemas.microsoft.com/office/drawing/2014/main" id="{DD63EA7F-ACA5-29E7-5362-BCB7FCBC30F1}"/>
              </a:ext>
            </a:extLst>
          </p:cNvPr>
          <p:cNvGrpSpPr/>
          <p:nvPr/>
        </p:nvGrpSpPr>
        <p:grpSpPr>
          <a:xfrm>
            <a:off x="457200" y="1118158"/>
            <a:ext cx="8450494" cy="4840852"/>
            <a:chOff x="457200" y="1178850"/>
            <a:chExt cx="8229600" cy="3027390"/>
          </a:xfrm>
        </p:grpSpPr>
        <p:sp>
          <p:nvSpPr>
            <p:cNvPr id="4" name="Shape 3">
              <a:extLst>
                <a:ext uri="{FF2B5EF4-FFF2-40B4-BE49-F238E27FC236}">
                  <a16:creationId xmlns:a16="http://schemas.microsoft.com/office/drawing/2014/main" id="{C57EA1BD-78CD-806C-F521-325631DB3D06}"/>
                </a:ext>
              </a:extLst>
            </p:cNvPr>
            <p:cNvSpPr/>
            <p:nvPr/>
          </p:nvSpPr>
          <p:spPr>
            <a:xfrm>
              <a:off x="457200" y="1280160"/>
              <a:ext cx="2606040" cy="1203154"/>
            </a:xfrm>
            <a:prstGeom prst="rect">
              <a:avLst/>
            </a:prstGeom>
            <a:solidFill>
              <a:srgbClr val="FFFFFF"/>
            </a:solidFill>
            <a:ln/>
          </p:spPr>
          <p:txBody>
            <a:bodyPr/>
            <a:lstStyle/>
            <a:p>
              <a:endParaRPr lang="en-US" sz="2800">
                <a:latin typeface="Helvetica Neue Light"/>
              </a:endParaRPr>
            </a:p>
          </p:txBody>
        </p:sp>
        <p:sp>
          <p:nvSpPr>
            <p:cNvPr id="7" name="Text 4">
              <a:extLst>
                <a:ext uri="{FF2B5EF4-FFF2-40B4-BE49-F238E27FC236}">
                  <a16:creationId xmlns:a16="http://schemas.microsoft.com/office/drawing/2014/main" id="{1BDE2B7B-2441-70FD-020B-808C013BD191}"/>
                </a:ext>
              </a:extLst>
            </p:cNvPr>
            <p:cNvSpPr/>
            <p:nvPr/>
          </p:nvSpPr>
          <p:spPr>
            <a:xfrm>
              <a:off x="594360" y="1178850"/>
              <a:ext cx="2614108" cy="320040"/>
            </a:xfrm>
            <a:prstGeom prst="rect">
              <a:avLst/>
            </a:prstGeom>
            <a:noFill/>
            <a:ln/>
          </p:spPr>
          <p:txBody>
            <a:bodyPr wrap="square" rtlCol="0" anchor="ctr"/>
            <a:lstStyle/>
            <a:p>
              <a:pPr marL="0" indent="0">
                <a:buNone/>
              </a:pPr>
              <a:r>
                <a:rPr lang="en-US" sz="2000" b="1" dirty="0">
                  <a:solidFill>
                    <a:srgbClr val="1E3A5F"/>
                  </a:solidFill>
                  <a:latin typeface="Helvetica Neue Light"/>
                </a:rPr>
                <a:t>Multi-digit Arithmetic</a:t>
              </a:r>
              <a:endParaRPr lang="en-US" sz="2000" dirty="0">
                <a:latin typeface="Helvetica Neue Light"/>
              </a:endParaRPr>
            </a:p>
          </p:txBody>
        </p:sp>
        <p:sp>
          <p:nvSpPr>
            <p:cNvPr id="8" name="Text 5">
              <a:extLst>
                <a:ext uri="{FF2B5EF4-FFF2-40B4-BE49-F238E27FC236}">
                  <a16:creationId xmlns:a16="http://schemas.microsoft.com/office/drawing/2014/main" id="{42BCB278-4026-9883-BFA7-AB7D8DF52762}"/>
                </a:ext>
              </a:extLst>
            </p:cNvPr>
            <p:cNvSpPr/>
            <p:nvPr/>
          </p:nvSpPr>
          <p:spPr>
            <a:xfrm>
              <a:off x="594361" y="1750351"/>
              <a:ext cx="2331720" cy="548640"/>
            </a:xfrm>
            <a:prstGeom prst="rect">
              <a:avLst/>
            </a:prstGeom>
            <a:noFill/>
            <a:ln/>
          </p:spPr>
          <p:txBody>
            <a:bodyPr wrap="square" rtlCol="0" anchor="ctr"/>
            <a:lstStyle/>
            <a:p>
              <a:pPr marL="0" indent="0">
                <a:buNone/>
              </a:pPr>
              <a:r>
                <a:rPr lang="en-US" sz="1600" b="1" dirty="0">
                  <a:solidFill>
                    <a:srgbClr val="333333"/>
                  </a:solidFill>
                  <a:latin typeface="Helvetica Neue Light"/>
                </a:rPr>
                <a:t>Small models: </a:t>
              </a:r>
              <a:r>
                <a:rPr lang="en-US" sz="1600" dirty="0">
                  <a:solidFill>
                    <a:srgbClr val="333333"/>
                  </a:solidFill>
                  <a:latin typeface="Helvetica Neue Light"/>
                </a:rPr>
                <a:t>fail 	completely</a:t>
              </a:r>
              <a:endParaRPr lang="en-US" sz="1600" dirty="0">
                <a:latin typeface="Helvetica Neue Light"/>
              </a:endParaRPr>
            </a:p>
            <a:p>
              <a:pPr marL="0" indent="0">
                <a:buNone/>
              </a:pPr>
              <a:r>
                <a:rPr lang="en-US" sz="1600" b="1" dirty="0">
                  <a:solidFill>
                    <a:srgbClr val="333333"/>
                  </a:solidFill>
                  <a:latin typeface="Helvetica Neue Light"/>
                </a:rPr>
                <a:t>Large models: </a:t>
              </a:r>
              <a:r>
                <a:rPr lang="en-US" sz="1600" dirty="0">
                  <a:solidFill>
                    <a:srgbClr val="333333"/>
                  </a:solidFill>
                  <a:latin typeface="Helvetica Neue Light"/>
                </a:rPr>
                <a:t>suddenly 	accurate</a:t>
              </a:r>
              <a:endParaRPr lang="en-US" sz="1600" dirty="0">
                <a:latin typeface="Helvetica Neue Light"/>
              </a:endParaRPr>
            </a:p>
            <a:p>
              <a:pPr marL="0" indent="0">
                <a:buNone/>
              </a:pPr>
              <a:r>
                <a:rPr lang="en-US" sz="1600" b="1" dirty="0">
                  <a:solidFill>
                    <a:srgbClr val="333333"/>
                  </a:solidFill>
                  <a:latin typeface="Helvetica Neue Light"/>
                </a:rPr>
                <a:t>Threshold: </a:t>
              </a:r>
              <a:r>
                <a:rPr lang="en-US" sz="1600" dirty="0">
                  <a:solidFill>
                    <a:srgbClr val="333333"/>
                  </a:solidFill>
                  <a:latin typeface="Helvetica Neue Light"/>
                </a:rPr>
                <a:t>~10B 	parameters</a:t>
              </a:r>
              <a:endParaRPr lang="en-US" sz="1600" dirty="0">
                <a:latin typeface="Helvetica Neue Light"/>
              </a:endParaRPr>
            </a:p>
          </p:txBody>
        </p:sp>
        <p:sp>
          <p:nvSpPr>
            <p:cNvPr id="9" name="Shape 6">
              <a:extLst>
                <a:ext uri="{FF2B5EF4-FFF2-40B4-BE49-F238E27FC236}">
                  <a16:creationId xmlns:a16="http://schemas.microsoft.com/office/drawing/2014/main" id="{109172E6-EF93-6D8B-AB1D-8398622817B1}"/>
                </a:ext>
              </a:extLst>
            </p:cNvPr>
            <p:cNvSpPr/>
            <p:nvPr/>
          </p:nvSpPr>
          <p:spPr>
            <a:xfrm>
              <a:off x="3246120" y="1280160"/>
              <a:ext cx="2606040" cy="1203154"/>
            </a:xfrm>
            <a:prstGeom prst="rect">
              <a:avLst/>
            </a:prstGeom>
            <a:solidFill>
              <a:srgbClr val="FFFFFF"/>
            </a:solidFill>
            <a:ln/>
          </p:spPr>
          <p:txBody>
            <a:bodyPr/>
            <a:lstStyle/>
            <a:p>
              <a:endParaRPr lang="en-US" sz="2800">
                <a:latin typeface="Helvetica Neue Light"/>
              </a:endParaRPr>
            </a:p>
          </p:txBody>
        </p:sp>
        <p:sp>
          <p:nvSpPr>
            <p:cNvPr id="10" name="Text 7">
              <a:extLst>
                <a:ext uri="{FF2B5EF4-FFF2-40B4-BE49-F238E27FC236}">
                  <a16:creationId xmlns:a16="http://schemas.microsoft.com/office/drawing/2014/main" id="{FDB01785-7E01-0E3F-C46E-17743F0C59B1}"/>
                </a:ext>
              </a:extLst>
            </p:cNvPr>
            <p:cNvSpPr/>
            <p:nvPr/>
          </p:nvSpPr>
          <p:spPr>
            <a:xfrm>
              <a:off x="3383280" y="1178850"/>
              <a:ext cx="2614108" cy="320040"/>
            </a:xfrm>
            <a:prstGeom prst="rect">
              <a:avLst/>
            </a:prstGeom>
            <a:noFill/>
            <a:ln/>
          </p:spPr>
          <p:txBody>
            <a:bodyPr wrap="square" rtlCol="0" anchor="ctr"/>
            <a:lstStyle/>
            <a:p>
              <a:pPr marL="0" indent="0">
                <a:buNone/>
              </a:pPr>
              <a:r>
                <a:rPr lang="en-US" sz="2000" b="1" dirty="0">
                  <a:solidFill>
                    <a:srgbClr val="1E3A5F"/>
                  </a:solidFill>
                  <a:latin typeface="Helvetica Neue Light"/>
                </a:rPr>
                <a:t>Code Generation</a:t>
              </a:r>
              <a:endParaRPr lang="en-US" sz="2000" dirty="0">
                <a:latin typeface="Helvetica Neue Light"/>
              </a:endParaRPr>
            </a:p>
          </p:txBody>
        </p:sp>
        <p:sp>
          <p:nvSpPr>
            <p:cNvPr id="11" name="Text 8">
              <a:extLst>
                <a:ext uri="{FF2B5EF4-FFF2-40B4-BE49-F238E27FC236}">
                  <a16:creationId xmlns:a16="http://schemas.microsoft.com/office/drawing/2014/main" id="{ADE514F2-EA5B-FF8A-4D30-713EEFE4FBF7}"/>
                </a:ext>
              </a:extLst>
            </p:cNvPr>
            <p:cNvSpPr/>
            <p:nvPr/>
          </p:nvSpPr>
          <p:spPr>
            <a:xfrm>
              <a:off x="3383279" y="1743042"/>
              <a:ext cx="2331720" cy="527936"/>
            </a:xfrm>
            <a:prstGeom prst="rect">
              <a:avLst/>
            </a:prstGeom>
            <a:noFill/>
            <a:ln/>
          </p:spPr>
          <p:txBody>
            <a:bodyPr wrap="square" rtlCol="0" anchor="ctr"/>
            <a:lstStyle/>
            <a:p>
              <a:pPr marL="0" indent="0">
                <a:buNone/>
              </a:pPr>
              <a:r>
                <a:rPr lang="en-US" sz="1600" b="1" dirty="0">
                  <a:solidFill>
                    <a:srgbClr val="333333"/>
                  </a:solidFill>
                  <a:latin typeface="Helvetica Neue Light"/>
                </a:rPr>
                <a:t>Small models</a:t>
              </a:r>
              <a:r>
                <a:rPr lang="en-US" sz="1600" dirty="0">
                  <a:solidFill>
                    <a:srgbClr val="333333"/>
                  </a:solidFill>
                  <a:latin typeface="Helvetica Neue Light"/>
                </a:rPr>
                <a:t>: syntax 	errors</a:t>
              </a:r>
              <a:endParaRPr lang="en-US" sz="1600" dirty="0">
                <a:latin typeface="Helvetica Neue Light"/>
              </a:endParaRPr>
            </a:p>
            <a:p>
              <a:pPr marL="0" indent="0">
                <a:buNone/>
              </a:pPr>
              <a:r>
                <a:rPr lang="en-US" sz="1600" b="1" dirty="0">
                  <a:solidFill>
                    <a:srgbClr val="333333"/>
                  </a:solidFill>
                  <a:latin typeface="Helvetica Neue Light"/>
                </a:rPr>
                <a:t>Large models: </a:t>
              </a:r>
              <a:r>
                <a:rPr lang="en-US" sz="1600" dirty="0">
                  <a:solidFill>
                    <a:srgbClr val="333333"/>
                  </a:solidFill>
                  <a:latin typeface="Helvetica Neue Light"/>
                </a:rPr>
                <a:t>working 	programs</a:t>
              </a:r>
              <a:endParaRPr lang="en-US" sz="1600" dirty="0">
                <a:latin typeface="Helvetica Neue Light"/>
              </a:endParaRPr>
            </a:p>
            <a:p>
              <a:pPr marL="0" indent="0">
                <a:buNone/>
              </a:pPr>
              <a:r>
                <a:rPr lang="en-US" sz="1600" b="1" dirty="0">
                  <a:solidFill>
                    <a:srgbClr val="333333"/>
                  </a:solidFill>
                  <a:latin typeface="Helvetica Neue Light"/>
                </a:rPr>
                <a:t>Threshold: </a:t>
              </a:r>
              <a:r>
                <a:rPr lang="en-US" sz="1600" dirty="0">
                  <a:solidFill>
                    <a:srgbClr val="333333"/>
                  </a:solidFill>
                  <a:latin typeface="Helvetica Neue Light"/>
                </a:rPr>
                <a:t>~50B+ 	parameters</a:t>
              </a:r>
              <a:endParaRPr lang="en-US" sz="1600" dirty="0">
                <a:latin typeface="Helvetica Neue Light"/>
              </a:endParaRPr>
            </a:p>
          </p:txBody>
        </p:sp>
        <p:sp>
          <p:nvSpPr>
            <p:cNvPr id="12" name="Shape 9">
              <a:extLst>
                <a:ext uri="{FF2B5EF4-FFF2-40B4-BE49-F238E27FC236}">
                  <a16:creationId xmlns:a16="http://schemas.microsoft.com/office/drawing/2014/main" id="{74FD9229-30B0-BF6C-623C-A3DC2E1BAAED}"/>
                </a:ext>
              </a:extLst>
            </p:cNvPr>
            <p:cNvSpPr/>
            <p:nvPr/>
          </p:nvSpPr>
          <p:spPr>
            <a:xfrm>
              <a:off x="6035040" y="1280160"/>
              <a:ext cx="2606040" cy="1203154"/>
            </a:xfrm>
            <a:prstGeom prst="rect">
              <a:avLst/>
            </a:prstGeom>
            <a:solidFill>
              <a:srgbClr val="FFFFFF"/>
            </a:solidFill>
            <a:ln/>
          </p:spPr>
          <p:txBody>
            <a:bodyPr/>
            <a:lstStyle/>
            <a:p>
              <a:endParaRPr lang="en-US" sz="2800">
                <a:latin typeface="Helvetica Neue Light"/>
              </a:endParaRPr>
            </a:p>
          </p:txBody>
        </p:sp>
        <p:sp>
          <p:nvSpPr>
            <p:cNvPr id="13" name="Text 10">
              <a:extLst>
                <a:ext uri="{FF2B5EF4-FFF2-40B4-BE49-F238E27FC236}">
                  <a16:creationId xmlns:a16="http://schemas.microsoft.com/office/drawing/2014/main" id="{60B71672-5FE4-30F8-C973-D29F71D84CF0}"/>
                </a:ext>
              </a:extLst>
            </p:cNvPr>
            <p:cNvSpPr/>
            <p:nvPr/>
          </p:nvSpPr>
          <p:spPr>
            <a:xfrm>
              <a:off x="6172200" y="1178850"/>
              <a:ext cx="2468880" cy="320040"/>
            </a:xfrm>
            <a:prstGeom prst="rect">
              <a:avLst/>
            </a:prstGeom>
            <a:noFill/>
            <a:ln/>
          </p:spPr>
          <p:txBody>
            <a:bodyPr wrap="square" rtlCol="0" anchor="ctr"/>
            <a:lstStyle/>
            <a:p>
              <a:pPr marL="0" indent="0">
                <a:buNone/>
              </a:pPr>
              <a:r>
                <a:rPr lang="en-US" sz="2000" b="1" dirty="0">
                  <a:solidFill>
                    <a:srgbClr val="1E3A5F"/>
                  </a:solidFill>
                  <a:latin typeface="Helvetica Neue Light"/>
                </a:rPr>
                <a:t>Multi-step Reasoning</a:t>
              </a:r>
              <a:endParaRPr lang="en-US" sz="2000" dirty="0">
                <a:latin typeface="Helvetica Neue Light"/>
              </a:endParaRPr>
            </a:p>
          </p:txBody>
        </p:sp>
        <p:sp>
          <p:nvSpPr>
            <p:cNvPr id="14" name="Text 11">
              <a:extLst>
                <a:ext uri="{FF2B5EF4-FFF2-40B4-BE49-F238E27FC236}">
                  <a16:creationId xmlns:a16="http://schemas.microsoft.com/office/drawing/2014/main" id="{BD29409F-4CE7-8501-8B3D-C97F079F521E}"/>
                </a:ext>
              </a:extLst>
            </p:cNvPr>
            <p:cNvSpPr/>
            <p:nvPr/>
          </p:nvSpPr>
          <p:spPr>
            <a:xfrm>
              <a:off x="6172200" y="1750351"/>
              <a:ext cx="2468880" cy="548640"/>
            </a:xfrm>
            <a:prstGeom prst="rect">
              <a:avLst/>
            </a:prstGeom>
            <a:noFill/>
            <a:ln/>
          </p:spPr>
          <p:txBody>
            <a:bodyPr wrap="square" rtlCol="0" anchor="ctr"/>
            <a:lstStyle/>
            <a:p>
              <a:pPr marL="0" indent="0">
                <a:buNone/>
              </a:pPr>
              <a:r>
                <a:rPr lang="en-US" sz="1600" b="1" dirty="0">
                  <a:solidFill>
                    <a:srgbClr val="333333"/>
                  </a:solidFill>
                  <a:latin typeface="Helvetica Neue Light"/>
                </a:rPr>
                <a:t>Small models</a:t>
              </a:r>
              <a:r>
                <a:rPr lang="en-US" sz="1600" dirty="0">
                  <a:solidFill>
                    <a:srgbClr val="333333"/>
                  </a:solidFill>
                  <a:latin typeface="Helvetica Neue Light"/>
                </a:rPr>
                <a:t>: lose track</a:t>
              </a:r>
            </a:p>
            <a:p>
              <a:pPr marL="0" indent="0">
                <a:buNone/>
              </a:pPr>
              <a:endParaRPr lang="en-US" sz="1600" dirty="0">
                <a:latin typeface="Helvetica Neue Light"/>
              </a:endParaRPr>
            </a:p>
            <a:p>
              <a:pPr marL="0" indent="0">
                <a:buNone/>
              </a:pPr>
              <a:r>
                <a:rPr lang="en-US" sz="1600" b="1" dirty="0">
                  <a:solidFill>
                    <a:srgbClr val="333333"/>
                  </a:solidFill>
                  <a:latin typeface="Helvetica Neue Light"/>
                </a:rPr>
                <a:t>Large models: </a:t>
              </a:r>
              <a:r>
                <a:rPr lang="en-US" sz="1600" dirty="0">
                  <a:solidFill>
                    <a:srgbClr val="333333"/>
                  </a:solidFill>
                  <a:latin typeface="Helvetica Neue Light"/>
                </a:rPr>
                <a:t>chain logic</a:t>
              </a:r>
            </a:p>
            <a:p>
              <a:pPr marL="0" indent="0">
                <a:buNone/>
              </a:pPr>
              <a:endParaRPr lang="en-US" sz="1600" dirty="0">
                <a:latin typeface="Helvetica Neue Light"/>
              </a:endParaRPr>
            </a:p>
            <a:p>
              <a:pPr marL="0" indent="0">
                <a:buNone/>
              </a:pPr>
              <a:r>
                <a:rPr lang="en-US" sz="1600" b="1" dirty="0">
                  <a:solidFill>
                    <a:srgbClr val="333333"/>
                  </a:solidFill>
                  <a:latin typeface="Helvetica Neue Light"/>
                </a:rPr>
                <a:t>Threshold: </a:t>
              </a:r>
              <a:r>
                <a:rPr lang="en-US" sz="1600" dirty="0">
                  <a:solidFill>
                    <a:srgbClr val="333333"/>
                  </a:solidFill>
                  <a:latin typeface="Helvetica Neue Light"/>
                </a:rPr>
                <a:t>~100B+ 	parameters</a:t>
              </a:r>
              <a:endParaRPr lang="en-US" sz="1600" dirty="0">
                <a:latin typeface="Helvetica Neue Light"/>
              </a:endParaRPr>
            </a:p>
          </p:txBody>
        </p:sp>
        <p:sp>
          <p:nvSpPr>
            <p:cNvPr id="15" name="Shape 12">
              <a:extLst>
                <a:ext uri="{FF2B5EF4-FFF2-40B4-BE49-F238E27FC236}">
                  <a16:creationId xmlns:a16="http://schemas.microsoft.com/office/drawing/2014/main" id="{9092BE31-4B4C-9161-235C-1C1D21BD2D51}"/>
                </a:ext>
              </a:extLst>
            </p:cNvPr>
            <p:cNvSpPr/>
            <p:nvPr/>
          </p:nvSpPr>
          <p:spPr>
            <a:xfrm>
              <a:off x="457200" y="2590955"/>
              <a:ext cx="2606040" cy="1203154"/>
            </a:xfrm>
            <a:prstGeom prst="rect">
              <a:avLst/>
            </a:prstGeom>
            <a:solidFill>
              <a:srgbClr val="FFFFFF"/>
            </a:solidFill>
            <a:ln/>
          </p:spPr>
          <p:txBody>
            <a:bodyPr/>
            <a:lstStyle/>
            <a:p>
              <a:endParaRPr lang="en-US" sz="2800">
                <a:latin typeface="Helvetica Neue Light"/>
              </a:endParaRPr>
            </a:p>
          </p:txBody>
        </p:sp>
        <p:sp>
          <p:nvSpPr>
            <p:cNvPr id="16" name="Text 13">
              <a:extLst>
                <a:ext uri="{FF2B5EF4-FFF2-40B4-BE49-F238E27FC236}">
                  <a16:creationId xmlns:a16="http://schemas.microsoft.com/office/drawing/2014/main" id="{BA616143-91C0-35A3-45DE-26E9B7075E37}"/>
                </a:ext>
              </a:extLst>
            </p:cNvPr>
            <p:cNvSpPr/>
            <p:nvPr/>
          </p:nvSpPr>
          <p:spPr>
            <a:xfrm>
              <a:off x="502921" y="2590304"/>
              <a:ext cx="2788919" cy="320040"/>
            </a:xfrm>
            <a:prstGeom prst="rect">
              <a:avLst/>
            </a:prstGeom>
            <a:noFill/>
            <a:ln/>
          </p:spPr>
          <p:txBody>
            <a:bodyPr wrap="square" rtlCol="0" anchor="ctr"/>
            <a:lstStyle/>
            <a:p>
              <a:pPr marL="0" indent="0">
                <a:buNone/>
              </a:pPr>
              <a:r>
                <a:rPr lang="en-US" b="1" dirty="0">
                  <a:solidFill>
                    <a:srgbClr val="1E3A5F"/>
                  </a:solidFill>
                  <a:latin typeface="Helvetica Neue Light"/>
                </a:rPr>
                <a:t>Word Problem Translation</a:t>
              </a:r>
              <a:endParaRPr lang="en-US" dirty="0">
                <a:latin typeface="Helvetica Neue Light"/>
              </a:endParaRPr>
            </a:p>
          </p:txBody>
        </p:sp>
        <p:sp>
          <p:nvSpPr>
            <p:cNvPr id="17" name="Text 14">
              <a:extLst>
                <a:ext uri="{FF2B5EF4-FFF2-40B4-BE49-F238E27FC236}">
                  <a16:creationId xmlns:a16="http://schemas.microsoft.com/office/drawing/2014/main" id="{4418FC6F-3998-BA82-43E7-B72500B39FB2}"/>
                </a:ext>
              </a:extLst>
            </p:cNvPr>
            <p:cNvSpPr/>
            <p:nvPr/>
          </p:nvSpPr>
          <p:spPr>
            <a:xfrm>
              <a:off x="502921" y="3002435"/>
              <a:ext cx="2423161" cy="548640"/>
            </a:xfrm>
            <a:prstGeom prst="rect">
              <a:avLst/>
            </a:prstGeom>
            <a:noFill/>
            <a:ln/>
          </p:spPr>
          <p:txBody>
            <a:bodyPr wrap="square" rtlCol="0" anchor="ctr"/>
            <a:lstStyle/>
            <a:p>
              <a:pPr marL="0" indent="0">
                <a:buNone/>
              </a:pPr>
              <a:r>
                <a:rPr lang="en-US" sz="1600" dirty="0">
                  <a:solidFill>
                    <a:srgbClr val="333333"/>
                  </a:solidFill>
                  <a:latin typeface="Helvetica Neue Light"/>
                </a:rPr>
                <a:t>Converting natural language descriptions into mathematical equations</a:t>
              </a:r>
              <a:endParaRPr lang="en-US" sz="1600" dirty="0">
                <a:latin typeface="Helvetica Neue Light"/>
              </a:endParaRPr>
            </a:p>
          </p:txBody>
        </p:sp>
        <p:sp>
          <p:nvSpPr>
            <p:cNvPr id="18" name="Shape 15">
              <a:extLst>
                <a:ext uri="{FF2B5EF4-FFF2-40B4-BE49-F238E27FC236}">
                  <a16:creationId xmlns:a16="http://schemas.microsoft.com/office/drawing/2014/main" id="{6DF086A9-5975-07B6-683E-0F0F53B1668B}"/>
                </a:ext>
              </a:extLst>
            </p:cNvPr>
            <p:cNvSpPr/>
            <p:nvPr/>
          </p:nvSpPr>
          <p:spPr>
            <a:xfrm>
              <a:off x="3246120" y="2590955"/>
              <a:ext cx="2606040" cy="1203154"/>
            </a:xfrm>
            <a:prstGeom prst="rect">
              <a:avLst/>
            </a:prstGeom>
            <a:solidFill>
              <a:srgbClr val="FFFFFF"/>
            </a:solidFill>
            <a:ln/>
          </p:spPr>
          <p:txBody>
            <a:bodyPr/>
            <a:lstStyle/>
            <a:p>
              <a:endParaRPr lang="en-US" sz="2800">
                <a:latin typeface="Helvetica Neue Light"/>
              </a:endParaRPr>
            </a:p>
          </p:txBody>
        </p:sp>
        <p:sp>
          <p:nvSpPr>
            <p:cNvPr id="19" name="Text 16">
              <a:extLst>
                <a:ext uri="{FF2B5EF4-FFF2-40B4-BE49-F238E27FC236}">
                  <a16:creationId xmlns:a16="http://schemas.microsoft.com/office/drawing/2014/main" id="{C3E75392-2B89-0500-C3B5-43F5D7A5D2B4}"/>
                </a:ext>
              </a:extLst>
            </p:cNvPr>
            <p:cNvSpPr/>
            <p:nvPr/>
          </p:nvSpPr>
          <p:spPr>
            <a:xfrm>
              <a:off x="3383280" y="2566746"/>
              <a:ext cx="2331720" cy="320040"/>
            </a:xfrm>
            <a:prstGeom prst="rect">
              <a:avLst/>
            </a:prstGeom>
            <a:noFill/>
            <a:ln/>
          </p:spPr>
          <p:txBody>
            <a:bodyPr wrap="square" rtlCol="0" anchor="ctr"/>
            <a:lstStyle/>
            <a:p>
              <a:pPr marL="0" indent="0">
                <a:buNone/>
              </a:pPr>
              <a:r>
                <a:rPr lang="en-US" sz="2000" b="1" dirty="0">
                  <a:solidFill>
                    <a:srgbClr val="1E3A5F"/>
                  </a:solidFill>
                  <a:latin typeface="Helvetica Neue Light"/>
                </a:rPr>
                <a:t>In-Context Learning</a:t>
              </a:r>
              <a:endParaRPr lang="en-US" sz="2000" dirty="0">
                <a:latin typeface="Helvetica Neue Light"/>
              </a:endParaRPr>
            </a:p>
          </p:txBody>
        </p:sp>
        <p:sp>
          <p:nvSpPr>
            <p:cNvPr id="20" name="Text 17">
              <a:extLst>
                <a:ext uri="{FF2B5EF4-FFF2-40B4-BE49-F238E27FC236}">
                  <a16:creationId xmlns:a16="http://schemas.microsoft.com/office/drawing/2014/main" id="{F0DF7687-5B26-1053-586C-108A6242CDEE}"/>
                </a:ext>
              </a:extLst>
            </p:cNvPr>
            <p:cNvSpPr/>
            <p:nvPr/>
          </p:nvSpPr>
          <p:spPr>
            <a:xfrm>
              <a:off x="3383280" y="3002435"/>
              <a:ext cx="2514601" cy="548640"/>
            </a:xfrm>
            <a:prstGeom prst="rect">
              <a:avLst/>
            </a:prstGeom>
            <a:noFill/>
            <a:ln/>
          </p:spPr>
          <p:txBody>
            <a:bodyPr wrap="square" rtlCol="0" anchor="ctr"/>
            <a:lstStyle/>
            <a:p>
              <a:pPr marL="0" indent="0">
                <a:buNone/>
              </a:pPr>
              <a:r>
                <a:rPr lang="en-US" sz="1600" dirty="0">
                  <a:solidFill>
                    <a:srgbClr val="333333"/>
                  </a:solidFill>
                  <a:latin typeface="Helvetica Neue Light"/>
                </a:rPr>
                <a:t>Learning new tasks from just a few examples in the prompt, without retraining</a:t>
              </a:r>
              <a:endParaRPr lang="en-US" sz="1600" dirty="0">
                <a:latin typeface="Helvetica Neue Light"/>
              </a:endParaRPr>
            </a:p>
          </p:txBody>
        </p:sp>
        <p:sp>
          <p:nvSpPr>
            <p:cNvPr id="21" name="Shape 18">
              <a:extLst>
                <a:ext uri="{FF2B5EF4-FFF2-40B4-BE49-F238E27FC236}">
                  <a16:creationId xmlns:a16="http://schemas.microsoft.com/office/drawing/2014/main" id="{5B274B8E-B004-F36D-57C9-D62D24C36653}"/>
                </a:ext>
              </a:extLst>
            </p:cNvPr>
            <p:cNvSpPr/>
            <p:nvPr/>
          </p:nvSpPr>
          <p:spPr>
            <a:xfrm>
              <a:off x="6035040" y="2590955"/>
              <a:ext cx="2606040" cy="1203154"/>
            </a:xfrm>
            <a:prstGeom prst="rect">
              <a:avLst/>
            </a:prstGeom>
            <a:solidFill>
              <a:srgbClr val="FFFFFF"/>
            </a:solidFill>
            <a:ln/>
          </p:spPr>
          <p:txBody>
            <a:bodyPr/>
            <a:lstStyle/>
            <a:p>
              <a:endParaRPr lang="en-US" sz="2800">
                <a:latin typeface="Helvetica Neue Light"/>
              </a:endParaRPr>
            </a:p>
          </p:txBody>
        </p:sp>
        <p:sp>
          <p:nvSpPr>
            <p:cNvPr id="22" name="Text 19">
              <a:extLst>
                <a:ext uri="{FF2B5EF4-FFF2-40B4-BE49-F238E27FC236}">
                  <a16:creationId xmlns:a16="http://schemas.microsoft.com/office/drawing/2014/main" id="{58224E8C-724E-26E6-19D1-8B1274955487}"/>
                </a:ext>
              </a:extLst>
            </p:cNvPr>
            <p:cNvSpPr/>
            <p:nvPr/>
          </p:nvSpPr>
          <p:spPr>
            <a:xfrm>
              <a:off x="6172200" y="2566746"/>
              <a:ext cx="2468880" cy="320040"/>
            </a:xfrm>
            <a:prstGeom prst="rect">
              <a:avLst/>
            </a:prstGeom>
            <a:noFill/>
            <a:ln/>
          </p:spPr>
          <p:txBody>
            <a:bodyPr wrap="square" rtlCol="0" anchor="ctr"/>
            <a:lstStyle/>
            <a:p>
              <a:pPr marL="0" indent="0">
                <a:buNone/>
              </a:pPr>
              <a:r>
                <a:rPr lang="en-US" sz="2000" b="1" dirty="0">
                  <a:solidFill>
                    <a:srgbClr val="1E3A5F"/>
                  </a:solidFill>
                  <a:latin typeface="Helvetica Neue Light"/>
                </a:rPr>
                <a:t>Theory of Mind Tasks</a:t>
              </a:r>
              <a:endParaRPr lang="en-US" sz="2000" dirty="0">
                <a:latin typeface="Helvetica Neue Light"/>
              </a:endParaRPr>
            </a:p>
          </p:txBody>
        </p:sp>
        <p:sp>
          <p:nvSpPr>
            <p:cNvPr id="23" name="Text 20">
              <a:extLst>
                <a:ext uri="{FF2B5EF4-FFF2-40B4-BE49-F238E27FC236}">
                  <a16:creationId xmlns:a16="http://schemas.microsoft.com/office/drawing/2014/main" id="{0502A834-1778-09C5-6D2C-5A06A7B72D15}"/>
                </a:ext>
              </a:extLst>
            </p:cNvPr>
            <p:cNvSpPr/>
            <p:nvPr/>
          </p:nvSpPr>
          <p:spPr>
            <a:xfrm>
              <a:off x="6172200" y="3002435"/>
              <a:ext cx="2331720" cy="548640"/>
            </a:xfrm>
            <a:prstGeom prst="rect">
              <a:avLst/>
            </a:prstGeom>
            <a:noFill/>
            <a:ln/>
          </p:spPr>
          <p:txBody>
            <a:bodyPr wrap="square" rtlCol="0" anchor="ctr"/>
            <a:lstStyle/>
            <a:p>
              <a:pPr marL="0" indent="0">
                <a:buNone/>
              </a:pPr>
              <a:r>
                <a:rPr lang="en-US" sz="1600" dirty="0">
                  <a:solidFill>
                    <a:srgbClr val="333333"/>
                  </a:solidFill>
                  <a:latin typeface="Helvetica Neue Light"/>
                </a:rPr>
                <a:t>Reasoning about what others know or believe (false belief tests)</a:t>
              </a:r>
              <a:endParaRPr lang="en-US" sz="1600" dirty="0">
                <a:latin typeface="Helvetica Neue Light"/>
              </a:endParaRPr>
            </a:p>
          </p:txBody>
        </p:sp>
        <p:sp>
          <p:nvSpPr>
            <p:cNvPr id="24" name="Text 21">
              <a:extLst>
                <a:ext uri="{FF2B5EF4-FFF2-40B4-BE49-F238E27FC236}">
                  <a16:creationId xmlns:a16="http://schemas.microsoft.com/office/drawing/2014/main" id="{263F08C8-981F-F224-5464-C30164BEDAB7}"/>
                </a:ext>
              </a:extLst>
            </p:cNvPr>
            <p:cNvSpPr/>
            <p:nvPr/>
          </p:nvSpPr>
          <p:spPr>
            <a:xfrm>
              <a:off x="457200" y="3749040"/>
              <a:ext cx="8229600" cy="457200"/>
            </a:xfrm>
            <a:prstGeom prst="rect">
              <a:avLst/>
            </a:prstGeom>
            <a:noFill/>
            <a:ln/>
          </p:spPr>
          <p:txBody>
            <a:bodyPr wrap="square" rtlCol="0" anchor="ctr"/>
            <a:lstStyle/>
            <a:p>
              <a:pPr marL="0" indent="0" algn="ctr">
                <a:buNone/>
              </a:pPr>
              <a:r>
                <a:rPr lang="en-US" b="1" i="1" dirty="0">
                  <a:solidFill>
                    <a:srgbClr val="666666"/>
                  </a:solidFill>
                  <a:latin typeface="Helvetica Neue Light"/>
                  <a:ea typeface="Arial" pitchFamily="34" charset="-122"/>
                  <a:cs typeface="Arial" pitchFamily="34" charset="-120"/>
                </a:rPr>
                <a:t>Key Pattern: </a:t>
              </a:r>
              <a:r>
                <a:rPr lang="en-US" i="1" dirty="0">
                  <a:solidFill>
                    <a:srgbClr val="666666"/>
                  </a:solidFill>
                  <a:latin typeface="Helvetica Neue Light"/>
                  <a:ea typeface="Arial" pitchFamily="34" charset="-122"/>
                  <a:cs typeface="Arial" pitchFamily="34" charset="-120"/>
                </a:rPr>
                <a:t>Performance is near-zero below a threshold, then jumps dramatically once the model is "big enough"</a:t>
              </a:r>
              <a:endParaRPr lang="en-US" dirty="0">
                <a:latin typeface="Helvetica Neue Light"/>
              </a:endParaRPr>
            </a:p>
          </p:txBody>
        </p:sp>
      </p:grpSp>
    </p:spTree>
    <p:extLst>
      <p:ext uri="{BB962C8B-B14F-4D97-AF65-F5344CB8AC3E}">
        <p14:creationId xmlns:p14="http://schemas.microsoft.com/office/powerpoint/2010/main" val="2943818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3724118-3375-BBD6-9016-72C546572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D5491-6E67-9FDE-53E5-0438F1584FFF}"/>
              </a:ext>
            </a:extLst>
          </p:cNvPr>
          <p:cNvSpPr>
            <a:spLocks noGrp="1"/>
          </p:cNvSpPr>
          <p:nvPr>
            <p:ph type="title"/>
          </p:nvPr>
        </p:nvSpPr>
        <p:spPr>
          <a:xfrm>
            <a:off x="457200" y="365126"/>
            <a:ext cx="8686800" cy="592213"/>
          </a:xfrm>
        </p:spPr>
        <p:txBody>
          <a:bodyPr/>
          <a:lstStyle/>
          <a:p>
            <a:r>
              <a:rPr lang="en-US"/>
              <a:t>Implications and </a:t>
            </a:r>
            <a:r>
              <a:rPr lang="en-US" dirty="0"/>
              <a:t>The Scientific Debate</a:t>
            </a:r>
          </a:p>
        </p:txBody>
      </p:sp>
      <p:sp>
        <p:nvSpPr>
          <p:cNvPr id="5" name="Slide Number Placeholder 4">
            <a:extLst>
              <a:ext uri="{FF2B5EF4-FFF2-40B4-BE49-F238E27FC236}">
                <a16:creationId xmlns:a16="http://schemas.microsoft.com/office/drawing/2014/main" id="{2DB7EAA5-DCE8-781C-774F-99EA8E61CC1A}"/>
              </a:ext>
            </a:extLst>
          </p:cNvPr>
          <p:cNvSpPr>
            <a:spLocks noGrp="1"/>
          </p:cNvSpPr>
          <p:nvPr>
            <p:ph type="sldNum" sz="quarter" idx="12"/>
          </p:nvPr>
        </p:nvSpPr>
        <p:spPr/>
        <p:txBody>
          <a:bodyPr/>
          <a:lstStyle/>
          <a:p>
            <a:fld id="{21EF4C0E-91FA-4D94-8941-E22F3A83D5F1}" type="slidenum">
              <a:rPr lang="en-US" smtClean="0"/>
              <a:t>111</a:t>
            </a:fld>
            <a:endParaRPr lang="en-US"/>
          </a:p>
        </p:txBody>
      </p:sp>
      <p:grpSp>
        <p:nvGrpSpPr>
          <p:cNvPr id="3" name="Group 2">
            <a:extLst>
              <a:ext uri="{FF2B5EF4-FFF2-40B4-BE49-F238E27FC236}">
                <a16:creationId xmlns:a16="http://schemas.microsoft.com/office/drawing/2014/main" id="{AED33F20-7F5B-1EF5-7533-9B5D2D886010}"/>
              </a:ext>
            </a:extLst>
          </p:cNvPr>
          <p:cNvGrpSpPr/>
          <p:nvPr/>
        </p:nvGrpSpPr>
        <p:grpSpPr>
          <a:xfrm>
            <a:off x="457200" y="1234439"/>
            <a:ext cx="8229600" cy="4508813"/>
            <a:chOff x="457200" y="1234439"/>
            <a:chExt cx="8229600" cy="2964554"/>
          </a:xfrm>
        </p:grpSpPr>
        <p:sp>
          <p:nvSpPr>
            <p:cNvPr id="4" name="Shape 3">
              <a:extLst>
                <a:ext uri="{FF2B5EF4-FFF2-40B4-BE49-F238E27FC236}">
                  <a16:creationId xmlns:a16="http://schemas.microsoft.com/office/drawing/2014/main" id="{267D17BF-CC24-E75B-ED16-99321D90B8A8}"/>
                </a:ext>
              </a:extLst>
            </p:cNvPr>
            <p:cNvSpPr/>
            <p:nvPr/>
          </p:nvSpPr>
          <p:spPr>
            <a:xfrm>
              <a:off x="457200" y="1234439"/>
              <a:ext cx="3931920" cy="2285999"/>
            </a:xfrm>
            <a:prstGeom prst="rect">
              <a:avLst/>
            </a:prstGeom>
            <a:solidFill>
              <a:srgbClr val="FFFFFF"/>
            </a:solidFill>
            <a:ln/>
          </p:spPr>
          <p:txBody>
            <a:bodyPr/>
            <a:lstStyle/>
            <a:p>
              <a:endParaRPr lang="en-US" sz="2800">
                <a:latin typeface="Helvetica Neue Light"/>
              </a:endParaRPr>
            </a:p>
          </p:txBody>
        </p:sp>
        <p:sp>
          <p:nvSpPr>
            <p:cNvPr id="6" name="Shape 4">
              <a:extLst>
                <a:ext uri="{FF2B5EF4-FFF2-40B4-BE49-F238E27FC236}">
                  <a16:creationId xmlns:a16="http://schemas.microsoft.com/office/drawing/2014/main" id="{088CC957-D7D6-3E97-E638-AAD66B8FF2EC}"/>
                </a:ext>
              </a:extLst>
            </p:cNvPr>
            <p:cNvSpPr/>
            <p:nvPr/>
          </p:nvSpPr>
          <p:spPr>
            <a:xfrm>
              <a:off x="457200" y="1234440"/>
              <a:ext cx="73152" cy="2285997"/>
            </a:xfrm>
            <a:prstGeom prst="rect">
              <a:avLst/>
            </a:prstGeom>
            <a:solidFill>
              <a:srgbClr val="E07A5F"/>
            </a:solidFill>
            <a:ln/>
          </p:spPr>
          <p:txBody>
            <a:bodyPr/>
            <a:lstStyle/>
            <a:p>
              <a:endParaRPr lang="en-US" sz="2800">
                <a:latin typeface="Helvetica Neue Light"/>
              </a:endParaRPr>
            </a:p>
          </p:txBody>
        </p:sp>
        <p:sp>
          <p:nvSpPr>
            <p:cNvPr id="7" name="Text 5">
              <a:extLst>
                <a:ext uri="{FF2B5EF4-FFF2-40B4-BE49-F238E27FC236}">
                  <a16:creationId xmlns:a16="http://schemas.microsoft.com/office/drawing/2014/main" id="{A811C42B-48A5-409C-9A3D-BF6BCF10F545}"/>
                </a:ext>
              </a:extLst>
            </p:cNvPr>
            <p:cNvSpPr/>
            <p:nvPr/>
          </p:nvSpPr>
          <p:spPr>
            <a:xfrm>
              <a:off x="685800" y="1325880"/>
              <a:ext cx="3566160" cy="274320"/>
            </a:xfrm>
            <a:prstGeom prst="rect">
              <a:avLst/>
            </a:prstGeom>
            <a:noFill/>
            <a:ln/>
          </p:spPr>
          <p:txBody>
            <a:bodyPr wrap="square" rtlCol="0" anchor="ctr"/>
            <a:lstStyle/>
            <a:p>
              <a:pPr marL="0" indent="0">
                <a:buNone/>
              </a:pPr>
              <a:r>
                <a:rPr lang="en-US" sz="2000" b="1" dirty="0">
                  <a:solidFill>
                    <a:srgbClr val="1E3A5F"/>
                  </a:solidFill>
                  <a:latin typeface="Helvetica Neue Light"/>
                  <a:ea typeface="Arial" pitchFamily="34" charset="-122"/>
                  <a:cs typeface="Arial" pitchFamily="34" charset="-120"/>
                </a:rPr>
                <a:t>Implications:</a:t>
              </a:r>
              <a:endParaRPr lang="en-US" sz="2000" dirty="0">
                <a:latin typeface="Helvetica Neue Light"/>
              </a:endParaRPr>
            </a:p>
          </p:txBody>
        </p:sp>
        <p:sp>
          <p:nvSpPr>
            <p:cNvPr id="8" name="Text 6">
              <a:extLst>
                <a:ext uri="{FF2B5EF4-FFF2-40B4-BE49-F238E27FC236}">
                  <a16:creationId xmlns:a16="http://schemas.microsoft.com/office/drawing/2014/main" id="{23FDB95A-9190-6C43-0F6A-52CDA781C524}"/>
                </a:ext>
              </a:extLst>
            </p:cNvPr>
            <p:cNvSpPr/>
            <p:nvPr/>
          </p:nvSpPr>
          <p:spPr>
            <a:xfrm>
              <a:off x="685800" y="1645920"/>
              <a:ext cx="3785616" cy="1874517"/>
            </a:xfrm>
            <a:prstGeom prst="rect">
              <a:avLst/>
            </a:prstGeom>
            <a:noFill/>
            <a:ln/>
          </p:spPr>
          <p:txBody>
            <a:bodyPr wrap="square" rtlCol="0" anchor="t"/>
            <a:lstStyle/>
            <a:p>
              <a:pPr marL="0" indent="0">
                <a:buNone/>
              </a:pPr>
              <a:r>
                <a:rPr lang="en-US" sz="1600" b="1" dirty="0">
                  <a:solidFill>
                    <a:srgbClr val="333333"/>
                  </a:solidFill>
                  <a:latin typeface="Helvetica Neue Light"/>
                  <a:ea typeface="Arial" pitchFamily="34" charset="-122"/>
                  <a:cs typeface="Arial" pitchFamily="34" charset="-120"/>
                </a:rPr>
                <a:t>Unpredictability: </a:t>
              </a:r>
              <a:r>
                <a:rPr lang="en-US" sz="1600" dirty="0">
                  <a:solidFill>
                    <a:srgbClr val="333333"/>
                  </a:solidFill>
                  <a:latin typeface="Helvetica Neue Light"/>
                  <a:ea typeface="Arial" pitchFamily="34" charset="-122"/>
                  <a:cs typeface="Arial" pitchFamily="34" charset="-120"/>
                </a:rPr>
                <a:t>Can't predict next-gen 	capabilities</a:t>
              </a:r>
              <a:endParaRPr lang="en-US" sz="1600" dirty="0">
                <a:latin typeface="Helvetica Neue Light"/>
              </a:endParaRPr>
            </a:p>
            <a:p>
              <a:pPr marL="0" indent="0">
                <a:buNone/>
              </a:pPr>
              <a:endParaRPr lang="en-US" sz="1600" b="1" dirty="0">
                <a:solidFill>
                  <a:srgbClr val="333333"/>
                </a:solidFill>
                <a:latin typeface="Helvetica Neue Light"/>
                <a:ea typeface="Arial" pitchFamily="34" charset="-122"/>
                <a:cs typeface="Arial" pitchFamily="34" charset="-120"/>
              </a:endParaRPr>
            </a:p>
            <a:p>
              <a:pPr marL="0" indent="0">
                <a:buNone/>
              </a:pPr>
              <a:r>
                <a:rPr lang="en-US" sz="1600" b="1" dirty="0">
                  <a:solidFill>
                    <a:srgbClr val="333333"/>
                  </a:solidFill>
                  <a:latin typeface="Helvetica Neue Light"/>
                  <a:ea typeface="Arial" pitchFamily="34" charset="-122"/>
                  <a:cs typeface="Arial" pitchFamily="34" charset="-120"/>
                </a:rPr>
                <a:t>Safety: </a:t>
              </a:r>
              <a:r>
                <a:rPr lang="en-US" sz="1600" dirty="0">
                  <a:solidFill>
                    <a:srgbClr val="333333"/>
                  </a:solidFill>
                  <a:latin typeface="Helvetica Neue Light"/>
                  <a:ea typeface="Arial" pitchFamily="34" charset="-122"/>
                  <a:cs typeface="Arial" pitchFamily="34" charset="-120"/>
                </a:rPr>
                <a:t>Dangerous abilities may emerge 	suddenly</a:t>
              </a:r>
              <a:endParaRPr lang="en-US" sz="1600" dirty="0">
                <a:latin typeface="Helvetica Neue Light"/>
              </a:endParaRPr>
            </a:p>
            <a:p>
              <a:pPr marL="0" indent="0">
                <a:buNone/>
              </a:pPr>
              <a:endParaRPr lang="en-US" sz="1600" b="1" dirty="0">
                <a:solidFill>
                  <a:srgbClr val="333333"/>
                </a:solidFill>
                <a:latin typeface="Helvetica Neue Light"/>
                <a:ea typeface="Arial" pitchFamily="34" charset="-122"/>
                <a:cs typeface="Arial" pitchFamily="34" charset="-120"/>
              </a:endParaRPr>
            </a:p>
            <a:p>
              <a:pPr marL="0" indent="0">
                <a:buNone/>
              </a:pPr>
              <a:r>
                <a:rPr lang="en-US" sz="1600" b="1" dirty="0">
                  <a:solidFill>
                    <a:srgbClr val="333333"/>
                  </a:solidFill>
                  <a:latin typeface="Helvetica Neue Light"/>
                  <a:ea typeface="Arial" pitchFamily="34" charset="-122"/>
                  <a:cs typeface="Arial" pitchFamily="34" charset="-120"/>
                </a:rPr>
                <a:t>Investment: </a:t>
              </a:r>
              <a:r>
                <a:rPr lang="en-US" sz="1600" dirty="0">
                  <a:solidFill>
                    <a:srgbClr val="333333"/>
                  </a:solidFill>
                  <a:latin typeface="Helvetica Neue Light"/>
                  <a:ea typeface="Arial" pitchFamily="34" charset="-122"/>
                  <a:cs typeface="Arial" pitchFamily="34" charset="-120"/>
                </a:rPr>
                <a:t>Billions bet on emergence 	unlocking value</a:t>
              </a:r>
              <a:endParaRPr lang="en-US" sz="1600" dirty="0">
                <a:latin typeface="Helvetica Neue Light"/>
              </a:endParaRPr>
            </a:p>
            <a:p>
              <a:pPr marL="0" indent="0">
                <a:buNone/>
              </a:pPr>
              <a:endParaRPr lang="en-US" sz="1600" b="1" dirty="0">
                <a:solidFill>
                  <a:srgbClr val="333333"/>
                </a:solidFill>
                <a:latin typeface="Helvetica Neue Light"/>
                <a:ea typeface="Arial" pitchFamily="34" charset="-122"/>
                <a:cs typeface="Arial" pitchFamily="34" charset="-120"/>
              </a:endParaRPr>
            </a:p>
            <a:p>
              <a:pPr marL="0" indent="0">
                <a:buNone/>
              </a:pPr>
              <a:r>
                <a:rPr lang="en-US" sz="1600" b="1" dirty="0">
                  <a:solidFill>
                    <a:srgbClr val="333333"/>
                  </a:solidFill>
                  <a:latin typeface="Helvetica Neue Light"/>
                  <a:ea typeface="Arial" pitchFamily="34" charset="-122"/>
                  <a:cs typeface="Arial" pitchFamily="34" charset="-120"/>
                </a:rPr>
                <a:t>Evaluation: </a:t>
              </a:r>
              <a:r>
                <a:rPr lang="en-US" sz="1600" dirty="0">
                  <a:solidFill>
                    <a:srgbClr val="333333"/>
                  </a:solidFill>
                  <a:latin typeface="Helvetica Neue Light"/>
                  <a:ea typeface="Arial" pitchFamily="34" charset="-122"/>
                  <a:cs typeface="Arial" pitchFamily="34" charset="-120"/>
                </a:rPr>
                <a:t>Tests may miss latent abilities</a:t>
              </a:r>
              <a:endParaRPr lang="en-US" sz="1600" dirty="0">
                <a:latin typeface="Helvetica Neue Light"/>
              </a:endParaRPr>
            </a:p>
          </p:txBody>
        </p:sp>
        <p:sp>
          <p:nvSpPr>
            <p:cNvPr id="9" name="Shape 7">
              <a:extLst>
                <a:ext uri="{FF2B5EF4-FFF2-40B4-BE49-F238E27FC236}">
                  <a16:creationId xmlns:a16="http://schemas.microsoft.com/office/drawing/2014/main" id="{A13CEF9A-B91D-9C75-D14C-50366DDE4267}"/>
                </a:ext>
              </a:extLst>
            </p:cNvPr>
            <p:cNvSpPr/>
            <p:nvPr/>
          </p:nvSpPr>
          <p:spPr>
            <a:xfrm>
              <a:off x="4754880" y="1234439"/>
              <a:ext cx="3931920" cy="2285999"/>
            </a:xfrm>
            <a:prstGeom prst="rect">
              <a:avLst/>
            </a:prstGeom>
            <a:solidFill>
              <a:srgbClr val="FFFFFF"/>
            </a:solidFill>
            <a:ln/>
          </p:spPr>
          <p:txBody>
            <a:bodyPr/>
            <a:lstStyle/>
            <a:p>
              <a:endParaRPr lang="en-US" sz="2800">
                <a:latin typeface="Helvetica Neue Light"/>
              </a:endParaRPr>
            </a:p>
          </p:txBody>
        </p:sp>
        <p:sp>
          <p:nvSpPr>
            <p:cNvPr id="10" name="Shape 8">
              <a:extLst>
                <a:ext uri="{FF2B5EF4-FFF2-40B4-BE49-F238E27FC236}">
                  <a16:creationId xmlns:a16="http://schemas.microsoft.com/office/drawing/2014/main" id="{C09C8D26-78B1-2AD6-935B-531BFA13403F}"/>
                </a:ext>
              </a:extLst>
            </p:cNvPr>
            <p:cNvSpPr/>
            <p:nvPr/>
          </p:nvSpPr>
          <p:spPr>
            <a:xfrm>
              <a:off x="4754880" y="1234440"/>
              <a:ext cx="73152" cy="2285997"/>
            </a:xfrm>
            <a:prstGeom prst="rect">
              <a:avLst/>
            </a:prstGeom>
            <a:solidFill>
              <a:srgbClr val="4A90A4"/>
            </a:solidFill>
            <a:ln/>
          </p:spPr>
          <p:txBody>
            <a:bodyPr/>
            <a:lstStyle/>
            <a:p>
              <a:endParaRPr lang="en-US" sz="2800">
                <a:latin typeface="Helvetica Neue Light"/>
              </a:endParaRPr>
            </a:p>
          </p:txBody>
        </p:sp>
        <p:sp>
          <p:nvSpPr>
            <p:cNvPr id="11" name="Text 9">
              <a:extLst>
                <a:ext uri="{FF2B5EF4-FFF2-40B4-BE49-F238E27FC236}">
                  <a16:creationId xmlns:a16="http://schemas.microsoft.com/office/drawing/2014/main" id="{22703A30-8523-6ABA-BB1D-27DB08E68D5C}"/>
                </a:ext>
              </a:extLst>
            </p:cNvPr>
            <p:cNvSpPr/>
            <p:nvPr/>
          </p:nvSpPr>
          <p:spPr>
            <a:xfrm>
              <a:off x="4983480" y="1325880"/>
              <a:ext cx="3566160" cy="274320"/>
            </a:xfrm>
            <a:prstGeom prst="rect">
              <a:avLst/>
            </a:prstGeom>
            <a:noFill/>
            <a:ln/>
          </p:spPr>
          <p:txBody>
            <a:bodyPr wrap="square" rtlCol="0" anchor="ctr"/>
            <a:lstStyle/>
            <a:p>
              <a:pPr marL="0" indent="0">
                <a:buNone/>
              </a:pPr>
              <a:r>
                <a:rPr lang="en-US" sz="2000" b="1" dirty="0">
                  <a:solidFill>
                    <a:srgbClr val="1E3A5F"/>
                  </a:solidFill>
                  <a:latin typeface="Helvetica Neue Light"/>
                  <a:ea typeface="Arial" pitchFamily="34" charset="-122"/>
                  <a:cs typeface="Arial" pitchFamily="34" charset="-120"/>
                </a:rPr>
                <a:t>The Scientific Debate:</a:t>
              </a:r>
              <a:endParaRPr lang="en-US" sz="2000" dirty="0">
                <a:latin typeface="Helvetica Neue Light"/>
              </a:endParaRPr>
            </a:p>
          </p:txBody>
        </p:sp>
        <p:sp>
          <p:nvSpPr>
            <p:cNvPr id="12" name="Text 10">
              <a:extLst>
                <a:ext uri="{FF2B5EF4-FFF2-40B4-BE49-F238E27FC236}">
                  <a16:creationId xmlns:a16="http://schemas.microsoft.com/office/drawing/2014/main" id="{F1CA61F4-7421-784F-EE1E-309DC703CC29}"/>
                </a:ext>
              </a:extLst>
            </p:cNvPr>
            <p:cNvSpPr/>
            <p:nvPr/>
          </p:nvSpPr>
          <p:spPr>
            <a:xfrm>
              <a:off x="4983480" y="1645920"/>
              <a:ext cx="3703320" cy="1554480"/>
            </a:xfrm>
            <a:prstGeom prst="rect">
              <a:avLst/>
            </a:prstGeom>
            <a:noFill/>
            <a:ln/>
          </p:spPr>
          <p:txBody>
            <a:bodyPr wrap="square" rtlCol="0" anchor="t"/>
            <a:lstStyle/>
            <a:p>
              <a:pPr marL="0" indent="0">
                <a:buNone/>
              </a:pPr>
              <a:r>
                <a:rPr lang="en-US" sz="1600" b="1" dirty="0">
                  <a:solidFill>
                    <a:srgbClr val="333333"/>
                  </a:solidFill>
                  <a:latin typeface="Helvetica Neue Light"/>
                  <a:ea typeface="Arial" pitchFamily="34" charset="-122"/>
                  <a:cs typeface="Arial" pitchFamily="34" charset="-120"/>
                </a:rPr>
                <a:t>"True" Emergence: </a:t>
              </a:r>
              <a:r>
                <a:rPr lang="en-US" sz="1600" dirty="0">
                  <a:solidFill>
                    <a:srgbClr val="333333"/>
                  </a:solidFill>
                  <a:latin typeface="Helvetica Neue Light"/>
                  <a:ea typeface="Arial" pitchFamily="34" charset="-122"/>
                  <a:cs typeface="Arial" pitchFamily="34" charset="-120"/>
                </a:rPr>
                <a:t>Qualitatively new 	capabilities appear—like 	phase transitions</a:t>
              </a:r>
              <a:endParaRPr lang="en-US" sz="1600" dirty="0">
                <a:latin typeface="Helvetica Neue Light"/>
              </a:endParaRPr>
            </a:p>
            <a:p>
              <a:pPr marL="0" indent="0">
                <a:buNone/>
              </a:pPr>
              <a:r>
                <a:rPr lang="en-US" sz="1600" dirty="0">
                  <a:solidFill>
                    <a:srgbClr val="333333"/>
                  </a:solidFill>
                  <a:latin typeface="Helvetica Neue Light"/>
                  <a:ea typeface="Arial" pitchFamily="34" charset="-122"/>
                  <a:cs typeface="Arial" pitchFamily="34" charset="-120"/>
                </a:rPr>
                <a:t>
</a:t>
              </a:r>
              <a:r>
                <a:rPr lang="en-US" sz="1600" b="1" dirty="0">
                  <a:solidFill>
                    <a:srgbClr val="333333"/>
                  </a:solidFill>
                  <a:latin typeface="Helvetica Neue Light"/>
                  <a:ea typeface="Arial" pitchFamily="34" charset="-122"/>
                  <a:cs typeface="Arial" pitchFamily="34" charset="-120"/>
                </a:rPr>
                <a:t>"Mirage" Critique: </a:t>
              </a:r>
              <a:r>
                <a:rPr lang="en-US" sz="1600" dirty="0">
                  <a:solidFill>
                    <a:srgbClr val="333333"/>
                  </a:solidFill>
                  <a:latin typeface="Helvetica Neue Light"/>
                  <a:ea typeface="Arial" pitchFamily="34" charset="-122"/>
                  <a:cs typeface="Arial" pitchFamily="34" charset="-120"/>
                </a:rPr>
                <a:t>Maybe an artifact of 	binary tests—capabilities 	improve smoothly</a:t>
              </a:r>
              <a:endParaRPr lang="en-US" sz="1600" dirty="0">
                <a:latin typeface="Helvetica Neue Light"/>
              </a:endParaRPr>
            </a:p>
            <a:p>
              <a:pPr marL="0" indent="0">
                <a:buNone/>
              </a:pPr>
              <a:endParaRPr lang="en-US" sz="1600" dirty="0">
                <a:latin typeface="Helvetica Neue Light"/>
              </a:endParaRPr>
            </a:p>
            <a:p>
              <a:pPr marL="0" indent="0">
                <a:buNone/>
              </a:pPr>
              <a:r>
                <a:rPr lang="en-US" sz="1600" b="1" dirty="0">
                  <a:solidFill>
                    <a:srgbClr val="333333"/>
                  </a:solidFill>
                  <a:latin typeface="Helvetica Neue Light"/>
                  <a:ea typeface="Arial" pitchFamily="34" charset="-122"/>
                  <a:cs typeface="Arial" pitchFamily="34" charset="-120"/>
                </a:rPr>
                <a:t>Current View: </a:t>
              </a:r>
              <a:r>
                <a:rPr lang="en-US" sz="1600" dirty="0">
                  <a:solidFill>
                    <a:srgbClr val="333333"/>
                  </a:solidFill>
                  <a:latin typeface="Helvetica Neue Light"/>
                  <a:ea typeface="Arial" pitchFamily="34" charset="-122"/>
                  <a:cs typeface="Arial" pitchFamily="34" charset="-120"/>
                </a:rPr>
                <a:t>Both effects likely real</a:t>
              </a:r>
              <a:endParaRPr lang="en-US" sz="1600" dirty="0">
                <a:latin typeface="Helvetica Neue Light"/>
              </a:endParaRPr>
            </a:p>
          </p:txBody>
        </p:sp>
        <p:sp>
          <p:nvSpPr>
            <p:cNvPr id="13" name="Shape 11">
              <a:extLst>
                <a:ext uri="{FF2B5EF4-FFF2-40B4-BE49-F238E27FC236}">
                  <a16:creationId xmlns:a16="http://schemas.microsoft.com/office/drawing/2014/main" id="{876A4B83-E38A-797E-690E-53CAC6DC05FE}"/>
                </a:ext>
              </a:extLst>
            </p:cNvPr>
            <p:cNvSpPr/>
            <p:nvPr/>
          </p:nvSpPr>
          <p:spPr>
            <a:xfrm>
              <a:off x="457200" y="3696073"/>
              <a:ext cx="8229600" cy="502920"/>
            </a:xfrm>
            <a:prstGeom prst="rect">
              <a:avLst/>
            </a:prstGeom>
            <a:solidFill>
              <a:srgbClr val="1E3A5F"/>
            </a:solidFill>
            <a:ln/>
          </p:spPr>
          <p:txBody>
            <a:bodyPr/>
            <a:lstStyle/>
            <a:p>
              <a:endParaRPr lang="en-US" sz="2800">
                <a:latin typeface="Helvetica Neue Light"/>
              </a:endParaRPr>
            </a:p>
          </p:txBody>
        </p:sp>
        <p:sp>
          <p:nvSpPr>
            <p:cNvPr id="14" name="Text 12">
              <a:extLst>
                <a:ext uri="{FF2B5EF4-FFF2-40B4-BE49-F238E27FC236}">
                  <a16:creationId xmlns:a16="http://schemas.microsoft.com/office/drawing/2014/main" id="{AF7F028B-06E6-C3C8-E5F8-B8006D486FE8}"/>
                </a:ext>
              </a:extLst>
            </p:cNvPr>
            <p:cNvSpPr/>
            <p:nvPr/>
          </p:nvSpPr>
          <p:spPr>
            <a:xfrm>
              <a:off x="594360" y="3787513"/>
              <a:ext cx="7955280" cy="320040"/>
            </a:xfrm>
            <a:prstGeom prst="rect">
              <a:avLst/>
            </a:prstGeom>
            <a:noFill/>
            <a:ln/>
          </p:spPr>
          <p:txBody>
            <a:bodyPr wrap="square" rtlCol="0" anchor="ctr"/>
            <a:lstStyle/>
            <a:p>
              <a:pPr marL="0" indent="0" algn="ctr">
                <a:buNone/>
              </a:pPr>
              <a:r>
                <a:rPr lang="en-US" b="1" dirty="0">
                  <a:solidFill>
                    <a:srgbClr val="FFFFFF"/>
                  </a:solidFill>
                  <a:latin typeface="Helvetica Neue Light"/>
                  <a:ea typeface="Arial" pitchFamily="34" charset="-122"/>
                  <a:cs typeface="Arial" pitchFamily="34" charset="-120"/>
                </a:rPr>
                <a:t>Key Takeaway: </a:t>
              </a:r>
              <a:r>
                <a:rPr lang="en-US" dirty="0">
                  <a:solidFill>
                    <a:srgbClr val="FFFFFF"/>
                  </a:solidFill>
                  <a:latin typeface="Helvetica Neue Light"/>
                  <a:ea typeface="Arial" pitchFamily="34" charset="-122"/>
                  <a:cs typeface="Arial" pitchFamily="34" charset="-120"/>
                </a:rPr>
                <a:t>Emergence means we can't fully predict future AI capabilities—a core challenge for governance.</a:t>
              </a:r>
              <a:endParaRPr lang="en-US" dirty="0">
                <a:latin typeface="Helvetica Neue Light"/>
              </a:endParaRPr>
            </a:p>
          </p:txBody>
        </p:sp>
      </p:grpSp>
    </p:spTree>
    <p:extLst>
      <p:ext uri="{BB962C8B-B14F-4D97-AF65-F5344CB8AC3E}">
        <p14:creationId xmlns:p14="http://schemas.microsoft.com/office/powerpoint/2010/main" val="301320504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73E35-F519-3079-CD78-622DAA459C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5D122B-60A5-8A0B-F188-CAB506FEB704}"/>
              </a:ext>
            </a:extLst>
          </p:cNvPr>
          <p:cNvSpPr>
            <a:spLocks noGrp="1"/>
          </p:cNvSpPr>
          <p:nvPr>
            <p:ph type="title"/>
          </p:nvPr>
        </p:nvSpPr>
        <p:spPr>
          <a:xfrm>
            <a:off x="623888" y="3415944"/>
            <a:ext cx="8242710" cy="1146532"/>
          </a:xfrm>
        </p:spPr>
        <p:txBody>
          <a:bodyPr/>
          <a:lstStyle/>
          <a:p>
            <a:r>
              <a:rPr lang="en-US" sz="3200" i="1" dirty="0"/>
              <a:t>Part 22</a:t>
            </a:r>
            <a:br>
              <a:rPr lang="en-US" sz="4000" dirty="0"/>
            </a:br>
            <a:r>
              <a:rPr lang="en-US" sz="4000" dirty="0"/>
              <a:t>	</a:t>
            </a:r>
            <a:r>
              <a:rPr lang="en-US" sz="4400" dirty="0"/>
              <a:t>Fine-Tuning vs. Prompting</a:t>
            </a:r>
            <a:endParaRPr lang="en-US" sz="4000" dirty="0"/>
          </a:p>
        </p:txBody>
      </p:sp>
      <p:sp>
        <p:nvSpPr>
          <p:cNvPr id="2" name="Text Placeholder 1">
            <a:extLst>
              <a:ext uri="{FF2B5EF4-FFF2-40B4-BE49-F238E27FC236}">
                <a16:creationId xmlns:a16="http://schemas.microsoft.com/office/drawing/2014/main" id="{28625E2C-AFE0-8B4D-116B-4FCEC0CC89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40A386-54FC-AD01-E7C8-807FC64AC97D}"/>
              </a:ext>
            </a:extLst>
          </p:cNvPr>
          <p:cNvSpPr>
            <a:spLocks noGrp="1"/>
          </p:cNvSpPr>
          <p:nvPr>
            <p:ph type="sldNum" sz="quarter" idx="12"/>
          </p:nvPr>
        </p:nvSpPr>
        <p:spPr/>
        <p:txBody>
          <a:bodyPr/>
          <a:lstStyle/>
          <a:p>
            <a:fld id="{21EF4C0E-91FA-4D94-8941-E22F3A83D5F1}" type="slidenum">
              <a:rPr lang="en-US" smtClean="0"/>
              <a:t>112</a:t>
            </a:fld>
            <a:endParaRPr lang="en-US"/>
          </a:p>
        </p:txBody>
      </p:sp>
    </p:spTree>
    <p:extLst>
      <p:ext uri="{BB962C8B-B14F-4D97-AF65-F5344CB8AC3E}">
        <p14:creationId xmlns:p14="http://schemas.microsoft.com/office/powerpoint/2010/main" val="374834503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FB3D-AE51-F008-A237-F01860F46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F0A97-AC55-08E4-8048-AEDE9D0A801C}"/>
              </a:ext>
            </a:extLst>
          </p:cNvPr>
          <p:cNvSpPr>
            <a:spLocks noGrp="1"/>
          </p:cNvSpPr>
          <p:nvPr>
            <p:ph type="title"/>
          </p:nvPr>
        </p:nvSpPr>
        <p:spPr>
          <a:xfrm>
            <a:off x="457200" y="365126"/>
            <a:ext cx="8593930" cy="592213"/>
          </a:xfrm>
        </p:spPr>
        <p:txBody>
          <a:bodyPr/>
          <a:lstStyle/>
          <a:p>
            <a:r>
              <a:rPr lang="en-US" dirty="0"/>
              <a:t>Fine-Tuning vs. Prompting (15:21)</a:t>
            </a:r>
          </a:p>
        </p:txBody>
      </p:sp>
      <p:sp>
        <p:nvSpPr>
          <p:cNvPr id="5" name="Slide Number Placeholder 4">
            <a:extLst>
              <a:ext uri="{FF2B5EF4-FFF2-40B4-BE49-F238E27FC236}">
                <a16:creationId xmlns:a16="http://schemas.microsoft.com/office/drawing/2014/main" id="{F51534ED-DF99-62E1-A2DC-79602BD8D015}"/>
              </a:ext>
            </a:extLst>
          </p:cNvPr>
          <p:cNvSpPr>
            <a:spLocks noGrp="1"/>
          </p:cNvSpPr>
          <p:nvPr>
            <p:ph type="sldNum" sz="quarter" idx="12"/>
          </p:nvPr>
        </p:nvSpPr>
        <p:spPr/>
        <p:txBody>
          <a:bodyPr/>
          <a:lstStyle/>
          <a:p>
            <a:fld id="{21EF4C0E-91FA-4D94-8941-E22F3A83D5F1}" type="slidenum">
              <a:rPr lang="en-US" smtClean="0"/>
              <a:t>113</a:t>
            </a:fld>
            <a:endParaRPr lang="en-US"/>
          </a:p>
        </p:txBody>
      </p:sp>
      <p:sp>
        <p:nvSpPr>
          <p:cNvPr id="7" name="TextBox 6">
            <a:extLst>
              <a:ext uri="{FF2B5EF4-FFF2-40B4-BE49-F238E27FC236}">
                <a16:creationId xmlns:a16="http://schemas.microsoft.com/office/drawing/2014/main" id="{9A084DF1-7D62-1280-FAB4-5056931ED12A}"/>
              </a:ext>
            </a:extLst>
          </p:cNvPr>
          <p:cNvSpPr txBox="1"/>
          <p:nvPr/>
        </p:nvSpPr>
        <p:spPr>
          <a:xfrm>
            <a:off x="457200" y="6559579"/>
            <a:ext cx="4572000" cy="246221"/>
          </a:xfrm>
          <a:prstGeom prst="rect">
            <a:avLst/>
          </a:prstGeom>
          <a:noFill/>
        </p:spPr>
        <p:txBody>
          <a:bodyPr wrap="square">
            <a:spAutoFit/>
          </a:bodyPr>
          <a:lstStyle/>
          <a:p>
            <a:r>
              <a:rPr lang="en-US" sz="1000" dirty="0">
                <a:solidFill>
                  <a:schemeClr val="tx1">
                    <a:lumMod val="50000"/>
                  </a:schemeClr>
                </a:solidFill>
              </a:rPr>
              <a:t>https://www.youtube.com/watch?v=YVWxbHJakgg</a:t>
            </a:r>
          </a:p>
        </p:txBody>
      </p:sp>
      <p:sp>
        <p:nvSpPr>
          <p:cNvPr id="6" name="TextBox 5">
            <a:extLst>
              <a:ext uri="{FF2B5EF4-FFF2-40B4-BE49-F238E27FC236}">
                <a16:creationId xmlns:a16="http://schemas.microsoft.com/office/drawing/2014/main" id="{C32012CB-8FDC-DB27-2A21-FBBE6F0D0340}"/>
              </a:ext>
            </a:extLst>
          </p:cNvPr>
          <p:cNvSpPr txBox="1"/>
          <p:nvPr/>
        </p:nvSpPr>
        <p:spPr>
          <a:xfrm>
            <a:off x="457200" y="1007290"/>
            <a:ext cx="6305764" cy="369332"/>
          </a:xfrm>
          <a:prstGeom prst="rect">
            <a:avLst/>
          </a:prstGeom>
          <a:noFill/>
        </p:spPr>
        <p:txBody>
          <a:bodyPr wrap="square">
            <a:spAutoFit/>
          </a:bodyPr>
          <a:lstStyle/>
          <a:p>
            <a:pPr marL="0" indent="0">
              <a:buNone/>
            </a:pPr>
            <a:r>
              <a:rPr lang="en-US" sz="1800" i="1" dirty="0">
                <a:solidFill>
                  <a:srgbClr val="E8F4F8"/>
                </a:solidFill>
                <a:latin typeface="Helvetica Neue Light"/>
                <a:ea typeface="Calibri" pitchFamily="34" charset="-122"/>
                <a:cs typeface="Calibri" pitchFamily="34" charset="-120"/>
              </a:rPr>
              <a:t>Benefits and when to use</a:t>
            </a:r>
            <a:endParaRPr lang="en-US" sz="1800" dirty="0">
              <a:latin typeface="Helvetica Neue Light"/>
            </a:endParaRPr>
          </a:p>
        </p:txBody>
      </p:sp>
      <p:pic>
        <p:nvPicPr>
          <p:cNvPr id="3" name="Online Media 2" title="Prompt Engineering, RAG, and Fine-tuning: Benefits and When to Use">
            <a:hlinkClick r:id="" action="ppaction://media"/>
            <a:extLst>
              <a:ext uri="{FF2B5EF4-FFF2-40B4-BE49-F238E27FC236}">
                <a16:creationId xmlns:a16="http://schemas.microsoft.com/office/drawing/2014/main" id="{3D47EFA1-6625-57EC-A66F-8D9CCCDFACAD}"/>
              </a:ext>
            </a:extLst>
          </p:cNvPr>
          <p:cNvPicPr>
            <a:picLocks noRot="1" noChangeAspect="1"/>
          </p:cNvPicPr>
          <p:nvPr>
            <a:videoFile r:link="rId1"/>
          </p:nvPr>
        </p:nvPicPr>
        <p:blipFill>
          <a:blip r:embed="rId3"/>
          <a:stretch>
            <a:fillRect/>
          </a:stretch>
        </p:blipFill>
        <p:spPr>
          <a:xfrm>
            <a:off x="457200" y="1598983"/>
            <a:ext cx="8593930" cy="4854973"/>
          </a:xfrm>
          <a:prstGeom prst="rect">
            <a:avLst/>
          </a:prstGeom>
        </p:spPr>
      </p:pic>
    </p:spTree>
    <p:extLst>
      <p:ext uri="{BB962C8B-B14F-4D97-AF65-F5344CB8AC3E}">
        <p14:creationId xmlns:p14="http://schemas.microsoft.com/office/powerpoint/2010/main" val="269913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14FD12CC-C9F9-E043-339A-D90BCCEDA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87001-4098-9AE9-7B39-71AE0EB63CEE}"/>
              </a:ext>
            </a:extLst>
          </p:cNvPr>
          <p:cNvSpPr>
            <a:spLocks noGrp="1"/>
          </p:cNvSpPr>
          <p:nvPr>
            <p:ph type="title"/>
          </p:nvPr>
        </p:nvSpPr>
        <p:spPr>
          <a:xfrm>
            <a:off x="457200" y="365126"/>
            <a:ext cx="8686800" cy="592213"/>
          </a:xfrm>
        </p:spPr>
        <p:txBody>
          <a:bodyPr/>
          <a:lstStyle/>
          <a:p>
            <a:r>
              <a:rPr lang="en-US" dirty="0"/>
              <a:t>Two ways to customize AI behavior</a:t>
            </a:r>
          </a:p>
        </p:txBody>
      </p:sp>
      <p:sp>
        <p:nvSpPr>
          <p:cNvPr id="5" name="Slide Number Placeholder 4">
            <a:extLst>
              <a:ext uri="{FF2B5EF4-FFF2-40B4-BE49-F238E27FC236}">
                <a16:creationId xmlns:a16="http://schemas.microsoft.com/office/drawing/2014/main" id="{B7C8EEB6-7592-03C7-14CA-3A7E0E6B6D05}"/>
              </a:ext>
            </a:extLst>
          </p:cNvPr>
          <p:cNvSpPr>
            <a:spLocks noGrp="1"/>
          </p:cNvSpPr>
          <p:nvPr>
            <p:ph type="sldNum" sz="quarter" idx="12"/>
          </p:nvPr>
        </p:nvSpPr>
        <p:spPr/>
        <p:txBody>
          <a:bodyPr/>
          <a:lstStyle/>
          <a:p>
            <a:fld id="{21EF4C0E-91FA-4D94-8941-E22F3A83D5F1}" type="slidenum">
              <a:rPr lang="en-US" smtClean="0"/>
              <a:t>114</a:t>
            </a:fld>
            <a:endParaRPr lang="en-US"/>
          </a:p>
        </p:txBody>
      </p:sp>
      <p:grpSp>
        <p:nvGrpSpPr>
          <p:cNvPr id="3" name="Group 2">
            <a:extLst>
              <a:ext uri="{FF2B5EF4-FFF2-40B4-BE49-F238E27FC236}">
                <a16:creationId xmlns:a16="http://schemas.microsoft.com/office/drawing/2014/main" id="{F1B33BFE-D6AA-BD98-940B-D7D1E2D0FEA0}"/>
              </a:ext>
            </a:extLst>
          </p:cNvPr>
          <p:cNvGrpSpPr/>
          <p:nvPr/>
        </p:nvGrpSpPr>
        <p:grpSpPr>
          <a:xfrm>
            <a:off x="457200" y="1280159"/>
            <a:ext cx="8584058" cy="4689125"/>
            <a:chOff x="457200" y="1280160"/>
            <a:chExt cx="8229600" cy="2926080"/>
          </a:xfrm>
        </p:grpSpPr>
        <p:sp>
          <p:nvSpPr>
            <p:cNvPr id="4" name="Shape 3">
              <a:extLst>
                <a:ext uri="{FF2B5EF4-FFF2-40B4-BE49-F238E27FC236}">
                  <a16:creationId xmlns:a16="http://schemas.microsoft.com/office/drawing/2014/main" id="{0CB83C4B-5B1E-299D-122E-D0CD89C87D5B}"/>
                </a:ext>
              </a:extLst>
            </p:cNvPr>
            <p:cNvSpPr/>
            <p:nvPr/>
          </p:nvSpPr>
          <p:spPr>
            <a:xfrm>
              <a:off x="457200" y="1280160"/>
              <a:ext cx="3931920" cy="2926080"/>
            </a:xfrm>
            <a:prstGeom prst="rect">
              <a:avLst/>
            </a:prstGeom>
            <a:solidFill>
              <a:srgbClr val="FFFFFF"/>
            </a:solidFill>
            <a:ln/>
          </p:spPr>
          <p:txBody>
            <a:bodyPr/>
            <a:lstStyle/>
            <a:p>
              <a:endParaRPr lang="en-US" sz="2400">
                <a:latin typeface="Helvetica Neue Light"/>
              </a:endParaRPr>
            </a:p>
          </p:txBody>
        </p:sp>
        <p:sp>
          <p:nvSpPr>
            <p:cNvPr id="6" name="Shape 4">
              <a:extLst>
                <a:ext uri="{FF2B5EF4-FFF2-40B4-BE49-F238E27FC236}">
                  <a16:creationId xmlns:a16="http://schemas.microsoft.com/office/drawing/2014/main" id="{83DDFC4F-115A-4BAD-AF7B-962936A2FA6D}"/>
                </a:ext>
              </a:extLst>
            </p:cNvPr>
            <p:cNvSpPr/>
            <p:nvPr/>
          </p:nvSpPr>
          <p:spPr>
            <a:xfrm>
              <a:off x="457200" y="1280160"/>
              <a:ext cx="3931920" cy="457200"/>
            </a:xfrm>
            <a:prstGeom prst="rect">
              <a:avLst/>
            </a:prstGeom>
            <a:solidFill>
              <a:srgbClr val="4A90A4"/>
            </a:solidFill>
            <a:ln/>
          </p:spPr>
          <p:txBody>
            <a:bodyPr/>
            <a:lstStyle/>
            <a:p>
              <a:endParaRPr lang="en-US" sz="2400">
                <a:latin typeface="Helvetica Neue Light"/>
              </a:endParaRPr>
            </a:p>
          </p:txBody>
        </p:sp>
        <p:sp>
          <p:nvSpPr>
            <p:cNvPr id="7" name="Text 5">
              <a:extLst>
                <a:ext uri="{FF2B5EF4-FFF2-40B4-BE49-F238E27FC236}">
                  <a16:creationId xmlns:a16="http://schemas.microsoft.com/office/drawing/2014/main" id="{AE8584CC-76AD-6445-65FD-EC0BE4191843}"/>
                </a:ext>
              </a:extLst>
            </p:cNvPr>
            <p:cNvSpPr/>
            <p:nvPr/>
          </p:nvSpPr>
          <p:spPr>
            <a:xfrm>
              <a:off x="457200" y="1325880"/>
              <a:ext cx="393192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rPr>
                <a:t>PROMPTING</a:t>
              </a:r>
              <a:endParaRPr lang="en-US" sz="2400" dirty="0">
                <a:latin typeface="Helvetica Neue Light"/>
              </a:endParaRPr>
            </a:p>
          </p:txBody>
        </p:sp>
        <p:sp>
          <p:nvSpPr>
            <p:cNvPr id="8" name="Text 6">
              <a:extLst>
                <a:ext uri="{FF2B5EF4-FFF2-40B4-BE49-F238E27FC236}">
                  <a16:creationId xmlns:a16="http://schemas.microsoft.com/office/drawing/2014/main" id="{A019B41A-3F99-FD7E-C290-C45A33C90FAA}"/>
                </a:ext>
              </a:extLst>
            </p:cNvPr>
            <p:cNvSpPr/>
            <p:nvPr/>
          </p:nvSpPr>
          <p:spPr>
            <a:xfrm>
              <a:off x="640080" y="1828800"/>
              <a:ext cx="3566160" cy="274320"/>
            </a:xfrm>
            <a:prstGeom prst="rect">
              <a:avLst/>
            </a:prstGeom>
            <a:noFill/>
            <a:ln/>
          </p:spPr>
          <p:txBody>
            <a:bodyPr wrap="square" rtlCol="0" anchor="ctr"/>
            <a:lstStyle/>
            <a:p>
              <a:pPr marL="0" indent="0">
                <a:buNone/>
              </a:pPr>
              <a:r>
                <a:rPr lang="en-US" sz="1600" b="1" dirty="0">
                  <a:solidFill>
                    <a:srgbClr val="1E3A5F"/>
                  </a:solidFill>
                  <a:latin typeface="Helvetica Neue Light"/>
                </a:rPr>
                <a:t>What it is:</a:t>
              </a:r>
              <a:endParaRPr lang="en-US" sz="1600" dirty="0">
                <a:latin typeface="Helvetica Neue Light"/>
              </a:endParaRPr>
            </a:p>
          </p:txBody>
        </p:sp>
        <p:sp>
          <p:nvSpPr>
            <p:cNvPr id="9" name="Text 7">
              <a:extLst>
                <a:ext uri="{FF2B5EF4-FFF2-40B4-BE49-F238E27FC236}">
                  <a16:creationId xmlns:a16="http://schemas.microsoft.com/office/drawing/2014/main" id="{5573FAC1-4BE5-B3C6-60EF-466976128043}"/>
                </a:ext>
              </a:extLst>
            </p:cNvPr>
            <p:cNvSpPr/>
            <p:nvPr/>
          </p:nvSpPr>
          <p:spPr>
            <a:xfrm>
              <a:off x="640080" y="2103120"/>
              <a:ext cx="3566160" cy="548640"/>
            </a:xfrm>
            <a:prstGeom prst="rect">
              <a:avLst/>
            </a:prstGeom>
            <a:noFill/>
            <a:ln/>
          </p:spPr>
          <p:txBody>
            <a:bodyPr wrap="square" rtlCol="0" anchor="ctr"/>
            <a:lstStyle/>
            <a:p>
              <a:pPr marL="0" indent="0">
                <a:buNone/>
              </a:pPr>
              <a:r>
                <a:rPr lang="en-US" sz="1600" dirty="0">
                  <a:solidFill>
                    <a:srgbClr val="333333"/>
                  </a:solidFill>
                  <a:latin typeface="Helvetica Neue Light"/>
                </a:rPr>
                <a:t>Changing AI behavior through input instructions and examples—no changes to the model itself.</a:t>
              </a:r>
              <a:endParaRPr lang="en-US" sz="1600" dirty="0">
                <a:latin typeface="Helvetica Neue Light"/>
              </a:endParaRPr>
            </a:p>
          </p:txBody>
        </p:sp>
        <p:sp>
          <p:nvSpPr>
            <p:cNvPr id="10" name="Text 8">
              <a:extLst>
                <a:ext uri="{FF2B5EF4-FFF2-40B4-BE49-F238E27FC236}">
                  <a16:creationId xmlns:a16="http://schemas.microsoft.com/office/drawing/2014/main" id="{84F97E2A-0008-ACDD-A7A0-2EE598DD4BC7}"/>
                </a:ext>
              </a:extLst>
            </p:cNvPr>
            <p:cNvSpPr/>
            <p:nvPr/>
          </p:nvSpPr>
          <p:spPr>
            <a:xfrm>
              <a:off x="640080" y="2651760"/>
              <a:ext cx="3566160" cy="274320"/>
            </a:xfrm>
            <a:prstGeom prst="rect">
              <a:avLst/>
            </a:prstGeom>
            <a:noFill/>
            <a:ln/>
          </p:spPr>
          <p:txBody>
            <a:bodyPr wrap="square" rtlCol="0" anchor="ctr"/>
            <a:lstStyle/>
            <a:p>
              <a:pPr marL="0" indent="0">
                <a:buNone/>
              </a:pPr>
              <a:r>
                <a:rPr lang="en-US" sz="1600" b="1" dirty="0">
                  <a:solidFill>
                    <a:srgbClr val="1E3A5F"/>
                  </a:solidFill>
                  <a:latin typeface="Helvetica Neue Light"/>
                </a:rPr>
                <a:t>Analogy:</a:t>
              </a:r>
              <a:endParaRPr lang="en-US" sz="1600" dirty="0">
                <a:latin typeface="Helvetica Neue Light"/>
              </a:endParaRPr>
            </a:p>
          </p:txBody>
        </p:sp>
        <p:sp>
          <p:nvSpPr>
            <p:cNvPr id="11" name="Text 9">
              <a:extLst>
                <a:ext uri="{FF2B5EF4-FFF2-40B4-BE49-F238E27FC236}">
                  <a16:creationId xmlns:a16="http://schemas.microsoft.com/office/drawing/2014/main" id="{D05A6628-C439-8171-AE1C-B2AD31D4AF09}"/>
                </a:ext>
              </a:extLst>
            </p:cNvPr>
            <p:cNvSpPr/>
            <p:nvPr/>
          </p:nvSpPr>
          <p:spPr>
            <a:xfrm>
              <a:off x="640080" y="2926080"/>
              <a:ext cx="3566160" cy="640080"/>
            </a:xfrm>
            <a:prstGeom prst="rect">
              <a:avLst/>
            </a:prstGeom>
            <a:noFill/>
            <a:ln/>
          </p:spPr>
          <p:txBody>
            <a:bodyPr wrap="square" rtlCol="0" anchor="ctr"/>
            <a:lstStyle/>
            <a:p>
              <a:pPr marL="0" indent="0">
                <a:buNone/>
              </a:pPr>
              <a:r>
                <a:rPr lang="en-US" sz="1600" dirty="0">
                  <a:solidFill>
                    <a:srgbClr val="333333"/>
                  </a:solidFill>
                  <a:latin typeface="Helvetica Neue Light"/>
                </a:rPr>
                <a:t>Like giving detailed instructions to a skilled employee—they use their existing knowledge differently based on what you ask.</a:t>
              </a:r>
              <a:endParaRPr lang="en-US" sz="1600" dirty="0">
                <a:latin typeface="Helvetica Neue Light"/>
              </a:endParaRPr>
            </a:p>
          </p:txBody>
        </p:sp>
        <p:sp>
          <p:nvSpPr>
            <p:cNvPr id="12" name="Text 10">
              <a:extLst>
                <a:ext uri="{FF2B5EF4-FFF2-40B4-BE49-F238E27FC236}">
                  <a16:creationId xmlns:a16="http://schemas.microsoft.com/office/drawing/2014/main" id="{EF8140B1-8503-F472-B101-A4F6C8066119}"/>
                </a:ext>
              </a:extLst>
            </p:cNvPr>
            <p:cNvSpPr/>
            <p:nvPr/>
          </p:nvSpPr>
          <p:spPr>
            <a:xfrm>
              <a:off x="640080" y="3657600"/>
              <a:ext cx="3566160" cy="365760"/>
            </a:xfrm>
            <a:prstGeom prst="rect">
              <a:avLst/>
            </a:prstGeom>
            <a:noFill/>
            <a:ln/>
          </p:spPr>
          <p:txBody>
            <a:bodyPr wrap="square" rtlCol="0" anchor="ctr"/>
            <a:lstStyle/>
            <a:p>
              <a:pPr marL="0" indent="0">
                <a:buNone/>
              </a:pPr>
              <a:r>
                <a:rPr lang="en-US" sz="1400" i="1" dirty="0">
                  <a:solidFill>
                    <a:srgbClr val="666666"/>
                  </a:solidFill>
                  <a:latin typeface="Helvetica Neue Light"/>
                </a:rPr>
                <a:t>The model's "brain" stays the same; only the input changes.</a:t>
              </a:r>
              <a:endParaRPr lang="en-US" sz="1400" dirty="0">
                <a:latin typeface="Helvetica Neue Light"/>
              </a:endParaRPr>
            </a:p>
          </p:txBody>
        </p:sp>
        <p:sp>
          <p:nvSpPr>
            <p:cNvPr id="13" name="Shape 11">
              <a:extLst>
                <a:ext uri="{FF2B5EF4-FFF2-40B4-BE49-F238E27FC236}">
                  <a16:creationId xmlns:a16="http://schemas.microsoft.com/office/drawing/2014/main" id="{7CF73F44-29EB-2D8B-4DA3-6CB37C36CCBC}"/>
                </a:ext>
              </a:extLst>
            </p:cNvPr>
            <p:cNvSpPr/>
            <p:nvPr/>
          </p:nvSpPr>
          <p:spPr>
            <a:xfrm>
              <a:off x="4754880" y="1280160"/>
              <a:ext cx="3931920" cy="2926080"/>
            </a:xfrm>
            <a:prstGeom prst="rect">
              <a:avLst/>
            </a:prstGeom>
            <a:solidFill>
              <a:srgbClr val="FFFFFF"/>
            </a:solidFill>
            <a:ln/>
          </p:spPr>
          <p:txBody>
            <a:bodyPr/>
            <a:lstStyle/>
            <a:p>
              <a:endParaRPr lang="en-US" sz="2400">
                <a:latin typeface="Helvetica Neue Light"/>
              </a:endParaRPr>
            </a:p>
          </p:txBody>
        </p:sp>
        <p:sp>
          <p:nvSpPr>
            <p:cNvPr id="14" name="Shape 12">
              <a:extLst>
                <a:ext uri="{FF2B5EF4-FFF2-40B4-BE49-F238E27FC236}">
                  <a16:creationId xmlns:a16="http://schemas.microsoft.com/office/drawing/2014/main" id="{46D7C6EE-EFD6-1445-69D7-218C8BAB778F}"/>
                </a:ext>
              </a:extLst>
            </p:cNvPr>
            <p:cNvSpPr/>
            <p:nvPr/>
          </p:nvSpPr>
          <p:spPr>
            <a:xfrm>
              <a:off x="4754880" y="1280160"/>
              <a:ext cx="3931920" cy="457200"/>
            </a:xfrm>
            <a:prstGeom prst="rect">
              <a:avLst/>
            </a:prstGeom>
            <a:solidFill>
              <a:srgbClr val="E07A5F"/>
            </a:solidFill>
            <a:ln/>
          </p:spPr>
          <p:txBody>
            <a:bodyPr/>
            <a:lstStyle/>
            <a:p>
              <a:endParaRPr lang="en-US" sz="2400">
                <a:latin typeface="Helvetica Neue Light"/>
              </a:endParaRPr>
            </a:p>
          </p:txBody>
        </p:sp>
        <p:sp>
          <p:nvSpPr>
            <p:cNvPr id="15" name="Text 13">
              <a:extLst>
                <a:ext uri="{FF2B5EF4-FFF2-40B4-BE49-F238E27FC236}">
                  <a16:creationId xmlns:a16="http://schemas.microsoft.com/office/drawing/2014/main" id="{E22D8074-2A90-4752-D028-532C5DC33D5A}"/>
                </a:ext>
              </a:extLst>
            </p:cNvPr>
            <p:cNvSpPr/>
            <p:nvPr/>
          </p:nvSpPr>
          <p:spPr>
            <a:xfrm>
              <a:off x="4754880" y="1325880"/>
              <a:ext cx="3931920" cy="365760"/>
            </a:xfrm>
            <a:prstGeom prst="rect">
              <a:avLst/>
            </a:prstGeom>
            <a:noFill/>
            <a:ln/>
          </p:spPr>
          <p:txBody>
            <a:bodyPr wrap="square" rtlCol="0" anchor="ctr"/>
            <a:lstStyle/>
            <a:p>
              <a:pPr marL="0" indent="0" algn="ctr">
                <a:buNone/>
              </a:pPr>
              <a:r>
                <a:rPr lang="en-US" sz="2400" b="1" dirty="0">
                  <a:solidFill>
                    <a:srgbClr val="FFFFFF"/>
                  </a:solidFill>
                  <a:latin typeface="Helvetica Neue Light"/>
                </a:rPr>
                <a:t>FINE-TUNING</a:t>
              </a:r>
              <a:endParaRPr lang="en-US" sz="2400" dirty="0">
                <a:latin typeface="Helvetica Neue Light"/>
              </a:endParaRPr>
            </a:p>
          </p:txBody>
        </p:sp>
        <p:sp>
          <p:nvSpPr>
            <p:cNvPr id="16" name="Text 14">
              <a:extLst>
                <a:ext uri="{FF2B5EF4-FFF2-40B4-BE49-F238E27FC236}">
                  <a16:creationId xmlns:a16="http://schemas.microsoft.com/office/drawing/2014/main" id="{F968C5D7-A966-CA79-A727-B9EF4A6102A1}"/>
                </a:ext>
              </a:extLst>
            </p:cNvPr>
            <p:cNvSpPr/>
            <p:nvPr/>
          </p:nvSpPr>
          <p:spPr>
            <a:xfrm>
              <a:off x="4937760" y="1828800"/>
              <a:ext cx="3566160" cy="274320"/>
            </a:xfrm>
            <a:prstGeom prst="rect">
              <a:avLst/>
            </a:prstGeom>
            <a:noFill/>
            <a:ln/>
          </p:spPr>
          <p:txBody>
            <a:bodyPr wrap="square" rtlCol="0" anchor="ctr"/>
            <a:lstStyle/>
            <a:p>
              <a:pPr marL="0" indent="0">
                <a:buNone/>
              </a:pPr>
              <a:r>
                <a:rPr lang="en-US" sz="1600" b="1" dirty="0">
                  <a:solidFill>
                    <a:srgbClr val="1E3A5F"/>
                  </a:solidFill>
                  <a:latin typeface="Helvetica Neue Light"/>
                </a:rPr>
                <a:t>What it is:</a:t>
              </a:r>
              <a:endParaRPr lang="en-US" sz="1600" dirty="0">
                <a:latin typeface="Helvetica Neue Light"/>
              </a:endParaRPr>
            </a:p>
          </p:txBody>
        </p:sp>
        <p:sp>
          <p:nvSpPr>
            <p:cNvPr id="17" name="Text 15">
              <a:extLst>
                <a:ext uri="{FF2B5EF4-FFF2-40B4-BE49-F238E27FC236}">
                  <a16:creationId xmlns:a16="http://schemas.microsoft.com/office/drawing/2014/main" id="{71562979-F49C-5780-19B8-2B8F06A20003}"/>
                </a:ext>
              </a:extLst>
            </p:cNvPr>
            <p:cNvSpPr/>
            <p:nvPr/>
          </p:nvSpPr>
          <p:spPr>
            <a:xfrm>
              <a:off x="4937760" y="2103120"/>
              <a:ext cx="3566160" cy="548640"/>
            </a:xfrm>
            <a:prstGeom prst="rect">
              <a:avLst/>
            </a:prstGeom>
            <a:noFill/>
            <a:ln/>
          </p:spPr>
          <p:txBody>
            <a:bodyPr wrap="square" rtlCol="0" anchor="ctr"/>
            <a:lstStyle/>
            <a:p>
              <a:pPr marL="0" indent="0">
                <a:buNone/>
              </a:pPr>
              <a:r>
                <a:rPr lang="en-US" sz="1600" dirty="0">
                  <a:solidFill>
                    <a:srgbClr val="333333"/>
                  </a:solidFill>
                  <a:latin typeface="Helvetica Neue Light"/>
                </a:rPr>
                <a:t>Additional training on specialized data that updates the model's internal parameters (weights).</a:t>
              </a:r>
              <a:endParaRPr lang="en-US" sz="1600" dirty="0">
                <a:latin typeface="Helvetica Neue Light"/>
              </a:endParaRPr>
            </a:p>
          </p:txBody>
        </p:sp>
        <p:sp>
          <p:nvSpPr>
            <p:cNvPr id="18" name="Text 16">
              <a:extLst>
                <a:ext uri="{FF2B5EF4-FFF2-40B4-BE49-F238E27FC236}">
                  <a16:creationId xmlns:a16="http://schemas.microsoft.com/office/drawing/2014/main" id="{C27482CE-31C3-7F63-9B34-3947C431097A}"/>
                </a:ext>
              </a:extLst>
            </p:cNvPr>
            <p:cNvSpPr/>
            <p:nvPr/>
          </p:nvSpPr>
          <p:spPr>
            <a:xfrm>
              <a:off x="4937760" y="2651760"/>
              <a:ext cx="3566160" cy="274320"/>
            </a:xfrm>
            <a:prstGeom prst="rect">
              <a:avLst/>
            </a:prstGeom>
            <a:noFill/>
            <a:ln/>
          </p:spPr>
          <p:txBody>
            <a:bodyPr wrap="square" rtlCol="0" anchor="ctr"/>
            <a:lstStyle/>
            <a:p>
              <a:pPr marL="0" indent="0">
                <a:buNone/>
              </a:pPr>
              <a:r>
                <a:rPr lang="en-US" sz="1600" b="1" dirty="0">
                  <a:solidFill>
                    <a:srgbClr val="1E3A5F"/>
                  </a:solidFill>
                  <a:latin typeface="Helvetica Neue Light"/>
                </a:rPr>
                <a:t>Analogy:</a:t>
              </a:r>
              <a:endParaRPr lang="en-US" sz="1600" dirty="0">
                <a:latin typeface="Helvetica Neue Light"/>
              </a:endParaRPr>
            </a:p>
          </p:txBody>
        </p:sp>
        <p:sp>
          <p:nvSpPr>
            <p:cNvPr id="19" name="Text 17">
              <a:extLst>
                <a:ext uri="{FF2B5EF4-FFF2-40B4-BE49-F238E27FC236}">
                  <a16:creationId xmlns:a16="http://schemas.microsoft.com/office/drawing/2014/main" id="{833FBAA7-BD62-FD55-3F2F-B27F94F468C2}"/>
                </a:ext>
              </a:extLst>
            </p:cNvPr>
            <p:cNvSpPr/>
            <p:nvPr/>
          </p:nvSpPr>
          <p:spPr>
            <a:xfrm>
              <a:off x="4937760" y="2926080"/>
              <a:ext cx="3566160" cy="640080"/>
            </a:xfrm>
            <a:prstGeom prst="rect">
              <a:avLst/>
            </a:prstGeom>
            <a:noFill/>
            <a:ln/>
          </p:spPr>
          <p:txBody>
            <a:bodyPr wrap="square" rtlCol="0" anchor="ctr"/>
            <a:lstStyle/>
            <a:p>
              <a:pPr marL="0" indent="0">
                <a:buNone/>
              </a:pPr>
              <a:r>
                <a:rPr lang="en-US" sz="1600" dirty="0">
                  <a:solidFill>
                    <a:srgbClr val="333333"/>
                  </a:solidFill>
                  <a:latin typeface="Helvetica Neue Light"/>
                </a:rPr>
                <a:t>Like sending that employee to specialized training—they come back with new knowledge built into their expertise.</a:t>
              </a:r>
              <a:endParaRPr lang="en-US" sz="1600" dirty="0">
                <a:latin typeface="Helvetica Neue Light"/>
              </a:endParaRPr>
            </a:p>
          </p:txBody>
        </p:sp>
        <p:sp>
          <p:nvSpPr>
            <p:cNvPr id="20" name="Text 18">
              <a:extLst>
                <a:ext uri="{FF2B5EF4-FFF2-40B4-BE49-F238E27FC236}">
                  <a16:creationId xmlns:a16="http://schemas.microsoft.com/office/drawing/2014/main" id="{39857505-59A2-32A7-F569-EAB90E2AC54C}"/>
                </a:ext>
              </a:extLst>
            </p:cNvPr>
            <p:cNvSpPr/>
            <p:nvPr/>
          </p:nvSpPr>
          <p:spPr>
            <a:xfrm>
              <a:off x="4937760" y="3657600"/>
              <a:ext cx="3566160" cy="365760"/>
            </a:xfrm>
            <a:prstGeom prst="rect">
              <a:avLst/>
            </a:prstGeom>
            <a:noFill/>
            <a:ln/>
          </p:spPr>
          <p:txBody>
            <a:bodyPr wrap="square" rtlCol="0" anchor="ctr"/>
            <a:lstStyle/>
            <a:p>
              <a:pPr marL="0" indent="0">
                <a:buNone/>
              </a:pPr>
              <a:r>
                <a:rPr lang="en-US" sz="1400" i="1" dirty="0">
                  <a:solidFill>
                    <a:srgbClr val="666666"/>
                  </a:solidFill>
                  <a:latin typeface="Helvetica Neue Light"/>
                </a:rPr>
                <a:t>The model's "brain" is permanently modified.</a:t>
              </a:r>
              <a:endParaRPr lang="en-US" sz="1400" dirty="0">
                <a:latin typeface="Helvetica Neue Light"/>
              </a:endParaRPr>
            </a:p>
          </p:txBody>
        </p:sp>
      </p:grpSp>
    </p:spTree>
    <p:extLst>
      <p:ext uri="{BB962C8B-B14F-4D97-AF65-F5344CB8AC3E}">
        <p14:creationId xmlns:p14="http://schemas.microsoft.com/office/powerpoint/2010/main" val="21391957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D7094E7D-14F7-46E6-98DE-276A52E6F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845B9-17E3-1392-540C-24AF81182E5C}"/>
              </a:ext>
            </a:extLst>
          </p:cNvPr>
          <p:cNvSpPr>
            <a:spLocks noGrp="1"/>
          </p:cNvSpPr>
          <p:nvPr>
            <p:ph type="title"/>
          </p:nvPr>
        </p:nvSpPr>
        <p:spPr>
          <a:xfrm>
            <a:off x="457200" y="365126"/>
            <a:ext cx="8229600" cy="647741"/>
          </a:xfrm>
        </p:spPr>
        <p:txBody>
          <a:bodyPr/>
          <a:lstStyle/>
          <a:p>
            <a:r>
              <a:rPr lang="en-US" sz="4000" dirty="0"/>
              <a:t>Side-by-Side Comparison</a:t>
            </a:r>
          </a:p>
        </p:txBody>
      </p:sp>
      <p:sp>
        <p:nvSpPr>
          <p:cNvPr id="5" name="Slide Number Placeholder 4">
            <a:extLst>
              <a:ext uri="{FF2B5EF4-FFF2-40B4-BE49-F238E27FC236}">
                <a16:creationId xmlns:a16="http://schemas.microsoft.com/office/drawing/2014/main" id="{05A378F2-2F15-76F0-FF8F-A19D20D39956}"/>
              </a:ext>
            </a:extLst>
          </p:cNvPr>
          <p:cNvSpPr>
            <a:spLocks noGrp="1"/>
          </p:cNvSpPr>
          <p:nvPr>
            <p:ph type="sldNum" sz="quarter" idx="12"/>
          </p:nvPr>
        </p:nvSpPr>
        <p:spPr/>
        <p:txBody>
          <a:bodyPr/>
          <a:lstStyle/>
          <a:p>
            <a:fld id="{21EF4C0E-91FA-4D94-8941-E22F3A83D5F1}" type="slidenum">
              <a:rPr lang="en-US" smtClean="0"/>
              <a:t>115</a:t>
            </a:fld>
            <a:endParaRPr lang="en-US"/>
          </a:p>
        </p:txBody>
      </p:sp>
      <p:sp>
        <p:nvSpPr>
          <p:cNvPr id="6" name="TextBox 5">
            <a:extLst>
              <a:ext uri="{FF2B5EF4-FFF2-40B4-BE49-F238E27FC236}">
                <a16:creationId xmlns:a16="http://schemas.microsoft.com/office/drawing/2014/main" id="{202D9271-365C-FDF4-462B-6C728E2E7DE0}"/>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graphicFrame>
        <p:nvGraphicFramePr>
          <p:cNvPr id="3" name="Table 0">
            <a:extLst>
              <a:ext uri="{FF2B5EF4-FFF2-40B4-BE49-F238E27FC236}">
                <a16:creationId xmlns:a16="http://schemas.microsoft.com/office/drawing/2014/main" id="{7B1DA8DA-2780-30CA-217B-D62CDBB3F25E}"/>
              </a:ext>
            </a:extLst>
          </p:cNvPr>
          <p:cNvGraphicFramePr>
            <a:graphicFrameLocks noGrp="1"/>
          </p:cNvGraphicFramePr>
          <p:nvPr>
            <p:extLst>
              <p:ext uri="{D42A27DB-BD31-4B8C-83A1-F6EECF244321}">
                <p14:modId xmlns:p14="http://schemas.microsoft.com/office/powerpoint/2010/main" val="261486245"/>
              </p:ext>
            </p:extLst>
          </p:nvPr>
        </p:nvGraphicFramePr>
        <p:xfrm>
          <a:off x="462337" y="1150620"/>
          <a:ext cx="8486455" cy="3017520"/>
        </p:xfrm>
        <a:graphic>
          <a:graphicData uri="http://schemas.openxmlformats.org/drawingml/2006/table">
            <a:tbl>
              <a:tblPr/>
              <a:tblGrid>
                <a:gridCol w="2332234">
                  <a:extLst>
                    <a:ext uri="{9D8B030D-6E8A-4147-A177-3AD203B41FA5}">
                      <a16:colId xmlns:a16="http://schemas.microsoft.com/office/drawing/2014/main" val="20000"/>
                    </a:ext>
                  </a:extLst>
                </a:gridCol>
                <a:gridCol w="2948227">
                  <a:extLst>
                    <a:ext uri="{9D8B030D-6E8A-4147-A177-3AD203B41FA5}">
                      <a16:colId xmlns:a16="http://schemas.microsoft.com/office/drawing/2014/main" val="20001"/>
                    </a:ext>
                  </a:extLst>
                </a:gridCol>
                <a:gridCol w="3205994">
                  <a:extLst>
                    <a:ext uri="{9D8B030D-6E8A-4147-A177-3AD203B41FA5}">
                      <a16:colId xmlns:a16="http://schemas.microsoft.com/office/drawing/2014/main" val="20002"/>
                    </a:ext>
                  </a:extLst>
                </a:gridCol>
              </a:tblGrid>
              <a:tr h="377190">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Factor</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3A5F"/>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Prompting</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90A4"/>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Fine-Tuning</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7A5F"/>
                    </a:solidFill>
                  </a:tcPr>
                </a:tc>
                <a:extLst>
                  <a:ext uri="{0D108BD9-81ED-4DB2-BD59-A6C34878D82A}">
                    <a16:rowId xmlns:a16="http://schemas.microsoft.com/office/drawing/2014/main" val="10000"/>
                  </a:ext>
                </a:extLst>
              </a:tr>
              <a:tr h="37719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Setup Time</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Minutes to hours</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Days to weeks</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Cost</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Low (API usage only)</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High (compute + data prep)</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719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Data Needed</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Few examples (0-50)</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Hundreds to thousands</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719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Persistence</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Per-conversation only</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Permanent model change</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719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Expertise Required</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Low (natural language)</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High (ML engineering)</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719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Flexibility</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Easy to change/iterate</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Requires retraining to adjust</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719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Performance Ceiling</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Limited by context window</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Can exceed prompting limits</a:t>
                      </a:r>
                      <a:endParaRPr lang="en-US" sz="1600" dirty="0">
                        <a:latin typeface="Arial" charset="0"/>
                        <a:ea typeface="Arial" charset="0"/>
                        <a:cs typeface="Arial"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3">
            <a:extLst>
              <a:ext uri="{FF2B5EF4-FFF2-40B4-BE49-F238E27FC236}">
                <a16:creationId xmlns:a16="http://schemas.microsoft.com/office/drawing/2014/main" id="{AFAB13EA-D916-4C93-0A6E-4FEA25155DD3}"/>
              </a:ext>
            </a:extLst>
          </p:cNvPr>
          <p:cNvSpPr/>
          <p:nvPr/>
        </p:nvSpPr>
        <p:spPr>
          <a:xfrm>
            <a:off x="272264" y="4715838"/>
            <a:ext cx="8550267" cy="647740"/>
          </a:xfrm>
          <a:prstGeom prst="rect">
            <a:avLst/>
          </a:prstGeom>
          <a:noFill/>
          <a:ln/>
        </p:spPr>
        <p:txBody>
          <a:bodyPr wrap="square" rtlCol="0" anchor="ctr"/>
          <a:lstStyle/>
          <a:p>
            <a:pPr marL="0" indent="0" algn="ctr">
              <a:buNone/>
            </a:pPr>
            <a:r>
              <a:rPr lang="en-US" sz="2000" b="1" i="1" dirty="0">
                <a:solidFill>
                  <a:srgbClr val="666666"/>
                </a:solidFill>
                <a:latin typeface="Helvetica Neue Light"/>
                <a:ea typeface="Arial" pitchFamily="34" charset="-122"/>
                <a:cs typeface="Arial" pitchFamily="34" charset="-120"/>
              </a:rPr>
              <a:t>Rule of Thumb: </a:t>
            </a:r>
            <a:r>
              <a:rPr lang="en-US" sz="2000" i="1" dirty="0">
                <a:solidFill>
                  <a:srgbClr val="666666"/>
                </a:solidFill>
                <a:latin typeface="Helvetica Neue Light"/>
                <a:ea typeface="Arial" pitchFamily="34" charset="-122"/>
                <a:cs typeface="Arial" pitchFamily="34" charset="-120"/>
              </a:rPr>
              <a:t>Start with prompting. Fine-tune only when prompting hits clear limits.</a:t>
            </a:r>
            <a:endParaRPr lang="en-US" sz="2000" dirty="0">
              <a:latin typeface="Helvetica Neue Light"/>
            </a:endParaRPr>
          </a:p>
        </p:txBody>
      </p:sp>
    </p:spTree>
    <p:extLst>
      <p:ext uri="{BB962C8B-B14F-4D97-AF65-F5344CB8AC3E}">
        <p14:creationId xmlns:p14="http://schemas.microsoft.com/office/powerpoint/2010/main" val="164929018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1DDB268-FD6D-04AB-E9EC-1413A5D56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798BB-A0BE-3D9B-4E49-A796A82A4F23}"/>
              </a:ext>
            </a:extLst>
          </p:cNvPr>
          <p:cNvSpPr>
            <a:spLocks noGrp="1"/>
          </p:cNvSpPr>
          <p:nvPr>
            <p:ph type="title"/>
          </p:nvPr>
        </p:nvSpPr>
        <p:spPr>
          <a:xfrm>
            <a:off x="457200" y="365126"/>
            <a:ext cx="8686800" cy="592213"/>
          </a:xfrm>
        </p:spPr>
        <p:txBody>
          <a:bodyPr/>
          <a:lstStyle/>
          <a:p>
            <a:r>
              <a:rPr lang="en-US" dirty="0"/>
              <a:t>When To Use Each Approach</a:t>
            </a:r>
          </a:p>
        </p:txBody>
      </p:sp>
      <p:sp>
        <p:nvSpPr>
          <p:cNvPr id="5" name="Slide Number Placeholder 4">
            <a:extLst>
              <a:ext uri="{FF2B5EF4-FFF2-40B4-BE49-F238E27FC236}">
                <a16:creationId xmlns:a16="http://schemas.microsoft.com/office/drawing/2014/main" id="{B0D53237-3309-3ECE-231A-5B7F0424AF6C}"/>
              </a:ext>
            </a:extLst>
          </p:cNvPr>
          <p:cNvSpPr>
            <a:spLocks noGrp="1"/>
          </p:cNvSpPr>
          <p:nvPr>
            <p:ph type="sldNum" sz="quarter" idx="12"/>
          </p:nvPr>
        </p:nvSpPr>
        <p:spPr/>
        <p:txBody>
          <a:bodyPr/>
          <a:lstStyle/>
          <a:p>
            <a:fld id="{21EF4C0E-91FA-4D94-8941-E22F3A83D5F1}" type="slidenum">
              <a:rPr lang="en-US" smtClean="0"/>
              <a:t>116</a:t>
            </a:fld>
            <a:endParaRPr lang="en-US"/>
          </a:p>
        </p:txBody>
      </p:sp>
      <p:grpSp>
        <p:nvGrpSpPr>
          <p:cNvPr id="21" name="Group 20">
            <a:extLst>
              <a:ext uri="{FF2B5EF4-FFF2-40B4-BE49-F238E27FC236}">
                <a16:creationId xmlns:a16="http://schemas.microsoft.com/office/drawing/2014/main" id="{D14765FE-26A7-2171-38BA-2578C69A1F6E}"/>
              </a:ext>
            </a:extLst>
          </p:cNvPr>
          <p:cNvGrpSpPr/>
          <p:nvPr/>
        </p:nvGrpSpPr>
        <p:grpSpPr>
          <a:xfrm>
            <a:off x="457199" y="1280159"/>
            <a:ext cx="8604608" cy="5428865"/>
            <a:chOff x="457200" y="1280160"/>
            <a:chExt cx="8229600" cy="3383280"/>
          </a:xfrm>
        </p:grpSpPr>
        <p:sp>
          <p:nvSpPr>
            <p:cNvPr id="22" name="Shape 3">
              <a:extLst>
                <a:ext uri="{FF2B5EF4-FFF2-40B4-BE49-F238E27FC236}">
                  <a16:creationId xmlns:a16="http://schemas.microsoft.com/office/drawing/2014/main" id="{EB9F85E5-960C-F2B1-7793-6975A312A9D1}"/>
                </a:ext>
              </a:extLst>
            </p:cNvPr>
            <p:cNvSpPr/>
            <p:nvPr/>
          </p:nvSpPr>
          <p:spPr>
            <a:xfrm>
              <a:off x="457200" y="1280160"/>
              <a:ext cx="3931920" cy="2651760"/>
            </a:xfrm>
            <a:prstGeom prst="rect">
              <a:avLst/>
            </a:prstGeom>
            <a:solidFill>
              <a:srgbClr val="FFFFFF"/>
            </a:solidFill>
            <a:ln/>
          </p:spPr>
          <p:txBody>
            <a:bodyPr/>
            <a:lstStyle/>
            <a:p>
              <a:endParaRPr lang="en-US" sz="2800">
                <a:latin typeface="Helvetica Neue Light"/>
              </a:endParaRPr>
            </a:p>
          </p:txBody>
        </p:sp>
        <p:sp>
          <p:nvSpPr>
            <p:cNvPr id="23" name="Shape 4">
              <a:extLst>
                <a:ext uri="{FF2B5EF4-FFF2-40B4-BE49-F238E27FC236}">
                  <a16:creationId xmlns:a16="http://schemas.microsoft.com/office/drawing/2014/main" id="{00852D70-A028-F880-0564-917D033B4DE1}"/>
                </a:ext>
              </a:extLst>
            </p:cNvPr>
            <p:cNvSpPr/>
            <p:nvPr/>
          </p:nvSpPr>
          <p:spPr>
            <a:xfrm>
              <a:off x="457200" y="1280160"/>
              <a:ext cx="73152" cy="2651760"/>
            </a:xfrm>
            <a:prstGeom prst="rect">
              <a:avLst/>
            </a:prstGeom>
            <a:solidFill>
              <a:srgbClr val="4A90A4"/>
            </a:solidFill>
            <a:ln/>
          </p:spPr>
          <p:txBody>
            <a:bodyPr/>
            <a:lstStyle/>
            <a:p>
              <a:endParaRPr lang="en-US" sz="2800">
                <a:latin typeface="Helvetica Neue Light"/>
              </a:endParaRPr>
            </a:p>
          </p:txBody>
        </p:sp>
        <p:sp>
          <p:nvSpPr>
            <p:cNvPr id="24" name="Text 5">
              <a:extLst>
                <a:ext uri="{FF2B5EF4-FFF2-40B4-BE49-F238E27FC236}">
                  <a16:creationId xmlns:a16="http://schemas.microsoft.com/office/drawing/2014/main" id="{6E6809B1-5595-B9BC-83AD-296E0AE16A0B}"/>
                </a:ext>
              </a:extLst>
            </p:cNvPr>
            <p:cNvSpPr/>
            <p:nvPr/>
          </p:nvSpPr>
          <p:spPr>
            <a:xfrm>
              <a:off x="685800" y="1301168"/>
              <a:ext cx="3566160" cy="320040"/>
            </a:xfrm>
            <a:prstGeom prst="rect">
              <a:avLst/>
            </a:prstGeom>
            <a:noFill/>
            <a:ln/>
          </p:spPr>
          <p:txBody>
            <a:bodyPr wrap="square" rtlCol="0" anchor="ctr"/>
            <a:lstStyle/>
            <a:p>
              <a:pPr marL="0" indent="0">
                <a:buNone/>
              </a:pPr>
              <a:r>
                <a:rPr lang="en-US" sz="2000" b="1" dirty="0">
                  <a:solidFill>
                    <a:srgbClr val="1E3A5F"/>
                  </a:solidFill>
                  <a:latin typeface="Helvetica Neue Light"/>
                  <a:ea typeface="Arial" pitchFamily="34" charset="-122"/>
                  <a:cs typeface="Arial" pitchFamily="34" charset="-120"/>
                </a:rPr>
                <a:t>Use Prompting When:</a:t>
              </a:r>
              <a:endParaRPr lang="en-US" sz="2000" dirty="0">
                <a:latin typeface="Helvetica Neue Light"/>
              </a:endParaRPr>
            </a:p>
          </p:txBody>
        </p:sp>
        <p:sp>
          <p:nvSpPr>
            <p:cNvPr id="25" name="Text 6">
              <a:extLst>
                <a:ext uri="{FF2B5EF4-FFF2-40B4-BE49-F238E27FC236}">
                  <a16:creationId xmlns:a16="http://schemas.microsoft.com/office/drawing/2014/main" id="{006E5A61-B683-0DAD-2716-1407D58FD276}"/>
                </a:ext>
              </a:extLst>
            </p:cNvPr>
            <p:cNvSpPr/>
            <p:nvPr/>
          </p:nvSpPr>
          <p:spPr>
            <a:xfrm>
              <a:off x="685800" y="1737360"/>
              <a:ext cx="3703319" cy="2011680"/>
            </a:xfrm>
            <a:prstGeom prst="rect">
              <a:avLst/>
            </a:prstGeom>
            <a:noFill/>
            <a:ln/>
          </p:spPr>
          <p:txBody>
            <a:bodyPr wrap="square" rtlCol="0" anchor="t"/>
            <a:lstStyle/>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Experimenting with different approaches</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Task can be explained in natural language</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Limited training data available</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Need flexibility to change behavior quickly</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Budget constraints</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Using third-party API (can't fine-tune)</a:t>
              </a:r>
              <a:endParaRPr lang="en-US" dirty="0">
                <a:latin typeface="Helvetica Neue Light"/>
              </a:endParaRPr>
            </a:p>
          </p:txBody>
        </p:sp>
        <p:sp>
          <p:nvSpPr>
            <p:cNvPr id="26" name="Shape 7">
              <a:extLst>
                <a:ext uri="{FF2B5EF4-FFF2-40B4-BE49-F238E27FC236}">
                  <a16:creationId xmlns:a16="http://schemas.microsoft.com/office/drawing/2014/main" id="{C41401EA-21BE-C1FF-353D-DF0EC1CAA7FB}"/>
                </a:ext>
              </a:extLst>
            </p:cNvPr>
            <p:cNvSpPr/>
            <p:nvPr/>
          </p:nvSpPr>
          <p:spPr>
            <a:xfrm>
              <a:off x="4754880" y="1280160"/>
              <a:ext cx="3931920" cy="2651760"/>
            </a:xfrm>
            <a:prstGeom prst="rect">
              <a:avLst/>
            </a:prstGeom>
            <a:solidFill>
              <a:srgbClr val="FFFFFF"/>
            </a:solidFill>
            <a:ln/>
          </p:spPr>
          <p:txBody>
            <a:bodyPr/>
            <a:lstStyle/>
            <a:p>
              <a:endParaRPr lang="en-US" sz="2800">
                <a:latin typeface="Helvetica Neue Light"/>
              </a:endParaRPr>
            </a:p>
          </p:txBody>
        </p:sp>
        <p:sp>
          <p:nvSpPr>
            <p:cNvPr id="27" name="Shape 8">
              <a:extLst>
                <a:ext uri="{FF2B5EF4-FFF2-40B4-BE49-F238E27FC236}">
                  <a16:creationId xmlns:a16="http://schemas.microsoft.com/office/drawing/2014/main" id="{BFAD61D1-CF13-C9C4-6473-F7EF059ED388}"/>
                </a:ext>
              </a:extLst>
            </p:cNvPr>
            <p:cNvSpPr/>
            <p:nvPr/>
          </p:nvSpPr>
          <p:spPr>
            <a:xfrm>
              <a:off x="4754880" y="1280160"/>
              <a:ext cx="73152" cy="2651760"/>
            </a:xfrm>
            <a:prstGeom prst="rect">
              <a:avLst/>
            </a:prstGeom>
            <a:solidFill>
              <a:srgbClr val="E07A5F"/>
            </a:solidFill>
            <a:ln/>
          </p:spPr>
          <p:txBody>
            <a:bodyPr/>
            <a:lstStyle/>
            <a:p>
              <a:endParaRPr lang="en-US" sz="2800">
                <a:latin typeface="Helvetica Neue Light"/>
              </a:endParaRPr>
            </a:p>
          </p:txBody>
        </p:sp>
        <p:sp>
          <p:nvSpPr>
            <p:cNvPr id="28" name="Text 9">
              <a:extLst>
                <a:ext uri="{FF2B5EF4-FFF2-40B4-BE49-F238E27FC236}">
                  <a16:creationId xmlns:a16="http://schemas.microsoft.com/office/drawing/2014/main" id="{FFED5F18-1896-5163-1CDC-33458CF131BA}"/>
                </a:ext>
              </a:extLst>
            </p:cNvPr>
            <p:cNvSpPr/>
            <p:nvPr/>
          </p:nvSpPr>
          <p:spPr>
            <a:xfrm>
              <a:off x="4983480" y="1301168"/>
              <a:ext cx="3566160" cy="320040"/>
            </a:xfrm>
            <a:prstGeom prst="rect">
              <a:avLst/>
            </a:prstGeom>
            <a:noFill/>
            <a:ln/>
          </p:spPr>
          <p:txBody>
            <a:bodyPr wrap="square" rtlCol="0" anchor="ctr"/>
            <a:lstStyle/>
            <a:p>
              <a:pPr marL="0" indent="0">
                <a:buNone/>
              </a:pPr>
              <a:r>
                <a:rPr lang="en-US" sz="2000" b="1" dirty="0">
                  <a:solidFill>
                    <a:srgbClr val="1E3A5F"/>
                  </a:solidFill>
                  <a:latin typeface="Helvetica Neue Light"/>
                  <a:ea typeface="Arial" pitchFamily="34" charset="-122"/>
                  <a:cs typeface="Arial" pitchFamily="34" charset="-120"/>
                </a:rPr>
                <a:t>Use Fine-Tuning When:</a:t>
              </a:r>
              <a:endParaRPr lang="en-US" sz="2000" dirty="0">
                <a:latin typeface="Helvetica Neue Light"/>
              </a:endParaRPr>
            </a:p>
          </p:txBody>
        </p:sp>
        <p:sp>
          <p:nvSpPr>
            <p:cNvPr id="29" name="Text 10">
              <a:extLst>
                <a:ext uri="{FF2B5EF4-FFF2-40B4-BE49-F238E27FC236}">
                  <a16:creationId xmlns:a16="http://schemas.microsoft.com/office/drawing/2014/main" id="{B0015162-4ECC-98B0-211F-806D6A7541D3}"/>
                </a:ext>
              </a:extLst>
            </p:cNvPr>
            <p:cNvSpPr/>
            <p:nvPr/>
          </p:nvSpPr>
          <p:spPr>
            <a:xfrm>
              <a:off x="4983480" y="1737360"/>
              <a:ext cx="3703320" cy="2011680"/>
            </a:xfrm>
            <a:prstGeom prst="rect">
              <a:avLst/>
            </a:prstGeom>
            <a:noFill/>
            <a:ln/>
          </p:spPr>
          <p:txBody>
            <a:bodyPr wrap="square" rtlCol="0" anchor="t"/>
            <a:lstStyle/>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Prompting consistently underperforms</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Have abundant high-quality training data</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Need consistent style/format at scale</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Domain requires specialized knowledge</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Reducing per-query costs at high volume</a:t>
              </a:r>
              <a:endParaRPr lang="en-US" dirty="0">
                <a:latin typeface="Helvetica Neue Light"/>
              </a:endParaRPr>
            </a:p>
            <a:p>
              <a:pPr marL="285750" indent="-285750">
                <a:buFont typeface="Arial" panose="020B0604020202020204" pitchFamily="34" charset="0"/>
                <a:buChar char="•"/>
              </a:pPr>
              <a:r>
                <a:rPr lang="en-US" dirty="0">
                  <a:solidFill>
                    <a:srgbClr val="333333"/>
                  </a:solidFill>
                  <a:latin typeface="Helvetica Neue Light"/>
                  <a:ea typeface="Arial" pitchFamily="34" charset="-122"/>
                  <a:cs typeface="Arial" pitchFamily="34" charset="-120"/>
                </a:rPr>
                <a:t>Building proprietary competitive advantage</a:t>
              </a:r>
              <a:endParaRPr lang="en-US" dirty="0">
                <a:latin typeface="Helvetica Neue Light"/>
              </a:endParaRPr>
            </a:p>
          </p:txBody>
        </p:sp>
        <p:sp>
          <p:nvSpPr>
            <p:cNvPr id="30" name="Shape 11">
              <a:extLst>
                <a:ext uri="{FF2B5EF4-FFF2-40B4-BE49-F238E27FC236}">
                  <a16:creationId xmlns:a16="http://schemas.microsoft.com/office/drawing/2014/main" id="{EFA5FF53-4474-8873-4B98-4BA73BED2CC7}"/>
                </a:ext>
              </a:extLst>
            </p:cNvPr>
            <p:cNvSpPr/>
            <p:nvPr/>
          </p:nvSpPr>
          <p:spPr>
            <a:xfrm>
              <a:off x="457200" y="4069080"/>
              <a:ext cx="8229600" cy="594360"/>
            </a:xfrm>
            <a:prstGeom prst="rect">
              <a:avLst/>
            </a:prstGeom>
            <a:solidFill>
              <a:srgbClr val="1E3A5F"/>
            </a:solidFill>
            <a:ln/>
          </p:spPr>
          <p:txBody>
            <a:bodyPr/>
            <a:lstStyle/>
            <a:p>
              <a:endParaRPr lang="en-US" sz="2800">
                <a:latin typeface="Helvetica Neue Light"/>
              </a:endParaRPr>
            </a:p>
          </p:txBody>
        </p:sp>
        <p:sp>
          <p:nvSpPr>
            <p:cNvPr id="31" name="Text 12">
              <a:extLst>
                <a:ext uri="{FF2B5EF4-FFF2-40B4-BE49-F238E27FC236}">
                  <a16:creationId xmlns:a16="http://schemas.microsoft.com/office/drawing/2014/main" id="{F1EE2B4C-33AE-FB77-3042-4A18FEC1CF85}"/>
                </a:ext>
              </a:extLst>
            </p:cNvPr>
            <p:cNvSpPr/>
            <p:nvPr/>
          </p:nvSpPr>
          <p:spPr>
            <a:xfrm>
              <a:off x="594360" y="4133088"/>
              <a:ext cx="7955280" cy="457200"/>
            </a:xfrm>
            <a:prstGeom prst="rect">
              <a:avLst/>
            </a:prstGeom>
            <a:noFill/>
            <a:ln/>
          </p:spPr>
          <p:txBody>
            <a:bodyPr wrap="square" rtlCol="0" anchor="ctr"/>
            <a:lstStyle/>
            <a:p>
              <a:pPr marL="0" indent="0">
                <a:buNone/>
              </a:pPr>
              <a:r>
                <a:rPr lang="en-US" sz="2000" b="1" dirty="0">
                  <a:solidFill>
                    <a:srgbClr val="FFFFFF"/>
                  </a:solidFill>
                  <a:latin typeface="Helvetica Neue Light"/>
                  <a:ea typeface="Arial" pitchFamily="34" charset="-122"/>
                  <a:cs typeface="Arial" pitchFamily="34" charset="-120"/>
                </a:rPr>
                <a:t>Examples: </a:t>
              </a:r>
              <a:r>
                <a:rPr lang="en-US" sz="2000" dirty="0">
                  <a:solidFill>
                    <a:srgbClr val="FFFFFF"/>
                  </a:solidFill>
                  <a:latin typeface="Helvetica Neue Light"/>
                  <a:ea typeface="Arial" pitchFamily="34" charset="-122"/>
                  <a:cs typeface="Arial" pitchFamily="34" charset="-120"/>
                </a:rPr>
                <a:t>Customer service chatbot with brand voice → try prompting first. Medical diagnosis assistant needing specialized terminology → likely needs fine-tuning.</a:t>
              </a:r>
              <a:endParaRPr lang="en-US" sz="2000" dirty="0">
                <a:latin typeface="Helvetica Neue Light"/>
              </a:endParaRPr>
            </a:p>
          </p:txBody>
        </p:sp>
      </p:grpSp>
    </p:spTree>
    <p:extLst>
      <p:ext uri="{BB962C8B-B14F-4D97-AF65-F5344CB8AC3E}">
        <p14:creationId xmlns:p14="http://schemas.microsoft.com/office/powerpoint/2010/main" val="187297217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18D2B796-12E9-F952-7A2B-11EC9751A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7B928-77FF-599D-7C9D-B2D7CD294C7F}"/>
              </a:ext>
            </a:extLst>
          </p:cNvPr>
          <p:cNvSpPr>
            <a:spLocks noGrp="1"/>
          </p:cNvSpPr>
          <p:nvPr>
            <p:ph type="title"/>
          </p:nvPr>
        </p:nvSpPr>
        <p:spPr>
          <a:xfrm>
            <a:off x="457200" y="365126"/>
            <a:ext cx="8686800" cy="592213"/>
          </a:xfrm>
        </p:spPr>
        <p:txBody>
          <a:bodyPr/>
          <a:lstStyle/>
          <a:p>
            <a:r>
              <a:rPr lang="en-US" dirty="0"/>
              <a:t>The Spectrum Of Customization Techniques</a:t>
            </a:r>
          </a:p>
        </p:txBody>
      </p:sp>
      <p:sp>
        <p:nvSpPr>
          <p:cNvPr id="5" name="Slide Number Placeholder 4">
            <a:extLst>
              <a:ext uri="{FF2B5EF4-FFF2-40B4-BE49-F238E27FC236}">
                <a16:creationId xmlns:a16="http://schemas.microsoft.com/office/drawing/2014/main" id="{EE348F7D-6354-C1D1-092D-4277B7474C08}"/>
              </a:ext>
            </a:extLst>
          </p:cNvPr>
          <p:cNvSpPr>
            <a:spLocks noGrp="1"/>
          </p:cNvSpPr>
          <p:nvPr>
            <p:ph type="sldNum" sz="quarter" idx="12"/>
          </p:nvPr>
        </p:nvSpPr>
        <p:spPr/>
        <p:txBody>
          <a:bodyPr/>
          <a:lstStyle/>
          <a:p>
            <a:fld id="{21EF4C0E-91FA-4D94-8941-E22F3A83D5F1}" type="slidenum">
              <a:rPr lang="en-US" smtClean="0"/>
              <a:t>117</a:t>
            </a:fld>
            <a:endParaRPr lang="en-US"/>
          </a:p>
        </p:txBody>
      </p:sp>
      <p:sp>
        <p:nvSpPr>
          <p:cNvPr id="6" name="TextBox 5">
            <a:extLst>
              <a:ext uri="{FF2B5EF4-FFF2-40B4-BE49-F238E27FC236}">
                <a16:creationId xmlns:a16="http://schemas.microsoft.com/office/drawing/2014/main" id="{8B7766B4-D7F7-26C7-AB27-12FCF64FAAEC}"/>
              </a:ext>
            </a:extLst>
          </p:cNvPr>
          <p:cNvSpPr txBox="1"/>
          <p:nvPr/>
        </p:nvSpPr>
        <p:spPr>
          <a:xfrm>
            <a:off x="6286500" y="6642556"/>
            <a:ext cx="2536032" cy="215444"/>
          </a:xfrm>
          <a:prstGeom prst="rect">
            <a:avLst/>
          </a:prstGeom>
          <a:noFill/>
        </p:spPr>
        <p:txBody>
          <a:bodyPr wrap="square">
            <a:spAutoFit/>
          </a:bodyPr>
          <a:lstStyle/>
          <a:p>
            <a:r>
              <a:rPr lang="en-US" sz="800" dirty="0">
                <a:solidFill>
                  <a:schemeClr val="bg2">
                    <a:lumMod val="90000"/>
                  </a:schemeClr>
                </a:solidFill>
              </a:rPr>
              <a:t>https://share.google/images/kkXOjoMTJ97IU5fhe</a:t>
            </a:r>
          </a:p>
        </p:txBody>
      </p:sp>
      <p:sp>
        <p:nvSpPr>
          <p:cNvPr id="7" name="Text 3">
            <a:extLst>
              <a:ext uri="{FF2B5EF4-FFF2-40B4-BE49-F238E27FC236}">
                <a16:creationId xmlns:a16="http://schemas.microsoft.com/office/drawing/2014/main" id="{F7D58F3F-C738-3541-C327-0E4AAFE2FD81}"/>
              </a:ext>
            </a:extLst>
          </p:cNvPr>
          <p:cNvSpPr/>
          <p:nvPr/>
        </p:nvSpPr>
        <p:spPr>
          <a:xfrm>
            <a:off x="457200" y="1234440"/>
            <a:ext cx="8229600" cy="274320"/>
          </a:xfrm>
          <a:prstGeom prst="rect">
            <a:avLst/>
          </a:prstGeom>
          <a:noFill/>
          <a:ln/>
        </p:spPr>
        <p:txBody>
          <a:bodyPr wrap="square" rtlCol="0" anchor="ctr"/>
          <a:lstStyle/>
          <a:p>
            <a:pPr marL="0" indent="0" algn="ctr">
              <a:buNone/>
            </a:pPr>
            <a:r>
              <a:rPr lang="en-US" sz="1600" dirty="0">
                <a:solidFill>
                  <a:srgbClr val="666666"/>
                </a:solidFill>
                <a:latin typeface="Helvetica Neue Light"/>
                <a:ea typeface="Arial" pitchFamily="34" charset="-122"/>
                <a:cs typeface="Arial" pitchFamily="34" charset="-120"/>
              </a:rPr>
              <a:t>Less Modification                                                                                           More Modification</a:t>
            </a:r>
            <a:endParaRPr lang="en-US" sz="1600" dirty="0">
              <a:latin typeface="Helvetica Neue Light"/>
            </a:endParaRPr>
          </a:p>
        </p:txBody>
      </p:sp>
      <p:sp>
        <p:nvSpPr>
          <p:cNvPr id="8" name="Shape 4">
            <a:extLst>
              <a:ext uri="{FF2B5EF4-FFF2-40B4-BE49-F238E27FC236}">
                <a16:creationId xmlns:a16="http://schemas.microsoft.com/office/drawing/2014/main" id="{EEA076A1-D896-F26A-2732-AE8FC16936C4}"/>
              </a:ext>
            </a:extLst>
          </p:cNvPr>
          <p:cNvSpPr/>
          <p:nvPr/>
        </p:nvSpPr>
        <p:spPr>
          <a:xfrm>
            <a:off x="457200" y="1508760"/>
            <a:ext cx="8229600" cy="137160"/>
          </a:xfrm>
          <a:prstGeom prst="rect">
            <a:avLst/>
          </a:prstGeom>
          <a:solidFill>
            <a:srgbClr val="4A90A4"/>
          </a:solidFill>
          <a:ln/>
        </p:spPr>
        <p:txBody>
          <a:bodyPr/>
          <a:lstStyle/>
          <a:p>
            <a:endParaRPr lang="en-US" sz="2800">
              <a:latin typeface="Helvetica Neue Light"/>
            </a:endParaRPr>
          </a:p>
        </p:txBody>
      </p:sp>
      <p:sp>
        <p:nvSpPr>
          <p:cNvPr id="9" name="Shape 5">
            <a:extLst>
              <a:ext uri="{FF2B5EF4-FFF2-40B4-BE49-F238E27FC236}">
                <a16:creationId xmlns:a16="http://schemas.microsoft.com/office/drawing/2014/main" id="{F6847404-10CA-2263-24F1-3D9D4181EC66}"/>
              </a:ext>
            </a:extLst>
          </p:cNvPr>
          <p:cNvSpPr/>
          <p:nvPr/>
        </p:nvSpPr>
        <p:spPr>
          <a:xfrm>
            <a:off x="6400800" y="1508760"/>
            <a:ext cx="2286000" cy="137160"/>
          </a:xfrm>
          <a:prstGeom prst="rect">
            <a:avLst/>
          </a:prstGeom>
          <a:solidFill>
            <a:srgbClr val="E07A5F"/>
          </a:solidFill>
          <a:ln/>
        </p:spPr>
        <p:txBody>
          <a:bodyPr/>
          <a:lstStyle/>
          <a:p>
            <a:endParaRPr lang="en-US" sz="2800">
              <a:latin typeface="Helvetica Neue Light"/>
            </a:endParaRPr>
          </a:p>
        </p:txBody>
      </p:sp>
      <p:sp>
        <p:nvSpPr>
          <p:cNvPr id="10" name="Shape 6">
            <a:extLst>
              <a:ext uri="{FF2B5EF4-FFF2-40B4-BE49-F238E27FC236}">
                <a16:creationId xmlns:a16="http://schemas.microsoft.com/office/drawing/2014/main" id="{FA87C1D7-25E0-4DAB-8103-2419361D179D}"/>
              </a:ext>
            </a:extLst>
          </p:cNvPr>
          <p:cNvSpPr/>
          <p:nvPr/>
        </p:nvSpPr>
        <p:spPr>
          <a:xfrm>
            <a:off x="457200" y="1808721"/>
            <a:ext cx="1920240" cy="1645920"/>
          </a:xfrm>
          <a:prstGeom prst="rect">
            <a:avLst/>
          </a:prstGeom>
          <a:solidFill>
            <a:srgbClr val="FFFFFF"/>
          </a:solidFill>
          <a:ln/>
        </p:spPr>
        <p:txBody>
          <a:bodyPr/>
          <a:lstStyle/>
          <a:p>
            <a:endParaRPr lang="en-US" sz="2800">
              <a:latin typeface="Helvetica Neue Light"/>
            </a:endParaRPr>
          </a:p>
        </p:txBody>
      </p:sp>
      <p:sp>
        <p:nvSpPr>
          <p:cNvPr id="11" name="Text 7">
            <a:extLst>
              <a:ext uri="{FF2B5EF4-FFF2-40B4-BE49-F238E27FC236}">
                <a16:creationId xmlns:a16="http://schemas.microsoft.com/office/drawing/2014/main" id="{AAA04613-B46A-1F8C-6BA6-B5EDCE610016}"/>
              </a:ext>
            </a:extLst>
          </p:cNvPr>
          <p:cNvSpPr/>
          <p:nvPr/>
        </p:nvSpPr>
        <p:spPr>
          <a:xfrm>
            <a:off x="548640" y="1874520"/>
            <a:ext cx="1737360" cy="274320"/>
          </a:xfrm>
          <a:prstGeom prst="rect">
            <a:avLst/>
          </a:prstGeom>
          <a:noFill/>
          <a:ln/>
        </p:spPr>
        <p:txBody>
          <a:bodyPr wrap="square" rtlCol="0" anchor="ctr"/>
          <a:lstStyle/>
          <a:p>
            <a:pPr marL="0" indent="0" algn="ctr">
              <a:buNone/>
            </a:pPr>
            <a:r>
              <a:rPr lang="en-US" b="1" dirty="0">
                <a:solidFill>
                  <a:srgbClr val="4A90A4"/>
                </a:solidFill>
                <a:latin typeface="Helvetica Neue Light"/>
              </a:rPr>
              <a:t>Zero-Shot</a:t>
            </a:r>
            <a:endParaRPr lang="en-US" dirty="0">
              <a:latin typeface="Helvetica Neue Light"/>
            </a:endParaRPr>
          </a:p>
        </p:txBody>
      </p:sp>
      <p:sp>
        <p:nvSpPr>
          <p:cNvPr id="12" name="Text 8">
            <a:extLst>
              <a:ext uri="{FF2B5EF4-FFF2-40B4-BE49-F238E27FC236}">
                <a16:creationId xmlns:a16="http://schemas.microsoft.com/office/drawing/2014/main" id="{C8E0A3F4-CAE0-A996-A7E5-D66AEE3089CB}"/>
              </a:ext>
            </a:extLst>
          </p:cNvPr>
          <p:cNvSpPr/>
          <p:nvPr/>
        </p:nvSpPr>
        <p:spPr>
          <a:xfrm>
            <a:off x="548640" y="2194560"/>
            <a:ext cx="1828800" cy="1234440"/>
          </a:xfrm>
          <a:prstGeom prst="rect">
            <a:avLst/>
          </a:prstGeom>
          <a:noFill/>
          <a:ln/>
        </p:spPr>
        <p:txBody>
          <a:bodyPr wrap="square" rtlCol="0" anchor="ctr"/>
          <a:lstStyle/>
          <a:p>
            <a:pPr marL="0" indent="0" algn="ctr">
              <a:buNone/>
            </a:pPr>
            <a:r>
              <a:rPr lang="en-US" sz="1600" dirty="0">
                <a:solidFill>
                  <a:srgbClr val="333333"/>
                </a:solidFill>
                <a:latin typeface="Helvetica Neue Light"/>
              </a:rPr>
              <a:t>Just ask the model to do the task with no examples</a:t>
            </a:r>
            <a:endParaRPr lang="en-US" sz="1600" dirty="0">
              <a:latin typeface="Helvetica Neue Light"/>
            </a:endParaRPr>
          </a:p>
        </p:txBody>
      </p:sp>
      <p:sp>
        <p:nvSpPr>
          <p:cNvPr id="13" name="Shape 9">
            <a:extLst>
              <a:ext uri="{FF2B5EF4-FFF2-40B4-BE49-F238E27FC236}">
                <a16:creationId xmlns:a16="http://schemas.microsoft.com/office/drawing/2014/main" id="{C3AD114A-E9B8-4B90-B3AA-25E3B5C01581}"/>
              </a:ext>
            </a:extLst>
          </p:cNvPr>
          <p:cNvSpPr/>
          <p:nvPr/>
        </p:nvSpPr>
        <p:spPr>
          <a:xfrm>
            <a:off x="2587752" y="1808721"/>
            <a:ext cx="1920240" cy="1645920"/>
          </a:xfrm>
          <a:prstGeom prst="rect">
            <a:avLst/>
          </a:prstGeom>
          <a:solidFill>
            <a:srgbClr val="FFFFFF"/>
          </a:solidFill>
          <a:ln/>
        </p:spPr>
        <p:txBody>
          <a:bodyPr/>
          <a:lstStyle/>
          <a:p>
            <a:endParaRPr lang="en-US" sz="2800">
              <a:latin typeface="Helvetica Neue Light"/>
            </a:endParaRPr>
          </a:p>
        </p:txBody>
      </p:sp>
      <p:sp>
        <p:nvSpPr>
          <p:cNvPr id="14" name="Text 10">
            <a:extLst>
              <a:ext uri="{FF2B5EF4-FFF2-40B4-BE49-F238E27FC236}">
                <a16:creationId xmlns:a16="http://schemas.microsoft.com/office/drawing/2014/main" id="{738589D6-053A-EEE8-2EE4-10599632CD5F}"/>
              </a:ext>
            </a:extLst>
          </p:cNvPr>
          <p:cNvSpPr/>
          <p:nvPr/>
        </p:nvSpPr>
        <p:spPr>
          <a:xfrm>
            <a:off x="2679192" y="1874520"/>
            <a:ext cx="1737360" cy="274320"/>
          </a:xfrm>
          <a:prstGeom prst="rect">
            <a:avLst/>
          </a:prstGeom>
          <a:noFill/>
          <a:ln/>
        </p:spPr>
        <p:txBody>
          <a:bodyPr wrap="square" rtlCol="0" anchor="ctr"/>
          <a:lstStyle/>
          <a:p>
            <a:pPr marL="0" indent="0" algn="ctr">
              <a:buNone/>
            </a:pPr>
            <a:r>
              <a:rPr lang="en-US" b="1" dirty="0">
                <a:solidFill>
                  <a:srgbClr val="4A90A4"/>
                </a:solidFill>
                <a:latin typeface="Helvetica Neue Light"/>
              </a:rPr>
              <a:t>Few-Shot</a:t>
            </a:r>
            <a:endParaRPr lang="en-US" dirty="0">
              <a:latin typeface="Helvetica Neue Light"/>
            </a:endParaRPr>
          </a:p>
        </p:txBody>
      </p:sp>
      <p:sp>
        <p:nvSpPr>
          <p:cNvPr id="15" name="Text 11">
            <a:extLst>
              <a:ext uri="{FF2B5EF4-FFF2-40B4-BE49-F238E27FC236}">
                <a16:creationId xmlns:a16="http://schemas.microsoft.com/office/drawing/2014/main" id="{AA024477-0970-472B-4B34-6B05D275D53A}"/>
              </a:ext>
            </a:extLst>
          </p:cNvPr>
          <p:cNvSpPr/>
          <p:nvPr/>
        </p:nvSpPr>
        <p:spPr>
          <a:xfrm>
            <a:off x="2679192" y="2194560"/>
            <a:ext cx="1828800" cy="1234440"/>
          </a:xfrm>
          <a:prstGeom prst="rect">
            <a:avLst/>
          </a:prstGeom>
          <a:noFill/>
          <a:ln/>
        </p:spPr>
        <p:txBody>
          <a:bodyPr wrap="square" rtlCol="0" anchor="ctr"/>
          <a:lstStyle/>
          <a:p>
            <a:pPr marL="0" indent="0" algn="ctr">
              <a:buNone/>
            </a:pPr>
            <a:r>
              <a:rPr lang="en-US" sz="1600" dirty="0">
                <a:solidFill>
                  <a:srgbClr val="333333"/>
                </a:solidFill>
                <a:latin typeface="Helvetica Neue Light"/>
              </a:rPr>
              <a:t>Provide examples in the prompt to guide behavior</a:t>
            </a:r>
            <a:endParaRPr lang="en-US" sz="1600" dirty="0">
              <a:latin typeface="Helvetica Neue Light"/>
            </a:endParaRPr>
          </a:p>
        </p:txBody>
      </p:sp>
      <p:sp>
        <p:nvSpPr>
          <p:cNvPr id="16" name="Shape 12">
            <a:extLst>
              <a:ext uri="{FF2B5EF4-FFF2-40B4-BE49-F238E27FC236}">
                <a16:creationId xmlns:a16="http://schemas.microsoft.com/office/drawing/2014/main" id="{F0A0F19C-2888-09E6-59EA-DF95940D2333}"/>
              </a:ext>
            </a:extLst>
          </p:cNvPr>
          <p:cNvSpPr/>
          <p:nvPr/>
        </p:nvSpPr>
        <p:spPr>
          <a:xfrm>
            <a:off x="4718304" y="1808721"/>
            <a:ext cx="1920240" cy="1645920"/>
          </a:xfrm>
          <a:prstGeom prst="rect">
            <a:avLst/>
          </a:prstGeom>
          <a:solidFill>
            <a:srgbClr val="FFFFFF"/>
          </a:solidFill>
          <a:ln/>
        </p:spPr>
        <p:txBody>
          <a:bodyPr/>
          <a:lstStyle/>
          <a:p>
            <a:endParaRPr lang="en-US" sz="2800">
              <a:latin typeface="Helvetica Neue Light"/>
            </a:endParaRPr>
          </a:p>
        </p:txBody>
      </p:sp>
      <p:sp>
        <p:nvSpPr>
          <p:cNvPr id="17" name="Text 13">
            <a:extLst>
              <a:ext uri="{FF2B5EF4-FFF2-40B4-BE49-F238E27FC236}">
                <a16:creationId xmlns:a16="http://schemas.microsoft.com/office/drawing/2014/main" id="{740C234D-2BDD-D176-FF22-8D9658938689}"/>
              </a:ext>
            </a:extLst>
          </p:cNvPr>
          <p:cNvSpPr/>
          <p:nvPr/>
        </p:nvSpPr>
        <p:spPr>
          <a:xfrm>
            <a:off x="4809744" y="1874520"/>
            <a:ext cx="1737360" cy="274320"/>
          </a:xfrm>
          <a:prstGeom prst="rect">
            <a:avLst/>
          </a:prstGeom>
          <a:noFill/>
          <a:ln/>
        </p:spPr>
        <p:txBody>
          <a:bodyPr wrap="square" rtlCol="0" anchor="ctr"/>
          <a:lstStyle/>
          <a:p>
            <a:pPr marL="0" indent="0" algn="ctr">
              <a:buNone/>
            </a:pPr>
            <a:r>
              <a:rPr lang="en-US" b="1" dirty="0">
                <a:solidFill>
                  <a:srgbClr val="4A90A4"/>
                </a:solidFill>
                <a:latin typeface="Helvetica Neue Light"/>
              </a:rPr>
              <a:t>RAG</a:t>
            </a:r>
            <a:endParaRPr lang="en-US" dirty="0">
              <a:latin typeface="Helvetica Neue Light"/>
            </a:endParaRPr>
          </a:p>
        </p:txBody>
      </p:sp>
      <p:sp>
        <p:nvSpPr>
          <p:cNvPr id="18" name="Text 14">
            <a:extLst>
              <a:ext uri="{FF2B5EF4-FFF2-40B4-BE49-F238E27FC236}">
                <a16:creationId xmlns:a16="http://schemas.microsoft.com/office/drawing/2014/main" id="{5A56DAEA-8CCD-F5F0-A66D-3319FA21B0FF}"/>
              </a:ext>
            </a:extLst>
          </p:cNvPr>
          <p:cNvSpPr/>
          <p:nvPr/>
        </p:nvSpPr>
        <p:spPr>
          <a:xfrm>
            <a:off x="4809744" y="2194560"/>
            <a:ext cx="1737360" cy="1234440"/>
          </a:xfrm>
          <a:prstGeom prst="rect">
            <a:avLst/>
          </a:prstGeom>
          <a:noFill/>
          <a:ln/>
        </p:spPr>
        <p:txBody>
          <a:bodyPr wrap="square" rtlCol="0" anchor="ctr"/>
          <a:lstStyle/>
          <a:p>
            <a:pPr marL="0" indent="0" algn="ctr">
              <a:buNone/>
            </a:pPr>
            <a:r>
              <a:rPr lang="en-US" sz="1600" dirty="0">
                <a:solidFill>
                  <a:srgbClr val="333333"/>
                </a:solidFill>
                <a:latin typeface="Helvetica Neue Light"/>
              </a:rPr>
              <a:t>Retrieve relevant docs and inject into context</a:t>
            </a:r>
            <a:endParaRPr lang="en-US" sz="1600" dirty="0">
              <a:latin typeface="Helvetica Neue Light"/>
            </a:endParaRPr>
          </a:p>
        </p:txBody>
      </p:sp>
      <p:sp>
        <p:nvSpPr>
          <p:cNvPr id="19" name="Shape 15">
            <a:extLst>
              <a:ext uri="{FF2B5EF4-FFF2-40B4-BE49-F238E27FC236}">
                <a16:creationId xmlns:a16="http://schemas.microsoft.com/office/drawing/2014/main" id="{C08D041A-8340-07BA-92A8-52E327029C5E}"/>
              </a:ext>
            </a:extLst>
          </p:cNvPr>
          <p:cNvSpPr/>
          <p:nvPr/>
        </p:nvSpPr>
        <p:spPr>
          <a:xfrm>
            <a:off x="6848856" y="1783080"/>
            <a:ext cx="1920240" cy="1645920"/>
          </a:xfrm>
          <a:prstGeom prst="rect">
            <a:avLst/>
          </a:prstGeom>
          <a:solidFill>
            <a:srgbClr val="FFFFFF"/>
          </a:solidFill>
          <a:ln/>
        </p:spPr>
        <p:txBody>
          <a:bodyPr/>
          <a:lstStyle/>
          <a:p>
            <a:endParaRPr lang="en-US" sz="2800">
              <a:latin typeface="Helvetica Neue Light"/>
            </a:endParaRPr>
          </a:p>
        </p:txBody>
      </p:sp>
      <p:sp>
        <p:nvSpPr>
          <p:cNvPr id="20" name="Text 16">
            <a:extLst>
              <a:ext uri="{FF2B5EF4-FFF2-40B4-BE49-F238E27FC236}">
                <a16:creationId xmlns:a16="http://schemas.microsoft.com/office/drawing/2014/main" id="{7B4084B6-5910-C68E-9B77-8BF22E475635}"/>
              </a:ext>
            </a:extLst>
          </p:cNvPr>
          <p:cNvSpPr/>
          <p:nvPr/>
        </p:nvSpPr>
        <p:spPr>
          <a:xfrm>
            <a:off x="6940296" y="1874520"/>
            <a:ext cx="1737360" cy="274320"/>
          </a:xfrm>
          <a:prstGeom prst="rect">
            <a:avLst/>
          </a:prstGeom>
          <a:noFill/>
          <a:ln/>
        </p:spPr>
        <p:txBody>
          <a:bodyPr wrap="square" rtlCol="0" anchor="ctr"/>
          <a:lstStyle/>
          <a:p>
            <a:pPr marL="0" indent="0" algn="ctr">
              <a:buNone/>
            </a:pPr>
            <a:r>
              <a:rPr lang="en-US" b="1" dirty="0">
                <a:solidFill>
                  <a:srgbClr val="E07A5F"/>
                </a:solidFill>
                <a:latin typeface="Helvetica Neue Light"/>
              </a:rPr>
              <a:t>Fine-Tuning</a:t>
            </a:r>
            <a:endParaRPr lang="en-US" dirty="0">
              <a:latin typeface="Helvetica Neue Light"/>
            </a:endParaRPr>
          </a:p>
        </p:txBody>
      </p:sp>
      <p:sp>
        <p:nvSpPr>
          <p:cNvPr id="21" name="Text 17">
            <a:extLst>
              <a:ext uri="{FF2B5EF4-FFF2-40B4-BE49-F238E27FC236}">
                <a16:creationId xmlns:a16="http://schemas.microsoft.com/office/drawing/2014/main" id="{D56E0C0E-E54D-EF0A-13F9-8759D40CA65F}"/>
              </a:ext>
            </a:extLst>
          </p:cNvPr>
          <p:cNvSpPr/>
          <p:nvPr/>
        </p:nvSpPr>
        <p:spPr>
          <a:xfrm>
            <a:off x="6940296" y="2194560"/>
            <a:ext cx="1737360" cy="1234440"/>
          </a:xfrm>
          <a:prstGeom prst="rect">
            <a:avLst/>
          </a:prstGeom>
          <a:noFill/>
          <a:ln/>
        </p:spPr>
        <p:txBody>
          <a:bodyPr wrap="square" rtlCol="0" anchor="ctr"/>
          <a:lstStyle/>
          <a:p>
            <a:pPr marL="0" indent="0" algn="ctr">
              <a:buNone/>
            </a:pPr>
            <a:r>
              <a:rPr lang="en-US" sz="1600" dirty="0">
                <a:solidFill>
                  <a:srgbClr val="333333"/>
                </a:solidFill>
                <a:latin typeface="Helvetica Neue Light"/>
              </a:rPr>
              <a:t>Update model weights with new training data</a:t>
            </a:r>
            <a:endParaRPr lang="en-US" sz="1600" dirty="0">
              <a:latin typeface="Helvetica Neue Light"/>
            </a:endParaRPr>
          </a:p>
        </p:txBody>
      </p:sp>
      <p:sp>
        <p:nvSpPr>
          <p:cNvPr id="22" name="Text 18">
            <a:extLst>
              <a:ext uri="{FF2B5EF4-FFF2-40B4-BE49-F238E27FC236}">
                <a16:creationId xmlns:a16="http://schemas.microsoft.com/office/drawing/2014/main" id="{F2F4F2D5-A53C-ADEB-7E9A-3B8A56A76835}"/>
              </a:ext>
            </a:extLst>
          </p:cNvPr>
          <p:cNvSpPr/>
          <p:nvPr/>
        </p:nvSpPr>
        <p:spPr>
          <a:xfrm>
            <a:off x="457200" y="3820401"/>
            <a:ext cx="8229600" cy="320040"/>
          </a:xfrm>
          <a:prstGeom prst="rect">
            <a:avLst/>
          </a:prstGeom>
          <a:noFill/>
          <a:ln/>
        </p:spPr>
        <p:txBody>
          <a:bodyPr wrap="square" rtlCol="0" anchor="ctr"/>
          <a:lstStyle/>
          <a:p>
            <a:pPr marL="0" indent="0">
              <a:buNone/>
            </a:pPr>
            <a:r>
              <a:rPr lang="en-US" sz="2000" b="1" dirty="0">
                <a:solidFill>
                  <a:srgbClr val="1E3A5F"/>
                </a:solidFill>
                <a:latin typeface="Helvetica Neue Light"/>
                <a:ea typeface="Arial" pitchFamily="34" charset="-122"/>
                <a:cs typeface="Arial" pitchFamily="34" charset="-120"/>
              </a:rPr>
              <a:t>Fine-Tuning Variants:</a:t>
            </a:r>
            <a:endParaRPr lang="en-US" sz="2000" dirty="0">
              <a:latin typeface="Helvetica Neue Light"/>
            </a:endParaRPr>
          </a:p>
        </p:txBody>
      </p:sp>
      <p:sp>
        <p:nvSpPr>
          <p:cNvPr id="23" name="Text 19">
            <a:extLst>
              <a:ext uri="{FF2B5EF4-FFF2-40B4-BE49-F238E27FC236}">
                <a16:creationId xmlns:a16="http://schemas.microsoft.com/office/drawing/2014/main" id="{92ED9867-01FA-97D1-2EB2-BFEB34639305}"/>
              </a:ext>
            </a:extLst>
          </p:cNvPr>
          <p:cNvSpPr/>
          <p:nvPr/>
        </p:nvSpPr>
        <p:spPr>
          <a:xfrm>
            <a:off x="457200" y="4328971"/>
            <a:ext cx="8365332" cy="1548829"/>
          </a:xfrm>
          <a:prstGeom prst="rect">
            <a:avLst/>
          </a:prstGeom>
          <a:noFill/>
          <a:ln/>
        </p:spPr>
        <p:txBody>
          <a:bodyPr wrap="square" rtlCol="0" anchor="ctr"/>
          <a:lstStyle/>
          <a:p>
            <a:pPr marL="0" indent="0">
              <a:buNone/>
            </a:pPr>
            <a:r>
              <a:rPr lang="en-US" b="1" dirty="0">
                <a:solidFill>
                  <a:srgbClr val="333333"/>
                </a:solidFill>
                <a:latin typeface="Helvetica Neue Light"/>
                <a:ea typeface="Arial" pitchFamily="34" charset="-122"/>
                <a:cs typeface="Arial" pitchFamily="34" charset="-120"/>
              </a:rPr>
              <a:t>Full Fine-Tuning: </a:t>
            </a:r>
            <a:r>
              <a:rPr lang="en-US" dirty="0">
                <a:solidFill>
                  <a:srgbClr val="333333"/>
                </a:solidFill>
                <a:latin typeface="Helvetica Neue Light"/>
                <a:ea typeface="Arial" pitchFamily="34" charset="-122"/>
                <a:cs typeface="Arial" pitchFamily="34" charset="-120"/>
              </a:rPr>
              <a:t>Update all parameters (expensive, risk of "catastrophic forgetting")</a:t>
            </a:r>
          </a:p>
          <a:p>
            <a:pPr marL="0" indent="0">
              <a:buNone/>
            </a:pPr>
            <a:endParaRPr lang="en-US" dirty="0">
              <a:latin typeface="Helvetica Neue Light"/>
            </a:endParaRPr>
          </a:p>
          <a:p>
            <a:pPr marL="0" indent="0">
              <a:buNone/>
            </a:pPr>
            <a:r>
              <a:rPr lang="en-US" b="1" dirty="0">
                <a:solidFill>
                  <a:srgbClr val="333333"/>
                </a:solidFill>
                <a:latin typeface="Helvetica Neue Light"/>
                <a:ea typeface="Arial" pitchFamily="34" charset="-122"/>
                <a:cs typeface="Arial" pitchFamily="34" charset="-120"/>
              </a:rPr>
              <a:t>LoRA (Low-Rank Adaptation): </a:t>
            </a:r>
            <a:r>
              <a:rPr lang="en-US" dirty="0">
                <a:solidFill>
                  <a:srgbClr val="333333"/>
                </a:solidFill>
                <a:latin typeface="Helvetica Neue Light"/>
                <a:ea typeface="Arial" pitchFamily="34" charset="-122"/>
                <a:cs typeface="Arial" pitchFamily="34" charset="-120"/>
              </a:rPr>
              <a:t>Update only small adapter layers (efficient, preserves 	base model)</a:t>
            </a:r>
          </a:p>
          <a:p>
            <a:pPr marL="0" indent="0">
              <a:buNone/>
            </a:pPr>
            <a:endParaRPr lang="en-US" dirty="0">
              <a:latin typeface="Helvetica Neue Light"/>
            </a:endParaRPr>
          </a:p>
          <a:p>
            <a:pPr marL="0" indent="0">
              <a:buNone/>
            </a:pPr>
            <a:r>
              <a:rPr lang="en-US" b="1" dirty="0">
                <a:solidFill>
                  <a:srgbClr val="333333"/>
                </a:solidFill>
                <a:latin typeface="Helvetica Neue Light"/>
                <a:ea typeface="Arial" pitchFamily="34" charset="-122"/>
                <a:cs typeface="Arial" pitchFamily="34" charset="-120"/>
              </a:rPr>
              <a:t>RLHF: </a:t>
            </a:r>
            <a:r>
              <a:rPr lang="en-US" dirty="0">
                <a:solidFill>
                  <a:srgbClr val="333333"/>
                </a:solidFill>
                <a:latin typeface="Helvetica Neue Light"/>
                <a:ea typeface="Arial" pitchFamily="34" charset="-122"/>
                <a:cs typeface="Arial" pitchFamily="34" charset="-120"/>
              </a:rPr>
              <a:t>Fine-tune using human preference feedback (as discussed in Part 11)</a:t>
            </a:r>
            <a:endParaRPr lang="en-US" dirty="0">
              <a:latin typeface="Helvetica Neue Light"/>
            </a:endParaRPr>
          </a:p>
        </p:txBody>
      </p:sp>
    </p:spTree>
    <p:extLst>
      <p:ext uri="{BB962C8B-B14F-4D97-AF65-F5344CB8AC3E}">
        <p14:creationId xmlns:p14="http://schemas.microsoft.com/office/powerpoint/2010/main" val="28079045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ED7B3E1-9C5A-7795-5FEA-70D7BB325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68186-C6EA-2BE5-2366-E21D08104C78}"/>
              </a:ext>
            </a:extLst>
          </p:cNvPr>
          <p:cNvSpPr>
            <a:spLocks noGrp="1"/>
          </p:cNvSpPr>
          <p:nvPr>
            <p:ph type="title"/>
          </p:nvPr>
        </p:nvSpPr>
        <p:spPr>
          <a:xfrm>
            <a:off x="457200" y="365126"/>
            <a:ext cx="8686800" cy="592213"/>
          </a:xfrm>
        </p:spPr>
        <p:txBody>
          <a:bodyPr/>
          <a:lstStyle/>
          <a:p>
            <a:r>
              <a:rPr lang="en-US" dirty="0"/>
              <a:t>Key Takeaways And Decision Framework</a:t>
            </a:r>
          </a:p>
        </p:txBody>
      </p:sp>
      <p:sp>
        <p:nvSpPr>
          <p:cNvPr id="5" name="Slide Number Placeholder 4">
            <a:extLst>
              <a:ext uri="{FF2B5EF4-FFF2-40B4-BE49-F238E27FC236}">
                <a16:creationId xmlns:a16="http://schemas.microsoft.com/office/drawing/2014/main" id="{37FED4B1-EB16-BEBF-3889-0FA3BC422704}"/>
              </a:ext>
            </a:extLst>
          </p:cNvPr>
          <p:cNvSpPr>
            <a:spLocks noGrp="1"/>
          </p:cNvSpPr>
          <p:nvPr>
            <p:ph type="sldNum" sz="quarter" idx="12"/>
          </p:nvPr>
        </p:nvSpPr>
        <p:spPr/>
        <p:txBody>
          <a:bodyPr/>
          <a:lstStyle/>
          <a:p>
            <a:fld id="{21EF4C0E-91FA-4D94-8941-E22F3A83D5F1}" type="slidenum">
              <a:rPr lang="en-US" smtClean="0"/>
              <a:t>118</a:t>
            </a:fld>
            <a:endParaRPr lang="en-US"/>
          </a:p>
        </p:txBody>
      </p:sp>
      <p:grpSp>
        <p:nvGrpSpPr>
          <p:cNvPr id="3" name="Group 2">
            <a:extLst>
              <a:ext uri="{FF2B5EF4-FFF2-40B4-BE49-F238E27FC236}">
                <a16:creationId xmlns:a16="http://schemas.microsoft.com/office/drawing/2014/main" id="{094BF987-4E1D-0909-CFCD-0CE8FE75F514}"/>
              </a:ext>
            </a:extLst>
          </p:cNvPr>
          <p:cNvGrpSpPr/>
          <p:nvPr/>
        </p:nvGrpSpPr>
        <p:grpSpPr>
          <a:xfrm>
            <a:off x="457200" y="1305226"/>
            <a:ext cx="8229600" cy="5187648"/>
            <a:chOff x="457200" y="1208865"/>
            <a:chExt cx="8229600" cy="3408855"/>
          </a:xfrm>
        </p:grpSpPr>
        <p:sp>
          <p:nvSpPr>
            <p:cNvPr id="4" name="Shape 3">
              <a:extLst>
                <a:ext uri="{FF2B5EF4-FFF2-40B4-BE49-F238E27FC236}">
                  <a16:creationId xmlns:a16="http://schemas.microsoft.com/office/drawing/2014/main" id="{79F3D1DF-DCE8-0032-FA1C-015223659827}"/>
                </a:ext>
              </a:extLst>
            </p:cNvPr>
            <p:cNvSpPr/>
            <p:nvPr/>
          </p:nvSpPr>
          <p:spPr>
            <a:xfrm>
              <a:off x="457200" y="1280161"/>
              <a:ext cx="8229600" cy="2125793"/>
            </a:xfrm>
            <a:prstGeom prst="rect">
              <a:avLst/>
            </a:prstGeom>
            <a:solidFill>
              <a:srgbClr val="FFFFFF"/>
            </a:solidFill>
            <a:ln/>
          </p:spPr>
          <p:txBody>
            <a:bodyPr/>
            <a:lstStyle/>
            <a:p>
              <a:endParaRPr lang="en-US" sz="2800">
                <a:latin typeface="Helvetica Neue Light"/>
              </a:endParaRPr>
            </a:p>
          </p:txBody>
        </p:sp>
        <p:sp>
          <p:nvSpPr>
            <p:cNvPr id="6" name="Text 4">
              <a:extLst>
                <a:ext uri="{FF2B5EF4-FFF2-40B4-BE49-F238E27FC236}">
                  <a16:creationId xmlns:a16="http://schemas.microsoft.com/office/drawing/2014/main" id="{35D7CF5A-2963-5B8A-C798-44E5CA2A7C56}"/>
                </a:ext>
              </a:extLst>
            </p:cNvPr>
            <p:cNvSpPr/>
            <p:nvPr/>
          </p:nvSpPr>
          <p:spPr>
            <a:xfrm>
              <a:off x="640080" y="1208865"/>
              <a:ext cx="7863840" cy="320040"/>
            </a:xfrm>
            <a:prstGeom prst="rect">
              <a:avLst/>
            </a:prstGeom>
            <a:noFill/>
            <a:ln/>
          </p:spPr>
          <p:txBody>
            <a:bodyPr wrap="square" rtlCol="0" anchor="ctr"/>
            <a:lstStyle/>
            <a:p>
              <a:pPr marL="0" indent="0">
                <a:buNone/>
              </a:pPr>
              <a:r>
                <a:rPr lang="en-US" sz="2000" b="1" dirty="0">
                  <a:solidFill>
                    <a:srgbClr val="1E3A5F"/>
                  </a:solidFill>
                  <a:latin typeface="Helvetica Neue Light"/>
                  <a:ea typeface="Arial" pitchFamily="34" charset="-122"/>
                  <a:cs typeface="Arial" pitchFamily="34" charset="-120"/>
                </a:rPr>
                <a:t>Decision Framework:</a:t>
              </a:r>
              <a:endParaRPr lang="en-US" sz="2000" dirty="0">
                <a:latin typeface="Helvetica Neue Light"/>
              </a:endParaRPr>
            </a:p>
          </p:txBody>
        </p:sp>
        <p:sp>
          <p:nvSpPr>
            <p:cNvPr id="7" name="Text 5">
              <a:extLst>
                <a:ext uri="{FF2B5EF4-FFF2-40B4-BE49-F238E27FC236}">
                  <a16:creationId xmlns:a16="http://schemas.microsoft.com/office/drawing/2014/main" id="{45F7ACD1-EF6A-52B3-4B70-AA6DCE381998}"/>
                </a:ext>
              </a:extLst>
            </p:cNvPr>
            <p:cNvSpPr/>
            <p:nvPr/>
          </p:nvSpPr>
          <p:spPr>
            <a:xfrm>
              <a:off x="640080" y="1737360"/>
              <a:ext cx="7863840" cy="1737360"/>
            </a:xfrm>
            <a:prstGeom prst="rect">
              <a:avLst/>
            </a:prstGeom>
            <a:noFill/>
            <a:ln/>
          </p:spPr>
          <p:txBody>
            <a:bodyPr wrap="square" rtlCol="0" anchor="t"/>
            <a:lstStyle/>
            <a:p>
              <a:pPr marL="342900" indent="-342900">
                <a:lnSpc>
                  <a:spcPct val="150000"/>
                </a:lnSpc>
                <a:buFont typeface="+mj-lt"/>
                <a:buAutoNum type="arabicPeriod"/>
              </a:pPr>
              <a:r>
                <a:rPr lang="en-US" dirty="0">
                  <a:solidFill>
                    <a:srgbClr val="333333"/>
                  </a:solidFill>
                  <a:latin typeface="Helvetica Neue Light"/>
                  <a:ea typeface="Arial" pitchFamily="34" charset="-122"/>
                  <a:cs typeface="Arial" pitchFamily="34" charset="-120"/>
                </a:rPr>
                <a:t>Start with zero-shot prompting — often surprisingly effective</a:t>
              </a:r>
              <a:endParaRPr lang="en-US" dirty="0">
                <a:latin typeface="Helvetica Neue Light"/>
              </a:endParaRPr>
            </a:p>
            <a:p>
              <a:pPr marL="342900" indent="-342900">
                <a:lnSpc>
                  <a:spcPct val="150000"/>
                </a:lnSpc>
                <a:buFont typeface="+mj-lt"/>
                <a:buAutoNum type="arabicPeriod"/>
              </a:pPr>
              <a:r>
                <a:rPr lang="en-US" dirty="0">
                  <a:solidFill>
                    <a:srgbClr val="333333"/>
                  </a:solidFill>
                  <a:latin typeface="Helvetica Neue Light"/>
                  <a:ea typeface="Arial" pitchFamily="34" charset="-122"/>
                  <a:cs typeface="Arial" pitchFamily="34" charset="-120"/>
                </a:rPr>
                <a:t>If insufficient, add few-shot examples — many tasks solved here</a:t>
              </a:r>
              <a:endParaRPr lang="en-US" dirty="0">
                <a:latin typeface="Helvetica Neue Light"/>
              </a:endParaRPr>
            </a:p>
            <a:p>
              <a:pPr marL="342900" indent="-342900">
                <a:lnSpc>
                  <a:spcPct val="150000"/>
                </a:lnSpc>
                <a:buFont typeface="+mj-lt"/>
                <a:buAutoNum type="arabicPeriod"/>
              </a:pPr>
              <a:r>
                <a:rPr lang="en-US" dirty="0">
                  <a:solidFill>
                    <a:srgbClr val="333333"/>
                  </a:solidFill>
                  <a:latin typeface="Helvetica Neue Light"/>
                  <a:ea typeface="Arial" pitchFamily="34" charset="-122"/>
                  <a:cs typeface="Arial" pitchFamily="34" charset="-120"/>
                </a:rPr>
                <a:t>If still lacking, consider RAG — adds knowledge without retraining</a:t>
              </a:r>
              <a:endParaRPr lang="en-US" dirty="0">
                <a:latin typeface="Helvetica Neue Light"/>
              </a:endParaRPr>
            </a:p>
            <a:p>
              <a:pPr marL="342900" indent="-342900">
                <a:buFont typeface="+mj-lt"/>
                <a:buAutoNum type="arabicPeriod"/>
              </a:pPr>
              <a:r>
                <a:rPr lang="en-US" dirty="0">
                  <a:solidFill>
                    <a:srgbClr val="333333"/>
                  </a:solidFill>
                  <a:latin typeface="Helvetica Neue Light"/>
                  <a:ea typeface="Arial" pitchFamily="34" charset="-122"/>
                  <a:cs typeface="Arial" pitchFamily="34" charset="-120"/>
                </a:rPr>
                <a:t>Only then consider fine-tuning — when you have clear evidence prompting is the bottleneck, sufficient data, and resources to maintain the fine-tuned model</a:t>
              </a:r>
              <a:endParaRPr lang="en-US" dirty="0">
                <a:latin typeface="Helvetica Neue Light"/>
              </a:endParaRPr>
            </a:p>
          </p:txBody>
        </p:sp>
        <p:sp>
          <p:nvSpPr>
            <p:cNvPr id="8" name="Shape 6">
              <a:extLst>
                <a:ext uri="{FF2B5EF4-FFF2-40B4-BE49-F238E27FC236}">
                  <a16:creationId xmlns:a16="http://schemas.microsoft.com/office/drawing/2014/main" id="{FCFE7B03-C2DC-7DEE-BDD6-557BF83EC760}"/>
                </a:ext>
              </a:extLst>
            </p:cNvPr>
            <p:cNvSpPr/>
            <p:nvPr/>
          </p:nvSpPr>
          <p:spPr>
            <a:xfrm>
              <a:off x="457200" y="3794760"/>
              <a:ext cx="3977640" cy="822960"/>
            </a:xfrm>
            <a:prstGeom prst="rect">
              <a:avLst/>
            </a:prstGeom>
            <a:solidFill>
              <a:srgbClr val="4A90A4"/>
            </a:solidFill>
            <a:ln/>
          </p:spPr>
          <p:txBody>
            <a:bodyPr/>
            <a:lstStyle/>
            <a:p>
              <a:endParaRPr lang="en-US" sz="2800">
                <a:latin typeface="Helvetica Neue Light"/>
              </a:endParaRPr>
            </a:p>
          </p:txBody>
        </p:sp>
        <p:sp>
          <p:nvSpPr>
            <p:cNvPr id="9" name="Text 7">
              <a:extLst>
                <a:ext uri="{FF2B5EF4-FFF2-40B4-BE49-F238E27FC236}">
                  <a16:creationId xmlns:a16="http://schemas.microsoft.com/office/drawing/2014/main" id="{0A5715CC-6F37-4B29-8DA0-3C4FEE20EE2E}"/>
                </a:ext>
              </a:extLst>
            </p:cNvPr>
            <p:cNvSpPr/>
            <p:nvPr/>
          </p:nvSpPr>
          <p:spPr>
            <a:xfrm>
              <a:off x="594360" y="3840480"/>
              <a:ext cx="3703320" cy="228600"/>
            </a:xfrm>
            <a:prstGeom prst="rect">
              <a:avLst/>
            </a:prstGeom>
            <a:noFill/>
            <a:ln/>
          </p:spPr>
          <p:txBody>
            <a:bodyPr wrap="square" rtlCol="0" anchor="ctr"/>
            <a:lstStyle/>
            <a:p>
              <a:pPr marL="0" indent="0">
                <a:buNone/>
              </a:pPr>
              <a:r>
                <a:rPr lang="en-US" b="1" dirty="0">
                  <a:solidFill>
                    <a:srgbClr val="1E3A5F"/>
                  </a:solidFill>
                  <a:latin typeface="Helvetica Neue Light"/>
                </a:rPr>
                <a:t>The 80/20 Reality:</a:t>
              </a:r>
              <a:endParaRPr lang="en-US" dirty="0">
                <a:latin typeface="Helvetica Neue Light"/>
              </a:endParaRPr>
            </a:p>
          </p:txBody>
        </p:sp>
        <p:sp>
          <p:nvSpPr>
            <p:cNvPr id="10" name="Text 8">
              <a:extLst>
                <a:ext uri="{FF2B5EF4-FFF2-40B4-BE49-F238E27FC236}">
                  <a16:creationId xmlns:a16="http://schemas.microsoft.com/office/drawing/2014/main" id="{4C9FE010-78CF-5155-3EFC-C8072A7C8A37}"/>
                </a:ext>
              </a:extLst>
            </p:cNvPr>
            <p:cNvSpPr/>
            <p:nvPr/>
          </p:nvSpPr>
          <p:spPr>
            <a:xfrm>
              <a:off x="594360" y="4069080"/>
              <a:ext cx="3703320" cy="502920"/>
            </a:xfrm>
            <a:prstGeom prst="rect">
              <a:avLst/>
            </a:prstGeom>
            <a:noFill/>
            <a:ln/>
          </p:spPr>
          <p:txBody>
            <a:bodyPr wrap="square" rtlCol="0" anchor="ctr"/>
            <a:lstStyle/>
            <a:p>
              <a:pPr marL="0" indent="0">
                <a:buNone/>
              </a:pPr>
              <a:r>
                <a:rPr lang="en-US" sz="1600" dirty="0">
                  <a:solidFill>
                    <a:srgbClr val="333333"/>
                  </a:solidFill>
                  <a:latin typeface="Helvetica Neue Light"/>
                </a:rPr>
                <a:t>Most production AI applications use prompting alone—fine-tuning is rarer than headlines suggest.</a:t>
              </a:r>
              <a:endParaRPr lang="en-US" sz="1600" dirty="0">
                <a:latin typeface="Helvetica Neue Light"/>
              </a:endParaRPr>
            </a:p>
          </p:txBody>
        </p:sp>
        <p:sp>
          <p:nvSpPr>
            <p:cNvPr id="11" name="Shape 9">
              <a:extLst>
                <a:ext uri="{FF2B5EF4-FFF2-40B4-BE49-F238E27FC236}">
                  <a16:creationId xmlns:a16="http://schemas.microsoft.com/office/drawing/2014/main" id="{9141ED2E-7D5B-42B2-B824-E3C84860467E}"/>
                </a:ext>
              </a:extLst>
            </p:cNvPr>
            <p:cNvSpPr/>
            <p:nvPr/>
          </p:nvSpPr>
          <p:spPr>
            <a:xfrm>
              <a:off x="4709160" y="3794760"/>
              <a:ext cx="3977640" cy="822960"/>
            </a:xfrm>
            <a:prstGeom prst="rect">
              <a:avLst/>
            </a:prstGeom>
            <a:solidFill>
              <a:srgbClr val="E07A5F"/>
            </a:solidFill>
            <a:ln/>
          </p:spPr>
          <p:txBody>
            <a:bodyPr/>
            <a:lstStyle/>
            <a:p>
              <a:endParaRPr lang="en-US" sz="2800">
                <a:latin typeface="Helvetica Neue Light"/>
              </a:endParaRPr>
            </a:p>
          </p:txBody>
        </p:sp>
        <p:sp>
          <p:nvSpPr>
            <p:cNvPr id="12" name="Text 10">
              <a:extLst>
                <a:ext uri="{FF2B5EF4-FFF2-40B4-BE49-F238E27FC236}">
                  <a16:creationId xmlns:a16="http://schemas.microsoft.com/office/drawing/2014/main" id="{59714BF8-B1C0-88BC-A12E-78A5D357889A}"/>
                </a:ext>
              </a:extLst>
            </p:cNvPr>
            <p:cNvSpPr/>
            <p:nvPr/>
          </p:nvSpPr>
          <p:spPr>
            <a:xfrm>
              <a:off x="4846320" y="3840480"/>
              <a:ext cx="3703320" cy="228600"/>
            </a:xfrm>
            <a:prstGeom prst="rect">
              <a:avLst/>
            </a:prstGeom>
            <a:noFill/>
            <a:ln/>
          </p:spPr>
          <p:txBody>
            <a:bodyPr wrap="square" rtlCol="0" anchor="ctr"/>
            <a:lstStyle/>
            <a:p>
              <a:pPr marL="0" indent="0">
                <a:buNone/>
              </a:pPr>
              <a:r>
                <a:rPr lang="en-US" b="1" dirty="0">
                  <a:solidFill>
                    <a:srgbClr val="1E3A5F"/>
                  </a:solidFill>
                  <a:latin typeface="Helvetica Neue Light"/>
                </a:rPr>
                <a:t>Future Trend:</a:t>
              </a:r>
              <a:endParaRPr lang="en-US" dirty="0">
                <a:latin typeface="Helvetica Neue Light"/>
              </a:endParaRPr>
            </a:p>
          </p:txBody>
        </p:sp>
        <p:sp>
          <p:nvSpPr>
            <p:cNvPr id="13" name="Text 11">
              <a:extLst>
                <a:ext uri="{FF2B5EF4-FFF2-40B4-BE49-F238E27FC236}">
                  <a16:creationId xmlns:a16="http://schemas.microsoft.com/office/drawing/2014/main" id="{CB7DCE36-DB41-B25B-9917-8ECF77FA9A09}"/>
                </a:ext>
              </a:extLst>
            </p:cNvPr>
            <p:cNvSpPr/>
            <p:nvPr/>
          </p:nvSpPr>
          <p:spPr>
            <a:xfrm>
              <a:off x="4846320" y="4069080"/>
              <a:ext cx="3703320" cy="502920"/>
            </a:xfrm>
            <a:prstGeom prst="rect">
              <a:avLst/>
            </a:prstGeom>
            <a:noFill/>
            <a:ln/>
          </p:spPr>
          <p:txBody>
            <a:bodyPr wrap="square" rtlCol="0" anchor="ctr"/>
            <a:lstStyle/>
            <a:p>
              <a:pPr marL="0" indent="0">
                <a:buNone/>
              </a:pPr>
              <a:r>
                <a:rPr lang="en-US" sz="1600" dirty="0">
                  <a:solidFill>
                    <a:srgbClr val="333333"/>
                  </a:solidFill>
                  <a:latin typeface="Helvetica Neue Light"/>
                </a:rPr>
                <a:t>As base models improve, the threshold for needing fine-tuning keeps rising—prompting gets more powerful.</a:t>
              </a:r>
              <a:endParaRPr lang="en-US" sz="1600" dirty="0">
                <a:latin typeface="Helvetica Neue Light"/>
              </a:endParaRPr>
            </a:p>
          </p:txBody>
        </p:sp>
      </p:grpSp>
    </p:spTree>
    <p:extLst>
      <p:ext uri="{BB962C8B-B14F-4D97-AF65-F5344CB8AC3E}">
        <p14:creationId xmlns:p14="http://schemas.microsoft.com/office/powerpoint/2010/main" val="22502610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73E35-F519-3079-CD78-622DAA459C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5D122B-60A5-8A0B-F188-CAB506FEB704}"/>
              </a:ext>
            </a:extLst>
          </p:cNvPr>
          <p:cNvSpPr>
            <a:spLocks noGrp="1"/>
          </p:cNvSpPr>
          <p:nvPr>
            <p:ph type="title"/>
          </p:nvPr>
        </p:nvSpPr>
        <p:spPr>
          <a:xfrm>
            <a:off x="623888" y="3415944"/>
            <a:ext cx="8242710" cy="1146532"/>
          </a:xfrm>
        </p:spPr>
        <p:txBody>
          <a:bodyPr/>
          <a:lstStyle/>
          <a:p>
            <a:r>
              <a:rPr lang="en-US" sz="3200" i="1" dirty="0"/>
              <a:t>Part 23</a:t>
            </a:r>
            <a:br>
              <a:rPr lang="en-US" sz="4000" dirty="0"/>
            </a:br>
            <a:r>
              <a:rPr lang="en-US" sz="4000" dirty="0"/>
              <a:t>	</a:t>
            </a:r>
            <a:r>
              <a:rPr lang="en-US" sz="4400" dirty="0" err="1"/>
              <a:t>Jev</a:t>
            </a:r>
            <a:endParaRPr lang="en-US" sz="4000" dirty="0"/>
          </a:p>
        </p:txBody>
      </p:sp>
      <p:sp>
        <p:nvSpPr>
          <p:cNvPr id="2" name="Text Placeholder 1">
            <a:extLst>
              <a:ext uri="{FF2B5EF4-FFF2-40B4-BE49-F238E27FC236}">
                <a16:creationId xmlns:a16="http://schemas.microsoft.com/office/drawing/2014/main" id="{28625E2C-AFE0-8B4D-116B-4FCEC0CC89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40A386-54FC-AD01-E7C8-807FC64AC97D}"/>
              </a:ext>
            </a:extLst>
          </p:cNvPr>
          <p:cNvSpPr>
            <a:spLocks noGrp="1"/>
          </p:cNvSpPr>
          <p:nvPr>
            <p:ph type="sldNum" sz="quarter" idx="12"/>
          </p:nvPr>
        </p:nvSpPr>
        <p:spPr/>
        <p:txBody>
          <a:bodyPr/>
          <a:lstStyle/>
          <a:p>
            <a:fld id="{21EF4C0E-91FA-4D94-8941-E22F3A83D5F1}" type="slidenum">
              <a:rPr lang="en-US" smtClean="0"/>
              <a:t>119</a:t>
            </a:fld>
            <a:endParaRPr lang="en-US"/>
          </a:p>
        </p:txBody>
      </p:sp>
    </p:spTree>
    <p:extLst>
      <p:ext uri="{BB962C8B-B14F-4D97-AF65-F5344CB8AC3E}">
        <p14:creationId xmlns:p14="http://schemas.microsoft.com/office/powerpoint/2010/main" val="10002916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FB3D-AE51-F008-A237-F01860F46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F0A97-AC55-08E4-8048-AEDE9D0A801C}"/>
              </a:ext>
            </a:extLst>
          </p:cNvPr>
          <p:cNvSpPr>
            <a:spLocks noGrp="1"/>
          </p:cNvSpPr>
          <p:nvPr>
            <p:ph type="title"/>
          </p:nvPr>
        </p:nvSpPr>
        <p:spPr>
          <a:xfrm>
            <a:off x="457200" y="365126"/>
            <a:ext cx="8593930" cy="592213"/>
          </a:xfrm>
        </p:spPr>
        <p:txBody>
          <a:bodyPr/>
          <a:lstStyle/>
          <a:p>
            <a:r>
              <a:rPr lang="en-US" dirty="0" err="1"/>
              <a:t>Jev</a:t>
            </a:r>
            <a:r>
              <a:rPr lang="en-US" dirty="0"/>
              <a:t> explained in 3 mins (3:00)</a:t>
            </a:r>
          </a:p>
        </p:txBody>
      </p:sp>
      <p:sp>
        <p:nvSpPr>
          <p:cNvPr id="5" name="Slide Number Placeholder 4">
            <a:extLst>
              <a:ext uri="{FF2B5EF4-FFF2-40B4-BE49-F238E27FC236}">
                <a16:creationId xmlns:a16="http://schemas.microsoft.com/office/drawing/2014/main" id="{F51534ED-DF99-62E1-A2DC-79602BD8D015}"/>
              </a:ext>
            </a:extLst>
          </p:cNvPr>
          <p:cNvSpPr>
            <a:spLocks noGrp="1"/>
          </p:cNvSpPr>
          <p:nvPr>
            <p:ph type="sldNum" sz="quarter" idx="12"/>
          </p:nvPr>
        </p:nvSpPr>
        <p:spPr/>
        <p:txBody>
          <a:bodyPr/>
          <a:lstStyle/>
          <a:p>
            <a:fld id="{21EF4C0E-91FA-4D94-8941-E22F3A83D5F1}" type="slidenum">
              <a:rPr lang="en-US" smtClean="0"/>
              <a:t>120</a:t>
            </a:fld>
            <a:endParaRPr lang="en-US"/>
          </a:p>
        </p:txBody>
      </p:sp>
      <p:sp>
        <p:nvSpPr>
          <p:cNvPr id="7" name="TextBox 6">
            <a:extLst>
              <a:ext uri="{FF2B5EF4-FFF2-40B4-BE49-F238E27FC236}">
                <a16:creationId xmlns:a16="http://schemas.microsoft.com/office/drawing/2014/main" id="{9A084DF1-7D62-1280-FAB4-5056931ED12A}"/>
              </a:ext>
            </a:extLst>
          </p:cNvPr>
          <p:cNvSpPr txBox="1"/>
          <p:nvPr/>
        </p:nvSpPr>
        <p:spPr>
          <a:xfrm>
            <a:off x="457200" y="6559579"/>
            <a:ext cx="4572000" cy="246221"/>
          </a:xfrm>
          <a:prstGeom prst="rect">
            <a:avLst/>
          </a:prstGeom>
          <a:noFill/>
        </p:spPr>
        <p:txBody>
          <a:bodyPr wrap="square">
            <a:spAutoFit/>
          </a:bodyPr>
          <a:lstStyle/>
          <a:p>
            <a:r>
              <a:rPr lang="en-US" sz="1000" dirty="0">
                <a:solidFill>
                  <a:schemeClr val="tx1">
                    <a:lumMod val="50000"/>
                  </a:schemeClr>
                </a:solidFill>
              </a:rPr>
              <a:t>https://www.youtube.com/shorts/zkZQT5rbrf4</a:t>
            </a:r>
          </a:p>
        </p:txBody>
      </p:sp>
      <p:sp>
        <p:nvSpPr>
          <p:cNvPr id="6" name="TextBox 5">
            <a:extLst>
              <a:ext uri="{FF2B5EF4-FFF2-40B4-BE49-F238E27FC236}">
                <a16:creationId xmlns:a16="http://schemas.microsoft.com/office/drawing/2014/main" id="{C32012CB-8FDC-DB27-2A21-FBBE6F0D0340}"/>
              </a:ext>
            </a:extLst>
          </p:cNvPr>
          <p:cNvSpPr txBox="1"/>
          <p:nvPr/>
        </p:nvSpPr>
        <p:spPr>
          <a:xfrm>
            <a:off x="457200" y="1007290"/>
            <a:ext cx="6305764" cy="369332"/>
          </a:xfrm>
          <a:prstGeom prst="rect">
            <a:avLst/>
          </a:prstGeom>
          <a:noFill/>
        </p:spPr>
        <p:txBody>
          <a:bodyPr wrap="square">
            <a:spAutoFit/>
          </a:bodyPr>
          <a:lstStyle/>
          <a:p>
            <a:pPr marL="0" indent="0">
              <a:buNone/>
            </a:pPr>
            <a:r>
              <a:rPr lang="en-US" sz="1800" i="1" dirty="0">
                <a:solidFill>
                  <a:srgbClr val="E8F4F8"/>
                </a:solidFill>
                <a:latin typeface="Helvetica Neue Light"/>
                <a:ea typeface="Calibri" pitchFamily="34" charset="-122"/>
                <a:cs typeface="Calibri" pitchFamily="34" charset="-120"/>
              </a:rPr>
              <a:t>What </a:t>
            </a:r>
            <a:r>
              <a:rPr lang="en-US" sz="1800" i="1" dirty="0" err="1">
                <a:solidFill>
                  <a:srgbClr val="E8F4F8"/>
                </a:solidFill>
                <a:latin typeface="Helvetica Neue Light"/>
                <a:ea typeface="Calibri" pitchFamily="34" charset="-122"/>
                <a:cs typeface="Calibri" pitchFamily="34" charset="-120"/>
              </a:rPr>
              <a:t>Jev</a:t>
            </a:r>
            <a:r>
              <a:rPr lang="en-US" sz="1800" i="1" dirty="0">
                <a:solidFill>
                  <a:srgbClr val="E8F4F8"/>
                </a:solidFill>
                <a:latin typeface="Helvetica Neue Light"/>
                <a:ea typeface="Calibri" pitchFamily="34" charset="-122"/>
                <a:cs typeface="Calibri" pitchFamily="34" charset="-120"/>
              </a:rPr>
              <a:t> is and when to use it</a:t>
            </a:r>
            <a:endParaRPr lang="en-US" sz="1800" dirty="0">
              <a:latin typeface="Helvetica Neue Light"/>
            </a:endParaRPr>
          </a:p>
        </p:txBody>
      </p:sp>
      <p:pic>
        <p:nvPicPr>
          <p:cNvPr id="4" name="Online Media 3" title="Jev Explained in 3 Mins🤖">
            <a:hlinkClick r:id="" action="ppaction://media"/>
            <a:extLst>
              <a:ext uri="{FF2B5EF4-FFF2-40B4-BE49-F238E27FC236}">
                <a16:creationId xmlns:a16="http://schemas.microsoft.com/office/drawing/2014/main" id="{5455B27D-6AC1-F50A-A1A1-683719E5BC1D}"/>
              </a:ext>
            </a:extLst>
          </p:cNvPr>
          <p:cNvPicPr>
            <a:picLocks noRot="1" noChangeAspect="1"/>
          </p:cNvPicPr>
          <p:nvPr>
            <a:videoFile r:link="rId1"/>
          </p:nvPr>
        </p:nvPicPr>
        <p:blipFill>
          <a:blip r:embed="rId3"/>
          <a:stretch>
            <a:fillRect/>
          </a:stretch>
        </p:blipFill>
        <p:spPr>
          <a:xfrm>
            <a:off x="4289532" y="896107"/>
            <a:ext cx="3269686" cy="5786582"/>
          </a:xfrm>
          <a:prstGeom prst="rect">
            <a:avLst/>
          </a:prstGeom>
        </p:spPr>
      </p:pic>
    </p:spTree>
    <p:extLst>
      <p:ext uri="{BB962C8B-B14F-4D97-AF65-F5344CB8AC3E}">
        <p14:creationId xmlns:p14="http://schemas.microsoft.com/office/powerpoint/2010/main" val="8398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EDCE28D3-6C8F-517A-53CE-2AC3D3695792}"/>
              </a:ext>
            </a:extLst>
          </p:cNvPr>
          <p:cNvSpPr>
            <a:spLocks noGrp="1"/>
          </p:cNvSpPr>
          <p:nvPr>
            <p:ph type="title"/>
          </p:nvPr>
        </p:nvSpPr>
        <p:spPr>
          <a:xfrm>
            <a:off x="457200" y="365126"/>
            <a:ext cx="8229600" cy="536622"/>
          </a:xfrm>
        </p:spPr>
        <p:txBody>
          <a:bodyPr/>
          <a:lstStyle/>
          <a:p>
            <a:r>
              <a:rPr lang="en-US" dirty="0"/>
              <a:t>Jev makes decisions, not sentences</a:t>
            </a:r>
          </a:p>
        </p:txBody>
      </p:sp>
      <p:sp>
        <p:nvSpPr>
          <p:cNvPr id="100" name="Card 101"/>
          <p:cNvSpPr/>
          <p:nvPr/>
        </p:nvSpPr>
        <p:spPr>
          <a:xfrm>
            <a:off x="457200" y="1219200"/>
            <a:ext cx="4038600" cy="3505200"/>
          </a:xfrm>
          <a:prstGeom prst="rect">
            <a:avLst/>
          </a:prstGeom>
          <a:solidFill>
            <a:srgbClr val="FFFFFF"/>
          </a:solidFill>
          <a:ln>
            <a:noFill/>
          </a:ln>
        </p:spPr>
        <p:txBody>
          <a:bodyPr/>
          <a:lstStyle/>
          <a:p>
            <a:endParaRPr lang="en-US"/>
          </a:p>
        </p:txBody>
      </p:sp>
      <p:sp>
        <p:nvSpPr>
          <p:cNvPr id="101" name="Card 102"/>
          <p:cNvSpPr/>
          <p:nvPr/>
        </p:nvSpPr>
        <p:spPr>
          <a:xfrm>
            <a:off x="457200" y="1219200"/>
            <a:ext cx="76200" cy="3505200"/>
          </a:xfrm>
          <a:prstGeom prst="rect">
            <a:avLst/>
          </a:prstGeom>
          <a:solidFill>
            <a:srgbClr val="4A90A4"/>
          </a:solidFill>
          <a:ln>
            <a:noFill/>
          </a:ln>
        </p:spPr>
        <p:txBody>
          <a:bodyPr/>
          <a:lstStyle/>
          <a:p>
            <a:endParaRPr lang="en-US"/>
          </a:p>
        </p:txBody>
      </p:sp>
      <p:sp>
        <p:nvSpPr>
          <p:cNvPr id="102" name="Text 103"/>
          <p:cNvSpPr txBox="1"/>
          <p:nvPr/>
        </p:nvSpPr>
        <p:spPr>
          <a:xfrm>
            <a:off x="609600" y="1320800"/>
            <a:ext cx="3810000" cy="3302000"/>
          </a:xfrm>
          <a:prstGeom prst="rect">
            <a:avLst/>
          </a:prstGeom>
          <a:noFill/>
        </p:spPr>
        <p:txBody>
          <a:bodyPr wrap="square" lIns="152400" tIns="76200" rIns="152400" bIns="76200" anchor="t">
            <a:noAutofit/>
          </a:bodyPr>
          <a:lstStyle/>
          <a:p>
            <a:pPr marL="0" indent="0">
              <a:buNone/>
            </a:pPr>
            <a:r>
              <a:rPr lang="en-US" sz="2000" b="1" dirty="0">
                <a:solidFill>
                  <a:srgbClr val="1E3A5F"/>
                </a:solidFill>
                <a:latin typeface="Helvetica Neue Light"/>
                <a:ea typeface="Arial"/>
                <a:cs typeface="Arial"/>
              </a:rPr>
              <a:t>What Jev is</a:t>
            </a:r>
          </a:p>
          <a:p>
            <a:pPr marL="228600" indent="-228600">
              <a:spcBef>
                <a:spcPts val="1600"/>
              </a:spcBef>
              <a:buClr>
                <a:srgbClr val="4A90A4"/>
              </a:buClr>
              <a:buFont typeface="Arial"/>
              <a:buChar char="•"/>
            </a:pPr>
            <a:r>
              <a:rPr lang="en-US" sz="1800" b="1" dirty="0">
                <a:solidFill>
                  <a:srgbClr val="333333"/>
                </a:solidFill>
                <a:latin typeface="Helvetica Neue Light"/>
                <a:ea typeface="Arial"/>
                <a:cs typeface="Arial"/>
              </a:rPr>
              <a:t>TypeSafe AI's flagship model</a:t>
            </a:r>
            <a:r>
              <a:rPr lang="en-US" sz="1800" dirty="0">
                <a:solidFill>
                  <a:srgbClr val="333333"/>
                </a:solidFill>
                <a:latin typeface="Helvetica Neue Light"/>
                <a:ea typeface="Arial"/>
                <a:cs typeface="Arial"/>
              </a:rPr>
              <a:t> and the first “System One” model</a:t>
            </a:r>
          </a:p>
          <a:p>
            <a:pPr marL="228600" indent="-228600">
              <a:spcBef>
                <a:spcPts val="1600"/>
              </a:spcBef>
              <a:buClr>
                <a:srgbClr val="4A90A4"/>
              </a:buClr>
              <a:buFont typeface="Arial"/>
              <a:buChar char="•"/>
            </a:pPr>
            <a:r>
              <a:rPr lang="en-US" sz="1800" dirty="0">
                <a:solidFill>
                  <a:srgbClr val="333333"/>
                </a:solidFill>
                <a:latin typeface="Helvetica Neue Light"/>
                <a:ea typeface="Arial"/>
                <a:cs typeface="Arial"/>
              </a:rPr>
              <a:t>Makes </a:t>
            </a:r>
            <a:r>
              <a:rPr lang="en-US" sz="1800" b="1" dirty="0">
                <a:solidFill>
                  <a:srgbClr val="333333"/>
                </a:solidFill>
                <a:latin typeface="Helvetica Neue Light"/>
                <a:ea typeface="Arial"/>
                <a:cs typeface="Arial"/>
              </a:rPr>
              <a:t>fast, structured decisions</a:t>
            </a:r>
            <a:r>
              <a:rPr lang="en-US" sz="1800" dirty="0">
                <a:solidFill>
                  <a:srgbClr val="333333"/>
                </a:solidFill>
                <a:latin typeface="Helvetica Neue Light"/>
                <a:ea typeface="Arial"/>
                <a:cs typeface="Arial"/>
              </a:rPr>
              <a:t> that software uses directly</a:t>
            </a:r>
          </a:p>
          <a:p>
            <a:pPr marL="228600" indent="-228600">
              <a:spcBef>
                <a:spcPts val="1600"/>
              </a:spcBef>
              <a:buClr>
                <a:srgbClr val="4A90A4"/>
              </a:buClr>
              <a:buFont typeface="Arial"/>
              <a:buChar char="•"/>
            </a:pPr>
            <a:r>
              <a:rPr lang="en-US" sz="1800" dirty="0">
                <a:solidFill>
                  <a:srgbClr val="333333"/>
                </a:solidFill>
                <a:latin typeface="Helvetica Neue Light"/>
                <a:ea typeface="Arial"/>
                <a:cs typeface="Arial"/>
              </a:rPr>
              <a:t>Does not generate text word by word, as an LLM does</a:t>
            </a:r>
          </a:p>
        </p:txBody>
      </p:sp>
      <p:sp>
        <p:nvSpPr>
          <p:cNvPr id="103" name="Card 104"/>
          <p:cNvSpPr/>
          <p:nvPr/>
        </p:nvSpPr>
        <p:spPr>
          <a:xfrm>
            <a:off x="4724400" y="1219200"/>
            <a:ext cx="3962400" cy="685800"/>
          </a:xfrm>
          <a:prstGeom prst="rect">
            <a:avLst/>
          </a:prstGeom>
          <a:solidFill>
            <a:srgbClr val="FFFFFF"/>
          </a:solidFill>
          <a:ln>
            <a:noFill/>
          </a:ln>
        </p:spPr>
        <p:txBody>
          <a:bodyPr/>
          <a:lstStyle/>
          <a:p>
            <a:endParaRPr lang="en-US"/>
          </a:p>
        </p:txBody>
      </p:sp>
      <p:sp>
        <p:nvSpPr>
          <p:cNvPr id="104" name="Card 105"/>
          <p:cNvSpPr/>
          <p:nvPr/>
        </p:nvSpPr>
        <p:spPr>
          <a:xfrm>
            <a:off x="4724400" y="1219200"/>
            <a:ext cx="76200" cy="685800"/>
          </a:xfrm>
          <a:prstGeom prst="rect">
            <a:avLst/>
          </a:prstGeom>
          <a:solidFill>
            <a:srgbClr val="4A90A4"/>
          </a:solidFill>
          <a:ln>
            <a:noFill/>
          </a:ln>
        </p:spPr>
        <p:txBody>
          <a:bodyPr/>
          <a:lstStyle/>
          <a:p>
            <a:endParaRPr lang="en-US"/>
          </a:p>
        </p:txBody>
      </p:sp>
      <p:sp>
        <p:nvSpPr>
          <p:cNvPr id="105" name="Text 106"/>
          <p:cNvSpPr txBox="1"/>
          <p:nvPr/>
        </p:nvSpPr>
        <p:spPr>
          <a:xfrm>
            <a:off x="4826000" y="1219200"/>
            <a:ext cx="3860800" cy="685800"/>
          </a:xfrm>
          <a:prstGeom prst="rect">
            <a:avLst/>
          </a:prstGeom>
          <a:noFill/>
        </p:spPr>
        <p:txBody>
          <a:bodyPr wrap="square" lIns="152400" tIns="76200" rIns="152400" bIns="76200" anchor="ctr">
            <a:noAutofit/>
          </a:bodyPr>
          <a:lstStyle/>
          <a:p>
            <a:pPr marL="0" indent="0">
              <a:buNone/>
            </a:pPr>
            <a:r>
              <a:rPr lang="en-US" sz="1600" b="1" dirty="0">
                <a:solidFill>
                  <a:srgbClr val="1E3A5F"/>
                </a:solidFill>
                <a:latin typeface="Helvetica Neue Light"/>
                <a:ea typeface="Arial"/>
                <a:cs typeface="Arial"/>
              </a:rPr>
              <a:t>State + typed questions</a:t>
            </a:r>
          </a:p>
          <a:p>
            <a:pPr marL="0" indent="0">
              <a:buNone/>
            </a:pPr>
            <a:r>
              <a:rPr lang="en-US" sz="1400" dirty="0">
                <a:solidFill>
                  <a:srgbClr val="333333"/>
                </a:solidFill>
                <a:latin typeface="Helvetica Neue Light"/>
                <a:ea typeface="Arial"/>
                <a:cs typeface="Arial"/>
              </a:rPr>
              <a:t>The situation and what you need to know</a:t>
            </a:r>
          </a:p>
        </p:txBody>
      </p:sp>
      <p:cxnSp>
        <p:nvCxnSpPr>
          <p:cNvPr id="106" name="Arrow 107"/>
          <p:cNvCxnSpPr/>
          <p:nvPr/>
        </p:nvCxnSpPr>
        <p:spPr>
          <a:xfrm>
            <a:off x="6705600" y="1930400"/>
            <a:ext cx="0" cy="203200"/>
          </a:xfrm>
          <a:prstGeom prst="straightConnector1">
            <a:avLst/>
          </a:prstGeom>
          <a:ln w="22225">
            <a:solidFill>
              <a:srgbClr val="4A90A4"/>
            </a:solidFill>
            <a:tailEnd type="triangle"/>
          </a:ln>
        </p:spPr>
      </p:cxnSp>
      <p:sp>
        <p:nvSpPr>
          <p:cNvPr id="107" name="Card 108"/>
          <p:cNvSpPr/>
          <p:nvPr/>
        </p:nvSpPr>
        <p:spPr>
          <a:xfrm>
            <a:off x="4724400" y="2159000"/>
            <a:ext cx="3962400" cy="685800"/>
          </a:xfrm>
          <a:prstGeom prst="rect">
            <a:avLst/>
          </a:prstGeom>
          <a:solidFill>
            <a:srgbClr val="1E3A5F"/>
          </a:solidFill>
          <a:ln>
            <a:noFill/>
          </a:ln>
        </p:spPr>
        <p:txBody>
          <a:bodyPr/>
          <a:lstStyle/>
          <a:p>
            <a:endParaRPr lang="en-US"/>
          </a:p>
        </p:txBody>
      </p:sp>
      <p:sp>
        <p:nvSpPr>
          <p:cNvPr id="108" name="Text 109"/>
          <p:cNvSpPr txBox="1"/>
          <p:nvPr/>
        </p:nvSpPr>
        <p:spPr>
          <a:xfrm>
            <a:off x="4826000" y="2159000"/>
            <a:ext cx="3860800" cy="685800"/>
          </a:xfrm>
          <a:prstGeom prst="rect">
            <a:avLst/>
          </a:prstGeom>
          <a:noFill/>
        </p:spPr>
        <p:txBody>
          <a:bodyPr wrap="square" lIns="152400" tIns="76200" rIns="152400" bIns="76200" anchor="ctr">
            <a:noAutofit/>
          </a:bodyPr>
          <a:lstStyle/>
          <a:p>
            <a:pPr marL="0" indent="0">
              <a:buNone/>
            </a:pPr>
            <a:r>
              <a:rPr lang="en-US" sz="1600" b="1" dirty="0">
                <a:solidFill>
                  <a:srgbClr val="FFFFFF"/>
                </a:solidFill>
                <a:latin typeface="Helvetica Neue Light"/>
                <a:ea typeface="Arial"/>
                <a:cs typeface="Arial"/>
              </a:rPr>
              <a:t>Jev</a:t>
            </a:r>
          </a:p>
          <a:p>
            <a:pPr marL="0" indent="0">
              <a:buNone/>
            </a:pPr>
            <a:r>
              <a:rPr lang="en-US" sz="1400" dirty="0">
                <a:solidFill>
                  <a:srgbClr val="D6E2EE"/>
                </a:solidFill>
                <a:latin typeface="Helvetica Neue Light"/>
                <a:ea typeface="Arial"/>
                <a:cs typeface="Arial"/>
              </a:rPr>
              <a:t>Answers every question in one parallel pass</a:t>
            </a:r>
          </a:p>
        </p:txBody>
      </p:sp>
      <p:cxnSp>
        <p:nvCxnSpPr>
          <p:cNvPr id="109" name="Arrow 110"/>
          <p:cNvCxnSpPr/>
          <p:nvPr/>
        </p:nvCxnSpPr>
        <p:spPr>
          <a:xfrm>
            <a:off x="6705600" y="2870200"/>
            <a:ext cx="0" cy="203200"/>
          </a:xfrm>
          <a:prstGeom prst="straightConnector1">
            <a:avLst/>
          </a:prstGeom>
          <a:ln w="22225">
            <a:solidFill>
              <a:srgbClr val="4A90A4"/>
            </a:solidFill>
            <a:tailEnd type="triangle"/>
          </a:ln>
        </p:spPr>
      </p:cxnSp>
      <p:sp>
        <p:nvSpPr>
          <p:cNvPr id="110" name="Card 111"/>
          <p:cNvSpPr/>
          <p:nvPr/>
        </p:nvSpPr>
        <p:spPr>
          <a:xfrm>
            <a:off x="4724400" y="3098800"/>
            <a:ext cx="3962400" cy="685800"/>
          </a:xfrm>
          <a:prstGeom prst="rect">
            <a:avLst/>
          </a:prstGeom>
          <a:solidFill>
            <a:srgbClr val="FFFFFF"/>
          </a:solidFill>
          <a:ln>
            <a:noFill/>
          </a:ln>
        </p:spPr>
        <p:txBody>
          <a:bodyPr/>
          <a:lstStyle/>
          <a:p>
            <a:endParaRPr lang="en-US"/>
          </a:p>
        </p:txBody>
      </p:sp>
      <p:sp>
        <p:nvSpPr>
          <p:cNvPr id="111" name="Card 112"/>
          <p:cNvSpPr/>
          <p:nvPr/>
        </p:nvSpPr>
        <p:spPr>
          <a:xfrm>
            <a:off x="4724400" y="3098800"/>
            <a:ext cx="76200" cy="685800"/>
          </a:xfrm>
          <a:prstGeom prst="rect">
            <a:avLst/>
          </a:prstGeom>
          <a:solidFill>
            <a:srgbClr val="4A90A4"/>
          </a:solidFill>
          <a:ln>
            <a:noFill/>
          </a:ln>
        </p:spPr>
        <p:txBody>
          <a:bodyPr/>
          <a:lstStyle/>
          <a:p>
            <a:endParaRPr lang="en-US"/>
          </a:p>
        </p:txBody>
      </p:sp>
      <p:sp>
        <p:nvSpPr>
          <p:cNvPr id="112" name="Text 113"/>
          <p:cNvSpPr txBox="1"/>
          <p:nvPr/>
        </p:nvSpPr>
        <p:spPr>
          <a:xfrm>
            <a:off x="4826000" y="3098800"/>
            <a:ext cx="3860800" cy="685800"/>
          </a:xfrm>
          <a:prstGeom prst="rect">
            <a:avLst/>
          </a:prstGeom>
          <a:noFill/>
        </p:spPr>
        <p:txBody>
          <a:bodyPr wrap="square" lIns="152400" tIns="76200" rIns="152400" bIns="76200" anchor="ctr">
            <a:noAutofit/>
          </a:bodyPr>
          <a:lstStyle/>
          <a:p>
            <a:pPr marL="0" indent="0">
              <a:buNone/>
            </a:pPr>
            <a:r>
              <a:rPr lang="en-US" sz="1600" b="1" dirty="0">
                <a:solidFill>
                  <a:srgbClr val="1E3A5F"/>
                </a:solidFill>
                <a:latin typeface="Helvetica Neue Light"/>
                <a:ea typeface="Arial"/>
                <a:cs typeface="Arial"/>
              </a:rPr>
              <a:t>Typed answers + confidence</a:t>
            </a:r>
          </a:p>
          <a:p>
            <a:pPr marL="0" indent="0">
              <a:buNone/>
            </a:pPr>
            <a:r>
              <a:rPr lang="en-US" sz="1400" dirty="0">
                <a:solidFill>
                  <a:srgbClr val="333333"/>
                </a:solidFill>
                <a:latin typeface="Helvetica Neue Light"/>
                <a:ea typeface="Arial"/>
                <a:cs typeface="Arial"/>
              </a:rPr>
              <a:t>Structured results, no text to parse</a:t>
            </a:r>
          </a:p>
        </p:txBody>
      </p:sp>
      <p:cxnSp>
        <p:nvCxnSpPr>
          <p:cNvPr id="113" name="Arrow 114"/>
          <p:cNvCxnSpPr/>
          <p:nvPr/>
        </p:nvCxnSpPr>
        <p:spPr>
          <a:xfrm>
            <a:off x="6705600" y="3810000"/>
            <a:ext cx="0" cy="203200"/>
          </a:xfrm>
          <a:prstGeom prst="straightConnector1">
            <a:avLst/>
          </a:prstGeom>
          <a:ln w="22225">
            <a:solidFill>
              <a:srgbClr val="4A90A4"/>
            </a:solidFill>
            <a:tailEnd type="triangle"/>
          </a:ln>
        </p:spPr>
      </p:cxnSp>
      <p:sp>
        <p:nvSpPr>
          <p:cNvPr id="114" name="Card 115"/>
          <p:cNvSpPr/>
          <p:nvPr/>
        </p:nvSpPr>
        <p:spPr>
          <a:xfrm>
            <a:off x="4724400" y="4038600"/>
            <a:ext cx="3962400" cy="685800"/>
          </a:xfrm>
          <a:prstGeom prst="rect">
            <a:avLst/>
          </a:prstGeom>
          <a:solidFill>
            <a:srgbClr val="FFFFFF"/>
          </a:solidFill>
          <a:ln>
            <a:noFill/>
          </a:ln>
        </p:spPr>
        <p:txBody>
          <a:bodyPr/>
          <a:lstStyle/>
          <a:p>
            <a:endParaRPr lang="en-US"/>
          </a:p>
        </p:txBody>
      </p:sp>
      <p:sp>
        <p:nvSpPr>
          <p:cNvPr id="115" name="Card 116"/>
          <p:cNvSpPr/>
          <p:nvPr/>
        </p:nvSpPr>
        <p:spPr>
          <a:xfrm>
            <a:off x="4724400" y="4038600"/>
            <a:ext cx="76200" cy="685800"/>
          </a:xfrm>
          <a:prstGeom prst="rect">
            <a:avLst/>
          </a:prstGeom>
          <a:solidFill>
            <a:srgbClr val="4A90A4"/>
          </a:solidFill>
          <a:ln>
            <a:noFill/>
          </a:ln>
        </p:spPr>
        <p:txBody>
          <a:bodyPr/>
          <a:lstStyle/>
          <a:p>
            <a:endParaRPr lang="en-US"/>
          </a:p>
        </p:txBody>
      </p:sp>
      <p:sp>
        <p:nvSpPr>
          <p:cNvPr id="116" name="Text 117"/>
          <p:cNvSpPr txBox="1"/>
          <p:nvPr/>
        </p:nvSpPr>
        <p:spPr>
          <a:xfrm>
            <a:off x="4826000" y="4038600"/>
            <a:ext cx="3860800" cy="685800"/>
          </a:xfrm>
          <a:prstGeom prst="rect">
            <a:avLst/>
          </a:prstGeom>
          <a:noFill/>
        </p:spPr>
        <p:txBody>
          <a:bodyPr wrap="square" lIns="152400" tIns="76200" rIns="152400" bIns="76200" anchor="ctr">
            <a:noAutofit/>
          </a:bodyPr>
          <a:lstStyle/>
          <a:p>
            <a:pPr marL="0" indent="0">
              <a:buNone/>
            </a:pPr>
            <a:r>
              <a:rPr lang="en-US" sz="1600" b="1" dirty="0">
                <a:solidFill>
                  <a:srgbClr val="1E3A5F"/>
                </a:solidFill>
                <a:latin typeface="Helvetica Neue Light"/>
                <a:ea typeface="Arial"/>
                <a:cs typeface="Arial"/>
              </a:rPr>
              <a:t>Your code</a:t>
            </a:r>
          </a:p>
          <a:p>
            <a:pPr marL="0" indent="0">
              <a:buNone/>
            </a:pPr>
            <a:r>
              <a:rPr lang="en-US" sz="1400" dirty="0">
                <a:solidFill>
                  <a:srgbClr val="333333"/>
                </a:solidFill>
                <a:latin typeface="Helvetica Neue Light"/>
                <a:ea typeface="Arial"/>
                <a:cs typeface="Arial"/>
              </a:rPr>
              <a:t>Branches, sorts, and routes on the result</a:t>
            </a:r>
          </a:p>
        </p:txBody>
      </p:sp>
      <p:sp>
        <p:nvSpPr>
          <p:cNvPr id="117" name="Text 118"/>
          <p:cNvSpPr txBox="1"/>
          <p:nvPr/>
        </p:nvSpPr>
        <p:spPr>
          <a:xfrm>
            <a:off x="457200" y="4851400"/>
            <a:ext cx="5080000" cy="330200"/>
          </a:xfrm>
          <a:prstGeom prst="rect">
            <a:avLst/>
          </a:prstGeom>
          <a:noFill/>
        </p:spPr>
        <p:txBody>
          <a:bodyPr wrap="square" lIns="0" tIns="76200" rIns="0" bIns="76200" anchor="ctr">
            <a:noAutofit/>
          </a:bodyPr>
          <a:lstStyle/>
          <a:p>
            <a:pPr marL="0" indent="0">
              <a:buNone/>
            </a:pPr>
            <a:r>
              <a:rPr lang="en-US" sz="1800" b="1" dirty="0">
                <a:solidFill>
                  <a:srgbClr val="1E3A5F"/>
                </a:solidFill>
                <a:latin typeface="Helvetica Neue Light"/>
                <a:ea typeface="Arial"/>
                <a:cs typeface="Arial"/>
              </a:rPr>
              <a:t>Three question types</a:t>
            </a:r>
          </a:p>
        </p:txBody>
      </p:sp>
      <p:sp>
        <p:nvSpPr>
          <p:cNvPr id="118" name="Card 119"/>
          <p:cNvSpPr/>
          <p:nvPr/>
        </p:nvSpPr>
        <p:spPr>
          <a:xfrm>
            <a:off x="457200" y="5257800"/>
            <a:ext cx="2641600" cy="1168400"/>
          </a:xfrm>
          <a:prstGeom prst="rect">
            <a:avLst/>
          </a:prstGeom>
          <a:solidFill>
            <a:srgbClr val="FFFFFF"/>
          </a:solidFill>
          <a:ln>
            <a:noFill/>
          </a:ln>
        </p:spPr>
        <p:txBody>
          <a:bodyPr/>
          <a:lstStyle/>
          <a:p>
            <a:endParaRPr lang="en-US"/>
          </a:p>
        </p:txBody>
      </p:sp>
      <p:sp>
        <p:nvSpPr>
          <p:cNvPr id="119" name="Card 120"/>
          <p:cNvSpPr/>
          <p:nvPr/>
        </p:nvSpPr>
        <p:spPr>
          <a:xfrm>
            <a:off x="457200" y="5257800"/>
            <a:ext cx="2641600" cy="63500"/>
          </a:xfrm>
          <a:prstGeom prst="rect">
            <a:avLst/>
          </a:prstGeom>
          <a:solidFill>
            <a:srgbClr val="4A90A4"/>
          </a:solidFill>
          <a:ln>
            <a:noFill/>
          </a:ln>
        </p:spPr>
        <p:txBody>
          <a:bodyPr/>
          <a:lstStyle/>
          <a:p>
            <a:endParaRPr lang="en-US"/>
          </a:p>
        </p:txBody>
      </p:sp>
      <p:sp>
        <p:nvSpPr>
          <p:cNvPr id="120" name="Text 121"/>
          <p:cNvSpPr txBox="1"/>
          <p:nvPr/>
        </p:nvSpPr>
        <p:spPr>
          <a:xfrm>
            <a:off x="457200" y="5359400"/>
            <a:ext cx="2641600" cy="1016000"/>
          </a:xfrm>
          <a:prstGeom prst="rect">
            <a:avLst/>
          </a:prstGeom>
          <a:noFill/>
        </p:spPr>
        <p:txBody>
          <a:bodyPr wrap="square" lIns="152400" tIns="76200" rIns="152400" bIns="76200" anchor="ctr">
            <a:noAutofit/>
          </a:bodyPr>
          <a:lstStyle/>
          <a:p>
            <a:pPr marL="0" indent="0">
              <a:buNone/>
            </a:pPr>
            <a:r>
              <a:rPr lang="en-US" sz="1800" b="1" dirty="0">
                <a:solidFill>
                  <a:srgbClr val="1E3A5F"/>
                </a:solidFill>
                <a:latin typeface="Helvetica Neue Light"/>
                <a:ea typeface="Arial"/>
                <a:cs typeface="Arial"/>
              </a:rPr>
              <a:t>Choice</a:t>
            </a:r>
          </a:p>
          <a:p>
            <a:pPr marL="0" indent="0">
              <a:spcBef>
                <a:spcPts val="400"/>
              </a:spcBef>
              <a:buNone/>
            </a:pPr>
            <a:r>
              <a:rPr lang="en-US" sz="1600" dirty="0">
                <a:solidFill>
                  <a:srgbClr val="333333"/>
                </a:solidFill>
                <a:latin typeface="Helvetica Neue Light"/>
                <a:ea typeface="Arial"/>
                <a:cs typeface="Arial"/>
              </a:rPr>
              <a:t>Pick one option from a set</a:t>
            </a:r>
          </a:p>
        </p:txBody>
      </p:sp>
      <p:sp>
        <p:nvSpPr>
          <p:cNvPr id="121" name="Card 122"/>
          <p:cNvSpPr/>
          <p:nvPr/>
        </p:nvSpPr>
        <p:spPr>
          <a:xfrm>
            <a:off x="3251200" y="5257800"/>
            <a:ext cx="2641600" cy="1168400"/>
          </a:xfrm>
          <a:prstGeom prst="rect">
            <a:avLst/>
          </a:prstGeom>
          <a:solidFill>
            <a:srgbClr val="FFFFFF"/>
          </a:solidFill>
          <a:ln>
            <a:noFill/>
          </a:ln>
        </p:spPr>
        <p:txBody>
          <a:bodyPr/>
          <a:lstStyle/>
          <a:p>
            <a:endParaRPr lang="en-US"/>
          </a:p>
        </p:txBody>
      </p:sp>
      <p:sp>
        <p:nvSpPr>
          <p:cNvPr id="122" name="Card 123"/>
          <p:cNvSpPr/>
          <p:nvPr/>
        </p:nvSpPr>
        <p:spPr>
          <a:xfrm>
            <a:off x="3251200" y="5257800"/>
            <a:ext cx="2641600" cy="63500"/>
          </a:xfrm>
          <a:prstGeom prst="rect">
            <a:avLst/>
          </a:prstGeom>
          <a:solidFill>
            <a:srgbClr val="4A90A4"/>
          </a:solidFill>
          <a:ln>
            <a:noFill/>
          </a:ln>
        </p:spPr>
        <p:txBody>
          <a:bodyPr/>
          <a:lstStyle/>
          <a:p>
            <a:endParaRPr lang="en-US"/>
          </a:p>
        </p:txBody>
      </p:sp>
      <p:sp>
        <p:nvSpPr>
          <p:cNvPr id="123" name="Text 124"/>
          <p:cNvSpPr txBox="1"/>
          <p:nvPr/>
        </p:nvSpPr>
        <p:spPr>
          <a:xfrm>
            <a:off x="3251200" y="5359400"/>
            <a:ext cx="2641600" cy="1016000"/>
          </a:xfrm>
          <a:prstGeom prst="rect">
            <a:avLst/>
          </a:prstGeom>
          <a:noFill/>
        </p:spPr>
        <p:txBody>
          <a:bodyPr wrap="square" lIns="152400" tIns="76200" rIns="152400" bIns="76200" anchor="ctr">
            <a:noAutofit/>
          </a:bodyPr>
          <a:lstStyle/>
          <a:p>
            <a:pPr marL="0" indent="0">
              <a:buNone/>
            </a:pPr>
            <a:r>
              <a:rPr lang="en-US" sz="1800" b="1" dirty="0">
                <a:solidFill>
                  <a:srgbClr val="1E3A5F"/>
                </a:solidFill>
                <a:latin typeface="Helvetica Neue Light"/>
                <a:ea typeface="Arial"/>
                <a:cs typeface="Arial"/>
              </a:rPr>
              <a:t>Score</a:t>
            </a:r>
          </a:p>
          <a:p>
            <a:pPr marL="0" indent="0">
              <a:spcBef>
                <a:spcPts val="400"/>
              </a:spcBef>
              <a:buNone/>
            </a:pPr>
            <a:r>
              <a:rPr lang="en-US" sz="1600" dirty="0">
                <a:solidFill>
                  <a:srgbClr val="333333"/>
                </a:solidFill>
                <a:latin typeface="Helvetica Neue Light"/>
                <a:ea typeface="Arial"/>
                <a:cs typeface="Arial"/>
              </a:rPr>
              <a:t>Rate on a rubric</a:t>
            </a:r>
          </a:p>
        </p:txBody>
      </p:sp>
      <p:sp>
        <p:nvSpPr>
          <p:cNvPr id="124" name="Card 125"/>
          <p:cNvSpPr/>
          <p:nvPr/>
        </p:nvSpPr>
        <p:spPr>
          <a:xfrm>
            <a:off x="6045200" y="5257800"/>
            <a:ext cx="2641600" cy="1168400"/>
          </a:xfrm>
          <a:prstGeom prst="rect">
            <a:avLst/>
          </a:prstGeom>
          <a:solidFill>
            <a:srgbClr val="FFFFFF"/>
          </a:solidFill>
          <a:ln>
            <a:noFill/>
          </a:ln>
        </p:spPr>
        <p:txBody>
          <a:bodyPr/>
          <a:lstStyle/>
          <a:p>
            <a:endParaRPr lang="en-US"/>
          </a:p>
        </p:txBody>
      </p:sp>
      <p:sp>
        <p:nvSpPr>
          <p:cNvPr id="125" name="Card 126"/>
          <p:cNvSpPr/>
          <p:nvPr/>
        </p:nvSpPr>
        <p:spPr>
          <a:xfrm>
            <a:off x="6045200" y="5257800"/>
            <a:ext cx="2641600" cy="63500"/>
          </a:xfrm>
          <a:prstGeom prst="rect">
            <a:avLst/>
          </a:prstGeom>
          <a:solidFill>
            <a:srgbClr val="4A90A4"/>
          </a:solidFill>
          <a:ln>
            <a:noFill/>
          </a:ln>
        </p:spPr>
        <p:txBody>
          <a:bodyPr/>
          <a:lstStyle/>
          <a:p>
            <a:endParaRPr lang="en-US"/>
          </a:p>
        </p:txBody>
      </p:sp>
      <p:sp>
        <p:nvSpPr>
          <p:cNvPr id="126" name="Text 127"/>
          <p:cNvSpPr txBox="1"/>
          <p:nvPr/>
        </p:nvSpPr>
        <p:spPr>
          <a:xfrm>
            <a:off x="6045200" y="5359400"/>
            <a:ext cx="2641600" cy="1016000"/>
          </a:xfrm>
          <a:prstGeom prst="rect">
            <a:avLst/>
          </a:prstGeom>
          <a:noFill/>
        </p:spPr>
        <p:txBody>
          <a:bodyPr wrap="square" lIns="152400" tIns="76200" rIns="152400" bIns="76200" anchor="ctr">
            <a:noAutofit/>
          </a:bodyPr>
          <a:lstStyle/>
          <a:p>
            <a:pPr marL="0" indent="0">
              <a:buNone/>
            </a:pPr>
            <a:r>
              <a:rPr lang="en-US" sz="1800" b="1" dirty="0">
                <a:solidFill>
                  <a:srgbClr val="1E3A5F"/>
                </a:solidFill>
                <a:latin typeface="Helvetica Neue Light"/>
                <a:ea typeface="Arial"/>
                <a:cs typeface="Arial"/>
              </a:rPr>
              <a:t>Noul</a:t>
            </a:r>
          </a:p>
          <a:p>
            <a:pPr marL="0" indent="0">
              <a:spcBef>
                <a:spcPts val="400"/>
              </a:spcBef>
              <a:buNone/>
            </a:pPr>
            <a:r>
              <a:rPr lang="en-US" sz="1600" dirty="0">
                <a:solidFill>
                  <a:srgbClr val="333333"/>
                </a:solidFill>
                <a:latin typeface="Helvetica Neue Light"/>
                <a:ea typeface="Arial"/>
                <a:cs typeface="Arial"/>
              </a:rPr>
              <a:t>Is it true? Returns 0–1</a:t>
            </a:r>
          </a:p>
        </p:txBody>
      </p:sp>
      <p:sp>
        <p:nvSpPr>
          <p:cNvPr id="127" name="Slide Number Placeholder"/>
          <p:cNvSpPr>
            <a:spLocks noGrp="1"/>
          </p:cNvSpPr>
          <p:nvPr>
            <p:ph type="sldNum" sz="quarter" idx="12"/>
          </p:nvPr>
        </p:nvSpPr>
        <p:spPr/>
        <p:txBody>
          <a:bodyPr/>
          <a:lstStyle/>
          <a:p>
            <a:fld id="{21EF4C0E-91FA-4D94-8941-E22F3A83D5F1}" type="slidenum">
              <a:rPr lang="en-US"/>
              <a:t>121</a:t>
            </a:fld>
            <a:endParaRPr lang="en-US"/>
          </a:p>
        </p:txBody>
      </p:sp>
    </p:spTree>
    <p:extLst>
      <p:ext uri="{BB962C8B-B14F-4D97-AF65-F5344CB8AC3E}">
        <p14:creationId xmlns:p14="http://schemas.microsoft.com/office/powerpoint/2010/main" val="214416328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2" name="Title 61">
            <a:extLst>
              <a:ext uri="{FF2B5EF4-FFF2-40B4-BE49-F238E27FC236}">
                <a16:creationId xmlns:a16="http://schemas.microsoft.com/office/drawing/2014/main" id="{88CB06BF-608F-232B-A594-B9D180506573}"/>
              </a:ext>
            </a:extLst>
          </p:cNvPr>
          <p:cNvSpPr>
            <a:spLocks noGrp="1"/>
          </p:cNvSpPr>
          <p:nvPr>
            <p:ph type="title"/>
          </p:nvPr>
        </p:nvSpPr>
        <p:spPr/>
        <p:txBody>
          <a:bodyPr/>
          <a:lstStyle/>
          <a:p>
            <a:r>
              <a:rPr lang="en-US" dirty="0"/>
              <a:t>Worked example: support ticket triage</a:t>
            </a:r>
          </a:p>
        </p:txBody>
      </p:sp>
      <p:sp>
        <p:nvSpPr>
          <p:cNvPr id="100" name="Card 101"/>
          <p:cNvSpPr/>
          <p:nvPr/>
        </p:nvSpPr>
        <p:spPr>
          <a:xfrm>
            <a:off x="457200" y="1168400"/>
            <a:ext cx="2413000" cy="4140200"/>
          </a:xfrm>
          <a:prstGeom prst="rect">
            <a:avLst/>
          </a:prstGeom>
          <a:solidFill>
            <a:srgbClr val="FFFFFF"/>
          </a:solidFill>
          <a:ln>
            <a:noFill/>
          </a:ln>
        </p:spPr>
        <p:txBody>
          <a:bodyPr/>
          <a:lstStyle/>
          <a:p>
            <a:endParaRPr lang="en-US"/>
          </a:p>
        </p:txBody>
      </p:sp>
      <p:sp>
        <p:nvSpPr>
          <p:cNvPr id="101" name="Card 102"/>
          <p:cNvSpPr/>
          <p:nvPr/>
        </p:nvSpPr>
        <p:spPr>
          <a:xfrm>
            <a:off x="457200" y="1168400"/>
            <a:ext cx="2413000" cy="63500"/>
          </a:xfrm>
          <a:prstGeom prst="rect">
            <a:avLst/>
          </a:prstGeom>
          <a:solidFill>
            <a:srgbClr val="4A90A4"/>
          </a:solidFill>
          <a:ln>
            <a:noFill/>
          </a:ln>
        </p:spPr>
        <p:txBody>
          <a:bodyPr/>
          <a:lstStyle/>
          <a:p>
            <a:endParaRPr lang="en-US"/>
          </a:p>
        </p:txBody>
      </p:sp>
      <p:sp>
        <p:nvSpPr>
          <p:cNvPr id="102" name="Text 103"/>
          <p:cNvSpPr txBox="1"/>
          <p:nvPr/>
        </p:nvSpPr>
        <p:spPr>
          <a:xfrm>
            <a:off x="457200" y="1270000"/>
            <a:ext cx="2413000" cy="4013200"/>
          </a:xfrm>
          <a:prstGeom prst="rect">
            <a:avLst/>
          </a:prstGeom>
          <a:noFill/>
        </p:spPr>
        <p:txBody>
          <a:bodyPr wrap="square" lIns="152400" tIns="76200" rIns="152400" bIns="76200" anchor="t">
            <a:noAutofit/>
          </a:bodyPr>
          <a:lstStyle/>
          <a:p>
            <a:pPr marL="0" indent="0">
              <a:buNone/>
            </a:pPr>
            <a:r>
              <a:rPr lang="en-US" sz="1800" b="1" dirty="0">
                <a:solidFill>
                  <a:srgbClr val="1E3A5F"/>
                </a:solidFill>
                <a:latin typeface="Helvetica Neue Light"/>
                <a:ea typeface="Arial"/>
                <a:cs typeface="Arial"/>
              </a:rPr>
              <a:t>1  The ticket</a:t>
            </a:r>
          </a:p>
          <a:p>
            <a:pPr marL="0" indent="0">
              <a:spcBef>
                <a:spcPts val="1000"/>
              </a:spcBef>
              <a:buNone/>
            </a:pPr>
            <a:r>
              <a:rPr lang="en-US" sz="1600" i="1" dirty="0">
                <a:solidFill>
                  <a:srgbClr val="333333"/>
                </a:solidFill>
                <a:latin typeface="Helvetica Neue Light"/>
                <a:ea typeface="Arial"/>
                <a:cs typeface="Arial"/>
              </a:rPr>
              <a:t>“Order #4471 arrived cracked and it's my daughter's birthday tomorrow. I've asked twice. Just refund me.”</a:t>
            </a:r>
          </a:p>
          <a:p>
            <a:pPr marL="171450" indent="-171450">
              <a:spcBef>
                <a:spcPts val="1400"/>
              </a:spcBef>
              <a:buClr>
                <a:srgbClr val="4A90A4"/>
              </a:buClr>
              <a:buFont typeface="Arial"/>
              <a:buChar char="•"/>
            </a:pPr>
            <a:r>
              <a:rPr lang="en-US" sz="1400" dirty="0">
                <a:solidFill>
                  <a:srgbClr val="333333"/>
                </a:solidFill>
                <a:latin typeface="Helvetica Neue Light"/>
                <a:ea typeface="Arial"/>
                <a:cs typeface="Arial"/>
              </a:rPr>
              <a:t>Customer since 2021</a:t>
            </a:r>
          </a:p>
          <a:p>
            <a:pPr marL="171450" indent="-171450">
              <a:spcBef>
                <a:spcPts val="400"/>
              </a:spcBef>
              <a:buClr>
                <a:srgbClr val="4A90A4"/>
              </a:buClr>
              <a:buFont typeface="Arial"/>
              <a:buChar char="•"/>
            </a:pPr>
            <a:r>
              <a:rPr lang="en-US" sz="1400" dirty="0">
                <a:solidFill>
                  <a:srgbClr val="333333"/>
                </a:solidFill>
                <a:latin typeface="Helvetica Neue Light"/>
                <a:ea typeface="Arial"/>
                <a:cs typeface="Arial"/>
              </a:rPr>
              <a:t>3 prior orders, no refunds</a:t>
            </a:r>
          </a:p>
          <a:p>
            <a:pPr marL="171450" indent="-171450">
              <a:spcBef>
                <a:spcPts val="400"/>
              </a:spcBef>
              <a:buClr>
                <a:srgbClr val="4A90A4"/>
              </a:buClr>
              <a:buFont typeface="Arial"/>
              <a:buChar char="•"/>
            </a:pPr>
            <a:r>
              <a:rPr lang="en-US" sz="1400" dirty="0">
                <a:solidFill>
                  <a:srgbClr val="333333"/>
                </a:solidFill>
                <a:latin typeface="Helvetica Neue Light"/>
                <a:ea typeface="Arial"/>
                <a:cs typeface="Arial"/>
              </a:rPr>
              <a:t>Order value: $58</a:t>
            </a:r>
          </a:p>
        </p:txBody>
      </p:sp>
      <p:sp>
        <p:nvSpPr>
          <p:cNvPr id="103" name="Card 104"/>
          <p:cNvSpPr/>
          <p:nvPr/>
        </p:nvSpPr>
        <p:spPr>
          <a:xfrm>
            <a:off x="3200400" y="1168400"/>
            <a:ext cx="2743200" cy="4140200"/>
          </a:xfrm>
          <a:prstGeom prst="rect">
            <a:avLst/>
          </a:prstGeom>
          <a:solidFill>
            <a:srgbClr val="1E3A5F"/>
          </a:solidFill>
          <a:ln>
            <a:noFill/>
          </a:ln>
        </p:spPr>
        <p:txBody>
          <a:bodyPr/>
          <a:lstStyle/>
          <a:p>
            <a:endParaRPr lang="en-US"/>
          </a:p>
        </p:txBody>
      </p:sp>
      <p:sp>
        <p:nvSpPr>
          <p:cNvPr id="104" name="Text 105"/>
          <p:cNvSpPr txBox="1"/>
          <p:nvPr/>
        </p:nvSpPr>
        <p:spPr>
          <a:xfrm>
            <a:off x="3200400" y="1270000"/>
            <a:ext cx="2743200" cy="711200"/>
          </a:xfrm>
          <a:prstGeom prst="rect">
            <a:avLst/>
          </a:prstGeom>
          <a:noFill/>
        </p:spPr>
        <p:txBody>
          <a:bodyPr wrap="square" lIns="152400" tIns="76200" rIns="152400" bIns="76200" anchor="t">
            <a:noAutofit/>
          </a:bodyPr>
          <a:lstStyle/>
          <a:p>
            <a:pPr marL="0" indent="0">
              <a:buNone/>
            </a:pPr>
            <a:r>
              <a:rPr lang="en-US" sz="1800" b="1" dirty="0">
                <a:solidFill>
                  <a:srgbClr val="FFFFFF"/>
                </a:solidFill>
                <a:latin typeface="Helvetica Neue Light"/>
                <a:ea typeface="Arial"/>
                <a:cs typeface="Arial"/>
              </a:rPr>
              <a:t>2  Jev answers</a:t>
            </a:r>
          </a:p>
          <a:p>
            <a:pPr marL="0" indent="0">
              <a:spcBef>
                <a:spcPts val="400"/>
              </a:spcBef>
              <a:buNone/>
            </a:pPr>
            <a:r>
              <a:rPr lang="en-US" sz="1400" dirty="0">
                <a:solidFill>
                  <a:srgbClr val="A9BCD0"/>
                </a:solidFill>
                <a:latin typeface="Helvetica Neue Light"/>
                <a:ea typeface="Arial"/>
                <a:cs typeface="Arial"/>
              </a:rPr>
              <a:t>Answer (confidence)</a:t>
            </a:r>
          </a:p>
        </p:txBody>
      </p:sp>
      <p:cxnSp>
        <p:nvCxnSpPr>
          <p:cNvPr id="105" name="Divider 106"/>
          <p:cNvCxnSpPr/>
          <p:nvPr/>
        </p:nvCxnSpPr>
        <p:spPr>
          <a:xfrm>
            <a:off x="3352800" y="2082800"/>
            <a:ext cx="2438400" cy="0"/>
          </a:xfrm>
          <a:prstGeom prst="line">
            <a:avLst/>
          </a:prstGeom>
          <a:ln w="9525">
            <a:solidFill>
              <a:srgbClr val="3E5C82"/>
            </a:solidFill>
          </a:ln>
        </p:spPr>
      </p:cxnSp>
      <p:sp>
        <p:nvSpPr>
          <p:cNvPr id="106" name="Text 107"/>
          <p:cNvSpPr txBox="1"/>
          <p:nvPr/>
        </p:nvSpPr>
        <p:spPr>
          <a:xfrm>
            <a:off x="3200400" y="2108200"/>
            <a:ext cx="2743200" cy="736600"/>
          </a:xfrm>
          <a:prstGeom prst="rect">
            <a:avLst/>
          </a:prstGeom>
          <a:noFill/>
        </p:spPr>
        <p:txBody>
          <a:bodyPr wrap="square" lIns="152400" tIns="76200" rIns="152400" bIns="76200" anchor="ctr">
            <a:noAutofit/>
          </a:bodyPr>
          <a:lstStyle/>
          <a:p>
            <a:pPr marL="0" indent="0">
              <a:buNone/>
            </a:pPr>
            <a:r>
              <a:rPr lang="en-US" sz="1400" b="1" dirty="0">
                <a:solidFill>
                  <a:srgbClr val="FFFFFF"/>
                </a:solidFill>
                <a:latin typeface="Helvetica Neue Light"/>
                <a:ea typeface="Arial"/>
                <a:cs typeface="Arial"/>
              </a:rPr>
              <a:t>Refund requested?</a:t>
            </a:r>
            <a:r>
              <a:rPr lang="en-US" sz="1400" dirty="0">
                <a:solidFill>
                  <a:srgbClr val="A9BCD0"/>
                </a:solidFill>
                <a:latin typeface="Helvetica Neue Light"/>
                <a:ea typeface="Arial"/>
                <a:cs typeface="Arial"/>
              </a:rPr>
              <a:t>  Noul</a:t>
            </a:r>
          </a:p>
          <a:p>
            <a:pPr marL="0" indent="0">
              <a:spcBef>
                <a:spcPts val="200"/>
              </a:spcBef>
              <a:buNone/>
            </a:pPr>
            <a:r>
              <a:rPr lang="en-US" sz="1400" b="1" dirty="0">
                <a:solidFill>
                  <a:srgbClr val="9FD6E4"/>
                </a:solidFill>
                <a:latin typeface="Helvetica Neue Light"/>
                <a:ea typeface="Arial"/>
                <a:cs typeface="Arial"/>
              </a:rPr>
              <a:t>→ true</a:t>
            </a:r>
            <a:r>
              <a:rPr lang="en-US" sz="1400" dirty="0">
                <a:solidFill>
                  <a:srgbClr val="A9BCD0"/>
                </a:solidFill>
                <a:latin typeface="Helvetica Neue Light"/>
                <a:ea typeface="Arial"/>
                <a:cs typeface="Arial"/>
              </a:rPr>
              <a:t>   (0.96)</a:t>
            </a:r>
          </a:p>
        </p:txBody>
      </p:sp>
      <p:cxnSp>
        <p:nvCxnSpPr>
          <p:cNvPr id="107" name="Divider 108"/>
          <p:cNvCxnSpPr/>
          <p:nvPr/>
        </p:nvCxnSpPr>
        <p:spPr>
          <a:xfrm>
            <a:off x="3352800" y="2870200"/>
            <a:ext cx="2438400" cy="0"/>
          </a:xfrm>
          <a:prstGeom prst="line">
            <a:avLst/>
          </a:prstGeom>
          <a:ln w="9525">
            <a:solidFill>
              <a:srgbClr val="3E5C82"/>
            </a:solidFill>
          </a:ln>
        </p:spPr>
      </p:cxnSp>
      <p:sp>
        <p:nvSpPr>
          <p:cNvPr id="108" name="Text 109"/>
          <p:cNvSpPr txBox="1"/>
          <p:nvPr/>
        </p:nvSpPr>
        <p:spPr>
          <a:xfrm>
            <a:off x="3200400" y="2895600"/>
            <a:ext cx="2743200" cy="736600"/>
          </a:xfrm>
          <a:prstGeom prst="rect">
            <a:avLst/>
          </a:prstGeom>
          <a:noFill/>
        </p:spPr>
        <p:txBody>
          <a:bodyPr wrap="square" lIns="152400" tIns="76200" rIns="152400" bIns="76200" anchor="ctr">
            <a:noAutofit/>
          </a:bodyPr>
          <a:lstStyle/>
          <a:p>
            <a:pPr marL="0" indent="0">
              <a:buNone/>
            </a:pPr>
            <a:r>
              <a:rPr lang="en-US" sz="1400" b="1" dirty="0">
                <a:solidFill>
                  <a:srgbClr val="FFFFFF"/>
                </a:solidFill>
                <a:latin typeface="Helvetica Neue Light"/>
                <a:ea typeface="Arial"/>
                <a:cs typeface="Arial"/>
              </a:rPr>
              <a:t>Category?</a:t>
            </a:r>
            <a:r>
              <a:rPr lang="en-US" sz="1400" dirty="0">
                <a:solidFill>
                  <a:srgbClr val="A9BCD0"/>
                </a:solidFill>
                <a:latin typeface="Helvetica Neue Light"/>
                <a:ea typeface="Arial"/>
                <a:cs typeface="Arial"/>
              </a:rPr>
              <a:t>  Choice</a:t>
            </a:r>
          </a:p>
          <a:p>
            <a:pPr marL="0" indent="0">
              <a:spcBef>
                <a:spcPts val="200"/>
              </a:spcBef>
              <a:buNone/>
            </a:pPr>
            <a:r>
              <a:rPr lang="en-US" sz="1400" b="1" dirty="0">
                <a:solidFill>
                  <a:srgbClr val="9FD6E4"/>
                </a:solidFill>
                <a:latin typeface="Helvetica Neue Light"/>
                <a:ea typeface="Arial"/>
                <a:cs typeface="Arial"/>
              </a:rPr>
              <a:t>→ Shipping / damage</a:t>
            </a:r>
            <a:r>
              <a:rPr lang="en-US" sz="1400" dirty="0">
                <a:solidFill>
                  <a:srgbClr val="A9BCD0"/>
                </a:solidFill>
                <a:latin typeface="Helvetica Neue Light"/>
                <a:ea typeface="Arial"/>
                <a:cs typeface="Arial"/>
              </a:rPr>
              <a:t>   (0.91)</a:t>
            </a:r>
          </a:p>
        </p:txBody>
      </p:sp>
      <p:cxnSp>
        <p:nvCxnSpPr>
          <p:cNvPr id="109" name="Divider 110"/>
          <p:cNvCxnSpPr/>
          <p:nvPr/>
        </p:nvCxnSpPr>
        <p:spPr>
          <a:xfrm>
            <a:off x="3352800" y="3657600"/>
            <a:ext cx="2438400" cy="0"/>
          </a:xfrm>
          <a:prstGeom prst="line">
            <a:avLst/>
          </a:prstGeom>
          <a:ln w="9525">
            <a:solidFill>
              <a:srgbClr val="3E5C82"/>
            </a:solidFill>
          </a:ln>
        </p:spPr>
      </p:cxnSp>
      <p:sp>
        <p:nvSpPr>
          <p:cNvPr id="110" name="Text 111"/>
          <p:cNvSpPr txBox="1"/>
          <p:nvPr/>
        </p:nvSpPr>
        <p:spPr>
          <a:xfrm>
            <a:off x="3200400" y="3683000"/>
            <a:ext cx="2743200" cy="736600"/>
          </a:xfrm>
          <a:prstGeom prst="rect">
            <a:avLst/>
          </a:prstGeom>
          <a:noFill/>
        </p:spPr>
        <p:txBody>
          <a:bodyPr wrap="square" lIns="152400" tIns="76200" rIns="152400" bIns="76200" anchor="ctr">
            <a:noAutofit/>
          </a:bodyPr>
          <a:lstStyle/>
          <a:p>
            <a:pPr marL="0" indent="0">
              <a:buNone/>
            </a:pPr>
            <a:r>
              <a:rPr lang="en-US" sz="1400" b="1" dirty="0">
                <a:solidFill>
                  <a:srgbClr val="FFFFFF"/>
                </a:solidFill>
                <a:latin typeface="Helvetica Neue Light"/>
                <a:ea typeface="Arial"/>
                <a:cs typeface="Arial"/>
              </a:rPr>
              <a:t>Urgency (1–5)?</a:t>
            </a:r>
            <a:r>
              <a:rPr lang="en-US" sz="1400" dirty="0">
                <a:solidFill>
                  <a:srgbClr val="A9BCD0"/>
                </a:solidFill>
                <a:latin typeface="Helvetica Neue Light"/>
                <a:ea typeface="Arial"/>
                <a:cs typeface="Arial"/>
              </a:rPr>
              <a:t>  Score</a:t>
            </a:r>
          </a:p>
          <a:p>
            <a:pPr marL="0" indent="0">
              <a:spcBef>
                <a:spcPts val="200"/>
              </a:spcBef>
              <a:buNone/>
            </a:pPr>
            <a:r>
              <a:rPr lang="en-US" sz="1400" b="1" dirty="0">
                <a:solidFill>
                  <a:srgbClr val="9FD6E4"/>
                </a:solidFill>
                <a:latin typeface="Helvetica Neue Light"/>
                <a:ea typeface="Arial"/>
                <a:cs typeface="Arial"/>
              </a:rPr>
              <a:t>→ 5</a:t>
            </a:r>
            <a:r>
              <a:rPr lang="en-US" sz="1400" dirty="0">
                <a:solidFill>
                  <a:srgbClr val="A9BCD0"/>
                </a:solidFill>
                <a:latin typeface="Helvetica Neue Light"/>
                <a:ea typeface="Arial"/>
                <a:cs typeface="Arial"/>
              </a:rPr>
              <a:t>   (0.84)</a:t>
            </a:r>
          </a:p>
        </p:txBody>
      </p:sp>
      <p:cxnSp>
        <p:nvCxnSpPr>
          <p:cNvPr id="111" name="Divider 112"/>
          <p:cNvCxnSpPr/>
          <p:nvPr/>
        </p:nvCxnSpPr>
        <p:spPr>
          <a:xfrm>
            <a:off x="3352800" y="4445000"/>
            <a:ext cx="2438400" cy="0"/>
          </a:xfrm>
          <a:prstGeom prst="line">
            <a:avLst/>
          </a:prstGeom>
          <a:ln w="9525">
            <a:solidFill>
              <a:srgbClr val="3E5C82"/>
            </a:solidFill>
          </a:ln>
        </p:spPr>
      </p:cxnSp>
      <p:sp>
        <p:nvSpPr>
          <p:cNvPr id="112" name="Text 113"/>
          <p:cNvSpPr txBox="1"/>
          <p:nvPr/>
        </p:nvSpPr>
        <p:spPr>
          <a:xfrm>
            <a:off x="3200400" y="4470400"/>
            <a:ext cx="2743200" cy="736600"/>
          </a:xfrm>
          <a:prstGeom prst="rect">
            <a:avLst/>
          </a:prstGeom>
          <a:noFill/>
        </p:spPr>
        <p:txBody>
          <a:bodyPr wrap="square" lIns="152400" tIns="76200" rIns="152400" bIns="76200" anchor="ctr">
            <a:noAutofit/>
          </a:bodyPr>
          <a:lstStyle/>
          <a:p>
            <a:pPr marL="0" indent="0">
              <a:buNone/>
            </a:pPr>
            <a:r>
              <a:rPr lang="en-US" sz="1400" b="1" dirty="0">
                <a:solidFill>
                  <a:srgbClr val="FFFFFF"/>
                </a:solidFill>
                <a:latin typeface="Helvetica Neue Light"/>
                <a:ea typeface="Arial"/>
                <a:cs typeface="Arial"/>
              </a:rPr>
              <a:t>Customer frustrated?</a:t>
            </a:r>
            <a:r>
              <a:rPr lang="en-US" sz="1400" dirty="0">
                <a:solidFill>
                  <a:srgbClr val="A9BCD0"/>
                </a:solidFill>
                <a:latin typeface="Helvetica Neue Light"/>
                <a:ea typeface="Arial"/>
                <a:cs typeface="Arial"/>
              </a:rPr>
              <a:t>  Noul</a:t>
            </a:r>
          </a:p>
          <a:p>
            <a:pPr marL="0" indent="0">
              <a:spcBef>
                <a:spcPts val="200"/>
              </a:spcBef>
              <a:buNone/>
            </a:pPr>
            <a:r>
              <a:rPr lang="en-US" sz="1400" b="1" dirty="0">
                <a:solidFill>
                  <a:srgbClr val="9FD6E4"/>
                </a:solidFill>
                <a:latin typeface="Helvetica Neue Light"/>
                <a:ea typeface="Arial"/>
                <a:cs typeface="Arial"/>
              </a:rPr>
              <a:t>→ true</a:t>
            </a:r>
            <a:r>
              <a:rPr lang="en-US" sz="1400" dirty="0">
                <a:solidFill>
                  <a:srgbClr val="A9BCD0"/>
                </a:solidFill>
                <a:latin typeface="Helvetica Neue Light"/>
                <a:ea typeface="Arial"/>
                <a:cs typeface="Arial"/>
              </a:rPr>
              <a:t>   (0.88)</a:t>
            </a:r>
          </a:p>
        </p:txBody>
      </p:sp>
      <p:sp>
        <p:nvSpPr>
          <p:cNvPr id="113" name="Card 114"/>
          <p:cNvSpPr/>
          <p:nvPr/>
        </p:nvSpPr>
        <p:spPr>
          <a:xfrm>
            <a:off x="6273800" y="1168400"/>
            <a:ext cx="2413000" cy="4140200"/>
          </a:xfrm>
          <a:prstGeom prst="rect">
            <a:avLst/>
          </a:prstGeom>
          <a:solidFill>
            <a:srgbClr val="FFFFFF"/>
          </a:solidFill>
          <a:ln>
            <a:noFill/>
          </a:ln>
        </p:spPr>
        <p:txBody>
          <a:bodyPr/>
          <a:lstStyle/>
          <a:p>
            <a:endParaRPr lang="en-US"/>
          </a:p>
        </p:txBody>
      </p:sp>
      <p:sp>
        <p:nvSpPr>
          <p:cNvPr id="114" name="Card 115"/>
          <p:cNvSpPr/>
          <p:nvPr/>
        </p:nvSpPr>
        <p:spPr>
          <a:xfrm>
            <a:off x="6273800" y="1168400"/>
            <a:ext cx="2413000" cy="63500"/>
          </a:xfrm>
          <a:prstGeom prst="rect">
            <a:avLst/>
          </a:prstGeom>
          <a:solidFill>
            <a:srgbClr val="4A90A4"/>
          </a:solidFill>
          <a:ln>
            <a:noFill/>
          </a:ln>
        </p:spPr>
        <p:txBody>
          <a:bodyPr/>
          <a:lstStyle/>
          <a:p>
            <a:endParaRPr lang="en-US"/>
          </a:p>
        </p:txBody>
      </p:sp>
      <p:sp>
        <p:nvSpPr>
          <p:cNvPr id="115" name="Text 116"/>
          <p:cNvSpPr txBox="1"/>
          <p:nvPr/>
        </p:nvSpPr>
        <p:spPr>
          <a:xfrm>
            <a:off x="6273800" y="1270000"/>
            <a:ext cx="2413000" cy="431800"/>
          </a:xfrm>
          <a:prstGeom prst="rect">
            <a:avLst/>
          </a:prstGeom>
          <a:noFill/>
        </p:spPr>
        <p:txBody>
          <a:bodyPr wrap="square" lIns="152400" tIns="76200" rIns="152400" bIns="76200" anchor="t">
            <a:noAutofit/>
          </a:bodyPr>
          <a:lstStyle/>
          <a:p>
            <a:pPr marL="0" indent="0">
              <a:buNone/>
            </a:pPr>
            <a:r>
              <a:rPr lang="en-US" sz="1800" b="1" dirty="0">
                <a:solidFill>
                  <a:srgbClr val="1E3A5F"/>
                </a:solidFill>
                <a:latin typeface="Helvetica Neue Light"/>
                <a:ea typeface="Arial"/>
                <a:cs typeface="Arial"/>
              </a:rPr>
              <a:t>3  Your code routes</a:t>
            </a:r>
          </a:p>
        </p:txBody>
      </p:sp>
      <p:sp>
        <p:nvSpPr>
          <p:cNvPr id="116" name="Card 117"/>
          <p:cNvSpPr/>
          <p:nvPr/>
        </p:nvSpPr>
        <p:spPr>
          <a:xfrm>
            <a:off x="6426200" y="1778000"/>
            <a:ext cx="2108200" cy="1422400"/>
          </a:xfrm>
          <a:prstGeom prst="rect">
            <a:avLst/>
          </a:prstGeom>
          <a:solidFill>
            <a:srgbClr val="E4F0F3"/>
          </a:solidFill>
          <a:ln>
            <a:noFill/>
          </a:ln>
        </p:spPr>
        <p:txBody>
          <a:bodyPr/>
          <a:lstStyle/>
          <a:p>
            <a:endParaRPr lang="en-US"/>
          </a:p>
        </p:txBody>
      </p:sp>
      <p:sp>
        <p:nvSpPr>
          <p:cNvPr id="117" name="Card 118"/>
          <p:cNvSpPr/>
          <p:nvPr/>
        </p:nvSpPr>
        <p:spPr>
          <a:xfrm>
            <a:off x="6426200" y="1778000"/>
            <a:ext cx="50800" cy="1422400"/>
          </a:xfrm>
          <a:prstGeom prst="rect">
            <a:avLst/>
          </a:prstGeom>
          <a:solidFill>
            <a:srgbClr val="4A90A4"/>
          </a:solidFill>
          <a:ln>
            <a:noFill/>
          </a:ln>
        </p:spPr>
        <p:txBody>
          <a:bodyPr/>
          <a:lstStyle/>
          <a:p>
            <a:endParaRPr lang="en-US"/>
          </a:p>
        </p:txBody>
      </p:sp>
      <p:sp>
        <p:nvSpPr>
          <p:cNvPr id="118" name="Text 119"/>
          <p:cNvSpPr txBox="1"/>
          <p:nvPr/>
        </p:nvSpPr>
        <p:spPr>
          <a:xfrm>
            <a:off x="6477000" y="1778000"/>
            <a:ext cx="2057400" cy="1422400"/>
          </a:xfrm>
          <a:prstGeom prst="rect">
            <a:avLst/>
          </a:prstGeom>
          <a:noFill/>
        </p:spPr>
        <p:txBody>
          <a:bodyPr wrap="square" lIns="127000" tIns="76200" rIns="127000" bIns="76200" anchor="ctr">
            <a:noAutofit/>
          </a:bodyPr>
          <a:lstStyle/>
          <a:p>
            <a:pPr marL="0" indent="0">
              <a:buNone/>
            </a:pPr>
            <a:r>
              <a:rPr lang="en-US" sz="1400" b="1" dirty="0">
                <a:solidFill>
                  <a:srgbClr val="2F6F80"/>
                </a:solidFill>
                <a:latin typeface="Helvetica Neue Light"/>
                <a:ea typeface="Arial"/>
                <a:cs typeface="Arial"/>
              </a:rPr>
              <a:t>Auto-resolve</a:t>
            </a:r>
          </a:p>
          <a:p>
            <a:pPr marL="0" indent="0">
              <a:spcBef>
                <a:spcPts val="200"/>
              </a:spcBef>
              <a:buNone/>
            </a:pPr>
            <a:r>
              <a:rPr lang="en-US" sz="1400" b="1" dirty="0">
                <a:solidFill>
                  <a:srgbClr val="333333"/>
                </a:solidFill>
                <a:latin typeface="Helvetica Neue Light"/>
                <a:ea typeface="Arial"/>
                <a:cs typeface="Arial"/>
              </a:rPr>
              <a:t>refund ≥ 0.9 and urgency ≥ 4</a:t>
            </a:r>
          </a:p>
          <a:p>
            <a:pPr marL="0" indent="0">
              <a:spcBef>
                <a:spcPts val="200"/>
              </a:spcBef>
              <a:buNone/>
            </a:pPr>
            <a:r>
              <a:rPr lang="en-US" sz="1400" dirty="0">
                <a:solidFill>
                  <a:srgbClr val="333333"/>
                </a:solidFill>
                <a:latin typeface="Helvetica Neue Light"/>
                <a:ea typeface="Arial"/>
                <a:cs typeface="Arial"/>
              </a:rPr>
              <a:t>Approve replacement, expedite shipping, notify the agent</a:t>
            </a:r>
          </a:p>
        </p:txBody>
      </p:sp>
      <p:sp>
        <p:nvSpPr>
          <p:cNvPr id="119" name="Card 120"/>
          <p:cNvSpPr/>
          <p:nvPr/>
        </p:nvSpPr>
        <p:spPr>
          <a:xfrm>
            <a:off x="6426200" y="3327400"/>
            <a:ext cx="2108200" cy="1219200"/>
          </a:xfrm>
          <a:prstGeom prst="rect">
            <a:avLst/>
          </a:prstGeom>
          <a:solidFill>
            <a:srgbClr val="FBEAE5"/>
          </a:solidFill>
          <a:ln>
            <a:noFill/>
          </a:ln>
        </p:spPr>
        <p:txBody>
          <a:bodyPr/>
          <a:lstStyle/>
          <a:p>
            <a:endParaRPr lang="en-US"/>
          </a:p>
        </p:txBody>
      </p:sp>
      <p:sp>
        <p:nvSpPr>
          <p:cNvPr id="120" name="Card 121"/>
          <p:cNvSpPr/>
          <p:nvPr/>
        </p:nvSpPr>
        <p:spPr>
          <a:xfrm>
            <a:off x="6426200" y="3327400"/>
            <a:ext cx="50800" cy="1219200"/>
          </a:xfrm>
          <a:prstGeom prst="rect">
            <a:avLst/>
          </a:prstGeom>
          <a:solidFill>
            <a:srgbClr val="E07A5F"/>
          </a:solidFill>
          <a:ln>
            <a:noFill/>
          </a:ln>
        </p:spPr>
        <p:txBody>
          <a:bodyPr/>
          <a:lstStyle/>
          <a:p>
            <a:endParaRPr lang="en-US"/>
          </a:p>
        </p:txBody>
      </p:sp>
      <p:sp>
        <p:nvSpPr>
          <p:cNvPr id="121" name="Text 122"/>
          <p:cNvSpPr txBox="1"/>
          <p:nvPr/>
        </p:nvSpPr>
        <p:spPr>
          <a:xfrm>
            <a:off x="6477000" y="3327400"/>
            <a:ext cx="2057400" cy="1219200"/>
          </a:xfrm>
          <a:prstGeom prst="rect">
            <a:avLst/>
          </a:prstGeom>
          <a:noFill/>
        </p:spPr>
        <p:txBody>
          <a:bodyPr wrap="square" lIns="127000" tIns="76200" rIns="127000" bIns="76200" anchor="ctr">
            <a:noAutofit/>
          </a:bodyPr>
          <a:lstStyle/>
          <a:p>
            <a:pPr marL="0" indent="0">
              <a:buNone/>
            </a:pPr>
            <a:r>
              <a:rPr lang="en-US" sz="1400" b="1" dirty="0">
                <a:solidFill>
                  <a:srgbClr val="A8452C"/>
                </a:solidFill>
                <a:latin typeface="Helvetica Neue Light"/>
                <a:ea typeface="Arial"/>
                <a:cs typeface="Arial"/>
              </a:rPr>
              <a:t>Escalate</a:t>
            </a:r>
          </a:p>
          <a:p>
            <a:pPr marL="0" indent="0">
              <a:spcBef>
                <a:spcPts val="200"/>
              </a:spcBef>
              <a:buNone/>
            </a:pPr>
            <a:r>
              <a:rPr lang="en-US" sz="1400" b="1" dirty="0">
                <a:solidFill>
                  <a:srgbClr val="333333"/>
                </a:solidFill>
                <a:latin typeface="Helvetica Neue Light"/>
                <a:ea typeface="Arial"/>
                <a:cs typeface="Arial"/>
              </a:rPr>
              <a:t>any confidence &lt; 0.7</a:t>
            </a:r>
          </a:p>
          <a:p>
            <a:pPr marL="0" indent="0">
              <a:spcBef>
                <a:spcPts val="200"/>
              </a:spcBef>
              <a:buNone/>
            </a:pPr>
            <a:r>
              <a:rPr lang="en-US" sz="1400" dirty="0">
                <a:solidFill>
                  <a:srgbClr val="333333"/>
                </a:solidFill>
                <a:latin typeface="Helvetica Neue Light"/>
                <a:ea typeface="Arial"/>
                <a:cs typeface="Arial"/>
              </a:rPr>
              <a:t>Hand the ticket to a human</a:t>
            </a:r>
          </a:p>
        </p:txBody>
      </p:sp>
      <p:sp>
        <p:nvSpPr>
          <p:cNvPr id="122" name="Text 123"/>
          <p:cNvSpPr txBox="1"/>
          <p:nvPr/>
        </p:nvSpPr>
        <p:spPr>
          <a:xfrm>
            <a:off x="6273800" y="4622800"/>
            <a:ext cx="2413000" cy="609600"/>
          </a:xfrm>
          <a:prstGeom prst="rect">
            <a:avLst/>
          </a:prstGeom>
          <a:noFill/>
        </p:spPr>
        <p:txBody>
          <a:bodyPr wrap="square" lIns="152400" tIns="76200" rIns="152400" bIns="76200" anchor="ctr">
            <a:noAutofit/>
          </a:bodyPr>
          <a:lstStyle/>
          <a:p>
            <a:pPr marL="0" indent="0">
              <a:buNone/>
            </a:pPr>
            <a:r>
              <a:rPr lang="en-US" sz="1400" b="1" dirty="0">
                <a:solidFill>
                  <a:srgbClr val="1E3A5F"/>
                </a:solidFill>
                <a:latin typeface="Helvetica Neue Light"/>
                <a:ea typeface="Arial"/>
                <a:cs typeface="Arial"/>
              </a:rPr>
              <a:t>This ticket: </a:t>
            </a:r>
            <a:r>
              <a:rPr lang="en-US" sz="1400" dirty="0">
                <a:solidFill>
                  <a:srgbClr val="333333"/>
                </a:solidFill>
                <a:latin typeface="Helvetica Neue Light"/>
                <a:ea typeface="Arial"/>
                <a:cs typeface="Arial"/>
              </a:rPr>
              <a:t>auto-resolved</a:t>
            </a:r>
          </a:p>
        </p:txBody>
      </p:sp>
      <p:cxnSp>
        <p:nvCxnSpPr>
          <p:cNvPr id="123" name="Arrow 124"/>
          <p:cNvCxnSpPr/>
          <p:nvPr/>
        </p:nvCxnSpPr>
        <p:spPr>
          <a:xfrm>
            <a:off x="2895600" y="3238500"/>
            <a:ext cx="279400" cy="0"/>
          </a:xfrm>
          <a:prstGeom prst="straightConnector1">
            <a:avLst/>
          </a:prstGeom>
          <a:ln w="22225">
            <a:solidFill>
              <a:srgbClr val="4A90A4"/>
            </a:solidFill>
            <a:tailEnd type="triangle"/>
          </a:ln>
        </p:spPr>
      </p:cxnSp>
      <p:cxnSp>
        <p:nvCxnSpPr>
          <p:cNvPr id="124" name="Arrow 125"/>
          <p:cNvCxnSpPr/>
          <p:nvPr/>
        </p:nvCxnSpPr>
        <p:spPr>
          <a:xfrm>
            <a:off x="5969000" y="3238500"/>
            <a:ext cx="279400" cy="0"/>
          </a:xfrm>
          <a:prstGeom prst="straightConnector1">
            <a:avLst/>
          </a:prstGeom>
          <a:ln w="22225">
            <a:solidFill>
              <a:srgbClr val="4A90A4"/>
            </a:solidFill>
            <a:tailEnd type="triangle"/>
          </a:ln>
        </p:spPr>
      </p:cxnSp>
      <p:sp>
        <p:nvSpPr>
          <p:cNvPr id="125" name="Card 126"/>
          <p:cNvSpPr/>
          <p:nvPr/>
        </p:nvSpPr>
        <p:spPr>
          <a:xfrm>
            <a:off x="457200" y="5486400"/>
            <a:ext cx="8229600" cy="965200"/>
          </a:xfrm>
          <a:prstGeom prst="rect">
            <a:avLst/>
          </a:prstGeom>
          <a:solidFill>
            <a:srgbClr val="1E3A5F"/>
          </a:solidFill>
          <a:ln>
            <a:noFill/>
          </a:ln>
        </p:spPr>
        <p:txBody>
          <a:bodyPr/>
          <a:lstStyle/>
          <a:p>
            <a:endParaRPr lang="en-US"/>
          </a:p>
        </p:txBody>
      </p:sp>
      <p:sp>
        <p:nvSpPr>
          <p:cNvPr id="126" name="Text 127"/>
          <p:cNvSpPr txBox="1"/>
          <p:nvPr/>
        </p:nvSpPr>
        <p:spPr>
          <a:xfrm>
            <a:off x="457200" y="5486400"/>
            <a:ext cx="8229600" cy="965200"/>
          </a:xfrm>
          <a:prstGeom prst="rect">
            <a:avLst/>
          </a:prstGeom>
          <a:noFill/>
        </p:spPr>
        <p:txBody>
          <a:bodyPr wrap="square" lIns="203200" tIns="76200" rIns="203200" bIns="76200" anchor="ctr">
            <a:noAutofit/>
          </a:bodyPr>
          <a:lstStyle/>
          <a:p>
            <a:pPr marL="0" indent="0">
              <a:buNone/>
            </a:pPr>
            <a:r>
              <a:rPr lang="en-US" sz="1800" b="1" dirty="0">
                <a:solidFill>
                  <a:srgbClr val="FFFFFF"/>
                </a:solidFill>
                <a:latin typeface="Helvetica Neue Light"/>
                <a:ea typeface="Arial"/>
                <a:cs typeface="Arial"/>
              </a:rPr>
              <a:t>Why it matters: </a:t>
            </a:r>
            <a:r>
              <a:rPr lang="en-US" sz="1800" dirty="0">
                <a:solidFill>
                  <a:srgbClr val="FFFFFF"/>
                </a:solidFill>
                <a:latin typeface="Helvetica Neue Light"/>
                <a:ea typeface="Arial"/>
                <a:cs typeface="Arial"/>
              </a:rPr>
              <a:t>one calibrated call replaces a chain of slow LLM prompts, and your code acts on structure instead of parsed text.</a:t>
            </a:r>
          </a:p>
        </p:txBody>
      </p:sp>
      <p:sp>
        <p:nvSpPr>
          <p:cNvPr id="127" name="Slide Number Placeholder"/>
          <p:cNvSpPr>
            <a:spLocks noGrp="1"/>
          </p:cNvSpPr>
          <p:nvPr>
            <p:ph type="sldNum" sz="quarter" idx="12"/>
          </p:nvPr>
        </p:nvSpPr>
        <p:spPr/>
        <p:txBody>
          <a:bodyPr/>
          <a:lstStyle/>
          <a:p>
            <a:fld id="{21EF4C0E-91FA-4D94-8941-E22F3A83D5F1}" type="slidenum">
              <a:rPr lang="en-US"/>
              <a:t>122</a:t>
            </a:fld>
            <a:endParaRPr lang="en-US"/>
          </a:p>
        </p:txBody>
      </p:sp>
    </p:spTree>
    <p:extLst>
      <p:ext uri="{BB962C8B-B14F-4D97-AF65-F5344CB8AC3E}">
        <p14:creationId xmlns:p14="http://schemas.microsoft.com/office/powerpoint/2010/main" val="200933554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691D37DB-4FFC-8BD2-E365-75C43F76C112}"/>
              </a:ext>
            </a:extLst>
          </p:cNvPr>
          <p:cNvSpPr>
            <a:spLocks noGrp="1"/>
          </p:cNvSpPr>
          <p:nvPr>
            <p:ph type="title"/>
          </p:nvPr>
        </p:nvSpPr>
        <p:spPr/>
        <p:txBody>
          <a:bodyPr/>
          <a:lstStyle/>
          <a:p>
            <a:r>
              <a:rPr lang="en-US" dirty="0"/>
              <a:t>When to reach for Jev</a:t>
            </a:r>
          </a:p>
        </p:txBody>
      </p:sp>
      <p:sp>
        <p:nvSpPr>
          <p:cNvPr id="100" name="Card 101"/>
          <p:cNvSpPr/>
          <p:nvPr/>
        </p:nvSpPr>
        <p:spPr>
          <a:xfrm>
            <a:off x="457200" y="1168400"/>
            <a:ext cx="5080000" cy="1574800"/>
          </a:xfrm>
          <a:prstGeom prst="rect">
            <a:avLst/>
          </a:prstGeom>
          <a:solidFill>
            <a:srgbClr val="FFFFFF"/>
          </a:solidFill>
          <a:ln>
            <a:noFill/>
          </a:ln>
        </p:spPr>
        <p:txBody>
          <a:bodyPr/>
          <a:lstStyle/>
          <a:p>
            <a:endParaRPr lang="en-US"/>
          </a:p>
        </p:txBody>
      </p:sp>
      <p:sp>
        <p:nvSpPr>
          <p:cNvPr id="101" name="Card 102"/>
          <p:cNvSpPr/>
          <p:nvPr/>
        </p:nvSpPr>
        <p:spPr>
          <a:xfrm>
            <a:off x="457200" y="1168400"/>
            <a:ext cx="76200" cy="1574800"/>
          </a:xfrm>
          <a:prstGeom prst="rect">
            <a:avLst/>
          </a:prstGeom>
          <a:solidFill>
            <a:srgbClr val="4A90A4"/>
          </a:solidFill>
          <a:ln>
            <a:noFill/>
          </a:ln>
        </p:spPr>
        <p:txBody>
          <a:bodyPr/>
          <a:lstStyle/>
          <a:p>
            <a:endParaRPr lang="en-US"/>
          </a:p>
        </p:txBody>
      </p:sp>
      <p:sp>
        <p:nvSpPr>
          <p:cNvPr id="102" name="Text 103"/>
          <p:cNvSpPr txBox="1"/>
          <p:nvPr/>
        </p:nvSpPr>
        <p:spPr>
          <a:xfrm>
            <a:off x="1270000" y="1168400"/>
            <a:ext cx="4267200" cy="1574800"/>
          </a:xfrm>
          <a:prstGeom prst="rect">
            <a:avLst/>
          </a:prstGeom>
          <a:noFill/>
        </p:spPr>
        <p:txBody>
          <a:bodyPr wrap="square" lIns="152400" tIns="76200" rIns="152400" bIns="76200" anchor="ctr">
            <a:noAutofit/>
          </a:bodyPr>
          <a:lstStyle/>
          <a:p>
            <a:pPr marL="0" indent="0">
              <a:buNone/>
            </a:pPr>
            <a:r>
              <a:rPr lang="en-US" sz="2000" b="1" dirty="0">
                <a:solidFill>
                  <a:srgbClr val="1E3A5F"/>
                </a:solidFill>
                <a:latin typeface="Helvetica Neue Light"/>
                <a:ea typeface="Arial"/>
                <a:cs typeface="Arial"/>
              </a:rPr>
              <a:t>Machine-native</a:t>
            </a:r>
          </a:p>
          <a:p>
            <a:pPr marL="0" indent="0">
              <a:spcBef>
                <a:spcPts val="400"/>
              </a:spcBef>
              <a:buNone/>
            </a:pPr>
            <a:r>
              <a:rPr lang="en-US" sz="1600" dirty="0">
                <a:solidFill>
                  <a:srgbClr val="333333"/>
                </a:solidFill>
                <a:latin typeface="Helvetica Neue Light"/>
                <a:ea typeface="Arial"/>
                <a:cs typeface="Arial"/>
              </a:rPr>
              <a:t>Typed answers your code consumes directly. No prompt-wrangling, no parsing generated text.</a:t>
            </a:r>
          </a:p>
        </p:txBody>
      </p:sp>
      <p:sp>
        <p:nvSpPr>
          <p:cNvPr id="103" name="Card 104"/>
          <p:cNvSpPr/>
          <p:nvPr/>
        </p:nvSpPr>
        <p:spPr>
          <a:xfrm>
            <a:off x="457200" y="2921000"/>
            <a:ext cx="5080000" cy="1574800"/>
          </a:xfrm>
          <a:prstGeom prst="rect">
            <a:avLst/>
          </a:prstGeom>
          <a:solidFill>
            <a:srgbClr val="FFFFFF"/>
          </a:solidFill>
          <a:ln>
            <a:noFill/>
          </a:ln>
        </p:spPr>
        <p:txBody>
          <a:bodyPr/>
          <a:lstStyle/>
          <a:p>
            <a:endParaRPr lang="en-US"/>
          </a:p>
        </p:txBody>
      </p:sp>
      <p:sp>
        <p:nvSpPr>
          <p:cNvPr id="104" name="Card 105"/>
          <p:cNvSpPr/>
          <p:nvPr/>
        </p:nvSpPr>
        <p:spPr>
          <a:xfrm>
            <a:off x="457200" y="2921000"/>
            <a:ext cx="76200" cy="1574800"/>
          </a:xfrm>
          <a:prstGeom prst="rect">
            <a:avLst/>
          </a:prstGeom>
          <a:solidFill>
            <a:srgbClr val="4A90A4"/>
          </a:solidFill>
          <a:ln>
            <a:noFill/>
          </a:ln>
        </p:spPr>
        <p:txBody>
          <a:bodyPr/>
          <a:lstStyle/>
          <a:p>
            <a:endParaRPr lang="en-US"/>
          </a:p>
        </p:txBody>
      </p:sp>
      <p:sp>
        <p:nvSpPr>
          <p:cNvPr id="105" name="Text 106"/>
          <p:cNvSpPr txBox="1"/>
          <p:nvPr/>
        </p:nvSpPr>
        <p:spPr>
          <a:xfrm>
            <a:off x="1270000" y="2921000"/>
            <a:ext cx="4267200" cy="1574800"/>
          </a:xfrm>
          <a:prstGeom prst="rect">
            <a:avLst/>
          </a:prstGeom>
          <a:noFill/>
        </p:spPr>
        <p:txBody>
          <a:bodyPr wrap="square" lIns="152400" tIns="76200" rIns="152400" bIns="76200" anchor="ctr">
            <a:noAutofit/>
          </a:bodyPr>
          <a:lstStyle/>
          <a:p>
            <a:pPr marL="0" indent="0">
              <a:buNone/>
            </a:pPr>
            <a:r>
              <a:rPr lang="en-US" sz="2000" b="1" dirty="0">
                <a:solidFill>
                  <a:srgbClr val="1E3A5F"/>
                </a:solidFill>
                <a:latin typeface="Helvetica Neue Light"/>
                <a:ea typeface="Arial"/>
                <a:cs typeface="Arial"/>
              </a:rPr>
              <a:t>Confidence-aware</a:t>
            </a:r>
          </a:p>
          <a:p>
            <a:pPr marL="0" indent="0">
              <a:spcBef>
                <a:spcPts val="400"/>
              </a:spcBef>
              <a:buNone/>
            </a:pPr>
            <a:r>
              <a:rPr lang="en-US" sz="1600" dirty="0">
                <a:solidFill>
                  <a:srgbClr val="333333"/>
                </a:solidFill>
                <a:latin typeface="Helvetica Neue Light"/>
                <a:ea typeface="Arial"/>
                <a:cs typeface="Arial"/>
              </a:rPr>
              <a:t>Act automatically when confidence is high; escalate to a human when it is low.</a:t>
            </a:r>
          </a:p>
        </p:txBody>
      </p:sp>
      <p:sp>
        <p:nvSpPr>
          <p:cNvPr id="106" name="Card 107"/>
          <p:cNvSpPr/>
          <p:nvPr/>
        </p:nvSpPr>
        <p:spPr>
          <a:xfrm>
            <a:off x="457200" y="4673600"/>
            <a:ext cx="5080000" cy="1574800"/>
          </a:xfrm>
          <a:prstGeom prst="rect">
            <a:avLst/>
          </a:prstGeom>
          <a:solidFill>
            <a:srgbClr val="FFFFFF"/>
          </a:solidFill>
          <a:ln>
            <a:noFill/>
          </a:ln>
        </p:spPr>
        <p:txBody>
          <a:bodyPr/>
          <a:lstStyle/>
          <a:p>
            <a:endParaRPr lang="en-US"/>
          </a:p>
        </p:txBody>
      </p:sp>
      <p:sp>
        <p:nvSpPr>
          <p:cNvPr id="107" name="Card 108"/>
          <p:cNvSpPr/>
          <p:nvPr/>
        </p:nvSpPr>
        <p:spPr>
          <a:xfrm>
            <a:off x="457200" y="4673600"/>
            <a:ext cx="76200" cy="1574800"/>
          </a:xfrm>
          <a:prstGeom prst="rect">
            <a:avLst/>
          </a:prstGeom>
          <a:solidFill>
            <a:srgbClr val="4A90A4"/>
          </a:solidFill>
          <a:ln>
            <a:noFill/>
          </a:ln>
        </p:spPr>
        <p:txBody>
          <a:bodyPr/>
          <a:lstStyle/>
          <a:p>
            <a:endParaRPr lang="en-US"/>
          </a:p>
        </p:txBody>
      </p:sp>
      <p:sp>
        <p:nvSpPr>
          <p:cNvPr id="108" name="Text 109"/>
          <p:cNvSpPr txBox="1"/>
          <p:nvPr/>
        </p:nvSpPr>
        <p:spPr>
          <a:xfrm>
            <a:off x="1270000" y="4673600"/>
            <a:ext cx="4267200" cy="1574800"/>
          </a:xfrm>
          <a:prstGeom prst="rect">
            <a:avLst/>
          </a:prstGeom>
          <a:noFill/>
        </p:spPr>
        <p:txBody>
          <a:bodyPr wrap="square" lIns="152400" tIns="76200" rIns="152400" bIns="76200" anchor="ctr">
            <a:noAutofit/>
          </a:bodyPr>
          <a:lstStyle/>
          <a:p>
            <a:pPr marL="0" indent="0">
              <a:buNone/>
            </a:pPr>
            <a:r>
              <a:rPr lang="en-US" sz="2000" b="1" dirty="0">
                <a:solidFill>
                  <a:srgbClr val="1E3A5F"/>
                </a:solidFill>
                <a:latin typeface="Helvetica Neue Light"/>
                <a:ea typeface="Arial"/>
                <a:cs typeface="Arial"/>
              </a:rPr>
              <a:t>Right tool, right job</a:t>
            </a:r>
          </a:p>
          <a:p>
            <a:pPr marL="0" indent="0">
              <a:spcBef>
                <a:spcPts val="400"/>
              </a:spcBef>
              <a:buNone/>
            </a:pPr>
            <a:r>
              <a:rPr lang="en-US" sz="1600" dirty="0">
                <a:solidFill>
                  <a:srgbClr val="333333"/>
                </a:solidFill>
                <a:latin typeface="Helvetica Neue Light"/>
                <a:ea typeface="Arial"/>
                <a:cs typeface="Arial"/>
              </a:rPr>
              <a:t>Built for decisions inside software: triage, routing, moderation, agent loops. Not for conversation.</a:t>
            </a:r>
          </a:p>
        </p:txBody>
      </p:sp>
      <p:sp>
        <p:nvSpPr>
          <p:cNvPr id="109" name="Card 110"/>
          <p:cNvSpPr/>
          <p:nvPr/>
        </p:nvSpPr>
        <p:spPr>
          <a:xfrm>
            <a:off x="5740400" y="1168400"/>
            <a:ext cx="2946400" cy="5080000"/>
          </a:xfrm>
          <a:prstGeom prst="rect">
            <a:avLst/>
          </a:prstGeom>
          <a:solidFill>
            <a:srgbClr val="1E3A5F"/>
          </a:solidFill>
          <a:ln>
            <a:noFill/>
          </a:ln>
        </p:spPr>
        <p:txBody>
          <a:bodyPr/>
          <a:lstStyle/>
          <a:p>
            <a:endParaRPr lang="en-US"/>
          </a:p>
        </p:txBody>
      </p:sp>
      <p:sp>
        <p:nvSpPr>
          <p:cNvPr id="110" name="Text 111"/>
          <p:cNvSpPr txBox="1"/>
          <p:nvPr/>
        </p:nvSpPr>
        <p:spPr>
          <a:xfrm>
            <a:off x="5740400" y="1270000"/>
            <a:ext cx="2946400" cy="431800"/>
          </a:xfrm>
          <a:prstGeom prst="rect">
            <a:avLst/>
          </a:prstGeom>
          <a:noFill/>
        </p:spPr>
        <p:txBody>
          <a:bodyPr wrap="square" lIns="203200" tIns="76200" rIns="203200" bIns="76200" anchor="ctr">
            <a:noAutofit/>
          </a:bodyPr>
          <a:lstStyle/>
          <a:p>
            <a:pPr marL="0" indent="0">
              <a:buNone/>
            </a:pPr>
            <a:r>
              <a:rPr lang="en-US" sz="1800" b="1" dirty="0">
                <a:solidFill>
                  <a:srgbClr val="FFFFFF"/>
                </a:solidFill>
                <a:latin typeface="Helvetica Neue Light"/>
                <a:ea typeface="Arial"/>
                <a:cs typeface="Arial"/>
              </a:rPr>
              <a:t>By the numbers</a:t>
            </a:r>
          </a:p>
        </p:txBody>
      </p:sp>
      <p:cxnSp>
        <p:nvCxnSpPr>
          <p:cNvPr id="111" name="Divider 112"/>
          <p:cNvCxnSpPr/>
          <p:nvPr/>
        </p:nvCxnSpPr>
        <p:spPr>
          <a:xfrm>
            <a:off x="5943600" y="1803400"/>
            <a:ext cx="2540000" cy="0"/>
          </a:xfrm>
          <a:prstGeom prst="line">
            <a:avLst/>
          </a:prstGeom>
          <a:ln w="9525">
            <a:solidFill>
              <a:srgbClr val="3E5C82"/>
            </a:solidFill>
          </a:ln>
        </p:spPr>
      </p:cxnSp>
      <p:sp>
        <p:nvSpPr>
          <p:cNvPr id="112" name="Text 113"/>
          <p:cNvSpPr txBox="1"/>
          <p:nvPr/>
        </p:nvSpPr>
        <p:spPr>
          <a:xfrm>
            <a:off x="5740400" y="1854200"/>
            <a:ext cx="2946400" cy="1371600"/>
          </a:xfrm>
          <a:prstGeom prst="rect">
            <a:avLst/>
          </a:prstGeom>
          <a:noFill/>
        </p:spPr>
        <p:txBody>
          <a:bodyPr wrap="square" lIns="203200" tIns="76200" rIns="203200" bIns="76200" anchor="ctr">
            <a:noAutofit/>
          </a:bodyPr>
          <a:lstStyle/>
          <a:p>
            <a:pPr marL="0" indent="0">
              <a:buNone/>
            </a:pPr>
            <a:r>
              <a:rPr lang="en-US" sz="3000" b="1" dirty="0">
                <a:solidFill>
                  <a:srgbClr val="9FD6E4"/>
                </a:solidFill>
                <a:latin typeface="Helvetica Neue Light"/>
                <a:ea typeface="Arial"/>
                <a:cs typeface="Arial"/>
              </a:rPr>
              <a:t>70–500 ms</a:t>
            </a:r>
          </a:p>
          <a:p>
            <a:pPr marL="0" indent="0">
              <a:spcBef>
                <a:spcPts val="200"/>
              </a:spcBef>
              <a:buNone/>
            </a:pPr>
            <a:r>
              <a:rPr lang="en-US" sz="1400" dirty="0">
                <a:solidFill>
                  <a:srgbClr val="D6E2EE"/>
                </a:solidFill>
                <a:latin typeface="Helvetica Neue Light"/>
                <a:ea typeface="Arial"/>
                <a:cs typeface="Arial"/>
              </a:rPr>
              <a:t>per decision, ~200× faster than comparable LLMs</a:t>
            </a:r>
          </a:p>
        </p:txBody>
      </p:sp>
      <p:cxnSp>
        <p:nvCxnSpPr>
          <p:cNvPr id="113" name="Divider 114"/>
          <p:cNvCxnSpPr/>
          <p:nvPr/>
        </p:nvCxnSpPr>
        <p:spPr>
          <a:xfrm>
            <a:off x="5943600" y="3276600"/>
            <a:ext cx="2540000" cy="0"/>
          </a:xfrm>
          <a:prstGeom prst="line">
            <a:avLst/>
          </a:prstGeom>
          <a:ln w="9525">
            <a:solidFill>
              <a:srgbClr val="3E5C82"/>
            </a:solidFill>
          </a:ln>
        </p:spPr>
      </p:cxnSp>
      <p:sp>
        <p:nvSpPr>
          <p:cNvPr id="114" name="Text 115"/>
          <p:cNvSpPr txBox="1"/>
          <p:nvPr/>
        </p:nvSpPr>
        <p:spPr>
          <a:xfrm>
            <a:off x="5740400" y="3327400"/>
            <a:ext cx="2946400" cy="1371600"/>
          </a:xfrm>
          <a:prstGeom prst="rect">
            <a:avLst/>
          </a:prstGeom>
          <a:noFill/>
        </p:spPr>
        <p:txBody>
          <a:bodyPr wrap="square" lIns="203200" tIns="76200" rIns="203200" bIns="76200" anchor="ctr">
            <a:noAutofit/>
          </a:bodyPr>
          <a:lstStyle/>
          <a:p>
            <a:pPr marL="0" indent="0">
              <a:buNone/>
            </a:pPr>
            <a:r>
              <a:rPr lang="en-US" sz="3000" b="1" dirty="0">
                <a:solidFill>
                  <a:srgbClr val="9FD6E4"/>
                </a:solidFill>
                <a:latin typeface="Helvetica Neue Light"/>
                <a:ea typeface="Arial"/>
                <a:cs typeface="Arial"/>
              </a:rPr>
              <a:t>$0.042 / M</a:t>
            </a:r>
          </a:p>
          <a:p>
            <a:pPr marL="0" indent="0">
              <a:spcBef>
                <a:spcPts val="200"/>
              </a:spcBef>
              <a:buNone/>
            </a:pPr>
            <a:r>
              <a:rPr lang="en-US" sz="1400" dirty="0">
                <a:solidFill>
                  <a:srgbClr val="D6E2EE"/>
                </a:solidFill>
                <a:latin typeface="Helvetica Neue Light"/>
                <a:ea typeface="Arial"/>
                <a:cs typeface="Arial"/>
              </a:rPr>
              <a:t>input tokens (output free), ~400× cheaper</a:t>
            </a:r>
          </a:p>
        </p:txBody>
      </p:sp>
      <p:cxnSp>
        <p:nvCxnSpPr>
          <p:cNvPr id="115" name="Divider 116"/>
          <p:cNvCxnSpPr/>
          <p:nvPr/>
        </p:nvCxnSpPr>
        <p:spPr>
          <a:xfrm>
            <a:off x="5943600" y="4749800"/>
            <a:ext cx="2540000" cy="0"/>
          </a:xfrm>
          <a:prstGeom prst="line">
            <a:avLst/>
          </a:prstGeom>
          <a:ln w="9525">
            <a:solidFill>
              <a:srgbClr val="3E5C82"/>
            </a:solidFill>
          </a:ln>
        </p:spPr>
      </p:cxnSp>
      <p:sp>
        <p:nvSpPr>
          <p:cNvPr id="116" name="Text 117"/>
          <p:cNvSpPr txBox="1"/>
          <p:nvPr/>
        </p:nvSpPr>
        <p:spPr>
          <a:xfrm>
            <a:off x="5740400" y="4800600"/>
            <a:ext cx="2946400" cy="1371600"/>
          </a:xfrm>
          <a:prstGeom prst="rect">
            <a:avLst/>
          </a:prstGeom>
          <a:noFill/>
        </p:spPr>
        <p:txBody>
          <a:bodyPr wrap="square" lIns="203200" tIns="76200" rIns="203200" bIns="76200" anchor="ctr">
            <a:noAutofit/>
          </a:bodyPr>
          <a:lstStyle/>
          <a:p>
            <a:pPr marL="0" indent="0">
              <a:buNone/>
            </a:pPr>
            <a:r>
              <a:rPr lang="en-US" sz="3000" b="1" dirty="0">
                <a:solidFill>
                  <a:srgbClr val="9FD6E4"/>
                </a:solidFill>
                <a:latin typeface="Helvetica Neue Light"/>
                <a:ea typeface="Arial"/>
                <a:cs typeface="Arial"/>
              </a:rPr>
              <a:t>67.8%</a:t>
            </a:r>
          </a:p>
          <a:p>
            <a:pPr marL="0" indent="0">
              <a:spcBef>
                <a:spcPts val="200"/>
              </a:spcBef>
              <a:buNone/>
            </a:pPr>
            <a:r>
              <a:rPr lang="en-US" sz="1400" dirty="0">
                <a:solidFill>
                  <a:srgbClr val="D6E2EE"/>
                </a:solidFill>
                <a:latin typeface="Helvetica Neue Light"/>
                <a:ea typeface="Arial"/>
                <a:cs typeface="Arial"/>
              </a:rPr>
              <a:t>on TypeSafe’s eval, level with GPT‑5.6 Terra</a:t>
            </a:r>
          </a:p>
        </p:txBody>
      </p:sp>
      <p:sp>
        <p:nvSpPr>
          <p:cNvPr id="117" name="Text 118"/>
          <p:cNvSpPr txBox="1"/>
          <p:nvPr/>
        </p:nvSpPr>
        <p:spPr>
          <a:xfrm>
            <a:off x="457200" y="6324600"/>
            <a:ext cx="8229600" cy="254000"/>
          </a:xfrm>
          <a:prstGeom prst="rect">
            <a:avLst/>
          </a:prstGeom>
          <a:noFill/>
        </p:spPr>
        <p:txBody>
          <a:bodyPr wrap="square" lIns="0" tIns="76200" rIns="0" bIns="76200" anchor="ctr">
            <a:noAutofit/>
          </a:bodyPr>
          <a:lstStyle/>
          <a:p>
            <a:pPr marL="0" indent="0">
              <a:buNone/>
            </a:pPr>
            <a:r>
              <a:rPr lang="en-US" sz="1000" dirty="0">
                <a:solidFill>
                  <a:srgbClr val="404040"/>
                </a:solidFill>
                <a:latin typeface="Helvetica Neue Light"/>
                <a:ea typeface="Arial"/>
                <a:cs typeface="Arial"/>
              </a:rPr>
              <a:t>Figures are TypeSafe AI’s reported claims (launched Sept 2026).</a:t>
            </a:r>
          </a:p>
        </p:txBody>
      </p:sp>
      <p:sp>
        <p:nvSpPr>
          <p:cNvPr id="118" name="Slide Number Placeholder"/>
          <p:cNvSpPr>
            <a:spLocks noGrp="1"/>
          </p:cNvSpPr>
          <p:nvPr>
            <p:ph type="sldNum" sz="quarter" idx="12"/>
          </p:nvPr>
        </p:nvSpPr>
        <p:spPr/>
        <p:txBody>
          <a:bodyPr/>
          <a:lstStyle/>
          <a:p>
            <a:fld id="{21EF4C0E-91FA-4D94-8941-E22F3A83D5F1}" type="slidenum">
              <a:rPr lang="en-US"/>
              <a:t>123</a:t>
            </a:fld>
            <a:endParaRPr lang="en-US"/>
          </a:p>
        </p:txBody>
      </p:sp>
      <p:pic>
        <p:nvPicPr>
          <p:cNvPr id="119" name="Graphic 119" descr="Gear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1701800"/>
            <a:ext cx="508000" cy="508000"/>
          </a:xfrm>
          <a:prstGeom prst="rect">
            <a:avLst/>
          </a:prstGeom>
        </p:spPr>
      </p:pic>
      <p:pic>
        <p:nvPicPr>
          <p:cNvPr id="120" name="Graphic 120" descr="Puzzle piec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800" y="5207000"/>
            <a:ext cx="508000" cy="508000"/>
          </a:xfrm>
          <a:prstGeom prst="rect">
            <a:avLst/>
          </a:prstGeom>
        </p:spPr>
      </p:pic>
      <p:pic>
        <p:nvPicPr>
          <p:cNvPr id="121" name="Graphic 121" descr="Gauge"/>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5800" y="3454400"/>
            <a:ext cx="508000" cy="508000"/>
          </a:xfrm>
          <a:prstGeom prst="rect">
            <a:avLst/>
          </a:prstGeom>
        </p:spPr>
      </p:pic>
    </p:spTree>
    <p:extLst>
      <p:ext uri="{BB962C8B-B14F-4D97-AF65-F5344CB8AC3E}">
        <p14:creationId xmlns:p14="http://schemas.microsoft.com/office/powerpoint/2010/main" val="37982872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Level">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96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08EE2A8-8622-4786-9382-CDC1964D7B61}">
  <we:reference id="WA200010725" version="1.0.0.1" store="Omex" storeType="OMEX"/>
  <we:alternateReferences>
    <we:reference id="WA200010725" version="1.0.0.1" store="WA200010725" storeType="OMEX"/>
  </we:alternateReferences>
  <we:properties>
    <we:property name="claude.fileId" value="&quot;e233c7fd-8468-47ca-8129-2cb938f1a727&quot;"/>
  </we:properties>
  <we:bindings/>
  <we:snapshot xmlns:r="http://schemas.openxmlformats.org/officeDocument/2006/relationships"/>
</we:webextension>
</file>

<file path=docMetadata/LabelInfo.xml><?xml version="1.0" encoding="utf-8"?>
<clbl:labelList xmlns:clbl="http://schemas.microsoft.com/office/2020/mipLabelMetadata">
  <clbl:label id="{7893ce20-a697-4fd6-a4da-14011f6a471d}" enabled="1" method="Standard" siteId="{a8eec281-aaa3-4dae-ac9b-9a398b9215e7}" removed="0"/>
</clbl:labelList>
</file>

<file path=docProps/app.xml><?xml version="1.0" encoding="utf-8"?>
<Properties xmlns="http://schemas.openxmlformats.org/officeDocument/2006/extended-properties" xmlns:vt="http://schemas.openxmlformats.org/officeDocument/2006/docPropsVTypes">
  <Template>Level.thmx</Template>
  <TotalTime>7633</TotalTime>
  <Words>9133</Words>
  <Application>Microsoft Office PowerPoint</Application>
  <PresentationFormat>On-screen Show (4:3)</PresentationFormat>
  <Paragraphs>1255</Paragraphs>
  <Slides>123</Slides>
  <Notes>5</Notes>
  <HiddenSlides>0</HiddenSlides>
  <MMClips>25</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123</vt:i4>
      </vt:variant>
    </vt:vector>
  </HeadingPairs>
  <TitlesOfParts>
    <vt:vector size="134" baseType="lpstr">
      <vt:lpstr>Aptos</vt:lpstr>
      <vt:lpstr>Arial</vt:lpstr>
      <vt:lpstr>Baskerville SemiBold</vt:lpstr>
      <vt:lpstr>Calibri</vt:lpstr>
      <vt:lpstr>Calibri Light</vt:lpstr>
      <vt:lpstr>Courier New</vt:lpstr>
      <vt:lpstr>Helvetica Neue</vt:lpstr>
      <vt:lpstr>Helvetica Neue Light</vt:lpstr>
      <vt:lpstr>Level</vt:lpstr>
      <vt:lpstr>Office Theme</vt:lpstr>
      <vt:lpstr>think-cell Slide</vt:lpstr>
      <vt:lpstr>ALY 3510  AI Foundations:    An Interdisciplinary Approach  Bonus Lecture:    Advanced Subjects/Notions/Concepts in AI   Session/Section:  Fall 2026 Time:        Monday  5:50-8:30 PM   Instructor:    Vladimir Shapiro </vt:lpstr>
      <vt:lpstr> Bonus Lecture:     Advanced Subjects in AI</vt:lpstr>
      <vt:lpstr>Advanced Subjects/Notions/Concepts in AI 23Topics Covered</vt:lpstr>
      <vt:lpstr>Part 1  Agentic AI</vt:lpstr>
      <vt:lpstr>Agentic AI - Video (3:51) </vt:lpstr>
      <vt:lpstr>Core Definition &amp; Key Ideas</vt:lpstr>
      <vt:lpstr>Building Blocks &amp; Components</vt:lpstr>
      <vt:lpstr>Fundamental Characteristics</vt:lpstr>
      <vt:lpstr>Real-World Applications &amp; Capabilities</vt:lpstr>
      <vt:lpstr>Challenges, Risks &amp; Future Expectations</vt:lpstr>
      <vt:lpstr>Part 2  Scaling Laws in AI</vt:lpstr>
      <vt:lpstr>Scaling Laws in AI - Video (watch first 4-5min)</vt:lpstr>
      <vt:lpstr>Overview &amp; Core Concepts</vt:lpstr>
      <vt:lpstr>Strategic Impact &amp; Implications</vt:lpstr>
      <vt:lpstr>Part 3  Vector Databases in AI</vt:lpstr>
      <vt:lpstr>Vector Databases in AI - Video (3:21) </vt:lpstr>
      <vt:lpstr>What They Are &amp; Why AI Needs Them</vt:lpstr>
      <vt:lpstr>Why Traditional Databases Fall Short</vt:lpstr>
      <vt:lpstr>Applications &amp; Challenges</vt:lpstr>
      <vt:lpstr>Part 4:   RAG (Retrieval-Augmented Generation)</vt:lpstr>
      <vt:lpstr>RAG (Retrieval-Augmented Generation) - Video (2:56) </vt:lpstr>
      <vt:lpstr>Giving AI Access to External Knowledge</vt:lpstr>
      <vt:lpstr>How RAG Works (Conceptual Flow)</vt:lpstr>
      <vt:lpstr>Problems Solved &amp; Applications</vt:lpstr>
      <vt:lpstr>Challenges &amp; Key Insights</vt:lpstr>
      <vt:lpstr>Part 5  Context Window in AI</vt:lpstr>
      <vt:lpstr>Context Window in AI - Video (3:09) </vt:lpstr>
      <vt:lpstr>The Memory Span That Defines AI Capabilities</vt:lpstr>
      <vt:lpstr>Evolution &amp; What It Enables</vt:lpstr>
      <vt:lpstr>The Critical Limitations</vt:lpstr>
      <vt:lpstr>The Future of Context Windows</vt:lpstr>
      <vt:lpstr>Part 6   Knowledge Cutoff Date in AI</vt:lpstr>
      <vt:lpstr>Knowledge Cutoff Date in AI - Video (3:31) </vt:lpstr>
      <vt:lpstr>When AI's Learning Stopped</vt:lpstr>
      <vt:lpstr>Why Cutoff Dates Exist</vt:lpstr>
      <vt:lpstr>How We Bridge the Gap Today</vt:lpstr>
      <vt:lpstr>What Future Holds</vt:lpstr>
      <vt:lpstr>Part 7  Chain of Thought (CoT) in AI</vt:lpstr>
      <vt:lpstr>Chain of Thought (CoT) (3:04)</vt:lpstr>
      <vt:lpstr>Chain of Thought (CoT) (4:37)</vt:lpstr>
      <vt:lpstr>From Answer to Reasoning</vt:lpstr>
      <vt:lpstr>How CoT Works</vt:lpstr>
      <vt:lpstr>Why It's a Big Deal</vt:lpstr>
      <vt:lpstr>Critical Limitations</vt:lpstr>
      <vt:lpstr>Future Directions</vt:lpstr>
      <vt:lpstr>Part 8  Reasoning/Thinking Models </vt:lpstr>
      <vt:lpstr>Reasoning/Thinking Models (2:26)  </vt:lpstr>
      <vt:lpstr>The Shift from Fast Answers to Deep Thought </vt:lpstr>
      <vt:lpstr>How Reasoning Models Supercharge CoT</vt:lpstr>
      <vt:lpstr>Reasoning vs. Standard CoT</vt:lpstr>
      <vt:lpstr>Part 9   Zero, One, Multi-Shots Learning in AI</vt:lpstr>
      <vt:lpstr>Zero, One, Multi-Shots Learning in AI - Video (3:45)  </vt:lpstr>
      <vt:lpstr>Teaching AI with Different Amounts of Examples</vt:lpstr>
      <vt:lpstr>Core Innovation &amp; Applications</vt:lpstr>
      <vt:lpstr>Limitations &amp; Future</vt:lpstr>
      <vt:lpstr>Part 10  Meta-Learning in AI</vt:lpstr>
      <vt:lpstr>Meta-Learning in AI - Video (3:33)  </vt:lpstr>
      <vt:lpstr>Core Definition &amp; Key Ideas</vt:lpstr>
      <vt:lpstr>How It Works</vt:lpstr>
      <vt:lpstr>Benefits &amp; Applications</vt:lpstr>
      <vt:lpstr>Limitations &amp; Future</vt:lpstr>
      <vt:lpstr>Part 11  RLHF (Reinforcement Learning  from Human Feedback) in AI</vt:lpstr>
      <vt:lpstr>RLHF (Reinforcement Learning from Human Feedback) (3:39)</vt:lpstr>
      <vt:lpstr>Overview</vt:lpstr>
      <vt:lpstr>Challenges &amp; Future</vt:lpstr>
      <vt:lpstr>Part 12  Sycophancy in AI</vt:lpstr>
      <vt:lpstr>Sycophancy in AI (3:37)</vt:lpstr>
      <vt:lpstr>When AI Becomes a Yes-Man</vt:lpstr>
      <vt:lpstr>Risks &amp; Mitigations</vt:lpstr>
      <vt:lpstr>Part 13  Model Context Protocol (MCP)</vt:lpstr>
      <vt:lpstr>Model Context Protocol (MCP) - Video (3:45)</vt:lpstr>
      <vt:lpstr>Standardizing How AI Connects to External Tools</vt:lpstr>
      <vt:lpstr>Key Capabilities &amp; Benefits</vt:lpstr>
      <vt:lpstr>Part 14  Latent Space in AI</vt:lpstr>
      <vt:lpstr>Latent Space in AI (11:40)</vt:lpstr>
      <vt:lpstr>Overview</vt:lpstr>
      <vt:lpstr>Vector Arithmetic in the Latent Space</vt:lpstr>
      <vt:lpstr>Vector arithmetic in the latent space</vt:lpstr>
      <vt:lpstr>Applications and Challenges</vt:lpstr>
      <vt:lpstr>Part 15  “Jailbroken” Models in AI</vt:lpstr>
      <vt:lpstr>“Jailbroken” Models in AI - Video (1:54)</vt:lpstr>
      <vt:lpstr>Overview</vt:lpstr>
      <vt:lpstr>Risks &amp; Mitigation</vt:lpstr>
      <vt:lpstr>Part 16:  “Vibe Coding” in AI</vt:lpstr>
      <vt:lpstr>Vibe Coding in AI (3:36)</vt:lpstr>
      <vt:lpstr>Overview</vt:lpstr>
      <vt:lpstr>The New Programming Language</vt:lpstr>
      <vt:lpstr>Benefits vs Risks</vt:lpstr>
      <vt:lpstr>Challenges &amp; Future</vt:lpstr>
      <vt:lpstr>Part 17  Causal AI</vt:lpstr>
      <vt:lpstr>Causal AI - Video (2:47 )</vt:lpstr>
      <vt:lpstr>Moving Beyond Correlation to Understand Cause and Effect</vt:lpstr>
      <vt:lpstr>Applications &amp; Challenges</vt:lpstr>
      <vt:lpstr>Part 18  Multimodal AI</vt:lpstr>
      <vt:lpstr>Multimodal AI  (2:10)</vt:lpstr>
      <vt:lpstr>When AI Processes Multiple Types of Data Simultaneously</vt:lpstr>
      <vt:lpstr>Challenges &amp; Future</vt:lpstr>
      <vt:lpstr>Part 19  “Hallucinations” in AI</vt:lpstr>
      <vt:lpstr>Hallucinations in AI  (2:04)</vt:lpstr>
      <vt:lpstr>When AI Confidently Makes Things Up</vt:lpstr>
      <vt:lpstr>Risks &amp; Mitigation Strategies</vt:lpstr>
      <vt:lpstr>Part 20  Mixture‑of‑Experts (MoE) in AI</vt:lpstr>
      <vt:lpstr>Mixture‑of‑Experts (MoE) (0:56)</vt:lpstr>
      <vt:lpstr>Mixture‑of‑Experts (MoE) (4:41)</vt:lpstr>
      <vt:lpstr>Key Concepts</vt:lpstr>
      <vt:lpstr>Benefits &amp; Challenges</vt:lpstr>
      <vt:lpstr>Part 21  Emergent Capabilities in AI</vt:lpstr>
      <vt:lpstr>Emergent Capabilities in AI (1:54)</vt:lpstr>
      <vt:lpstr>When AI Suddenly Learns Abilities It Wasn't Explicitly Taught</vt:lpstr>
      <vt:lpstr>Documented Examples of Emergence</vt:lpstr>
      <vt:lpstr>Implications and The Scientific Debate</vt:lpstr>
      <vt:lpstr>Part 22  Fine-Tuning vs. Prompting</vt:lpstr>
      <vt:lpstr>Fine-Tuning vs. Prompting (15:21)</vt:lpstr>
      <vt:lpstr>Two ways to customize AI behavior</vt:lpstr>
      <vt:lpstr>Side-by-Side Comparison</vt:lpstr>
      <vt:lpstr>When To Use Each Approach</vt:lpstr>
      <vt:lpstr>The Spectrum Of Customization Techniques</vt:lpstr>
      <vt:lpstr>Key Takeaways And Decision Framework</vt:lpstr>
      <vt:lpstr>Part 23  Jev</vt:lpstr>
      <vt:lpstr>Jev explained in 3 mins (3:00)</vt:lpstr>
      <vt:lpstr>Jev makes decisions, not sentences</vt:lpstr>
      <vt:lpstr>Worked example: support ticket triage</vt:lpstr>
      <vt:lpstr>When to reach for Jev</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 Level I</dc:title>
  <dc:subject/>
  <dc:creator>v.shapiro@northeastern.edu</dc:creator>
  <cp:keywords/>
  <dc:description/>
  <cp:lastModifiedBy>Matt Naughton</cp:lastModifiedBy>
  <cp:revision>17</cp:revision>
  <cp:lastPrinted>2016-05-10T18:03:23Z</cp:lastPrinted>
  <dcterms:created xsi:type="dcterms:W3CDTF">2015-10-08T16:21:21Z</dcterms:created>
  <dcterms:modified xsi:type="dcterms:W3CDTF">2026-09-28T00:37:36Z</dcterms:modified>
  <cp:category/>
</cp:coreProperties>
</file>