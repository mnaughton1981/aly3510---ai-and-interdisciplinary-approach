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49"/>
  </p:notesMasterIdLst>
  <p:handoutMasterIdLst>
    <p:handoutMasterId r:id="rId50"/>
  </p:handoutMasterIdLst>
  <p:sldIdLst>
    <p:sldId id="449" r:id="rId2"/>
    <p:sldId id="982" r:id="rId3"/>
    <p:sldId id="492" r:id="rId4"/>
    <p:sldId id="840" r:id="rId5"/>
    <p:sldId id="1076" r:id="rId6"/>
    <p:sldId id="1078" r:id="rId7"/>
    <p:sldId id="1081" r:id="rId8"/>
    <p:sldId id="1080" r:id="rId9"/>
    <p:sldId id="1082" r:id="rId10"/>
    <p:sldId id="1083" r:id="rId11"/>
    <p:sldId id="1084" r:id="rId12"/>
    <p:sldId id="1085" r:id="rId13"/>
    <p:sldId id="1079" r:id="rId14"/>
    <p:sldId id="1086" r:id="rId15"/>
    <p:sldId id="1092" r:id="rId16"/>
    <p:sldId id="1090" r:id="rId17"/>
    <p:sldId id="1087" r:id="rId18"/>
    <p:sldId id="1088" r:id="rId19"/>
    <p:sldId id="1089" r:id="rId20"/>
    <p:sldId id="1093" r:id="rId21"/>
    <p:sldId id="1091" r:id="rId22"/>
    <p:sldId id="802" r:id="rId23"/>
    <p:sldId id="1094" r:id="rId24"/>
    <p:sldId id="1026" r:id="rId25"/>
    <p:sldId id="861" r:id="rId26"/>
    <p:sldId id="1095" r:id="rId27"/>
    <p:sldId id="1096" r:id="rId28"/>
    <p:sldId id="1097" r:id="rId29"/>
    <p:sldId id="1098" r:id="rId30"/>
    <p:sldId id="1075" r:id="rId31"/>
    <p:sldId id="1100" r:id="rId32"/>
    <p:sldId id="1101" r:id="rId33"/>
    <p:sldId id="1102" r:id="rId34"/>
    <p:sldId id="1104" r:id="rId35"/>
    <p:sldId id="1111" r:id="rId36"/>
    <p:sldId id="1110" r:id="rId37"/>
    <p:sldId id="1105" r:id="rId38"/>
    <p:sldId id="1114" r:id="rId39"/>
    <p:sldId id="1107" r:id="rId40"/>
    <p:sldId id="1108" r:id="rId41"/>
    <p:sldId id="1112" r:id="rId42"/>
    <p:sldId id="1113" r:id="rId43"/>
    <p:sldId id="1115" r:id="rId44"/>
    <p:sldId id="1109" r:id="rId45"/>
    <p:sldId id="544" r:id="rId46"/>
    <p:sldId id="911" r:id="rId47"/>
    <p:sldId id="1070" r:id="rId48"/>
  </p:sldIdLst>
  <p:sldSz cx="12192000" cy="6858000"/>
  <p:notesSz cx="6858000" cy="9144000"/>
  <p:custDataLst>
    <p:tags r:id="rId5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hapiro, Vladimir" initials="SV" lastIdx="1" clrIdx="0">
    <p:extLst>
      <p:ext uri="{19B8F6BF-5375-455C-9EA6-DF929625EA0E}">
        <p15:presenceInfo xmlns:p15="http://schemas.microsoft.com/office/powerpoint/2012/main" userId="S::vladisha@northeastern.edu::487b986e-9dea-4ba8-b33e-8d9a67ec1e6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EA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C30D78-3BD9-4FF2-A1D6-287AEF54C7B0}" v="74" dt="2026-10-06T00:40:23.7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1" d="100"/>
          <a:sy n="131" d="100"/>
        </p:scale>
        <p:origin x="192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tags" Target="tags/tag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Relationship Id="rId57" Type="http://schemas.microsoft.com/office/2016/11/relationships/changesInfo" Target="changesInfos/changesInfo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piro, Vladimir" userId="487b986e-9dea-4ba8-b33e-8d9a67ec1e6d" providerId="ADAL" clId="{AD5DA62A-DE80-4B28-A03D-42D81E3BD365}"/>
    <pc:docChg chg="undo custSel addSld delSld modSld sldOrd addMainMaster delMainMaster modMainMaster modNotesMaster">
      <pc:chgData name="Shapiro, Vladimir" userId="487b986e-9dea-4ba8-b33e-8d9a67ec1e6d" providerId="ADAL" clId="{AD5DA62A-DE80-4B28-A03D-42D81E3BD365}" dt="2026-10-06T00:40:23.797" v="8101" actId="6549"/>
      <pc:docMkLst>
        <pc:docMk/>
      </pc:docMkLst>
      <pc:sldChg chg="addSp modSp add mod ord">
        <pc:chgData name="Shapiro, Vladimir" userId="487b986e-9dea-4ba8-b33e-8d9a67ec1e6d" providerId="ADAL" clId="{AD5DA62A-DE80-4B28-A03D-42D81E3BD365}" dt="2026-10-01T16:24:43.668" v="7565" actId="14100"/>
        <pc:sldMkLst>
          <pc:docMk/>
          <pc:sldMk cId="606806964" sldId="449"/>
        </pc:sldMkLst>
        <pc:spChg chg="mod">
          <ac:chgData name="Shapiro, Vladimir" userId="487b986e-9dea-4ba8-b33e-8d9a67ec1e6d" providerId="ADAL" clId="{AD5DA62A-DE80-4B28-A03D-42D81E3BD365}" dt="2026-10-01T16:24:43.668" v="7565" actId="14100"/>
          <ac:spMkLst>
            <pc:docMk/>
            <pc:sldMk cId="606806964" sldId="449"/>
            <ac:spMk id="2" creationId="{00000000-0000-0000-0000-000000000000}"/>
          </ac:spMkLst>
        </pc:spChg>
        <pc:picChg chg="mod">
          <ac:chgData name="Shapiro, Vladimir" userId="487b986e-9dea-4ba8-b33e-8d9a67ec1e6d" providerId="ADAL" clId="{AD5DA62A-DE80-4B28-A03D-42D81E3BD365}" dt="2026-10-01T16:22:42.771" v="7552" actId="1076"/>
          <ac:picMkLst>
            <pc:docMk/>
            <pc:sldMk cId="606806964" sldId="449"/>
            <ac:picMk id="4" creationId="{81B0B0B8-8116-4011-A6C1-42E6C07960EE}"/>
          </ac:picMkLst>
        </pc:picChg>
        <pc:picChg chg="add mod">
          <ac:chgData name="Shapiro, Vladimir" userId="487b986e-9dea-4ba8-b33e-8d9a67ec1e6d" providerId="ADAL" clId="{AD5DA62A-DE80-4B28-A03D-42D81E3BD365}" dt="2026-10-01T16:22:56.973" v="7554" actId="1076"/>
          <ac:picMkLst>
            <pc:docMk/>
            <pc:sldMk cId="606806964" sldId="449"/>
            <ac:picMk id="6" creationId="{7853ABA4-7490-2C5F-EBF4-A983F572B0D8}"/>
          </ac:picMkLst>
        </pc:picChg>
      </pc:sldChg>
      <pc:sldChg chg="modSp add mod ord">
        <pc:chgData name="Shapiro, Vladimir" userId="487b986e-9dea-4ba8-b33e-8d9a67ec1e6d" providerId="ADAL" clId="{AD5DA62A-DE80-4B28-A03D-42D81E3BD365}" dt="2026-10-05T16:23:30.034" v="8100" actId="20577"/>
        <pc:sldMkLst>
          <pc:docMk/>
          <pc:sldMk cId="2934510906" sldId="492"/>
        </pc:sldMkLst>
        <pc:spChg chg="mod">
          <ac:chgData name="Shapiro, Vladimir" userId="487b986e-9dea-4ba8-b33e-8d9a67ec1e6d" providerId="ADAL" clId="{AD5DA62A-DE80-4B28-A03D-42D81E3BD365}" dt="2026-10-05T16:23:30.034" v="8100" actId="20577"/>
          <ac:spMkLst>
            <pc:docMk/>
            <pc:sldMk cId="2934510906" sldId="492"/>
            <ac:spMk id="3" creationId="{00000000-0000-0000-0000-000000000000}"/>
          </ac:spMkLst>
        </pc:spChg>
        <pc:picChg chg="mod">
          <ac:chgData name="Shapiro, Vladimir" userId="487b986e-9dea-4ba8-b33e-8d9a67ec1e6d" providerId="ADAL" clId="{AD5DA62A-DE80-4B28-A03D-42D81E3BD365}" dt="2026-10-05T16:19:10.512" v="8003" actId="1076"/>
          <ac:picMkLst>
            <pc:docMk/>
            <pc:sldMk cId="2934510906" sldId="492"/>
            <ac:picMk id="7" creationId="{7D8B7C62-1320-382B-665C-ED055D5CDEA6}"/>
          </ac:picMkLst>
        </pc:picChg>
      </pc:sldChg>
      <pc:sldChg chg="addSp modSp mod modClrScheme chgLayout">
        <pc:chgData name="Shapiro, Vladimir" userId="487b986e-9dea-4ba8-b33e-8d9a67ec1e6d" providerId="ADAL" clId="{AD5DA62A-DE80-4B28-A03D-42D81E3BD365}" dt="2026-10-04T21:48:04.600" v="7851" actId="120"/>
        <pc:sldMkLst>
          <pc:docMk/>
          <pc:sldMk cId="233706926" sldId="802"/>
        </pc:sldMkLst>
        <pc:spChg chg="add mod ord">
          <ac:chgData name="Shapiro, Vladimir" userId="487b986e-9dea-4ba8-b33e-8d9a67ec1e6d" providerId="ADAL" clId="{AD5DA62A-DE80-4B28-A03D-42D81E3BD365}" dt="2026-10-04T21:48:04.600" v="7851" actId="120"/>
          <ac:spMkLst>
            <pc:docMk/>
            <pc:sldMk cId="233706926" sldId="802"/>
            <ac:spMk id="2" creationId="{311FFE5B-2471-4C5D-7A91-CA0B068AC764}"/>
          </ac:spMkLst>
        </pc:spChg>
      </pc:sldChg>
      <pc:sldChg chg="addSp modSp mod modClrScheme chgLayout">
        <pc:chgData name="Shapiro, Vladimir" userId="487b986e-9dea-4ba8-b33e-8d9a67ec1e6d" providerId="ADAL" clId="{AD5DA62A-DE80-4B28-A03D-42D81E3BD365}" dt="2026-10-04T21:50:46.450" v="7895" actId="120"/>
        <pc:sldMkLst>
          <pc:docMk/>
          <pc:sldMk cId="3869368014" sldId="861"/>
        </pc:sldMkLst>
        <pc:spChg chg="add mod ord">
          <ac:chgData name="Shapiro, Vladimir" userId="487b986e-9dea-4ba8-b33e-8d9a67ec1e6d" providerId="ADAL" clId="{AD5DA62A-DE80-4B28-A03D-42D81E3BD365}" dt="2026-10-04T21:50:46.450" v="7895" actId="120"/>
          <ac:spMkLst>
            <pc:docMk/>
            <pc:sldMk cId="3869368014" sldId="861"/>
            <ac:spMk id="2" creationId="{D8A243B8-1295-0539-A0B1-2E79208B61B7}"/>
          </ac:spMkLst>
        </pc:spChg>
      </pc:sldChg>
      <pc:sldChg chg="modSp add mod ord setBg modClrScheme chgLayout">
        <pc:chgData name="Shapiro, Vladimir" userId="487b986e-9dea-4ba8-b33e-8d9a67ec1e6d" providerId="ADAL" clId="{AD5DA62A-DE80-4B28-A03D-42D81E3BD365}" dt="2026-10-01T16:24:19.366" v="7564" actId="1076"/>
        <pc:sldMkLst>
          <pc:docMk/>
          <pc:sldMk cId="630124591" sldId="982"/>
        </pc:sldMkLst>
        <pc:spChg chg="mod ord">
          <ac:chgData name="Shapiro, Vladimir" userId="487b986e-9dea-4ba8-b33e-8d9a67ec1e6d" providerId="ADAL" clId="{AD5DA62A-DE80-4B28-A03D-42D81E3BD365}" dt="2026-10-01T16:23:58.886" v="7559" actId="20577"/>
          <ac:spMkLst>
            <pc:docMk/>
            <pc:sldMk cId="630124591" sldId="982"/>
            <ac:spMk id="2" creationId="{09C36858-47C0-CB22-D0A7-01B29AA72EBC}"/>
          </ac:spMkLst>
        </pc:spChg>
        <pc:spChg chg="mod ord">
          <ac:chgData name="Shapiro, Vladimir" userId="487b986e-9dea-4ba8-b33e-8d9a67ec1e6d" providerId="ADAL" clId="{AD5DA62A-DE80-4B28-A03D-42D81E3BD365}" dt="2026-10-01T16:23:35.052" v="7556" actId="700"/>
          <ac:spMkLst>
            <pc:docMk/>
            <pc:sldMk cId="630124591" sldId="982"/>
            <ac:spMk id="4" creationId="{9E8586F4-68D2-562C-45BB-035B5CFA79F4}"/>
          </ac:spMkLst>
        </pc:spChg>
        <pc:spChg chg="mod ord">
          <ac:chgData name="Shapiro, Vladimir" userId="487b986e-9dea-4ba8-b33e-8d9a67ec1e6d" providerId="ADAL" clId="{AD5DA62A-DE80-4B28-A03D-42D81E3BD365}" dt="2026-10-01T16:23:35.052" v="7556" actId="700"/>
          <ac:spMkLst>
            <pc:docMk/>
            <pc:sldMk cId="630124591" sldId="982"/>
            <ac:spMk id="5" creationId="{8C1D274C-FC61-0FD6-047E-700381BC06B0}"/>
          </ac:spMkLst>
        </pc:spChg>
        <pc:spChg chg="mod">
          <ac:chgData name="Shapiro, Vladimir" userId="487b986e-9dea-4ba8-b33e-8d9a67ec1e6d" providerId="ADAL" clId="{AD5DA62A-DE80-4B28-A03D-42D81E3BD365}" dt="2026-10-01T16:24:19.366" v="7564" actId="1076"/>
          <ac:spMkLst>
            <pc:docMk/>
            <pc:sldMk cId="630124591" sldId="982"/>
            <ac:spMk id="8" creationId="{02B8418F-4B9B-C01A-3637-DBBC96022900}"/>
          </ac:spMkLst>
        </pc:spChg>
        <pc:picChg chg="mod">
          <ac:chgData name="Shapiro, Vladimir" userId="487b986e-9dea-4ba8-b33e-8d9a67ec1e6d" providerId="ADAL" clId="{AD5DA62A-DE80-4B28-A03D-42D81E3BD365}" dt="2026-10-01T16:24:02.124" v="7560" actId="1076"/>
          <ac:picMkLst>
            <pc:docMk/>
            <pc:sldMk cId="630124591" sldId="982"/>
            <ac:picMk id="3" creationId="{396C304A-AD54-1B0C-ABBA-9954C0B82B5C}"/>
          </ac:picMkLst>
        </pc:picChg>
      </pc:sldChg>
      <pc:sldChg chg="addSp delSp modSp add mod modClrScheme chgLayout">
        <pc:chgData name="Shapiro, Vladimir" userId="487b986e-9dea-4ba8-b33e-8d9a67ec1e6d" providerId="ADAL" clId="{AD5DA62A-DE80-4B28-A03D-42D81E3BD365}" dt="2026-10-04T21:32:15.024" v="7727" actId="20577"/>
        <pc:sldMkLst>
          <pc:docMk/>
          <pc:sldMk cId="4038083513" sldId="1076"/>
        </pc:sldMkLst>
        <pc:spChg chg="mod">
          <ac:chgData name="Shapiro, Vladimir" userId="487b986e-9dea-4ba8-b33e-8d9a67ec1e6d" providerId="ADAL" clId="{AD5DA62A-DE80-4B28-A03D-42D81E3BD365}" dt="2026-10-04T21:32:15.024" v="7727" actId="20577"/>
          <ac:spMkLst>
            <pc:docMk/>
            <pc:sldMk cId="4038083513" sldId="1076"/>
            <ac:spMk id="16" creationId="{9E382B19-A6D3-C8F0-4015-19470F88A5C1}"/>
          </ac:spMkLst>
        </pc:spChg>
      </pc:sldChg>
      <pc:sldChg chg="addSp delSp modSp add mod ord modClrScheme chgLayout">
        <pc:chgData name="Shapiro, Vladimir" userId="487b986e-9dea-4ba8-b33e-8d9a67ec1e6d" providerId="ADAL" clId="{AD5DA62A-DE80-4B28-A03D-42D81E3BD365}" dt="2026-10-04T21:34:15.581" v="7728" actId="13926"/>
        <pc:sldMkLst>
          <pc:docMk/>
          <pc:sldMk cId="2000997960" sldId="1078"/>
        </pc:sldMkLst>
        <pc:spChg chg="mod">
          <ac:chgData name="Shapiro, Vladimir" userId="487b986e-9dea-4ba8-b33e-8d9a67ec1e6d" providerId="ADAL" clId="{AD5DA62A-DE80-4B28-A03D-42D81E3BD365}" dt="2026-10-04T21:34:15.581" v="7728" actId="13926"/>
          <ac:spMkLst>
            <pc:docMk/>
            <pc:sldMk cId="2000997960" sldId="1078"/>
            <ac:spMk id="20" creationId="{71E077A8-F1DE-78C4-B85B-7AA8EB648FD7}"/>
          </ac:spMkLst>
        </pc:spChg>
      </pc:sldChg>
      <pc:sldChg chg="addSp delSp modSp add mod modClrScheme chgLayout">
        <pc:chgData name="Shapiro, Vladimir" userId="487b986e-9dea-4ba8-b33e-8d9a67ec1e6d" providerId="ADAL" clId="{AD5DA62A-DE80-4B28-A03D-42D81E3BD365}" dt="2026-10-04T21:41:50.009" v="7782" actId="14100"/>
        <pc:sldMkLst>
          <pc:docMk/>
          <pc:sldMk cId="2311678035" sldId="1079"/>
        </pc:sldMkLst>
        <pc:picChg chg="mod">
          <ac:chgData name="Shapiro, Vladimir" userId="487b986e-9dea-4ba8-b33e-8d9a67ec1e6d" providerId="ADAL" clId="{AD5DA62A-DE80-4B28-A03D-42D81E3BD365}" dt="2026-10-04T21:41:50.009" v="7782" actId="14100"/>
          <ac:picMkLst>
            <pc:docMk/>
            <pc:sldMk cId="2311678035" sldId="1079"/>
            <ac:picMk id="18" creationId="{215C8006-5A01-4100-016D-E24477CBB2D3}"/>
          </ac:picMkLst>
        </pc:picChg>
      </pc:sldChg>
      <pc:sldChg chg="addSp delSp modSp add mod ord replId modClrScheme chgLayout">
        <pc:chgData name="Shapiro, Vladimir" userId="487b986e-9dea-4ba8-b33e-8d9a67ec1e6d" providerId="ADAL" clId="{AD5DA62A-DE80-4B28-A03D-42D81E3BD365}" dt="2026-10-04T21:38:41.490" v="7763" actId="20577"/>
        <pc:sldMkLst>
          <pc:docMk/>
          <pc:sldMk cId="3413522526" sldId="1080"/>
        </pc:sldMkLst>
        <pc:spChg chg="add mod ord">
          <ac:chgData name="Shapiro, Vladimir" userId="487b986e-9dea-4ba8-b33e-8d9a67ec1e6d" providerId="ADAL" clId="{AD5DA62A-DE80-4B28-A03D-42D81E3BD365}" dt="2026-10-04T21:37:26.967" v="7741" actId="113"/>
          <ac:spMkLst>
            <pc:docMk/>
            <pc:sldMk cId="3413522526" sldId="1080"/>
            <ac:spMk id="8" creationId="{2CB35392-1252-9076-3F58-8BD02E9AD428}"/>
          </ac:spMkLst>
        </pc:spChg>
        <pc:spChg chg="mod">
          <ac:chgData name="Shapiro, Vladimir" userId="487b986e-9dea-4ba8-b33e-8d9a67ec1e6d" providerId="ADAL" clId="{AD5DA62A-DE80-4B28-A03D-42D81E3BD365}" dt="2026-10-04T21:38:09.989" v="7754" actId="1076"/>
          <ac:spMkLst>
            <pc:docMk/>
            <pc:sldMk cId="3413522526" sldId="1080"/>
            <ac:spMk id="14" creationId="{2ACC1B57-A2CD-6494-DD7E-1F252AF6B805}"/>
          </ac:spMkLst>
        </pc:spChg>
        <pc:spChg chg="mod">
          <ac:chgData name="Shapiro, Vladimir" userId="487b986e-9dea-4ba8-b33e-8d9a67ec1e6d" providerId="ADAL" clId="{AD5DA62A-DE80-4B28-A03D-42D81E3BD365}" dt="2026-10-04T21:38:41.490" v="7763" actId="20577"/>
          <ac:spMkLst>
            <pc:docMk/>
            <pc:sldMk cId="3413522526" sldId="1080"/>
            <ac:spMk id="15" creationId="{81DE5822-A27E-C431-B95E-8E1D3035D87C}"/>
          </ac:spMkLst>
        </pc:spChg>
        <pc:picChg chg="add mod">
          <ac:chgData name="Shapiro, Vladimir" userId="487b986e-9dea-4ba8-b33e-8d9a67ec1e6d" providerId="ADAL" clId="{AD5DA62A-DE80-4B28-A03D-42D81E3BD365}" dt="2026-10-04T21:38:23.486" v="7756" actId="1076"/>
          <ac:picMkLst>
            <pc:docMk/>
            <pc:sldMk cId="3413522526" sldId="1080"/>
            <ac:picMk id="3" creationId="{58D63CFB-FF92-4788-F50F-AEA35A1F6E0E}"/>
          </ac:picMkLst>
        </pc:picChg>
      </pc:sldChg>
      <pc:sldChg chg="addSp delSp modSp add mod modClrScheme chgLayout">
        <pc:chgData name="Shapiro, Vladimir" userId="487b986e-9dea-4ba8-b33e-8d9a67ec1e6d" providerId="ADAL" clId="{AD5DA62A-DE80-4B28-A03D-42D81E3BD365}" dt="2026-10-04T21:34:50.098" v="7729" actId="1076"/>
        <pc:sldMkLst>
          <pc:docMk/>
          <pc:sldMk cId="1492215164" sldId="1081"/>
        </pc:sldMkLst>
        <pc:spChg chg="add mod">
          <ac:chgData name="Shapiro, Vladimir" userId="487b986e-9dea-4ba8-b33e-8d9a67ec1e6d" providerId="ADAL" clId="{AD5DA62A-DE80-4B28-A03D-42D81E3BD365}" dt="2026-10-04T21:34:50.098" v="7729" actId="1076"/>
          <ac:spMkLst>
            <pc:docMk/>
            <pc:sldMk cId="1492215164" sldId="1081"/>
            <ac:spMk id="3" creationId="{7328CFE2-A702-ED5D-773A-F2BF8893914F}"/>
          </ac:spMkLst>
        </pc:spChg>
      </pc:sldChg>
      <pc:sldChg chg="addSp delSp modSp add mod replId">
        <pc:chgData name="Shapiro, Vladimir" userId="487b986e-9dea-4ba8-b33e-8d9a67ec1e6d" providerId="ADAL" clId="{AD5DA62A-DE80-4B28-A03D-42D81E3BD365}" dt="2026-10-04T21:39:29.744" v="7764" actId="1076"/>
        <pc:sldMkLst>
          <pc:docMk/>
          <pc:sldMk cId="2640221626" sldId="1084"/>
        </pc:sldMkLst>
        <pc:graphicFrameChg chg="add mod modGraphic">
          <ac:chgData name="Shapiro, Vladimir" userId="487b986e-9dea-4ba8-b33e-8d9a67ec1e6d" providerId="ADAL" clId="{AD5DA62A-DE80-4B28-A03D-42D81E3BD365}" dt="2026-10-04T21:39:29.744" v="7764" actId="1076"/>
          <ac:graphicFrameMkLst>
            <pc:docMk/>
            <pc:sldMk cId="2640221626" sldId="1084"/>
            <ac:graphicFrameMk id="21" creationId="{698506F3-748E-DCA9-23A7-D28B46FAFF2F}"/>
          </ac:graphicFrameMkLst>
        </pc:graphicFrameChg>
      </pc:sldChg>
      <pc:sldChg chg="addSp delSp modSp add mod replId modClrScheme chgLayout">
        <pc:chgData name="Shapiro, Vladimir" userId="487b986e-9dea-4ba8-b33e-8d9a67ec1e6d" providerId="ADAL" clId="{AD5DA62A-DE80-4B28-A03D-42D81E3BD365}" dt="2026-10-04T21:41:22.663" v="7778" actId="1076"/>
        <pc:sldMkLst>
          <pc:docMk/>
          <pc:sldMk cId="1104229301" sldId="1085"/>
        </pc:sldMkLst>
        <pc:spChg chg="add mod ord">
          <ac:chgData name="Shapiro, Vladimir" userId="487b986e-9dea-4ba8-b33e-8d9a67ec1e6d" providerId="ADAL" clId="{AD5DA62A-DE80-4B28-A03D-42D81E3BD365}" dt="2026-10-04T21:40:20.882" v="7777" actId="6549"/>
          <ac:spMkLst>
            <pc:docMk/>
            <pc:sldMk cId="1104229301" sldId="1085"/>
            <ac:spMk id="12" creationId="{448FBDCB-A1A6-AAFB-3485-EB27AC894C5B}"/>
          </ac:spMkLst>
        </pc:spChg>
        <pc:picChg chg="mod">
          <ac:chgData name="Shapiro, Vladimir" userId="487b986e-9dea-4ba8-b33e-8d9a67ec1e6d" providerId="ADAL" clId="{AD5DA62A-DE80-4B28-A03D-42D81E3BD365}" dt="2026-10-04T21:41:22.663" v="7778" actId="1076"/>
          <ac:picMkLst>
            <pc:docMk/>
            <pc:sldMk cId="1104229301" sldId="1085"/>
            <ac:picMk id="1026" creationId="{836C4F00-4701-4AC4-87F4-319EC4677604}"/>
          </ac:picMkLst>
        </pc:picChg>
      </pc:sldChg>
      <pc:sldChg chg="addSp delSp modSp new mod modClrScheme chgLayout">
        <pc:chgData name="Shapiro, Vladimir" userId="487b986e-9dea-4ba8-b33e-8d9a67ec1e6d" providerId="ADAL" clId="{AD5DA62A-DE80-4B28-A03D-42D81E3BD365}" dt="2026-10-04T21:43:22.964" v="7791" actId="14100"/>
        <pc:sldMkLst>
          <pc:docMk/>
          <pc:sldMk cId="1581273841" sldId="1086"/>
        </pc:sldMkLst>
        <pc:spChg chg="add mod">
          <ac:chgData name="Shapiro, Vladimir" userId="487b986e-9dea-4ba8-b33e-8d9a67ec1e6d" providerId="ADAL" clId="{AD5DA62A-DE80-4B28-A03D-42D81E3BD365}" dt="2026-10-04T21:42:46.604" v="7784" actId="1076"/>
          <ac:spMkLst>
            <pc:docMk/>
            <pc:sldMk cId="1581273841" sldId="1086"/>
            <ac:spMk id="46" creationId="{F143C334-E1FE-3DEE-1F6C-F2B0A49D84A7}"/>
          </ac:spMkLst>
        </pc:spChg>
        <pc:spChg chg="add mod">
          <ac:chgData name="Shapiro, Vladimir" userId="487b986e-9dea-4ba8-b33e-8d9a67ec1e6d" providerId="ADAL" clId="{AD5DA62A-DE80-4B28-A03D-42D81E3BD365}" dt="2026-10-04T21:43:08.362" v="7788" actId="1076"/>
          <ac:spMkLst>
            <pc:docMk/>
            <pc:sldMk cId="1581273841" sldId="1086"/>
            <ac:spMk id="50" creationId="{9B4A1CFA-18CA-FDA8-708E-6C9E7009D968}"/>
          </ac:spMkLst>
        </pc:spChg>
        <pc:spChg chg="add mod">
          <ac:chgData name="Shapiro, Vladimir" userId="487b986e-9dea-4ba8-b33e-8d9a67ec1e6d" providerId="ADAL" clId="{AD5DA62A-DE80-4B28-A03D-42D81E3BD365}" dt="2026-10-04T21:43:12.266" v="7789" actId="1076"/>
          <ac:spMkLst>
            <pc:docMk/>
            <pc:sldMk cId="1581273841" sldId="1086"/>
            <ac:spMk id="52" creationId="{A5E0C0A2-607F-E8FB-802D-088977F4DF02}"/>
          </ac:spMkLst>
        </pc:spChg>
        <pc:graphicFrameChg chg="add mod modGraphic">
          <ac:chgData name="Shapiro, Vladimir" userId="487b986e-9dea-4ba8-b33e-8d9a67ec1e6d" providerId="ADAL" clId="{AD5DA62A-DE80-4B28-A03D-42D81E3BD365}" dt="2026-10-04T21:42:49.993" v="7785" actId="1076"/>
          <ac:graphicFrameMkLst>
            <pc:docMk/>
            <pc:sldMk cId="1581273841" sldId="1086"/>
            <ac:graphicFrameMk id="48" creationId="{C2473A08-981D-C442-9EB6-CEED1AE4454C}"/>
          </ac:graphicFrameMkLst>
        </pc:graphicFrameChg>
        <pc:picChg chg="mod">
          <ac:chgData name="Shapiro, Vladimir" userId="487b986e-9dea-4ba8-b33e-8d9a67ec1e6d" providerId="ADAL" clId="{AD5DA62A-DE80-4B28-A03D-42D81E3BD365}" dt="2026-10-04T21:43:22.964" v="7791" actId="14100"/>
          <ac:picMkLst>
            <pc:docMk/>
            <pc:sldMk cId="1581273841" sldId="1086"/>
            <ac:picMk id="40" creationId="{5C5A21C7-F3F7-41BC-99CB-9F1EBA768D45}"/>
          </ac:picMkLst>
        </pc:picChg>
      </pc:sldChg>
      <pc:sldChg chg="addSp delSp modSp add mod ord modClrScheme chgLayout">
        <pc:chgData name="Shapiro, Vladimir" userId="487b986e-9dea-4ba8-b33e-8d9a67ec1e6d" providerId="ADAL" clId="{AD5DA62A-DE80-4B28-A03D-42D81E3BD365}" dt="2026-10-04T21:44:24.515" v="7794" actId="1076"/>
        <pc:sldMkLst>
          <pc:docMk/>
          <pc:sldMk cId="3918157637" sldId="1087"/>
        </pc:sldMkLst>
        <pc:spChg chg="mod">
          <ac:chgData name="Shapiro, Vladimir" userId="487b986e-9dea-4ba8-b33e-8d9a67ec1e6d" providerId="ADAL" clId="{AD5DA62A-DE80-4B28-A03D-42D81E3BD365}" dt="2026-10-04T21:44:24.515" v="7794" actId="1076"/>
          <ac:spMkLst>
            <pc:docMk/>
            <pc:sldMk cId="3918157637" sldId="1087"/>
            <ac:spMk id="22" creationId="{2171D7D5-0D3D-7032-B4E5-FE4099DBC984}"/>
          </ac:spMkLst>
        </pc:spChg>
        <pc:picChg chg="mod">
          <ac:chgData name="Shapiro, Vladimir" userId="487b986e-9dea-4ba8-b33e-8d9a67ec1e6d" providerId="ADAL" clId="{AD5DA62A-DE80-4B28-A03D-42D81E3BD365}" dt="2026-10-04T21:43:55.554" v="7793" actId="1076"/>
          <ac:picMkLst>
            <pc:docMk/>
            <pc:sldMk cId="3918157637" sldId="1087"/>
            <ac:picMk id="24" creationId="{F9979997-4B5B-56D2-91C5-A085424C05BA}"/>
          </ac:picMkLst>
        </pc:picChg>
      </pc:sldChg>
      <pc:sldChg chg="addSp delSp modSp add mod ord modClrScheme chgLayout">
        <pc:chgData name="Shapiro, Vladimir" userId="487b986e-9dea-4ba8-b33e-8d9a67ec1e6d" providerId="ADAL" clId="{AD5DA62A-DE80-4B28-A03D-42D81E3BD365}" dt="2026-10-04T21:45:17.726" v="7808" actId="5793"/>
        <pc:sldMkLst>
          <pc:docMk/>
          <pc:sldMk cId="419970906" sldId="1088"/>
        </pc:sldMkLst>
        <pc:spChg chg="mod ord">
          <ac:chgData name="Shapiro, Vladimir" userId="487b986e-9dea-4ba8-b33e-8d9a67ec1e6d" providerId="ADAL" clId="{AD5DA62A-DE80-4B28-A03D-42D81E3BD365}" dt="2026-10-04T21:44:38.007" v="7796" actId="700"/>
          <ac:spMkLst>
            <pc:docMk/>
            <pc:sldMk cId="419970906" sldId="1088"/>
            <ac:spMk id="3" creationId="{2705F269-100F-E224-E4EB-7479E7BC03AE}"/>
          </ac:spMkLst>
        </pc:spChg>
        <pc:spChg chg="mod ord">
          <ac:chgData name="Shapiro, Vladimir" userId="487b986e-9dea-4ba8-b33e-8d9a67ec1e6d" providerId="ADAL" clId="{AD5DA62A-DE80-4B28-A03D-42D81E3BD365}" dt="2026-10-04T21:44:38.007" v="7796" actId="700"/>
          <ac:spMkLst>
            <pc:docMk/>
            <pc:sldMk cId="419970906" sldId="1088"/>
            <ac:spMk id="4" creationId="{BE3005C6-39A5-41F0-4C06-B6D4AFBFB412}"/>
          </ac:spMkLst>
        </pc:spChg>
        <pc:spChg chg="mod">
          <ac:chgData name="Shapiro, Vladimir" userId="487b986e-9dea-4ba8-b33e-8d9a67ec1e6d" providerId="ADAL" clId="{AD5DA62A-DE80-4B28-A03D-42D81E3BD365}" dt="2026-10-04T21:45:17.726" v="7808" actId="5793"/>
          <ac:spMkLst>
            <pc:docMk/>
            <pc:sldMk cId="419970906" sldId="1088"/>
            <ac:spMk id="18" creationId="{AA9981E4-C0EE-9CC0-4613-F1305DAD1823}"/>
          </ac:spMkLst>
        </pc:spChg>
      </pc:sldChg>
      <pc:sldChg chg="addSp delSp modSp add mod ord replId chgLayout">
        <pc:chgData name="Shapiro, Vladimir" userId="487b986e-9dea-4ba8-b33e-8d9a67ec1e6d" providerId="ADAL" clId="{AD5DA62A-DE80-4B28-A03D-42D81E3BD365}" dt="2026-10-04T21:45:43.035" v="7841" actId="1037"/>
        <pc:sldMkLst>
          <pc:docMk/>
          <pc:sldMk cId="3462476691" sldId="1089"/>
        </pc:sldMkLst>
        <pc:spChg chg="mod">
          <ac:chgData name="Shapiro, Vladimir" userId="487b986e-9dea-4ba8-b33e-8d9a67ec1e6d" providerId="ADAL" clId="{AD5DA62A-DE80-4B28-A03D-42D81E3BD365}" dt="2026-10-04T21:45:43.035" v="7841" actId="1037"/>
          <ac:spMkLst>
            <pc:docMk/>
            <pc:sldMk cId="3462476691" sldId="1089"/>
            <ac:spMk id="15" creationId="{7B585525-31E4-77D3-9AE0-52D4BF81F1AD}"/>
          </ac:spMkLst>
        </pc:spChg>
        <pc:spChg chg="mod">
          <ac:chgData name="Shapiro, Vladimir" userId="487b986e-9dea-4ba8-b33e-8d9a67ec1e6d" providerId="ADAL" clId="{AD5DA62A-DE80-4B28-A03D-42D81E3BD365}" dt="2026-10-04T21:45:43.035" v="7841" actId="1037"/>
          <ac:spMkLst>
            <pc:docMk/>
            <pc:sldMk cId="3462476691" sldId="1089"/>
            <ac:spMk id="16" creationId="{542BF98F-8E14-CDEF-1E76-CCC702DE6A7C}"/>
          </ac:spMkLst>
        </pc:spChg>
        <pc:spChg chg="mod">
          <ac:chgData name="Shapiro, Vladimir" userId="487b986e-9dea-4ba8-b33e-8d9a67ec1e6d" providerId="ADAL" clId="{AD5DA62A-DE80-4B28-A03D-42D81E3BD365}" dt="2026-10-04T21:45:43.035" v="7841" actId="1037"/>
          <ac:spMkLst>
            <pc:docMk/>
            <pc:sldMk cId="3462476691" sldId="1089"/>
            <ac:spMk id="17" creationId="{A20F4F8D-C0F3-26E6-371C-F69036DEA4FA}"/>
          </ac:spMkLst>
        </pc:spChg>
        <pc:spChg chg="mod">
          <ac:chgData name="Shapiro, Vladimir" userId="487b986e-9dea-4ba8-b33e-8d9a67ec1e6d" providerId="ADAL" clId="{AD5DA62A-DE80-4B28-A03D-42D81E3BD365}" dt="2026-10-04T21:45:43.035" v="7841" actId="1037"/>
          <ac:spMkLst>
            <pc:docMk/>
            <pc:sldMk cId="3462476691" sldId="1089"/>
            <ac:spMk id="18" creationId="{C0F5C5AC-D713-DF7C-F416-A8FE2ABD512B}"/>
          </ac:spMkLst>
        </pc:spChg>
      </pc:sldChg>
      <pc:sldChg chg="addSp delSp modSp add mod chgLayout">
        <pc:chgData name="Shapiro, Vladimir" userId="487b986e-9dea-4ba8-b33e-8d9a67ec1e6d" providerId="ADAL" clId="{AD5DA62A-DE80-4B28-A03D-42D81E3BD365}" dt="2026-10-06T00:40:23.797" v="8101" actId="6549"/>
        <pc:sldMkLst>
          <pc:docMk/>
          <pc:sldMk cId="3046382674" sldId="1093"/>
        </pc:sldMkLst>
        <pc:spChg chg="add mod">
          <ac:chgData name="Shapiro, Vladimir" userId="487b986e-9dea-4ba8-b33e-8d9a67ec1e6d" providerId="ADAL" clId="{AD5DA62A-DE80-4B28-A03D-42D81E3BD365}" dt="2026-10-06T00:40:23.797" v="8101" actId="6549"/>
          <ac:spMkLst>
            <pc:docMk/>
            <pc:sldMk cId="3046382674" sldId="1093"/>
            <ac:spMk id="2" creationId="{0BC79087-203C-48DE-3C92-08CF0503E4C1}"/>
          </ac:spMkLst>
        </pc:spChg>
      </pc:sldChg>
      <pc:sldChg chg="addSp delSp modSp add mod ord modClrScheme chgLayout">
        <pc:chgData name="Shapiro, Vladimir" userId="487b986e-9dea-4ba8-b33e-8d9a67ec1e6d" providerId="ADAL" clId="{AD5DA62A-DE80-4B28-A03D-42D81E3BD365}" dt="2026-10-04T21:50:27.783" v="7894" actId="1076"/>
        <pc:sldMkLst>
          <pc:docMk/>
          <pc:sldMk cId="3049075538" sldId="1094"/>
        </pc:sldMkLst>
        <pc:spChg chg="add mod">
          <ac:chgData name="Shapiro, Vladimir" userId="487b986e-9dea-4ba8-b33e-8d9a67ec1e6d" providerId="ADAL" clId="{AD5DA62A-DE80-4B28-A03D-42D81E3BD365}" dt="2026-10-04T21:50:20.814" v="7893" actId="20577"/>
          <ac:spMkLst>
            <pc:docMk/>
            <pc:sldMk cId="3049075538" sldId="1094"/>
            <ac:spMk id="5" creationId="{A19F9F4B-0DFE-BD7F-454C-01DD134DD5F2}"/>
          </ac:spMkLst>
        </pc:spChg>
        <pc:graphicFrameChg chg="add mod modGraphic">
          <ac:chgData name="Shapiro, Vladimir" userId="487b986e-9dea-4ba8-b33e-8d9a67ec1e6d" providerId="ADAL" clId="{AD5DA62A-DE80-4B28-A03D-42D81E3BD365}" dt="2026-10-04T21:50:27.783" v="7894" actId="1076"/>
          <ac:graphicFrameMkLst>
            <pc:docMk/>
            <pc:sldMk cId="3049075538" sldId="1094"/>
            <ac:graphicFrameMk id="28" creationId="{16C9CB55-06F8-4293-01C2-523A18D9C231}"/>
          </ac:graphicFrameMkLst>
        </pc:graphicFrameChg>
      </pc:sldChg>
      <pc:sldChg chg="addSp delSp modSp add mod ord modClrScheme chgLayout">
        <pc:chgData name="Shapiro, Vladimir" userId="487b986e-9dea-4ba8-b33e-8d9a67ec1e6d" providerId="ADAL" clId="{AD5DA62A-DE80-4B28-A03D-42D81E3BD365}" dt="2026-10-04T21:51:08.091" v="7909" actId="20577"/>
        <pc:sldMkLst>
          <pc:docMk/>
          <pc:sldMk cId="3316836263" sldId="1095"/>
        </pc:sldMkLst>
        <pc:spChg chg="add del mod ord">
          <ac:chgData name="Shapiro, Vladimir" userId="487b986e-9dea-4ba8-b33e-8d9a67ec1e6d" providerId="ADAL" clId="{AD5DA62A-DE80-4B28-A03D-42D81E3BD365}" dt="2026-10-04T21:51:08.091" v="7909" actId="20577"/>
          <ac:spMkLst>
            <pc:docMk/>
            <pc:sldMk cId="3316836263" sldId="1095"/>
            <ac:spMk id="15" creationId="{5692D6A3-6B3B-2FA9-72C5-B31CC64D56C1}"/>
          </ac:spMkLst>
        </pc:spChg>
        <pc:grpChg chg="add mod">
          <ac:chgData name="Shapiro, Vladimir" userId="487b986e-9dea-4ba8-b33e-8d9a67ec1e6d" providerId="ADAL" clId="{AD5DA62A-DE80-4B28-A03D-42D81E3BD365}" dt="2026-10-04T21:51:02.553" v="7896" actId="1076"/>
          <ac:grpSpMkLst>
            <pc:docMk/>
            <pc:sldMk cId="3316836263" sldId="1095"/>
            <ac:grpSpMk id="18" creationId="{18B9A8C7-C96C-1C94-7054-71D15D4DDFEB}"/>
          </ac:grpSpMkLst>
        </pc:grpChg>
      </pc:sldChg>
      <pc:sldChg chg="addSp delSp modSp add mod ord replId chgLayout">
        <pc:chgData name="Shapiro, Vladimir" userId="487b986e-9dea-4ba8-b33e-8d9a67ec1e6d" providerId="ADAL" clId="{AD5DA62A-DE80-4B28-A03D-42D81E3BD365}" dt="2026-10-04T21:54:23.831" v="7965" actId="20577"/>
        <pc:sldMkLst>
          <pc:docMk/>
          <pc:sldMk cId="3380230336" sldId="1096"/>
        </pc:sldMkLst>
        <pc:spChg chg="mod">
          <ac:chgData name="Shapiro, Vladimir" userId="487b986e-9dea-4ba8-b33e-8d9a67ec1e6d" providerId="ADAL" clId="{AD5DA62A-DE80-4B28-A03D-42D81E3BD365}" dt="2026-10-04T21:54:23.831" v="7965" actId="20577"/>
          <ac:spMkLst>
            <pc:docMk/>
            <pc:sldMk cId="3380230336" sldId="1096"/>
            <ac:spMk id="21" creationId="{D1A182C7-EB2E-6632-96A9-35968F126395}"/>
          </ac:spMkLst>
        </pc:spChg>
      </pc:sldChg>
      <pc:sldChg chg="addSp delSp modSp add mod ord modClrScheme chgLayout">
        <pc:chgData name="Shapiro, Vladimir" userId="487b986e-9dea-4ba8-b33e-8d9a67ec1e6d" providerId="ADAL" clId="{AD5DA62A-DE80-4B28-A03D-42D81E3BD365}" dt="2026-10-04T21:54:55.437" v="7968" actId="1440"/>
        <pc:sldMkLst>
          <pc:docMk/>
          <pc:sldMk cId="1174022896" sldId="1097"/>
        </pc:sldMkLst>
        <pc:picChg chg="mod">
          <ac:chgData name="Shapiro, Vladimir" userId="487b986e-9dea-4ba8-b33e-8d9a67ec1e6d" providerId="ADAL" clId="{AD5DA62A-DE80-4B28-A03D-42D81E3BD365}" dt="2026-10-04T21:54:55.437" v="7968" actId="1440"/>
          <ac:picMkLst>
            <pc:docMk/>
            <pc:sldMk cId="1174022896" sldId="1097"/>
            <ac:picMk id="24" creationId="{D85FADB7-2ABF-0A62-85FF-550F0B3F2C69}"/>
          </ac:picMkLst>
        </pc:picChg>
      </pc:sldChg>
      <pc:sldChg chg="addSp delSp modSp add mod ord replId modClrScheme chgLayout">
        <pc:chgData name="Shapiro, Vladimir" userId="487b986e-9dea-4ba8-b33e-8d9a67ec1e6d" providerId="ADAL" clId="{AD5DA62A-DE80-4B28-A03D-42D81E3BD365}" dt="2026-10-04T21:55:36.304" v="7969" actId="403"/>
        <pc:sldMkLst>
          <pc:docMk/>
          <pc:sldMk cId="3835036850" sldId="1098"/>
        </pc:sldMkLst>
        <pc:spChg chg="mod">
          <ac:chgData name="Shapiro, Vladimir" userId="487b986e-9dea-4ba8-b33e-8d9a67ec1e6d" providerId="ADAL" clId="{AD5DA62A-DE80-4B28-A03D-42D81E3BD365}" dt="2026-10-04T21:55:36.304" v="7969" actId="403"/>
          <ac:spMkLst>
            <pc:docMk/>
            <pc:sldMk cId="3835036850" sldId="1098"/>
            <ac:spMk id="23" creationId="{A2B32878-27D7-CAAC-8922-51B1826834FA}"/>
          </ac:spMkLst>
        </pc:spChg>
        <pc:spChg chg="mod">
          <ac:chgData name="Shapiro, Vladimir" userId="487b986e-9dea-4ba8-b33e-8d9a67ec1e6d" providerId="ADAL" clId="{AD5DA62A-DE80-4B28-A03D-42D81E3BD365}" dt="2026-10-04T21:55:36.304" v="7969" actId="403"/>
          <ac:spMkLst>
            <pc:docMk/>
            <pc:sldMk cId="3835036850" sldId="1098"/>
            <ac:spMk id="26" creationId="{7DFD67F2-332A-63A3-0E57-51B5D967F75D}"/>
          </ac:spMkLst>
        </pc:spChg>
        <pc:spChg chg="mod">
          <ac:chgData name="Shapiro, Vladimir" userId="487b986e-9dea-4ba8-b33e-8d9a67ec1e6d" providerId="ADAL" clId="{AD5DA62A-DE80-4B28-A03D-42D81E3BD365}" dt="2026-10-04T21:55:36.304" v="7969" actId="403"/>
          <ac:spMkLst>
            <pc:docMk/>
            <pc:sldMk cId="3835036850" sldId="1098"/>
            <ac:spMk id="29" creationId="{1F400526-A7CF-CDAE-620C-66C20583E6A6}"/>
          </ac:spMkLst>
        </pc:spChg>
        <pc:spChg chg="mod">
          <ac:chgData name="Shapiro, Vladimir" userId="487b986e-9dea-4ba8-b33e-8d9a67ec1e6d" providerId="ADAL" clId="{AD5DA62A-DE80-4B28-A03D-42D81E3BD365}" dt="2026-10-04T21:55:36.304" v="7969" actId="403"/>
          <ac:spMkLst>
            <pc:docMk/>
            <pc:sldMk cId="3835036850" sldId="1098"/>
            <ac:spMk id="32" creationId="{02D3A2DB-89A9-4609-38D8-F976C1980E5F}"/>
          </ac:spMkLst>
        </pc:spChg>
      </pc:sldChg>
      <pc:sldChg chg="addSp delSp modSp add mod ord replId modClrScheme chgLayout">
        <pc:chgData name="Shapiro, Vladimir" userId="487b986e-9dea-4ba8-b33e-8d9a67ec1e6d" providerId="ADAL" clId="{AD5DA62A-DE80-4B28-A03D-42D81E3BD365}" dt="2026-10-04T21:55:56.779" v="7970" actId="1076"/>
        <pc:sldMkLst>
          <pc:docMk/>
          <pc:sldMk cId="1831415586" sldId="1100"/>
        </pc:sldMkLst>
        <pc:spChg chg="add mod ord">
          <ac:chgData name="Shapiro, Vladimir" userId="487b986e-9dea-4ba8-b33e-8d9a67ec1e6d" providerId="ADAL" clId="{AD5DA62A-DE80-4B28-A03D-42D81E3BD365}" dt="2026-10-04T21:55:56.779" v="7970" actId="1076"/>
          <ac:spMkLst>
            <pc:docMk/>
            <pc:sldMk cId="1831415586" sldId="1100"/>
            <ac:spMk id="4" creationId="{35C371B6-F6C5-6260-F152-CEE52CE4E0DC}"/>
          </ac:spMkLst>
        </pc:spChg>
      </pc:sldChg>
      <pc:sldChg chg="addSp delSp modSp add mod ord modClrScheme chgLayout">
        <pc:chgData name="Shapiro, Vladimir" userId="487b986e-9dea-4ba8-b33e-8d9a67ec1e6d" providerId="ADAL" clId="{AD5DA62A-DE80-4B28-A03D-42D81E3BD365}" dt="2026-10-04T21:56:40.748" v="7985" actId="20577"/>
        <pc:sldMkLst>
          <pc:docMk/>
          <pc:sldMk cId="1349400508" sldId="1102"/>
        </pc:sldMkLst>
        <pc:spChg chg="mod ord">
          <ac:chgData name="Shapiro, Vladimir" userId="487b986e-9dea-4ba8-b33e-8d9a67ec1e6d" providerId="ADAL" clId="{AD5DA62A-DE80-4B28-A03D-42D81E3BD365}" dt="2026-10-04T21:56:40.748" v="7985" actId="20577"/>
          <ac:spMkLst>
            <pc:docMk/>
            <pc:sldMk cId="1349400508" sldId="1102"/>
            <ac:spMk id="2" creationId="{D3AC5883-58F4-7EBF-A0F6-3AB9793F0B1B}"/>
          </ac:spMkLst>
        </pc:spChg>
      </pc:sldChg>
      <pc:sldChg chg="addSp delSp modSp add mod replId chgLayout">
        <pc:chgData name="Shapiro, Vladimir" userId="487b986e-9dea-4ba8-b33e-8d9a67ec1e6d" providerId="ADAL" clId="{AD5DA62A-DE80-4B28-A03D-42D81E3BD365}" dt="2026-10-04T21:59:40.141" v="7990" actId="108"/>
        <pc:sldMkLst>
          <pc:docMk/>
          <pc:sldMk cId="854892925" sldId="1109"/>
        </pc:sldMkLst>
        <pc:spChg chg="mod">
          <ac:chgData name="Shapiro, Vladimir" userId="487b986e-9dea-4ba8-b33e-8d9a67ec1e6d" providerId="ADAL" clId="{AD5DA62A-DE80-4B28-A03D-42D81E3BD365}" dt="2026-10-04T21:59:34.635" v="7989" actId="108"/>
          <ac:spMkLst>
            <pc:docMk/>
            <pc:sldMk cId="854892925" sldId="1109"/>
            <ac:spMk id="18" creationId="{5E65EF81-C697-D68A-583B-334A028F0342}"/>
          </ac:spMkLst>
        </pc:spChg>
        <pc:spChg chg="mod">
          <ac:chgData name="Shapiro, Vladimir" userId="487b986e-9dea-4ba8-b33e-8d9a67ec1e6d" providerId="ADAL" clId="{AD5DA62A-DE80-4B28-A03D-42D81E3BD365}" dt="2026-10-04T21:59:40.141" v="7990" actId="108"/>
          <ac:spMkLst>
            <pc:docMk/>
            <pc:sldMk cId="854892925" sldId="1109"/>
            <ac:spMk id="22" creationId="{61248A79-002C-BC52-FAFA-473836BE4C4B}"/>
          </ac:spMkLst>
        </pc:spChg>
      </pc:sldChg>
      <pc:sldChg chg="addSp delSp modSp add mod replId chgLayout">
        <pc:chgData name="Shapiro, Vladimir" userId="487b986e-9dea-4ba8-b33e-8d9a67ec1e6d" providerId="ADAL" clId="{AD5DA62A-DE80-4B28-A03D-42D81E3BD365}" dt="2026-10-04T21:58:40.116" v="7986" actId="1076"/>
        <pc:sldMkLst>
          <pc:docMk/>
          <pc:sldMk cId="2815030775" sldId="1113"/>
        </pc:sldMkLst>
        <pc:grpChg chg="add mod">
          <ac:chgData name="Shapiro, Vladimir" userId="487b986e-9dea-4ba8-b33e-8d9a67ec1e6d" providerId="ADAL" clId="{AD5DA62A-DE80-4B28-A03D-42D81E3BD365}" dt="2026-10-04T21:58:40.116" v="7986" actId="1076"/>
          <ac:grpSpMkLst>
            <pc:docMk/>
            <pc:sldMk cId="2815030775" sldId="1113"/>
            <ac:grpSpMk id="17" creationId="{3DB8C8C4-56FF-8CBF-537E-3B8F1F31D610}"/>
          </ac:grpSpMkLst>
        </pc:grpChg>
      </pc:sldChg>
      <pc:sldMasterChg chg="modSp addSldLayout modSldLayout">
        <pc:chgData name="Shapiro, Vladimir" userId="487b986e-9dea-4ba8-b33e-8d9a67ec1e6d" providerId="ADAL" clId="{AD5DA62A-DE80-4B28-A03D-42D81E3BD365}" dt="2026-09-06T13:29:24.509" v="7542" actId="404"/>
        <pc:sldMasterMkLst>
          <pc:docMk/>
          <pc:sldMasterMk cId="3811444113" sldId="2147483725"/>
        </pc:sldMasterMkLst>
        <pc:spChg chg="mod">
          <ac:chgData name="Shapiro, Vladimir" userId="487b986e-9dea-4ba8-b33e-8d9a67ec1e6d" providerId="ADAL" clId="{AD5DA62A-DE80-4B28-A03D-42D81E3BD365}" dt="2026-09-06T13:29:24.509" v="7542" actId="404"/>
          <ac:spMkLst>
            <pc:docMk/>
            <pc:sldMasterMk cId="3811444113" sldId="2147483725"/>
            <ac:spMk id="3" creationId="{00000000-0000-0000-0000-000000000000}"/>
          </ac:spMkLst>
        </pc:sp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20C3D-B18F-408C-AB7E-3E8327050663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7A81ED-B271-4688-BA18-CA7E4726E6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21956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1DE9AC-4BE4-4D3A-A0A7-E4076EE786F7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3AF66-ACA7-4F65-9AFB-6946E0F37F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09485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043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/>
              <a:t>.  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444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049338" y="720725"/>
            <a:ext cx="9418638" cy="52990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506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3FBCE-2CCA-01AF-ED23-46396FF2C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09B801-7E05-2F0D-42BC-738D325C11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049338" y="720725"/>
            <a:ext cx="9418638" cy="52990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8E4601-A1BA-0A0C-B133-616993A639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5746E-72E1-CCA4-4BE1-AE23805348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89E4E-0F4F-4516-75F9-D247DD5A6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93AF66-ACA7-4F65-9AFB-6946E0F37F13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543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02038"/>
            <a:ext cx="103632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80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>
                <a:latin typeface="+mn-lt"/>
              </a:defRPr>
            </a:lvl1pPr>
            <a:lvl2pPr>
              <a:defRPr sz="1800">
                <a:latin typeface="+mn-lt"/>
              </a:defRPr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F1C229D-64BF-A8B7-9727-11D23A2A8E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F1C229D-64BF-A8B7-9727-11D23A2A8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0378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7F1C229D-64BF-A8B7-9727-11D23A2A8EA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47" imgH="348" progId="TCLayout.ActiveDocument.1">
                  <p:embed/>
                </p:oleObj>
              </mc:Choice>
              <mc:Fallback>
                <p:oleObj name="think-cell Slide" r:id="rId3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7F1C229D-64BF-A8B7-9727-11D23A2A8E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737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1277600" cy="285273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1277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121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09738"/>
            <a:ext cx="11277600" cy="2852737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1277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75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486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8400" y="1825625"/>
            <a:ext cx="5486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42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125"/>
            <a:ext cx="11277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1163"/>
            <a:ext cx="5486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505075"/>
            <a:ext cx="54864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8400" y="1681163"/>
            <a:ext cx="54864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8400" y="2505075"/>
            <a:ext cx="548640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802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2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161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958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5257800" cy="1600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43600" y="987425"/>
            <a:ext cx="5791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52578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3113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5257800" cy="16002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600" y="987425"/>
            <a:ext cx="5791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057400"/>
            <a:ext cx="525780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195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5347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365125"/>
            <a:ext cx="27432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65125"/>
            <a:ext cx="83820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91600" y="524"/>
            <a:ext cx="2743200" cy="365125"/>
          </a:xfrm>
        </p:spPr>
        <p:txBody>
          <a:bodyPr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51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Shape 3"/>
          <p:cNvSpPr/>
          <p:nvPr/>
        </p:nvSpPr>
        <p:spPr>
          <a:xfrm>
            <a:off x="0" y="-1"/>
            <a:ext cx="12192000" cy="365762"/>
          </a:xfrm>
          <a:prstGeom prst="rect">
            <a:avLst/>
          </a:prstGeom>
          <a:solidFill>
            <a:srgbClr val="8D8787"/>
          </a:solidFill>
          <a:ln>
            <a:noFill/>
          </a:ln>
        </p:spPr>
        <p:txBody>
          <a:bodyPr rtlCol="0" anchor="ctr"/>
          <a:lstStyle/>
          <a:p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65129"/>
            <a:ext cx="11277600" cy="646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65457"/>
            <a:ext cx="11277600" cy="52925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91600" y="52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FFFFF"/>
                </a:solidFill>
              </a:defRPr>
            </a:lvl1pPr>
          </a:lstStyle>
          <a:p>
            <a:fld id="{21EF4C0E-91FA-4D94-8941-E22F3A83D5F1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5E2AFD1-71DA-B7E7-169D-75C1475315B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</p:nvPr>
        </p:nvGraphicFramePr>
        <p:xfrm>
          <a:off x="2384" y="1592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347" imgH="348" progId="TCLayout.ActiveDocument.1">
                  <p:embed/>
                </p:oleObj>
              </mc:Choice>
              <mc:Fallback>
                <p:oleObj name="think-cell Slide" r:id="rId17" imgW="347" imgH="34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5E2AFD1-71DA-B7E7-169D-75C1475315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384" y="1592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11444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38" r:id="rId3"/>
    <p:sldLayoutId id="2147483728" r:id="rId4"/>
    <p:sldLayoutId id="2147483737" r:id="rId5"/>
    <p:sldLayoutId id="2147483729" r:id="rId6"/>
    <p:sldLayoutId id="2147483730" r:id="rId7"/>
    <p:sldLayoutId id="2147483731" r:id="rId8"/>
    <p:sldLayoutId id="2147483739" r:id="rId9"/>
    <p:sldLayoutId id="2147483732" r:id="rId10"/>
    <p:sldLayoutId id="2147483733" r:id="rId11"/>
    <p:sldLayoutId id="2147483734" r:id="rId12"/>
    <p:sldLayoutId id="2147483735" r:id="rId13"/>
    <p:sldLayoutId id="2147483736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CB2026"/>
          </a:solidFill>
          <a:latin typeface="Baskerville SemiBold" charset="0"/>
          <a:ea typeface="Baskerville SemiBold" charset="0"/>
          <a:cs typeface="Baskerville SemiBold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None/>
        <a:tabLst/>
        <a:defRPr sz="20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1pPr>
      <a:lvl2pPr marL="742950" indent="-28575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20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8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A7C5"/>
        </a:buClr>
        <a:buFont typeface="Arial" charset="0"/>
        <a:buChar char="•"/>
        <a:tabLst/>
        <a:defRPr sz="1600" kern="1200">
          <a:solidFill>
            <a:schemeClr val="tx1"/>
          </a:solidFill>
          <a:latin typeface="Helvetica Neue Light"/>
          <a:ea typeface="Helvetica Neue" charset="0"/>
          <a:cs typeface="Helvetica Neue Ligh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rEDzUT3ymw4?feature=oembed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6M5VXKLf4D4?feature=oembed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quickdraw.withgoogle.com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852" y="1255066"/>
            <a:ext cx="7886700" cy="4704483"/>
          </a:xfrm>
        </p:spPr>
        <p:txBody>
          <a:bodyPr>
            <a:normAutofit fontScale="90000"/>
          </a:bodyPr>
          <a:lstStyle/>
          <a:p>
            <a:r>
              <a:rPr lang="en-US">
                <a:latin typeface="Baskerville SemiBold"/>
              </a:rPr>
              <a:t>ALY 3510 	AI Foundations: </a:t>
            </a:r>
            <a:br>
              <a:rPr lang="en-US">
                <a:latin typeface="Baskerville SemiBold"/>
              </a:rPr>
            </a:br>
            <a:r>
              <a:rPr lang="en-US">
                <a:latin typeface="Baskerville SemiBold"/>
              </a:rPr>
              <a:t>		An Interdisciplinary Approach</a:t>
            </a:r>
            <a:br>
              <a:rPr lang="en-US" sz="4000">
                <a:latin typeface="Baskerville SemiBold"/>
              </a:rPr>
            </a:br>
            <a:br>
              <a:rPr lang="en-US" sz="4000"/>
            </a:br>
            <a:r>
              <a:rPr lang="en-US" sz="2400">
                <a:latin typeface="Baskerville SemiBold"/>
              </a:rPr>
              <a:t>Lecture 4: </a:t>
            </a:r>
            <a:br>
              <a:rPr lang="en-US" sz="2400"/>
            </a:br>
            <a:r>
              <a:rPr lang="en-US" sz="2400">
                <a:latin typeface="Baskerville SemiBold"/>
              </a:rPr>
              <a:t>	</a:t>
            </a:r>
            <a:r>
              <a:rPr lang="en-US" sz="3100">
                <a:latin typeface="Baskerville SemiBold"/>
              </a:rPr>
              <a:t>Neural Networks &amp; Deep Learning</a:t>
            </a:r>
            <a:br>
              <a:rPr lang="en-US" sz="2400">
                <a:latin typeface="Baskerville SemiBold"/>
              </a:rPr>
            </a:br>
            <a:br>
              <a:rPr lang="en-US" sz="2400"/>
            </a:br>
            <a:r>
              <a:rPr lang="en-US" sz="2400">
                <a:latin typeface="Baskerville SemiBold"/>
              </a:rPr>
              <a:t>Session/Section: 	Fall 2026</a:t>
            </a:r>
            <a:br>
              <a:rPr lang="en-US" sz="2400"/>
            </a:br>
            <a:r>
              <a:rPr lang="en-US" sz="2400">
                <a:latin typeface="Baskerville SemiBold"/>
              </a:rPr>
              <a:t>Time:       	Monday  5:50-7:10 PM  and Virtual</a:t>
            </a:r>
            <a:br>
              <a:rPr lang="en-US" sz="2400"/>
            </a:br>
            <a:r>
              <a:rPr lang="en-US" sz="2400">
                <a:latin typeface="Baskerville SemiBold"/>
              </a:rPr>
              <a:t>Instructor:  		Vladimir Shapiro</a:t>
            </a:r>
            <a:br>
              <a:rPr lang="en-US" sz="2400">
                <a:latin typeface="Calibri Light"/>
                <a:cs typeface="Calibri Light"/>
              </a:rPr>
            </a:br>
            <a:endParaRPr lang="en-US" sz="2400"/>
          </a:p>
        </p:txBody>
      </p:sp>
      <p:pic>
        <p:nvPicPr>
          <p:cNvPr id="4" name="Picture 3" descr="Image result for northeastern logo" title="Logo">
            <a:extLst>
              <a:ext uri="{FF2B5EF4-FFF2-40B4-BE49-F238E27FC236}">
                <a16:creationId xmlns:a16="http://schemas.microsoft.com/office/drawing/2014/main" id="{81B0B0B8-8116-4011-A6C1-42E6C07960EE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7117" y="6087580"/>
            <a:ext cx="2007683" cy="64607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EE88DC-BC17-4108-B0AE-E05EFC8C1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 descr="A wireframe of a brain&#10;&#10;AI-generated content may be incorrect.">
            <a:extLst>
              <a:ext uri="{FF2B5EF4-FFF2-40B4-BE49-F238E27FC236}">
                <a16:creationId xmlns:a16="http://schemas.microsoft.com/office/drawing/2014/main" id="{7853ABA4-7490-2C5F-EBF4-A983F572B0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6"/>
          <a:stretch/>
        </p:blipFill>
        <p:spPr>
          <a:xfrm>
            <a:off x="9023040" y="712787"/>
            <a:ext cx="2680320" cy="2584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8069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53DFD5-71A9-5AE1-0348-55ABB823D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36858-47C0-CB22-D0A7-01B29AA72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Pre-Lecture Video (1:03)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8586F4-68D2-562C-45BB-035B5CFA79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rtlCol="0" anchor="t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b="1">
                <a:latin typeface="Arial" panose="020B0604020202020204" pitchFamily="34" charset="0"/>
              </a:rPr>
              <a:t> </a:t>
            </a: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D274C-FC61-0FD6-047E-700381BC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B8418F-4B9B-C01A-3637-DBBC96022900}"/>
              </a:ext>
            </a:extLst>
          </p:cNvPr>
          <p:cNvSpPr txBox="1"/>
          <p:nvPr/>
        </p:nvSpPr>
        <p:spPr>
          <a:xfrm>
            <a:off x="457200" y="6492871"/>
            <a:ext cx="4572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https://www.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youtube</a:t>
            </a:r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.com/watch?v=rEDzUT3ymw4</a:t>
            </a:r>
          </a:p>
        </p:txBody>
      </p:sp>
      <p:pic>
        <p:nvPicPr>
          <p:cNvPr id="3" name="Online Media 2" title="Explained In A Minute: Neural Networks">
            <a:hlinkClick r:id="" action="ppaction://media"/>
            <a:extLst>
              <a:ext uri="{FF2B5EF4-FFF2-40B4-BE49-F238E27FC236}">
                <a16:creationId xmlns:a16="http://schemas.microsoft.com/office/drawing/2014/main" id="{396C304A-AD54-1B0C-ABBA-9954C0B82B5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77703" y="1127469"/>
            <a:ext cx="9144000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Pre-lecture video</a:t>
            </a:r>
          </a:p>
          <a:p>
            <a:endParaRPr lang="en-US"/>
          </a:p>
          <a:p>
            <a:r>
              <a:rPr lang="en-US"/>
              <a:t>Lecture</a:t>
            </a:r>
          </a:p>
          <a:p>
            <a:endParaRPr lang="en-US"/>
          </a:p>
          <a:p>
            <a:r>
              <a:rPr lang="en-US"/>
              <a:t>In-class discussion</a:t>
            </a:r>
          </a:p>
          <a:p>
            <a:endParaRPr lang="en-US"/>
          </a:p>
          <a:p>
            <a:r>
              <a:rPr lang="en-US">
                <a:highlight>
                  <a:srgbClr val="FFFF00"/>
                </a:highlight>
              </a:rPr>
              <a:t>Note: No classroom session next Monday due to the federal holiday in the U.S. A recording will be posted instead.</a:t>
            </a:r>
          </a:p>
          <a:p>
            <a:endParaRPr lang="en-US">
              <a:highlight>
                <a:srgbClr val="FFFF00"/>
              </a:highlight>
            </a:endParaRPr>
          </a:p>
          <a:p>
            <a:r>
              <a:rPr lang="en-US">
                <a:highlight>
                  <a:srgbClr val="FFFF00"/>
                </a:highlight>
              </a:rPr>
              <a:t>Team formation for Final project is due next week.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A3763E-048D-4786-B5D9-61C7C10DD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21EF4C0E-91FA-4D94-8941-E22F3A83D5F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7" name="Picture 6" descr="A wireframe of a brain&#10;&#10;AI-generated content may be incorrect.">
            <a:extLst>
              <a:ext uri="{FF2B5EF4-FFF2-40B4-BE49-F238E27FC236}">
                <a16:creationId xmlns:a16="http://schemas.microsoft.com/office/drawing/2014/main" id="{7D8B7C62-1320-382B-665C-ED055D5CD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86"/>
          <a:stretch/>
        </p:blipFill>
        <p:spPr>
          <a:xfrm>
            <a:off x="8347520" y="626440"/>
            <a:ext cx="3249601" cy="3133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510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02AA9-3EDD-A483-7677-B42C96FE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Part 1: </a:t>
            </a:r>
            <a:r>
              <a:rPr lang="en-US" sz="4400"/>
              <a:t>Introduction to Neural Networks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7F68CD-A401-30AD-F0CE-E9B861DB58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i="1">
                <a:solidFill>
                  <a:schemeClr val="accent5">
                    <a:lumMod val="75000"/>
                  </a:schemeClr>
                </a:solidFill>
              </a:rPr>
              <a:t>From biological neurons to Multilayer </a:t>
            </a:r>
            <a:r>
              <a:rPr lang="en-US" i="1" err="1">
                <a:solidFill>
                  <a:schemeClr val="accent5">
                    <a:lumMod val="75000"/>
                  </a:schemeClr>
                </a:solidFill>
              </a:rPr>
              <a:t>Perceptrons</a:t>
            </a:r>
            <a:endParaRPr lang="en-US" i="1">
              <a:solidFill>
                <a:schemeClr val="accent5">
                  <a:lumMod val="75000"/>
                </a:schemeClr>
              </a:solidFill>
            </a:endParaRP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5574C5-9801-19B5-2759-713F1BF0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4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C2C1-67D9-9DEB-5FBE-5D03B9DED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66748-92CE-0AEF-1495-2D9046D0C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Quick Recap: What is Machine Learning?</a:t>
            </a:r>
            <a:endParaRPr lang="en-US" sz="24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902228-1472-9569-738C-0F5E330DB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5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D0D661BA-9BCC-2CF1-B0DE-85A72A14C30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63CB55-4212-6C20-1088-70CD3A38B941}"/>
              </a:ext>
            </a:extLst>
          </p:cNvPr>
          <p:cNvGrpSpPr/>
          <p:nvPr/>
        </p:nvGrpSpPr>
        <p:grpSpPr>
          <a:xfrm>
            <a:off x="563880" y="1181100"/>
            <a:ext cx="11064240" cy="4800600"/>
            <a:chOff x="548640" y="1051560"/>
            <a:chExt cx="11064240" cy="4800600"/>
          </a:xfrm>
        </p:grpSpPr>
        <p:sp>
          <p:nvSpPr>
            <p:cNvPr id="16" name="Text 1">
              <a:extLst>
                <a:ext uri="{FF2B5EF4-FFF2-40B4-BE49-F238E27FC236}">
                  <a16:creationId xmlns:a16="http://schemas.microsoft.com/office/drawing/2014/main" id="{9E382B19-A6D3-C8F0-4015-19470F88A5C1}"/>
                </a:ext>
              </a:extLst>
            </p:cNvPr>
            <p:cNvSpPr txBox="1"/>
            <p:nvPr/>
          </p:nvSpPr>
          <p:spPr>
            <a:xfrm>
              <a:off x="548640" y="1051560"/>
              <a:ext cx="110642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>
                  <a:solidFill>
                    <a:srgbClr val="6D2E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insight from last weeks: instead of writing rules, we let computers discover them from data</a:t>
              </a:r>
              <a:r>
                <a:rPr lang="en-US" sz="1600" i="1">
                  <a:solidFill>
                    <a:srgbClr val="6D2E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F13101CD-B972-29BF-6A2D-8C46096AC59E}"/>
                </a:ext>
              </a:extLst>
            </p:cNvPr>
            <p:cNvGrpSpPr/>
            <p:nvPr/>
          </p:nvGrpSpPr>
          <p:grpSpPr>
            <a:xfrm>
              <a:off x="640080" y="1645920"/>
              <a:ext cx="10908792" cy="4206240"/>
              <a:chOff x="640080" y="1645920"/>
              <a:chExt cx="10908792" cy="4206240"/>
            </a:xfrm>
          </p:grpSpPr>
          <p:sp>
            <p:nvSpPr>
              <p:cNvPr id="18" name="Shape 2">
                <a:extLst>
                  <a:ext uri="{FF2B5EF4-FFF2-40B4-BE49-F238E27FC236}">
                    <a16:creationId xmlns:a16="http://schemas.microsoft.com/office/drawing/2014/main" id="{BAB63B07-6B5B-CA1B-579A-DDCDDC6040C7}"/>
                  </a:ext>
                </a:extLst>
              </p:cNvPr>
              <p:cNvSpPr/>
              <p:nvPr/>
            </p:nvSpPr>
            <p:spPr>
              <a:xfrm>
                <a:off x="640080" y="1645920"/>
                <a:ext cx="5193792" cy="4206240"/>
              </a:xfrm>
              <a:prstGeom prst="roundRect">
                <a:avLst>
                  <a:gd name="adj" fmla="val 2174"/>
                </a:avLst>
              </a:prstGeom>
              <a:solidFill>
                <a:srgbClr val="F1F4F9"/>
              </a:solidFill>
              <a:ln w="12700">
                <a:solidFill>
                  <a:srgbClr val="C9D2E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Shape 3">
                <a:extLst>
                  <a:ext uri="{FF2B5EF4-FFF2-40B4-BE49-F238E27FC236}">
                    <a16:creationId xmlns:a16="http://schemas.microsoft.com/office/drawing/2014/main" id="{51B05B14-A64C-37C3-582A-7AC898CED374}"/>
                  </a:ext>
                </a:extLst>
              </p:cNvPr>
              <p:cNvSpPr/>
              <p:nvPr/>
            </p:nvSpPr>
            <p:spPr>
              <a:xfrm>
                <a:off x="640080" y="1645920"/>
                <a:ext cx="5193792" cy="731520"/>
              </a:xfrm>
              <a:prstGeom prst="roundRect">
                <a:avLst>
                  <a:gd name="adj" fmla="val 12500"/>
                </a:avLst>
              </a:prstGeom>
              <a:solidFill>
                <a:srgbClr val="2F3C7E"/>
              </a:solidFill>
              <a:ln w="12700">
                <a:solidFill>
                  <a:srgbClr val="2F3C7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 4">
                <a:extLst>
                  <a:ext uri="{FF2B5EF4-FFF2-40B4-BE49-F238E27FC236}">
                    <a16:creationId xmlns:a16="http://schemas.microsoft.com/office/drawing/2014/main" id="{B7A0B33C-97A0-99C1-C582-11B400818A7D}"/>
                  </a:ext>
                </a:extLst>
              </p:cNvPr>
              <p:cNvSpPr txBox="1"/>
              <p:nvPr/>
            </p:nvSpPr>
            <p:spPr>
              <a:xfrm>
                <a:off x="822960" y="1645920"/>
                <a:ext cx="4828032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Traditional (Symbolic AI)</a:t>
                </a:r>
                <a:endParaRPr lang="en-US" sz="2000"/>
              </a:p>
            </p:txBody>
          </p:sp>
          <p:sp>
            <p:nvSpPr>
              <p:cNvPr id="21" name="Text 5">
                <a:extLst>
                  <a:ext uri="{FF2B5EF4-FFF2-40B4-BE49-F238E27FC236}">
                    <a16:creationId xmlns:a16="http://schemas.microsoft.com/office/drawing/2014/main" id="{8EA0671D-2F1D-040F-B94F-C89BAE9A1125}"/>
                  </a:ext>
                </a:extLst>
              </p:cNvPr>
              <p:cNvSpPr txBox="1"/>
              <p:nvPr/>
            </p:nvSpPr>
            <p:spPr>
              <a:xfrm>
                <a:off x="960120" y="2560320"/>
                <a:ext cx="4599432" cy="3154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03200" indent="-203200">
                  <a:spcAft>
                    <a:spcPts val="1000"/>
                  </a:spcAft>
                  <a:buSzPct val="100000"/>
                  <a:buChar char="•"/>
                </a:pPr>
                <a:r>
                  <a:rPr lang="en-US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Write thousands of rules by hand</a:t>
                </a:r>
                <a:endParaRPr lang="en-US"/>
              </a:p>
              <a:p>
                <a:pPr marL="203200" indent="-203200">
                  <a:spcAft>
                    <a:spcPts val="1000"/>
                  </a:spcAft>
                  <a:buSzPct val="100000"/>
                  <a:buChar char="•"/>
                </a:pPr>
                <a:r>
                  <a:rPr lang="en-US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“IF contains ‘free money’ → spam”</a:t>
                </a:r>
                <a:endParaRPr lang="en-US"/>
              </a:p>
              <a:p>
                <a:pPr marL="203200" indent="-203200">
                  <a:spcAft>
                    <a:spcPts val="1000"/>
                  </a:spcAft>
                  <a:buSzPct val="100000"/>
                  <a:buChar char="•"/>
                </a:pPr>
                <a:r>
                  <a:rPr lang="en-US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Spammers adapt → start over</a:t>
                </a:r>
                <a:endParaRPr lang="en-US"/>
              </a:p>
            </p:txBody>
          </p:sp>
          <p:sp>
            <p:nvSpPr>
              <p:cNvPr id="22" name="Shape 6">
                <a:extLst>
                  <a:ext uri="{FF2B5EF4-FFF2-40B4-BE49-F238E27FC236}">
                    <a16:creationId xmlns:a16="http://schemas.microsoft.com/office/drawing/2014/main" id="{E3A63227-6DC1-3383-4F69-29E7A560D151}"/>
                  </a:ext>
                </a:extLst>
              </p:cNvPr>
              <p:cNvSpPr/>
              <p:nvPr/>
            </p:nvSpPr>
            <p:spPr>
              <a:xfrm>
                <a:off x="6355080" y="1645920"/>
                <a:ext cx="5193792" cy="4206240"/>
              </a:xfrm>
              <a:prstGeom prst="roundRect">
                <a:avLst>
                  <a:gd name="adj" fmla="val 2174"/>
                </a:avLst>
              </a:prstGeom>
              <a:solidFill>
                <a:srgbClr val="F1F4F9"/>
              </a:solidFill>
              <a:ln w="12700">
                <a:solidFill>
                  <a:srgbClr val="C9D2E0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Shape 7">
                <a:extLst>
                  <a:ext uri="{FF2B5EF4-FFF2-40B4-BE49-F238E27FC236}">
                    <a16:creationId xmlns:a16="http://schemas.microsoft.com/office/drawing/2014/main" id="{02360301-0F9C-0FAD-0DF8-29A04E31801A}"/>
                  </a:ext>
                </a:extLst>
              </p:cNvPr>
              <p:cNvSpPr/>
              <p:nvPr/>
            </p:nvSpPr>
            <p:spPr>
              <a:xfrm>
                <a:off x="6355080" y="1645920"/>
                <a:ext cx="5193792" cy="731520"/>
              </a:xfrm>
              <a:prstGeom prst="roundRect">
                <a:avLst>
                  <a:gd name="adj" fmla="val 12500"/>
                </a:avLst>
              </a:prstGeom>
              <a:solidFill>
                <a:srgbClr val="C8102E"/>
              </a:solidFill>
              <a:ln w="12700">
                <a:solidFill>
                  <a:srgbClr val="C8102E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 8">
                <a:extLst>
                  <a:ext uri="{FF2B5EF4-FFF2-40B4-BE49-F238E27FC236}">
                    <a16:creationId xmlns:a16="http://schemas.microsoft.com/office/drawing/2014/main" id="{10400236-8BC5-40AF-8934-860303C7DCF7}"/>
                  </a:ext>
                </a:extLst>
              </p:cNvPr>
              <p:cNvSpPr txBox="1"/>
              <p:nvPr/>
            </p:nvSpPr>
            <p:spPr>
              <a:xfrm>
                <a:off x="6537960" y="1645920"/>
                <a:ext cx="4828032" cy="7315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b="1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Machine Learning</a:t>
                </a:r>
                <a:endParaRPr lang="en-US" sz="2000"/>
              </a:p>
            </p:txBody>
          </p:sp>
          <p:sp>
            <p:nvSpPr>
              <p:cNvPr id="25" name="Text 9">
                <a:extLst>
                  <a:ext uri="{FF2B5EF4-FFF2-40B4-BE49-F238E27FC236}">
                    <a16:creationId xmlns:a16="http://schemas.microsoft.com/office/drawing/2014/main" id="{DC68CF42-1B64-4340-4A12-8227A0F9FE40}"/>
                  </a:ext>
                </a:extLst>
              </p:cNvPr>
              <p:cNvSpPr txBox="1"/>
              <p:nvPr/>
            </p:nvSpPr>
            <p:spPr>
              <a:xfrm>
                <a:off x="6675120" y="2560320"/>
                <a:ext cx="4599432" cy="31546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203200" indent="-203200">
                  <a:spcAft>
                    <a:spcPts val="1000"/>
                  </a:spcAft>
                  <a:buSzPct val="100000"/>
                  <a:buChar char="•"/>
                </a:pPr>
                <a:r>
                  <a:rPr lang="en-US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Show examples of real spam</a:t>
                </a:r>
                <a:endParaRPr lang="en-US"/>
              </a:p>
              <a:p>
                <a:pPr marL="203200" indent="-203200">
                  <a:spcAft>
                    <a:spcPts val="1000"/>
                  </a:spcAft>
                  <a:buSzPct val="100000"/>
                  <a:buChar char="•"/>
                </a:pPr>
                <a:r>
                  <a:rPr lang="en-US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algorithm finds the patterns</a:t>
                </a:r>
                <a:endParaRPr lang="en-US"/>
              </a:p>
              <a:p>
                <a:pPr marL="203200" indent="-203200">
                  <a:spcAft>
                    <a:spcPts val="1000"/>
                  </a:spcAft>
                  <a:buSzPct val="100000"/>
                  <a:buChar char="•"/>
                </a:pPr>
                <a:r>
                  <a:rPr lang="en-US">
                    <a:solidFill>
                      <a:srgbClr val="1A1A1A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The model adapts automatically</a:t>
                </a:r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8083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57B8-BDD8-6BFC-C629-0AB773850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A2882-432F-EFCA-CAFA-0DB0A7ACE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Neural Networks? End-to-End Learning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321DCA-3FC3-0FCD-80B4-697D68BE0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6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0EC7073A-5AD4-3ECC-C397-81D050F74F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551A597-BFE2-2D0F-407D-6F4C134F947F}"/>
              </a:ext>
            </a:extLst>
          </p:cNvPr>
          <p:cNvGrpSpPr/>
          <p:nvPr/>
        </p:nvGrpSpPr>
        <p:grpSpPr>
          <a:xfrm>
            <a:off x="640080" y="1554480"/>
            <a:ext cx="10881360" cy="4343400"/>
            <a:chOff x="640080" y="1554480"/>
            <a:chExt cx="10881360" cy="4343400"/>
          </a:xfrm>
        </p:grpSpPr>
        <p:sp>
          <p:nvSpPr>
            <p:cNvPr id="18" name="Shape 1">
              <a:extLst>
                <a:ext uri="{FF2B5EF4-FFF2-40B4-BE49-F238E27FC236}">
                  <a16:creationId xmlns:a16="http://schemas.microsoft.com/office/drawing/2014/main" id="{DF859CAC-0E0B-1518-BCB7-C1347822AD92}"/>
                </a:ext>
              </a:extLst>
            </p:cNvPr>
            <p:cNvSpPr/>
            <p:nvPr/>
          </p:nvSpPr>
          <p:spPr>
            <a:xfrm>
              <a:off x="640080" y="1554480"/>
              <a:ext cx="10881360" cy="1554480"/>
            </a:xfrm>
            <a:prstGeom prst="roundRect">
              <a:avLst>
                <a:gd name="adj" fmla="val 5882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E30A809C-7B46-CA00-4196-3CDEE550202C}"/>
                </a:ext>
              </a:extLst>
            </p:cNvPr>
            <p:cNvSpPr txBox="1"/>
            <p:nvPr/>
          </p:nvSpPr>
          <p:spPr>
            <a:xfrm>
              <a:off x="914400" y="169164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2F3C7E"/>
                  </a:solidFill>
                  <a:ea typeface="Calibri" pitchFamily="34" charset="-122"/>
                  <a:cs typeface="Calibri" pitchFamily="34" charset="-120"/>
                </a:rPr>
                <a:t>Traditional approach</a:t>
              </a:r>
              <a:endParaRPr lang="en-US" sz="2000"/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71E077A8-F1DE-78C4-B85B-7AA8EB648FD7}"/>
                </a:ext>
              </a:extLst>
            </p:cNvPr>
            <p:cNvSpPr txBox="1"/>
            <p:nvPr/>
          </p:nvSpPr>
          <p:spPr>
            <a:xfrm>
              <a:off x="914400" y="2103120"/>
              <a:ext cx="103327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Raw data  →  </a:t>
              </a:r>
              <a:r>
                <a:rPr lang="en-US" sz="2000">
                  <a:solidFill>
                    <a:srgbClr val="1A1A1A"/>
                  </a:solidFill>
                  <a:highlight>
                    <a:srgbClr val="FFFF00"/>
                  </a:highlight>
                  <a:ea typeface="Calibri" pitchFamily="34" charset="-122"/>
                  <a:cs typeface="Calibri" pitchFamily="34" charset="-120"/>
                </a:rPr>
                <a:t>manual feature extraction  </a:t>
              </a:r>
              <a:r>
                <a:rPr lang="en-US" sz="200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→  learning algorithm  →  output      (a human decides which features matter)</a:t>
              </a:r>
              <a:endParaRPr lang="en-US" sz="2000"/>
            </a:p>
          </p:txBody>
        </p:sp>
        <p:sp>
          <p:nvSpPr>
            <p:cNvPr id="21" name="Shape 4">
              <a:extLst>
                <a:ext uri="{FF2B5EF4-FFF2-40B4-BE49-F238E27FC236}">
                  <a16:creationId xmlns:a16="http://schemas.microsoft.com/office/drawing/2014/main" id="{8B2A8A57-4BF6-B858-96D4-F905534C6BC1}"/>
                </a:ext>
              </a:extLst>
            </p:cNvPr>
            <p:cNvSpPr/>
            <p:nvPr/>
          </p:nvSpPr>
          <p:spPr>
            <a:xfrm>
              <a:off x="640080" y="3291840"/>
              <a:ext cx="10881360" cy="1554480"/>
            </a:xfrm>
            <a:prstGeom prst="roundRect">
              <a:avLst>
                <a:gd name="adj" fmla="val 5882"/>
              </a:avLst>
            </a:prstGeom>
            <a:solidFill>
              <a:srgbClr val="E7EFE7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99619587-042E-ACAE-9991-98E5D8C75D50}"/>
                </a:ext>
              </a:extLst>
            </p:cNvPr>
            <p:cNvSpPr txBox="1"/>
            <p:nvPr/>
          </p:nvSpPr>
          <p:spPr>
            <a:xfrm>
              <a:off x="914400" y="342900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2C5F2D"/>
                  </a:solidFill>
                  <a:ea typeface="Calibri" pitchFamily="34" charset="-122"/>
                  <a:cs typeface="Calibri" pitchFamily="34" charset="-120"/>
                </a:rPr>
                <a:t>Neural network approach (end-to-end)</a:t>
              </a:r>
              <a:endParaRPr lang="en-US" sz="200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D8B6DF54-53A1-3BE3-441F-6F0EAD1CD3A4}"/>
                </a:ext>
              </a:extLst>
            </p:cNvPr>
            <p:cNvSpPr txBox="1"/>
            <p:nvPr/>
          </p:nvSpPr>
          <p:spPr>
            <a:xfrm>
              <a:off x="914400" y="3840480"/>
              <a:ext cx="103327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Raw data  →  neural network  →  output      (the network discovers which features matter, automatically)</a:t>
              </a:r>
              <a:endParaRPr lang="en-US" sz="2000"/>
            </a:p>
          </p:txBody>
        </p:sp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B2F0BA40-7B23-973B-5FFD-DF859A86B29A}"/>
                </a:ext>
              </a:extLst>
            </p:cNvPr>
            <p:cNvSpPr/>
            <p:nvPr/>
          </p:nvSpPr>
          <p:spPr>
            <a:xfrm>
              <a:off x="640080" y="5074920"/>
              <a:ext cx="10881360" cy="822960"/>
            </a:xfrm>
            <a:prstGeom prst="roundRect">
              <a:avLst>
                <a:gd name="adj" fmla="val 8889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1A2B3A5F-1DF5-9B77-70BB-CFC6CF84B2DA}"/>
                </a:ext>
              </a:extLst>
            </p:cNvPr>
            <p:cNvSpPr txBox="1"/>
            <p:nvPr/>
          </p:nvSpPr>
          <p:spPr>
            <a:xfrm>
              <a:off x="914400" y="5120640"/>
              <a:ext cx="103327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ea typeface="Calibri" pitchFamily="34" charset="-122"/>
                  <a:cs typeface="Calibri" pitchFamily="34" charset="-120"/>
                </a:rPr>
                <a:t>Key advantage: eliminates manual feature engineering.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2000997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CBFBB-70FA-0F49-9A2B-CD118B2732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51A3A-883B-4C34-612B-68AAE968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Inspiration from the Brain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549630-02BB-A796-C4AB-DEFC92EBB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000">
                <a:latin typeface="+mn-lt"/>
              </a:rPr>
              <a:t>The neuron is the brain’s basic computational unit.</a:t>
            </a:r>
          </a:p>
          <a:p>
            <a:endParaRPr lang="en-US" sz="2000">
              <a:latin typeface="+mn-lt"/>
            </a:endParaRPr>
          </a:p>
          <a:p>
            <a:endParaRPr lang="en-US" sz="2000">
              <a:latin typeface="+mn-lt"/>
            </a:endParaRPr>
          </a:p>
          <a:p>
            <a:endParaRPr lang="en-US" sz="2000">
              <a:latin typeface="+mn-lt"/>
            </a:endParaRPr>
          </a:p>
          <a:p>
            <a:endParaRPr lang="en-US" sz="2000">
              <a:latin typeface="+mn-lt"/>
            </a:endParaRPr>
          </a:p>
          <a:p>
            <a:endParaRPr lang="en-US" sz="2000">
              <a:latin typeface="+mn-lt"/>
            </a:endParaRPr>
          </a:p>
          <a:p>
            <a:endParaRPr lang="en-US" sz="2000">
              <a:latin typeface="+mn-lt"/>
            </a:endParaRPr>
          </a:p>
          <a:p>
            <a:endParaRPr lang="en-US" sz="2000">
              <a:latin typeface="+mn-lt"/>
            </a:endParaRPr>
          </a:p>
          <a:p>
            <a:endParaRPr lang="en-US" sz="2000">
              <a:latin typeface="+mn-lt"/>
            </a:endParaRPr>
          </a:p>
          <a:p>
            <a:r>
              <a:rPr lang="en-US" sz="2000">
                <a:latin typeface="+mn-lt"/>
              </a:rPr>
              <a:t>Dendrites receive signals from other neurons</a:t>
            </a:r>
          </a:p>
          <a:p>
            <a:r>
              <a:rPr lang="en-US" sz="2000">
                <a:latin typeface="+mn-lt"/>
              </a:rPr>
              <a:t>The cell body integrates (adds up) incoming signals</a:t>
            </a:r>
          </a:p>
          <a:p>
            <a:r>
              <a:rPr lang="en-US" sz="2000">
                <a:latin typeface="+mn-lt"/>
              </a:rPr>
              <a:t>If the signal exceeds a threshold, the axon fires an output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87D7D-3D0A-CAB9-5EE0-D7F19889C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7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623811F4-CF8B-BED4-4AE6-004B7EEFAA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28CFE2-A702-ED5D-773A-F2BF8893914F}"/>
              </a:ext>
            </a:extLst>
          </p:cNvPr>
          <p:cNvSpPr txBox="1"/>
          <p:nvPr/>
        </p:nvSpPr>
        <p:spPr>
          <a:xfrm>
            <a:off x="7732828" y="6611255"/>
            <a:ext cx="51592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bg2">
                    <a:lumMod val="75000"/>
                  </a:schemeClr>
                </a:solidFill>
              </a:rPr>
              <a:t>https://www.cs.toronto.edu/~urtasun/courses/CSC411_Fall16/10_nn1.pdf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F7E8931-25E5-6785-4BEF-6C494F0BB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9949" y="2013283"/>
            <a:ext cx="6742202" cy="2880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8AD4A65-ED90-8C8A-AF3D-ED4B7FE74EE4}"/>
              </a:ext>
            </a:extLst>
          </p:cNvPr>
          <p:cNvGrpSpPr/>
          <p:nvPr/>
        </p:nvGrpSpPr>
        <p:grpSpPr>
          <a:xfrm>
            <a:off x="8563087" y="5304151"/>
            <a:ext cx="2743200" cy="1188720"/>
            <a:chOff x="8778240" y="4617720"/>
            <a:chExt cx="2743200" cy="1188720"/>
          </a:xfrm>
        </p:grpSpPr>
        <p:sp>
          <p:nvSpPr>
            <p:cNvPr id="9" name="Shape 3">
              <a:extLst>
                <a:ext uri="{FF2B5EF4-FFF2-40B4-BE49-F238E27FC236}">
                  <a16:creationId xmlns:a16="http://schemas.microsoft.com/office/drawing/2014/main" id="{EFB912C5-66AD-6EC7-EAAD-DEACC3613A51}"/>
                </a:ext>
              </a:extLst>
            </p:cNvPr>
            <p:cNvSpPr/>
            <p:nvPr/>
          </p:nvSpPr>
          <p:spPr>
            <a:xfrm>
              <a:off x="8778240" y="4617720"/>
              <a:ext cx="2743200" cy="1188720"/>
            </a:xfrm>
            <a:prstGeom prst="roundRect">
              <a:avLst>
                <a:gd name="adj" fmla="val 7692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4">
              <a:extLst>
                <a:ext uri="{FF2B5EF4-FFF2-40B4-BE49-F238E27FC236}">
                  <a16:creationId xmlns:a16="http://schemas.microsoft.com/office/drawing/2014/main" id="{018349F2-B180-FF9C-4D13-DD7F65F9B8B1}"/>
                </a:ext>
              </a:extLst>
            </p:cNvPr>
            <p:cNvSpPr txBox="1"/>
            <p:nvPr/>
          </p:nvSpPr>
          <p:spPr>
            <a:xfrm>
              <a:off x="8915400" y="4709160"/>
              <a:ext cx="246888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~86 billion neurons in the human brain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1492215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84B060-29EF-C645-C8EB-7BF88B993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3163C-4985-D9E7-5010-494D9295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Artificial Neuron (Perceptron)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CB35392-1252-9076-3F58-8BD02E9AD4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282549"/>
            <a:ext cx="11677545" cy="5292545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latin typeface="+mn-lt"/>
              </a:rPr>
              <a:t>Rosenblatt, 1958</a:t>
            </a:r>
          </a:p>
          <a:p>
            <a:pPr marL="0" indent="0">
              <a:buNone/>
            </a:pPr>
            <a:endParaRPr lang="en-US" sz="2000" dirty="0">
              <a:latin typeface="+mn-lt"/>
            </a:endParaRPr>
          </a:p>
          <a:p>
            <a:r>
              <a:rPr lang="en-US" sz="20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decision-maker</a:t>
            </a:r>
            <a:r>
              <a:rPr lang="en-US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weighs multiple factors, combines the evidence, and then fires a </a:t>
            </a:r>
            <a:r>
              <a:rPr lang="en-US" sz="2000" b="1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</a:t>
            </a:r>
            <a:r>
              <a:rPr lang="en-US" sz="2000" i="1" dirty="0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a threshold.</a:t>
            </a:r>
            <a:endParaRPr lang="en-US" sz="2000" dirty="0"/>
          </a:p>
          <a:p>
            <a:pPr marL="0" indent="0">
              <a:buNone/>
            </a:pPr>
            <a:endParaRPr lang="en-US" sz="2000" dirty="0">
              <a:latin typeface="+mn-lt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0D82AD-98AC-26DB-8E8D-1652D831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8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95F9E34E-7C15-222B-F382-5688CE0097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Picture 2" descr="Perceptron Learning Algorithm | SONAR Data Classification ...">
            <a:extLst>
              <a:ext uri="{FF2B5EF4-FFF2-40B4-BE49-F238E27FC236}">
                <a16:creationId xmlns:a16="http://schemas.microsoft.com/office/drawing/2014/main" id="{58D63CFB-FF92-4788-F50F-AEA35A1F6E0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91"/>
          <a:stretch/>
        </p:blipFill>
        <p:spPr bwMode="auto">
          <a:xfrm>
            <a:off x="2375665" y="2576508"/>
            <a:ext cx="5656708" cy="25739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437DBD9F-0DF1-4822-9FFB-2491492D641C}"/>
              </a:ext>
            </a:extLst>
          </p:cNvPr>
          <p:cNvGrpSpPr/>
          <p:nvPr/>
        </p:nvGrpSpPr>
        <p:grpSpPr>
          <a:xfrm>
            <a:off x="502920" y="5421538"/>
            <a:ext cx="10881360" cy="1424645"/>
            <a:chOff x="640080" y="4691637"/>
            <a:chExt cx="10881360" cy="1424645"/>
          </a:xfrm>
        </p:grpSpPr>
        <p:sp>
          <p:nvSpPr>
            <p:cNvPr id="14" name="Shape 22">
              <a:extLst>
                <a:ext uri="{FF2B5EF4-FFF2-40B4-BE49-F238E27FC236}">
                  <a16:creationId xmlns:a16="http://schemas.microsoft.com/office/drawing/2014/main" id="{2ACC1B57-A2CD-6494-DD7E-1F252AF6B805}"/>
                </a:ext>
              </a:extLst>
            </p:cNvPr>
            <p:cNvSpPr/>
            <p:nvPr/>
          </p:nvSpPr>
          <p:spPr>
            <a:xfrm>
              <a:off x="640080" y="4691637"/>
              <a:ext cx="10881360" cy="1424645"/>
            </a:xfrm>
            <a:prstGeom prst="roundRect">
              <a:avLst>
                <a:gd name="adj" fmla="val 8889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23">
              <a:extLst>
                <a:ext uri="{FF2B5EF4-FFF2-40B4-BE49-F238E27FC236}">
                  <a16:creationId xmlns:a16="http://schemas.microsoft.com/office/drawing/2014/main" id="{81DE5822-A27E-C431-B95E-8E1D3035D87C}"/>
                </a:ext>
              </a:extLst>
            </p:cNvPr>
            <p:cNvSpPr txBox="1"/>
            <p:nvPr/>
          </p:nvSpPr>
          <p:spPr>
            <a:xfrm>
              <a:off x="914400" y="4943421"/>
              <a:ext cx="10332720" cy="9544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Biological → artificial:  </a:t>
              </a:r>
            </a:p>
            <a:p>
              <a:pPr lvl="1"/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dendrites 		= inputs </a:t>
              </a:r>
            </a:p>
            <a:p>
              <a:pPr lvl="1"/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synaptic strength 	= weights</a:t>
              </a:r>
            </a:p>
            <a:p>
              <a:pPr lvl="1"/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cell body 		= summation</a:t>
              </a:r>
            </a:p>
            <a:p>
              <a:pPr lvl="1"/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axon 		= output.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35225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FC7DC-0B1B-942B-DA95-12B9E7D51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5F262-A1E2-D0B3-E679-D602F3E42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Perceptron's Fatal Flaw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2E2B88-561D-52AA-C01F-DFE73CEAED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 single perceptron can’t learn patterns that aren’t linearly separable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08420-F7EB-F162-1CD0-D5A686A14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9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8FF1423B-1E2E-8418-0BF0-BE7324FF03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4DA9C17-0A26-B978-A521-9DC9E2A87F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549313" y="2750174"/>
            <a:ext cx="3635790" cy="30540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6499150-143E-5C85-7B13-FF6D16D36F3D}"/>
              </a:ext>
            </a:extLst>
          </p:cNvPr>
          <p:cNvGrpSpPr/>
          <p:nvPr/>
        </p:nvGrpSpPr>
        <p:grpSpPr>
          <a:xfrm>
            <a:off x="4846320" y="3044903"/>
            <a:ext cx="6675120" cy="3200400"/>
            <a:chOff x="4846320" y="1920240"/>
            <a:chExt cx="6675120" cy="3200400"/>
          </a:xfrm>
        </p:grpSpPr>
        <p:sp>
          <p:nvSpPr>
            <p:cNvPr id="13" name="Shape 8">
              <a:extLst>
                <a:ext uri="{FF2B5EF4-FFF2-40B4-BE49-F238E27FC236}">
                  <a16:creationId xmlns:a16="http://schemas.microsoft.com/office/drawing/2014/main" id="{D51F9BC5-326D-43C8-0F0C-4E6849D2F0AE}"/>
                </a:ext>
              </a:extLst>
            </p:cNvPr>
            <p:cNvSpPr/>
            <p:nvPr/>
          </p:nvSpPr>
          <p:spPr>
            <a:xfrm>
              <a:off x="4846320" y="1920240"/>
              <a:ext cx="6675120" cy="1463040"/>
            </a:xfrm>
            <a:prstGeom prst="roundRect">
              <a:avLst>
                <a:gd name="adj" fmla="val 6250"/>
              </a:avLst>
            </a:prstGeom>
            <a:solidFill>
              <a:srgbClr val="FBE9EC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A48FCFE4-BD37-AAD6-5404-5B8D2F8DC7F6}"/>
                </a:ext>
              </a:extLst>
            </p:cNvPr>
            <p:cNvSpPr txBox="1"/>
            <p:nvPr/>
          </p:nvSpPr>
          <p:spPr>
            <a:xfrm>
              <a:off x="5120640" y="2011680"/>
              <a:ext cx="612648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 single straight line can separate the green points from the red points.</a:t>
              </a:r>
              <a:endParaRPr lang="en-US" sz="2000"/>
            </a:p>
          </p:txBody>
        </p:sp>
        <p:sp>
          <p:nvSpPr>
            <p:cNvPr id="15" name="Shape 10">
              <a:extLst>
                <a:ext uri="{FF2B5EF4-FFF2-40B4-BE49-F238E27FC236}">
                  <a16:creationId xmlns:a16="http://schemas.microsoft.com/office/drawing/2014/main" id="{BE6C9135-9B3C-308A-B575-063E8440AE5C}"/>
                </a:ext>
              </a:extLst>
            </p:cNvPr>
            <p:cNvSpPr/>
            <p:nvPr/>
          </p:nvSpPr>
          <p:spPr>
            <a:xfrm>
              <a:off x="4846320" y="3657600"/>
              <a:ext cx="6675120" cy="1463040"/>
            </a:xfrm>
            <a:prstGeom prst="roundRect">
              <a:avLst>
                <a:gd name="adj" fmla="val 6250"/>
              </a:avLst>
            </a:prstGeom>
            <a:solidFill>
              <a:srgbClr val="E7EFE7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1">
              <a:extLst>
                <a:ext uri="{FF2B5EF4-FFF2-40B4-BE49-F238E27FC236}">
                  <a16:creationId xmlns:a16="http://schemas.microsoft.com/office/drawing/2014/main" id="{B22CACA7-A581-98AC-41CD-D7B176450791}"/>
                </a:ext>
              </a:extLst>
            </p:cNvPr>
            <p:cNvSpPr txBox="1"/>
            <p:nvPr/>
          </p:nvSpPr>
          <p:spPr>
            <a:xfrm>
              <a:off x="5120640" y="3749040"/>
              <a:ext cx="6126480" cy="1280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Solution: stack multiple layers of neurons → the Multi-Layer Perceptron.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4264179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47218-1CF9-CE5B-E137-1A5FAD802A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15761-2157-26C9-CEB7-74D753E7D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Multi-Layer Perceptron (MLP)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3AA499A-D223-89BE-0319-0384F41BA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6065"/>
            <a:ext cx="11277600" cy="5292545"/>
          </a:xfrm>
        </p:spPr>
        <p:txBody>
          <a:bodyPr/>
          <a:lstStyle/>
          <a:p>
            <a:pPr marL="0" indent="0">
              <a:buNone/>
            </a:pPr>
            <a:r>
              <a:rPr lang="en-US" sz="2000">
                <a:latin typeface="+mn-lt"/>
              </a:rPr>
              <a:t>Connect many neurons in layers to solve complex problems.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A947C-9CA5-C983-770E-4AF1D291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10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668BCB8C-7F80-5101-C6C7-7DEC549D781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D1DBBD75-6E88-BF7B-CBFB-628E3E04C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48" b="5518"/>
          <a:stretch>
            <a:fillRect/>
          </a:stretch>
        </p:blipFill>
        <p:spPr bwMode="auto">
          <a:xfrm>
            <a:off x="1897258" y="1934195"/>
            <a:ext cx="6662823" cy="3611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D449BAD-5689-FAC9-AB87-0C8C52A4A618}"/>
              </a:ext>
            </a:extLst>
          </p:cNvPr>
          <p:cNvGrpSpPr/>
          <p:nvPr/>
        </p:nvGrpSpPr>
        <p:grpSpPr>
          <a:xfrm>
            <a:off x="591182" y="5761351"/>
            <a:ext cx="10881360" cy="731520"/>
            <a:chOff x="640080" y="5577840"/>
            <a:chExt cx="10881360" cy="731520"/>
          </a:xfrm>
        </p:grpSpPr>
        <p:sp>
          <p:nvSpPr>
            <p:cNvPr id="11" name="Shape 39">
              <a:extLst>
                <a:ext uri="{FF2B5EF4-FFF2-40B4-BE49-F238E27FC236}">
                  <a16:creationId xmlns:a16="http://schemas.microsoft.com/office/drawing/2014/main" id="{DAB1F03F-35AF-D738-F61A-4CA2B2B5E135}"/>
                </a:ext>
              </a:extLst>
            </p:cNvPr>
            <p:cNvSpPr/>
            <p:nvPr/>
          </p:nvSpPr>
          <p:spPr>
            <a:xfrm>
              <a:off x="640080" y="5577840"/>
              <a:ext cx="10881360" cy="731520"/>
            </a:xfrm>
            <a:prstGeom prst="roundRect">
              <a:avLst>
                <a:gd name="adj" fmla="val 100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40">
              <a:extLst>
                <a:ext uri="{FF2B5EF4-FFF2-40B4-BE49-F238E27FC236}">
                  <a16:creationId xmlns:a16="http://schemas.microsoft.com/office/drawing/2014/main" id="{B80973C0-FFEA-3459-9E10-16CEDCE089BF}"/>
                </a:ext>
              </a:extLst>
            </p:cNvPr>
            <p:cNvSpPr txBox="1"/>
            <p:nvPr/>
          </p:nvSpPr>
          <p:spPr>
            <a:xfrm>
              <a:off x="914400" y="5623560"/>
              <a:ext cx="103327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i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Like a team solving a complex problem — each member contributes specialized analysis.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1570305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5D2ED2-FB4B-6808-5F9F-BB92CDE61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3AC7C-6B08-85D0-87C9-91707C6C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Neural Network Terminology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4198DF-A4F3-7B90-2AB7-8189C1A41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11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56140643-EE2A-1254-CE99-B26A1B5BB0C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698506F3-748E-DCA9-23A7-D28B46FAFF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8920422"/>
              </p:ext>
            </p:extLst>
          </p:nvPr>
        </p:nvGraphicFramePr>
        <p:xfrm>
          <a:off x="589561" y="1676400"/>
          <a:ext cx="10881360" cy="19050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neurons per layer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Depth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layers in the network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weights and biases — the learnable values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extra adjustable value added at each neuron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 1">
            <a:extLst>
              <a:ext uri="{FF2B5EF4-FFF2-40B4-BE49-F238E27FC236}">
                <a16:creationId xmlns:a16="http://schemas.microsoft.com/office/drawing/2014/main" id="{41C0C053-D63A-BFB0-0403-4D0DF7819B96}"/>
              </a:ext>
            </a:extLst>
          </p:cNvPr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parameters = more capacity to learn complex patterns—but also more data required</a:t>
            </a:r>
            <a:r>
              <a:rPr lang="en-US" sz="1600" i="1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640221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4D133-B829-1E3B-B73A-17EE67B64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B0DA0-7E48-ABEE-702D-CE5DF8F73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Power of Neural Networks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48FBDCB-A1A6-AAFB-3485-EB27AC894C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6065"/>
            <a:ext cx="11277600" cy="529254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i="1">
                <a:latin typeface="+mn-lt"/>
              </a:rPr>
              <a:t>Multilayer networks learn complex, non-linear decision boundaries — curves, not just straight lines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E39CC2-D0F4-D340-BD32-2D057A53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12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1D1CD742-F10B-4E0A-70A8-6CBB68EB896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6" name="Picture 2" descr="Significance of non linearity in machine learning and deep learning">
            <a:extLst>
              <a:ext uri="{FF2B5EF4-FFF2-40B4-BE49-F238E27FC236}">
                <a16:creationId xmlns:a16="http://schemas.microsoft.com/office/drawing/2014/main" id="{836C4F00-4701-4AC4-87F4-319EC46776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5688" y="1876370"/>
            <a:ext cx="5902855" cy="246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112BE0C-C44A-5EB5-27C6-AB3F0A45D02F}"/>
              </a:ext>
            </a:extLst>
          </p:cNvPr>
          <p:cNvSpPr txBox="1"/>
          <p:nvPr/>
        </p:nvSpPr>
        <p:spPr>
          <a:xfrm>
            <a:off x="8033457" y="6624803"/>
            <a:ext cx="283068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https://share.google/images/F2MofAUu4Gg579cat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6B90E28-CF14-8435-464C-F0AFAC0D9658}"/>
              </a:ext>
            </a:extLst>
          </p:cNvPr>
          <p:cNvGrpSpPr/>
          <p:nvPr/>
        </p:nvGrpSpPr>
        <p:grpSpPr>
          <a:xfrm>
            <a:off x="345386" y="4539542"/>
            <a:ext cx="9137644" cy="2136049"/>
            <a:chOff x="808289" y="1789557"/>
            <a:chExt cx="9137644" cy="2606040"/>
          </a:xfrm>
        </p:grpSpPr>
        <p:sp>
          <p:nvSpPr>
            <p:cNvPr id="21" name="Shape 1">
              <a:extLst>
                <a:ext uri="{FF2B5EF4-FFF2-40B4-BE49-F238E27FC236}">
                  <a16:creationId xmlns:a16="http://schemas.microsoft.com/office/drawing/2014/main" id="{75F53B8C-8DAB-656E-B4ED-9537603BA7EC}"/>
                </a:ext>
              </a:extLst>
            </p:cNvPr>
            <p:cNvSpPr/>
            <p:nvPr/>
          </p:nvSpPr>
          <p:spPr>
            <a:xfrm>
              <a:off x="808289" y="1789557"/>
              <a:ext cx="9093635" cy="1371600"/>
            </a:xfrm>
            <a:prstGeom prst="roundRect">
              <a:avLst>
                <a:gd name="adj" fmla="val 6667"/>
              </a:avLst>
            </a:prstGeom>
            <a:solidFill>
              <a:srgbClr val="E7EFE7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 2">
              <a:extLst>
                <a:ext uri="{FF2B5EF4-FFF2-40B4-BE49-F238E27FC236}">
                  <a16:creationId xmlns:a16="http://schemas.microsoft.com/office/drawing/2014/main" id="{DBA4B64C-6F5A-3DAE-F1A6-C17C7E860EF3}"/>
                </a:ext>
              </a:extLst>
            </p:cNvPr>
            <p:cNvSpPr txBox="1"/>
            <p:nvPr/>
          </p:nvSpPr>
          <p:spPr>
            <a:xfrm>
              <a:off x="1045515" y="1789557"/>
              <a:ext cx="8698259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 b="1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Universal Approximation Theorem</a:t>
              </a:r>
              <a:endParaRPr lang="en-US" sz="1800"/>
            </a:p>
          </p:txBody>
        </p:sp>
        <p:sp>
          <p:nvSpPr>
            <p:cNvPr id="23" name="Text 3">
              <a:extLst>
                <a:ext uri="{FF2B5EF4-FFF2-40B4-BE49-F238E27FC236}">
                  <a16:creationId xmlns:a16="http://schemas.microsoft.com/office/drawing/2014/main" id="{AFF688B7-83C0-7A24-0D9E-D38E9F9D72D5}"/>
                </a:ext>
              </a:extLst>
            </p:cNvPr>
            <p:cNvSpPr txBox="1"/>
            <p:nvPr/>
          </p:nvSpPr>
          <p:spPr>
            <a:xfrm>
              <a:off x="1045515" y="2246757"/>
              <a:ext cx="8698259" cy="685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8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Given enough neurons, a neural network can learn ANY pattern in your data.</a:t>
              </a:r>
              <a:endParaRPr lang="en-US" sz="1800"/>
            </a:p>
          </p:txBody>
        </p:sp>
        <p:sp>
          <p:nvSpPr>
            <p:cNvPr id="24" name="Shape 4">
              <a:extLst>
                <a:ext uri="{FF2B5EF4-FFF2-40B4-BE49-F238E27FC236}">
                  <a16:creationId xmlns:a16="http://schemas.microsoft.com/office/drawing/2014/main" id="{D4523EE0-D5F3-527B-668F-D2304C5DF081}"/>
                </a:ext>
              </a:extLst>
            </p:cNvPr>
            <p:cNvSpPr/>
            <p:nvPr/>
          </p:nvSpPr>
          <p:spPr>
            <a:xfrm>
              <a:off x="808290" y="3298317"/>
              <a:ext cx="9093635" cy="1097280"/>
            </a:xfrm>
            <a:prstGeom prst="roundRect">
              <a:avLst>
                <a:gd name="adj" fmla="val 8333"/>
              </a:avLst>
            </a:prstGeom>
            <a:solidFill>
              <a:srgbClr val="FBE9EC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5">
              <a:extLst>
                <a:ext uri="{FF2B5EF4-FFF2-40B4-BE49-F238E27FC236}">
                  <a16:creationId xmlns:a16="http://schemas.microsoft.com/office/drawing/2014/main" id="{8AF76E5C-CD0B-CAFB-7A47-7E849585F3E4}"/>
                </a:ext>
              </a:extLst>
            </p:cNvPr>
            <p:cNvSpPr txBox="1"/>
            <p:nvPr/>
          </p:nvSpPr>
          <p:spPr>
            <a:xfrm>
              <a:off x="1045514" y="3389757"/>
              <a:ext cx="8900419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Caveat:  </a:t>
              </a: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just because a solution EXISTS doesn’t mean it’s easy to FIND. Training is the hard part</a:t>
              </a:r>
              <a:r>
                <a:rPr lang="en-US" sz="17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700"/>
            </a:p>
          </p:txBody>
        </p:sp>
      </p:grpSp>
    </p:spTree>
    <p:extLst>
      <p:ext uri="{BB962C8B-B14F-4D97-AF65-F5344CB8AC3E}">
        <p14:creationId xmlns:p14="http://schemas.microsoft.com/office/powerpoint/2010/main" val="11042293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0C1B4-4865-19F1-FFD2-5B712621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B6812-A6E4-97CD-221B-7D2BE7F6E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Activation Functions: Adding Nonlinearity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A81BC848-2EC5-0EEF-1866-0E8F3E748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Without activation functions, stacked layers would collapse into a single linear transformation.</a:t>
            </a:r>
          </a:p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29217D-5376-92B3-E7BD-8C3B9995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13</a:t>
            </a:fld>
            <a:endParaRPr lang="en-US"/>
          </a:p>
        </p:txBody>
      </p:sp>
      <p:sp>
        <p:nvSpPr>
          <p:cNvPr id="7" name="AutoShape 7" descr="How has Facebook modeled its social graph? - Quora">
            <a:extLst>
              <a:ext uri="{FF2B5EF4-FFF2-40B4-BE49-F238E27FC236}">
                <a16:creationId xmlns:a16="http://schemas.microsoft.com/office/drawing/2014/main" id="{39924099-AE43-17CC-B50D-7BEC27C8220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15C8006-5A01-4100-016D-E24477CBB2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724" y="3581401"/>
            <a:ext cx="10286641" cy="3011372"/>
          </a:xfrm>
          <a:prstGeom prst="rect">
            <a:avLst/>
          </a:prstGeom>
        </p:spPr>
      </p:pic>
      <p:graphicFrame>
        <p:nvGraphicFramePr>
          <p:cNvPr id="21" name="Table 0">
            <a:extLst>
              <a:ext uri="{FF2B5EF4-FFF2-40B4-BE49-F238E27FC236}">
                <a16:creationId xmlns:a16="http://schemas.microsoft.com/office/drawing/2014/main" id="{221A737D-71AA-6405-3C23-F87D7DABDC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206468"/>
              </p:ext>
            </p:extLst>
          </p:nvPr>
        </p:nvGraphicFramePr>
        <p:xfrm>
          <a:off x="547173" y="1996440"/>
          <a:ext cx="9833955" cy="1402080"/>
        </p:xfrm>
        <a:graphic>
          <a:graphicData uri="http://schemas.openxmlformats.org/drawingml/2006/table">
            <a:tbl>
              <a:tblPr/>
              <a:tblGrid>
                <a:gridCol w="2148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58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27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Squashes values to 0–1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Probabilities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ReLU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 for negatives, linear above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layers (fast)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scores into probabilities that sum to 1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Multi-class output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1678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360AA1-7583-70E0-F295-8CBD80D51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Softmax</a:t>
            </a:r>
            <a:r>
              <a:rPr lang="en-US"/>
              <a:t>: From Scores to Probabilities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0EE70BF-7D81-810C-B9F2-F531585ED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Converting raw network outputs into interpretable probabilities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77644FE-E1BD-52BC-14B6-022FF9833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14</a:t>
            </a:fld>
            <a:endParaRPr lang="en-US"/>
          </a:p>
        </p:txBody>
      </p:sp>
      <p:pic>
        <p:nvPicPr>
          <p:cNvPr id="40" name="Picture 2">
            <a:extLst>
              <a:ext uri="{FF2B5EF4-FFF2-40B4-BE49-F238E27FC236}">
                <a16:creationId xmlns:a16="http://schemas.microsoft.com/office/drawing/2014/main" id="{5C5A21C7-F3F7-41BC-99CB-9F1EBA768D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779" r="81910" b="16976"/>
          <a:stretch>
            <a:fillRect/>
          </a:stretch>
        </p:blipFill>
        <p:spPr bwMode="auto">
          <a:xfrm>
            <a:off x="7912278" y="1773649"/>
            <a:ext cx="3050418" cy="209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Text 2">
            <a:extLst>
              <a:ext uri="{FF2B5EF4-FFF2-40B4-BE49-F238E27FC236}">
                <a16:creationId xmlns:a16="http://schemas.microsoft.com/office/drawing/2014/main" id="{F143C334-E1FE-3DEE-1F6C-F2B0A49D84A7}"/>
              </a:ext>
            </a:extLst>
          </p:cNvPr>
          <p:cNvSpPr txBox="1"/>
          <p:nvPr/>
        </p:nvSpPr>
        <p:spPr>
          <a:xfrm>
            <a:off x="640080" y="3246120"/>
            <a:ext cx="545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example — image classification:</a:t>
            </a:r>
            <a:endParaRPr lang="en-US" sz="2000"/>
          </a:p>
        </p:txBody>
      </p:sp>
      <p:graphicFrame>
        <p:nvGraphicFramePr>
          <p:cNvPr id="48" name="Table 1">
            <a:extLst>
              <a:ext uri="{FF2B5EF4-FFF2-40B4-BE49-F238E27FC236}">
                <a16:creationId xmlns:a16="http://schemas.microsoft.com/office/drawing/2014/main" id="{C2473A08-981D-C442-9EB6-CEED1AE44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9853061"/>
              </p:ext>
            </p:extLst>
          </p:nvPr>
        </p:nvGraphicFramePr>
        <p:xfrm>
          <a:off x="640080" y="3717745"/>
          <a:ext cx="5892746" cy="1905000"/>
        </p:xfrm>
        <a:graphic>
          <a:graphicData uri="http://schemas.openxmlformats.org/drawingml/2006/table">
            <a:tbl>
              <a:tblPr/>
              <a:tblGrid>
                <a:gridCol w="1583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40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56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 score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Probability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Dog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77.5%  ✓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11.6%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Horse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3.9%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Cheetah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7.0%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0" name="Shape 3">
            <a:extLst>
              <a:ext uri="{FF2B5EF4-FFF2-40B4-BE49-F238E27FC236}">
                <a16:creationId xmlns:a16="http://schemas.microsoft.com/office/drawing/2014/main" id="{9B4A1CFA-18CA-FDA8-708E-6C9E7009D968}"/>
              </a:ext>
            </a:extLst>
          </p:cNvPr>
          <p:cNvSpPr/>
          <p:nvPr/>
        </p:nvSpPr>
        <p:spPr>
          <a:xfrm>
            <a:off x="7634422" y="4150084"/>
            <a:ext cx="3561204" cy="1737360"/>
          </a:xfrm>
          <a:prstGeom prst="roundRect">
            <a:avLst>
              <a:gd name="adj" fmla="val 5263"/>
            </a:avLst>
          </a:prstGeom>
          <a:solidFill>
            <a:srgbClr val="F1F4F9"/>
          </a:solidFill>
          <a:ln w="12700">
            <a:solidFill>
              <a:srgbClr val="C9D2E0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2" name="Text 4">
            <a:extLst>
              <a:ext uri="{FF2B5EF4-FFF2-40B4-BE49-F238E27FC236}">
                <a16:creationId xmlns:a16="http://schemas.microsoft.com/office/drawing/2014/main" id="{A5E0C0A2-607F-E8FB-802D-088977F4DF02}"/>
              </a:ext>
            </a:extLst>
          </p:cNvPr>
          <p:cNvSpPr txBox="1"/>
          <p:nvPr/>
        </p:nvSpPr>
        <p:spPr>
          <a:xfrm>
            <a:off x="7992687" y="4271742"/>
            <a:ext cx="284467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probabilities sum to 100% — the network is “most confident” it’s a dog.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5812738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CFC88-0344-E19D-410C-E2ED03DAB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1D63B0-A82D-2F2F-B856-2E8EBDB73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Part 2: </a:t>
            </a:r>
            <a:r>
              <a:rPr lang="en-US" sz="4400"/>
              <a:t>How Neural Network Learn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F93228-E84B-D737-AEDC-878907849A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</a:rPr>
              <a:t>How does a network with millions of connections learn from its mistakes?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EA62E6-96D9-0CCF-AEB5-D98113378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128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1E8E8-B144-2927-A4E4-6CA1FAE5F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6D6AD81-114D-0B16-FFA0-F368687C6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Training Works: The Cycle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C4F4B1-3C96-10C7-65FB-EA352E74D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16</a:t>
            </a:fld>
            <a:endParaRPr lang="en-US"/>
          </a:p>
        </p:txBody>
      </p:sp>
      <p:sp>
        <p:nvSpPr>
          <p:cNvPr id="5" name="Rounded Rectangle 2">
            <a:extLst>
              <a:ext uri="{FF2B5EF4-FFF2-40B4-BE49-F238E27FC236}">
                <a16:creationId xmlns:a16="http://schemas.microsoft.com/office/drawing/2014/main" id="{F0106050-BD98-3B70-BB88-355568184871}"/>
              </a:ext>
            </a:extLst>
          </p:cNvPr>
          <p:cNvSpPr/>
          <p:nvPr/>
        </p:nvSpPr>
        <p:spPr>
          <a:xfrm>
            <a:off x="4998718" y="1308822"/>
            <a:ext cx="2194560" cy="1033599"/>
          </a:xfrm>
          <a:prstGeom prst="roundRect">
            <a:avLst/>
          </a:prstGeom>
          <a:solidFill>
            <a:srgbClr val="4A9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F45A5D-32F8-79BE-0663-F2E88AD22BDF}"/>
              </a:ext>
            </a:extLst>
          </p:cNvPr>
          <p:cNvSpPr txBox="1"/>
          <p:nvPr/>
        </p:nvSpPr>
        <p:spPr>
          <a:xfrm>
            <a:off x="4998720" y="1443544"/>
            <a:ext cx="2194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Helvetica Neue"/>
              </a:defRPr>
            </a:pPr>
            <a:r>
              <a:rPr sz="2000"/>
              <a:t>1. Forward Pass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3024D-79EE-0E1F-1A76-054D28586295}"/>
              </a:ext>
            </a:extLst>
          </p:cNvPr>
          <p:cNvSpPr txBox="1"/>
          <p:nvPr/>
        </p:nvSpPr>
        <p:spPr>
          <a:xfrm>
            <a:off x="4724400" y="1869143"/>
            <a:ext cx="2743200" cy="33855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Helvetica Neue Light"/>
              </a:defRPr>
            </a:pPr>
            <a:r>
              <a:rPr sz="1600"/>
              <a:t>Input → Prediction</a:t>
            </a: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F9B6607E-044A-6BB3-EE5F-81C89C984BCA}"/>
              </a:ext>
            </a:extLst>
          </p:cNvPr>
          <p:cNvSpPr/>
          <p:nvPr/>
        </p:nvSpPr>
        <p:spPr>
          <a:xfrm>
            <a:off x="7467600" y="3024343"/>
            <a:ext cx="2194560" cy="1033599"/>
          </a:xfrm>
          <a:prstGeom prst="roundRect">
            <a:avLst/>
          </a:prstGeom>
          <a:solidFill>
            <a:srgbClr val="C95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943755-0849-D9AB-93F2-9B6314507D9A}"/>
              </a:ext>
            </a:extLst>
          </p:cNvPr>
          <p:cNvSpPr txBox="1"/>
          <p:nvPr/>
        </p:nvSpPr>
        <p:spPr>
          <a:xfrm>
            <a:off x="7467600" y="3145942"/>
            <a:ext cx="21945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Helvetica Neue"/>
              </a:defRPr>
            </a:pPr>
            <a:r>
              <a:rPr sz="2000"/>
              <a:t>2. Calculate Loss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12C7AE-1C54-4784-DB85-830284834B20}"/>
              </a:ext>
            </a:extLst>
          </p:cNvPr>
          <p:cNvSpPr txBox="1"/>
          <p:nvPr/>
        </p:nvSpPr>
        <p:spPr>
          <a:xfrm>
            <a:off x="7193280" y="3571542"/>
            <a:ext cx="284254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Helvetica Neue Light"/>
              </a:defRPr>
            </a:pPr>
            <a:r>
              <a:rPr sz="1600"/>
              <a:t>How wrong?</a:t>
            </a:r>
          </a:p>
        </p:txBody>
      </p:sp>
      <p:sp>
        <p:nvSpPr>
          <p:cNvPr id="11" name="Rounded Rectangle 8">
            <a:extLst>
              <a:ext uri="{FF2B5EF4-FFF2-40B4-BE49-F238E27FC236}">
                <a16:creationId xmlns:a16="http://schemas.microsoft.com/office/drawing/2014/main" id="{7CD45A6E-1347-F9A5-5BE4-3208BCC5486F}"/>
              </a:ext>
            </a:extLst>
          </p:cNvPr>
          <p:cNvSpPr/>
          <p:nvPr/>
        </p:nvSpPr>
        <p:spPr>
          <a:xfrm>
            <a:off x="4998720" y="4726741"/>
            <a:ext cx="2194560" cy="1033599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70A0D6-E8B6-69D2-5819-9675755E2A46}"/>
              </a:ext>
            </a:extLst>
          </p:cNvPr>
          <p:cNvSpPr txBox="1"/>
          <p:nvPr/>
        </p:nvSpPr>
        <p:spPr>
          <a:xfrm>
            <a:off x="4907280" y="4848341"/>
            <a:ext cx="2286001" cy="40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Helvetica Neue"/>
              </a:defRPr>
            </a:pPr>
            <a:r>
              <a:rPr sz="2000"/>
              <a:t>3. Backward Pass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EA144F-9CFC-4436-03EF-3A755F37ACDE}"/>
              </a:ext>
            </a:extLst>
          </p:cNvPr>
          <p:cNvSpPr txBox="1"/>
          <p:nvPr/>
        </p:nvSpPr>
        <p:spPr>
          <a:xfrm>
            <a:off x="4907280" y="5273940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Helvetica Neue Light"/>
              </a:defRPr>
            </a:pPr>
            <a:r>
              <a:rPr sz="1600"/>
              <a:t>Find the blame</a:t>
            </a: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1BDEFAA7-311C-BD49-998D-386FAC4C10D0}"/>
              </a:ext>
            </a:extLst>
          </p:cNvPr>
          <p:cNvSpPr/>
          <p:nvPr/>
        </p:nvSpPr>
        <p:spPr>
          <a:xfrm>
            <a:off x="2529840" y="3024343"/>
            <a:ext cx="2194560" cy="1033599"/>
          </a:xfrm>
          <a:prstGeom prst="roundRect">
            <a:avLst/>
          </a:prstGeom>
          <a:solidFill>
            <a:srgbClr val="2D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8565B0-5648-AFE1-A60A-B11FEA868EE3}"/>
              </a:ext>
            </a:extLst>
          </p:cNvPr>
          <p:cNvSpPr txBox="1"/>
          <p:nvPr/>
        </p:nvSpPr>
        <p:spPr>
          <a:xfrm>
            <a:off x="2438400" y="3145943"/>
            <a:ext cx="2286001" cy="4001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Helvetica Neue"/>
              </a:defRPr>
            </a:pPr>
            <a:r>
              <a:rPr sz="2000"/>
              <a:t>4. Update Weights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E7C1AB-67C4-5A14-7DC6-8A1BA901BDCF}"/>
              </a:ext>
            </a:extLst>
          </p:cNvPr>
          <p:cNvSpPr txBox="1"/>
          <p:nvPr/>
        </p:nvSpPr>
        <p:spPr>
          <a:xfrm>
            <a:off x="2438400" y="3571542"/>
            <a:ext cx="25603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Helvetica Neue Light"/>
              </a:defRPr>
            </a:pPr>
            <a:r>
              <a:rPr sz="1600"/>
              <a:t>Adjust &amp; improve</a:t>
            </a:r>
          </a:p>
        </p:txBody>
      </p:sp>
      <p:cxnSp>
        <p:nvCxnSpPr>
          <p:cNvPr id="17" name="Connector 14">
            <a:extLst>
              <a:ext uri="{FF2B5EF4-FFF2-40B4-BE49-F238E27FC236}">
                <a16:creationId xmlns:a16="http://schemas.microsoft.com/office/drawing/2014/main" id="{5ADA3361-EEAA-D0CB-4200-4D82ECA0968D}"/>
              </a:ext>
            </a:extLst>
          </p:cNvPr>
          <p:cNvCxnSpPr/>
          <p:nvPr/>
        </p:nvCxnSpPr>
        <p:spPr>
          <a:xfrm>
            <a:off x="7193280" y="1838744"/>
            <a:ext cx="1371601" cy="1185599"/>
          </a:xfrm>
          <a:prstGeom prst="line">
            <a:avLst/>
          </a:prstGeom>
          <a:ln w="2540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5">
            <a:extLst>
              <a:ext uri="{FF2B5EF4-FFF2-40B4-BE49-F238E27FC236}">
                <a16:creationId xmlns:a16="http://schemas.microsoft.com/office/drawing/2014/main" id="{07EDB08F-1872-0AA4-22FB-137D538CC6EC}"/>
              </a:ext>
            </a:extLst>
          </p:cNvPr>
          <p:cNvCxnSpPr/>
          <p:nvPr/>
        </p:nvCxnSpPr>
        <p:spPr>
          <a:xfrm flipH="1">
            <a:off x="7193280" y="4057942"/>
            <a:ext cx="1371601" cy="1185597"/>
          </a:xfrm>
          <a:prstGeom prst="line">
            <a:avLst/>
          </a:prstGeom>
          <a:ln w="2540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6">
            <a:extLst>
              <a:ext uri="{FF2B5EF4-FFF2-40B4-BE49-F238E27FC236}">
                <a16:creationId xmlns:a16="http://schemas.microsoft.com/office/drawing/2014/main" id="{C971FE62-1F84-9374-BE86-8D38E0F042C5}"/>
              </a:ext>
            </a:extLst>
          </p:cNvPr>
          <p:cNvCxnSpPr/>
          <p:nvPr/>
        </p:nvCxnSpPr>
        <p:spPr>
          <a:xfrm flipH="1" flipV="1">
            <a:off x="3627120" y="4057942"/>
            <a:ext cx="1371600" cy="1185597"/>
          </a:xfrm>
          <a:prstGeom prst="line">
            <a:avLst/>
          </a:prstGeom>
          <a:ln w="2540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7">
            <a:extLst>
              <a:ext uri="{FF2B5EF4-FFF2-40B4-BE49-F238E27FC236}">
                <a16:creationId xmlns:a16="http://schemas.microsoft.com/office/drawing/2014/main" id="{39049549-F008-2B73-0681-CF6966945AB0}"/>
              </a:ext>
            </a:extLst>
          </p:cNvPr>
          <p:cNvCxnSpPr/>
          <p:nvPr/>
        </p:nvCxnSpPr>
        <p:spPr>
          <a:xfrm flipV="1">
            <a:off x="3627120" y="1838744"/>
            <a:ext cx="1371600" cy="1185599"/>
          </a:xfrm>
          <a:prstGeom prst="line">
            <a:avLst/>
          </a:prstGeom>
          <a:ln w="25400">
            <a:solidFill>
              <a:srgbClr val="64748B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9DDF4C1-9DFD-8482-8284-6659CDEBF4CB}"/>
              </a:ext>
            </a:extLst>
          </p:cNvPr>
          <p:cNvSpPr txBox="1"/>
          <p:nvPr/>
        </p:nvSpPr>
        <p:spPr>
          <a:xfrm>
            <a:off x="4815840" y="3145943"/>
            <a:ext cx="2560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0">
                <a:solidFill>
                  <a:srgbClr val="1E3A5F"/>
                </a:solidFill>
                <a:latin typeface="Helvetica Neue"/>
              </a:defRPr>
            </a:pPr>
            <a:r>
              <a:rPr sz="2400"/>
              <a:t>REPEAT</a:t>
            </a:r>
            <a:br>
              <a:rPr sz="2400"/>
            </a:br>
            <a:r>
              <a:rPr sz="2400"/>
              <a:t>until accurate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334803F-854B-0CD6-9735-275BF2509BA2}"/>
              </a:ext>
            </a:extLst>
          </p:cNvPr>
          <p:cNvSpPr/>
          <p:nvPr/>
        </p:nvSpPr>
        <p:spPr>
          <a:xfrm>
            <a:off x="1981200" y="6307539"/>
            <a:ext cx="8229600" cy="486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86D91FB-1415-F3DB-A67D-4AC543FF6DEF}"/>
              </a:ext>
            </a:extLst>
          </p:cNvPr>
          <p:cNvSpPr txBox="1"/>
          <p:nvPr/>
        </p:nvSpPr>
        <p:spPr>
          <a:xfrm>
            <a:off x="1981200" y="6368339"/>
            <a:ext cx="8229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Helvetica Neue"/>
              </a:defRPr>
            </a:pPr>
            <a:r>
              <a:rPr sz="2000"/>
              <a:t>Goal: Minimize the loss function (reduce prediction errors)</a:t>
            </a:r>
          </a:p>
        </p:txBody>
      </p:sp>
    </p:spTree>
    <p:extLst>
      <p:ext uri="{BB962C8B-B14F-4D97-AF65-F5344CB8AC3E}">
        <p14:creationId xmlns:p14="http://schemas.microsoft.com/office/powerpoint/2010/main" val="21255419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88801-94A9-25DE-0755-A1E4EA2C3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6F677-E4B0-504E-B654-1051BA132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Learning in Action: A Concrete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A83D3C-4F91-D5B4-673A-EAF9C4198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D13A6A-A853-F624-8822-D793A60133BD}"/>
              </a:ext>
            </a:extLst>
          </p:cNvPr>
          <p:cNvSpPr txBox="1"/>
          <p:nvPr/>
        </p:nvSpPr>
        <p:spPr>
          <a:xfrm>
            <a:off x="620783" y="1184929"/>
            <a:ext cx="878304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C3E50"/>
                </a:solidFill>
                <a:latin typeface="Helvetica Neue Light"/>
              </a:defRPr>
            </a:pPr>
            <a:r>
              <a:rPr sz="2000" b="1"/>
              <a:t>Task: </a:t>
            </a:r>
            <a:r>
              <a:rPr sz="2000"/>
              <a:t>Classify images as Dog or Cat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CE1B3A-066B-09EE-83FC-83EC69793D2E}"/>
              </a:ext>
            </a:extLst>
          </p:cNvPr>
          <p:cNvSpPr/>
          <p:nvPr/>
        </p:nvSpPr>
        <p:spPr>
          <a:xfrm>
            <a:off x="620783" y="1879277"/>
            <a:ext cx="6343308" cy="677189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686C21-5AAE-6531-B2EF-8F94B6D71156}"/>
              </a:ext>
            </a:extLst>
          </p:cNvPr>
          <p:cNvSpPr txBox="1"/>
          <p:nvPr/>
        </p:nvSpPr>
        <p:spPr>
          <a:xfrm>
            <a:off x="718373" y="1952990"/>
            <a:ext cx="1463840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E3A5F"/>
                </a:solidFill>
                <a:latin typeface="Helvetica Neue"/>
              </a:defRPr>
            </a:pPr>
            <a:r>
              <a:t>1. 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890FB0-A736-90FD-FE7E-C9199116017B}"/>
              </a:ext>
            </a:extLst>
          </p:cNvPr>
          <p:cNvSpPr txBox="1"/>
          <p:nvPr/>
        </p:nvSpPr>
        <p:spPr>
          <a:xfrm>
            <a:off x="2279802" y="1952990"/>
            <a:ext cx="4391521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C3E50"/>
                </a:solidFill>
                <a:latin typeface="Helvetica Neue Light"/>
              </a:defRPr>
            </a:pPr>
            <a:r>
              <a:t>Dog image (pixels)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E3E0D7-D855-A0EE-70AB-9F716CDBE182}"/>
              </a:ext>
            </a:extLst>
          </p:cNvPr>
          <p:cNvSpPr/>
          <p:nvPr/>
        </p:nvSpPr>
        <p:spPr>
          <a:xfrm>
            <a:off x="620783" y="2702200"/>
            <a:ext cx="6343308" cy="677189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0F92C2-51BC-6368-C3B8-003411FCBCDB}"/>
              </a:ext>
            </a:extLst>
          </p:cNvPr>
          <p:cNvSpPr txBox="1"/>
          <p:nvPr/>
        </p:nvSpPr>
        <p:spPr>
          <a:xfrm>
            <a:off x="718373" y="2775913"/>
            <a:ext cx="1463840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E3A5F"/>
                </a:solidFill>
                <a:latin typeface="Helvetica Neue"/>
              </a:defRPr>
            </a:pPr>
            <a:r>
              <a:t>2. Forward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3CF8B8-207D-AF51-95F0-EEB168C88CC0}"/>
              </a:ext>
            </a:extLst>
          </p:cNvPr>
          <p:cNvSpPr txBox="1"/>
          <p:nvPr/>
        </p:nvSpPr>
        <p:spPr>
          <a:xfrm>
            <a:off x="2279802" y="2775913"/>
            <a:ext cx="4391521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C3E50"/>
                </a:solidFill>
                <a:latin typeface="Helvetica Neue Light"/>
              </a:defRPr>
            </a:pPr>
            <a:r>
              <a:t>Network predicts: "Cat"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2CA1A45-CA37-613B-0E4E-556308468D68}"/>
              </a:ext>
            </a:extLst>
          </p:cNvPr>
          <p:cNvSpPr/>
          <p:nvPr/>
        </p:nvSpPr>
        <p:spPr>
          <a:xfrm>
            <a:off x="620783" y="3525123"/>
            <a:ext cx="6343308" cy="677189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F5B6A13-2C88-B889-DEED-8A901B7C929E}"/>
              </a:ext>
            </a:extLst>
          </p:cNvPr>
          <p:cNvSpPr txBox="1"/>
          <p:nvPr/>
        </p:nvSpPr>
        <p:spPr>
          <a:xfrm>
            <a:off x="718373" y="3598836"/>
            <a:ext cx="1463840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E3A5F"/>
                </a:solidFill>
                <a:latin typeface="Helvetica Neue"/>
              </a:defRPr>
            </a:pPr>
            <a:r>
              <a:t>3. Loss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06614A-6B32-7931-453F-86928B2D4B1D}"/>
              </a:ext>
            </a:extLst>
          </p:cNvPr>
          <p:cNvSpPr txBox="1"/>
          <p:nvPr/>
        </p:nvSpPr>
        <p:spPr>
          <a:xfrm>
            <a:off x="2279802" y="3598836"/>
            <a:ext cx="4391521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C3E50"/>
                </a:solidFill>
                <a:latin typeface="Helvetica Neue Light"/>
              </a:defRPr>
            </a:pPr>
            <a:r>
              <a:t>High! (wrong answer)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3536F8-F88D-17B0-86DF-95FAFF54A619}"/>
              </a:ext>
            </a:extLst>
          </p:cNvPr>
          <p:cNvSpPr/>
          <p:nvPr/>
        </p:nvSpPr>
        <p:spPr>
          <a:xfrm>
            <a:off x="620783" y="4348046"/>
            <a:ext cx="6343308" cy="677189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73C2CE-5B49-0EA5-7618-2CC39D2C4F16}"/>
              </a:ext>
            </a:extLst>
          </p:cNvPr>
          <p:cNvSpPr txBox="1"/>
          <p:nvPr/>
        </p:nvSpPr>
        <p:spPr>
          <a:xfrm>
            <a:off x="718373" y="4421759"/>
            <a:ext cx="1659020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E3A5F"/>
                </a:solidFill>
                <a:latin typeface="Helvetica Neue"/>
              </a:defRPr>
            </a:pPr>
            <a:r>
              <a:t>4. Backward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4E6DD9-5209-753A-42C3-7D9D661DE1FE}"/>
              </a:ext>
            </a:extLst>
          </p:cNvPr>
          <p:cNvSpPr txBox="1"/>
          <p:nvPr/>
        </p:nvSpPr>
        <p:spPr>
          <a:xfrm>
            <a:off x="2279802" y="4421759"/>
            <a:ext cx="4391521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C3E50"/>
                </a:solidFill>
                <a:latin typeface="Helvetica Neue Light"/>
              </a:defRPr>
            </a:pPr>
            <a:r>
              <a:t>Calculate weight adjustments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78D05B-D0BA-5A9F-B5B8-8B84F1205C06}"/>
              </a:ext>
            </a:extLst>
          </p:cNvPr>
          <p:cNvSpPr/>
          <p:nvPr/>
        </p:nvSpPr>
        <p:spPr>
          <a:xfrm>
            <a:off x="620783" y="5170969"/>
            <a:ext cx="6343308" cy="677189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4A00B9-2188-FC5A-74C9-BB2C1FF7A11E}"/>
              </a:ext>
            </a:extLst>
          </p:cNvPr>
          <p:cNvSpPr txBox="1"/>
          <p:nvPr/>
        </p:nvSpPr>
        <p:spPr>
          <a:xfrm>
            <a:off x="718373" y="5244682"/>
            <a:ext cx="1463840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E3A5F"/>
                </a:solidFill>
                <a:latin typeface="Helvetica Neue"/>
              </a:defRPr>
            </a:pPr>
            <a:r>
              <a:t>5. Update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206863-8629-2018-3F61-753AD72F7F82}"/>
              </a:ext>
            </a:extLst>
          </p:cNvPr>
          <p:cNvSpPr txBox="1"/>
          <p:nvPr/>
        </p:nvSpPr>
        <p:spPr>
          <a:xfrm>
            <a:off x="2279802" y="5244682"/>
            <a:ext cx="4391521" cy="3693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2C3E50"/>
                </a:solidFill>
                <a:latin typeface="Helvetica Neue Light"/>
              </a:defRPr>
            </a:pPr>
            <a:r>
              <a:t>Adjust weights to favor "Dog"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71D7D5-0D3D-7032-B4E5-FE4099DBC984}"/>
              </a:ext>
            </a:extLst>
          </p:cNvPr>
          <p:cNvSpPr/>
          <p:nvPr/>
        </p:nvSpPr>
        <p:spPr>
          <a:xfrm>
            <a:off x="423972" y="5965806"/>
            <a:ext cx="9176663" cy="658338"/>
          </a:xfrm>
          <a:prstGeom prst="rect">
            <a:avLst/>
          </a:prstGeom>
          <a:solidFill>
            <a:srgbClr val="2D8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1C67CD8-27B6-B664-4C46-3FCDCA7D0B53}"/>
              </a:ext>
            </a:extLst>
          </p:cNvPr>
          <p:cNvSpPr txBox="1"/>
          <p:nvPr/>
        </p:nvSpPr>
        <p:spPr>
          <a:xfrm>
            <a:off x="403411" y="6073940"/>
            <a:ext cx="9258912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Helvetica Neue Light"/>
              </a:defRPr>
            </a:pPr>
            <a:r>
              <a:t>After thousands of examples</a:t>
            </a:r>
            <a:r>
              <a:rPr lang="en-US"/>
              <a:t>, the network</a:t>
            </a:r>
            <a:r>
              <a:t> learns features that distinguish dogs from cats!</a:t>
            </a:r>
          </a:p>
        </p:txBody>
      </p:sp>
      <p:pic>
        <p:nvPicPr>
          <p:cNvPr id="24" name="Picture 2">
            <a:extLst>
              <a:ext uri="{FF2B5EF4-FFF2-40B4-BE49-F238E27FC236}">
                <a16:creationId xmlns:a16="http://schemas.microsoft.com/office/drawing/2014/main" id="{F9979997-4B5B-56D2-91C5-A085424C05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5" t="40779" r="81910" b="16976"/>
          <a:stretch>
            <a:fillRect/>
          </a:stretch>
        </p:blipFill>
        <p:spPr bwMode="auto">
          <a:xfrm>
            <a:off x="7907359" y="1106864"/>
            <a:ext cx="2084093" cy="172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 descr="Learning Curves: A Picture Says More Than a Thousand Words | by Jonte  Dancker | Towards AI">
            <a:extLst>
              <a:ext uri="{FF2B5EF4-FFF2-40B4-BE49-F238E27FC236}">
                <a16:creationId xmlns:a16="http://schemas.microsoft.com/office/drawing/2014/main" id="{7E1FDD67-9E03-70F1-0FA0-8220465D5F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35" r="4813" b="3544"/>
          <a:stretch>
            <a:fillRect/>
          </a:stretch>
        </p:blipFill>
        <p:spPr bwMode="auto">
          <a:xfrm>
            <a:off x="7292053" y="3437121"/>
            <a:ext cx="4576042" cy="23478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81576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4DDF4-B9EE-2E6B-A63B-7546387B7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E3005C6-39A5-41F0-4C06-B6D4AFBFB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Measuring Error: Loss Functions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05F269-100F-E224-E4EB-7479E7BC0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18</a:t>
            </a:fld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02101B6-F2F0-8515-F9FF-99FDD0C69D99}"/>
              </a:ext>
            </a:extLst>
          </p:cNvPr>
          <p:cNvGrpSpPr/>
          <p:nvPr/>
        </p:nvGrpSpPr>
        <p:grpSpPr>
          <a:xfrm>
            <a:off x="640080" y="1828800"/>
            <a:ext cx="10881360" cy="4069080"/>
            <a:chOff x="640080" y="1828800"/>
            <a:chExt cx="10881360" cy="4069080"/>
          </a:xfrm>
        </p:grpSpPr>
        <p:sp>
          <p:nvSpPr>
            <p:cNvPr id="16" name="Shape 1">
              <a:extLst>
                <a:ext uri="{FF2B5EF4-FFF2-40B4-BE49-F238E27FC236}">
                  <a16:creationId xmlns:a16="http://schemas.microsoft.com/office/drawing/2014/main" id="{25E60204-645C-7F0E-3AC9-862AB7B4E17A}"/>
                </a:ext>
              </a:extLst>
            </p:cNvPr>
            <p:cNvSpPr/>
            <p:nvPr/>
          </p:nvSpPr>
          <p:spPr>
            <a:xfrm>
              <a:off x="2103120" y="1828800"/>
              <a:ext cx="7955280" cy="1097280"/>
            </a:xfrm>
            <a:prstGeom prst="roundRect">
              <a:avLst>
                <a:gd name="adj" fmla="val 8333"/>
              </a:avLst>
            </a:prstGeom>
            <a:solidFill>
              <a:srgbClr val="FBE9EC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DAFD01B1-B067-BF9D-DB7B-81E0599E1614}"/>
                </a:ext>
              </a:extLst>
            </p:cNvPr>
            <p:cNvSpPr txBox="1"/>
            <p:nvPr/>
          </p:nvSpPr>
          <p:spPr>
            <a:xfrm>
              <a:off x="2377440" y="1828800"/>
              <a:ext cx="740664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>
                  <a:solidFill>
                    <a:srgbClr val="C8102E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Loss = how wrong the model’s predictions are.</a:t>
              </a:r>
              <a:endParaRPr lang="en-US" sz="2200"/>
            </a:p>
          </p:txBody>
        </p:sp>
        <p:sp>
          <p:nvSpPr>
            <p:cNvPr id="18" name="Text 3">
              <a:extLst>
                <a:ext uri="{FF2B5EF4-FFF2-40B4-BE49-F238E27FC236}">
                  <a16:creationId xmlns:a16="http://schemas.microsoft.com/office/drawing/2014/main" id="{AA9981E4-C0EE-9CC0-4613-F1305DAD1823}"/>
                </a:ext>
              </a:extLst>
            </p:cNvPr>
            <p:cNvSpPr txBox="1"/>
            <p:nvPr/>
          </p:nvSpPr>
          <p:spPr>
            <a:xfrm>
              <a:off x="2103120" y="3291840"/>
              <a:ext cx="795528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Prediction   vs.   reality  comparison  =   loss</a:t>
              </a:r>
              <a:endParaRPr lang="en-US" sz="2000"/>
            </a:p>
          </p:txBody>
        </p:sp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75CBD871-DA36-FC97-1419-7C9B8E5BA9A7}"/>
                </a:ext>
              </a:extLst>
            </p:cNvPr>
            <p:cNvSpPr txBox="1"/>
            <p:nvPr/>
          </p:nvSpPr>
          <p:spPr>
            <a:xfrm>
              <a:off x="640080" y="4297680"/>
              <a:ext cx="108813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i="1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choice of loss function shapes what the network optimizes for.</a:t>
              </a:r>
              <a:endParaRPr lang="en-US" sz="2000"/>
            </a:p>
          </p:txBody>
        </p:sp>
        <p:sp>
          <p:nvSpPr>
            <p:cNvPr id="20" name="Shape 5">
              <a:extLst>
                <a:ext uri="{FF2B5EF4-FFF2-40B4-BE49-F238E27FC236}">
                  <a16:creationId xmlns:a16="http://schemas.microsoft.com/office/drawing/2014/main" id="{6752C342-95F5-9DAB-80E9-360B2F6D9873}"/>
                </a:ext>
              </a:extLst>
            </p:cNvPr>
            <p:cNvSpPr/>
            <p:nvPr/>
          </p:nvSpPr>
          <p:spPr>
            <a:xfrm>
              <a:off x="822960" y="5029200"/>
              <a:ext cx="10515600" cy="868680"/>
            </a:xfrm>
            <a:prstGeom prst="roundRect">
              <a:avLst>
                <a:gd name="adj" fmla="val 8421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CF7A1DFC-171C-1F99-4324-DB3B78B8A4C9}"/>
                </a:ext>
              </a:extLst>
            </p:cNvPr>
            <p:cNvSpPr txBox="1"/>
            <p:nvPr/>
          </p:nvSpPr>
          <p:spPr>
            <a:xfrm>
              <a:off x="1097280" y="5074920"/>
              <a:ext cx="1005840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Common types: Mean Squared Error (regression) · Cross-Entropy (classification).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419970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55EB5-4851-21B4-B280-A909F8B35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D4D2-F352-D953-3021-5FE76EC7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Backpropagation: Assigning Blame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0762CC-E771-E197-FD2F-D4E6F4C01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19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C51E30A-6965-0FE7-E513-6E08962A0C6F}"/>
              </a:ext>
            </a:extLst>
          </p:cNvPr>
          <p:cNvGrpSpPr/>
          <p:nvPr/>
        </p:nvGrpSpPr>
        <p:grpSpPr>
          <a:xfrm>
            <a:off x="563880" y="1292873"/>
            <a:ext cx="11064240" cy="3566160"/>
            <a:chOff x="548640" y="1097280"/>
            <a:chExt cx="11064240" cy="356616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10F99F1F-828F-1742-9C8B-17FB70D196E9}"/>
                </a:ext>
              </a:extLst>
            </p:cNvPr>
            <p:cNvSpPr txBox="1"/>
            <p:nvPr/>
          </p:nvSpPr>
          <p:spPr>
            <a:xfrm>
              <a:off x="548640" y="1097280"/>
              <a:ext cx="1106424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With millions of weights, how do we know which ones to adjust?</a:t>
              </a:r>
              <a:endParaRPr lang="en-US" sz="2000"/>
            </a:p>
          </p:txBody>
        </p:sp>
        <p:sp>
          <p:nvSpPr>
            <p:cNvPr id="15" name="Shape 2">
              <a:extLst>
                <a:ext uri="{FF2B5EF4-FFF2-40B4-BE49-F238E27FC236}">
                  <a16:creationId xmlns:a16="http://schemas.microsoft.com/office/drawing/2014/main" id="{7B585525-31E4-77D3-9AE0-52D4BF81F1AD}"/>
                </a:ext>
              </a:extLst>
            </p:cNvPr>
            <p:cNvSpPr/>
            <p:nvPr/>
          </p:nvSpPr>
          <p:spPr>
            <a:xfrm>
              <a:off x="630984" y="1828800"/>
              <a:ext cx="10515600" cy="1737360"/>
            </a:xfrm>
            <a:prstGeom prst="roundRect">
              <a:avLst>
                <a:gd name="adj" fmla="val 5263"/>
              </a:avLst>
            </a:prstGeom>
            <a:solidFill>
              <a:srgbClr val="E7EFE7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542BF98F-8E14-CDEF-1E76-CCC702DE6A7C}"/>
                </a:ext>
              </a:extLst>
            </p:cNvPr>
            <p:cNvSpPr txBox="1"/>
            <p:nvPr/>
          </p:nvSpPr>
          <p:spPr>
            <a:xfrm>
              <a:off x="905304" y="192024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2C5F2D"/>
                  </a:solidFill>
                  <a:ea typeface="Calibri" pitchFamily="34" charset="-122"/>
                  <a:cs typeface="Calibri" pitchFamily="34" charset="-120"/>
                </a:rPr>
                <a:t>The idea</a:t>
              </a:r>
              <a:endParaRPr lang="en-US" sz="2000"/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A20F4F8D-C0F3-26E6-371C-F69036DEA4FA}"/>
                </a:ext>
              </a:extLst>
            </p:cNvPr>
            <p:cNvSpPr txBox="1"/>
            <p:nvPr/>
          </p:nvSpPr>
          <p:spPr>
            <a:xfrm>
              <a:off x="905304" y="2331720"/>
              <a:ext cx="10058400" cy="1143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When wrong, work backwards through the network to find which connections contributed most to the error — then adjust them proportionally.  (1) start at the output error  →  (2) work backward layer by layer  →  (3) adjust each weight by its share of the blame.</a:t>
              </a:r>
              <a:endParaRPr lang="en-US" sz="2000"/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C0F5C5AC-D713-DF7C-F416-A8FE2ABD512B}"/>
                </a:ext>
              </a:extLst>
            </p:cNvPr>
            <p:cNvSpPr txBox="1"/>
            <p:nvPr/>
          </p:nvSpPr>
          <p:spPr>
            <a:xfrm>
              <a:off x="630984" y="3931920"/>
              <a:ext cx="105156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i="1">
                  <a:solidFill>
                    <a:srgbClr val="5F5F5F"/>
                  </a:solidFill>
                  <a:ea typeface="Calibri" pitchFamily="34" charset="-122"/>
                  <a:cs typeface="Calibri" pitchFamily="34" charset="-120"/>
                </a:rPr>
                <a:t>Like tracing a mistake in a group project back through each member’s contribution — to see who was responsible for what.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462476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53675-C0A7-5A49-2C91-42A7EA66D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65B89A-3A16-485B-4C74-DFCE07A5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Finding the Best Weights: Gradient Descent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715936-7799-F189-0154-BB28227DE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20</a:t>
            </a:fld>
            <a:endParaRPr lang="en-US"/>
          </a:p>
        </p:txBody>
      </p:sp>
      <p:pic>
        <p:nvPicPr>
          <p:cNvPr id="2050" name="Picture 2" descr="Gradient Descent:The Engine of Machine Learning Optimization -  MachineLearningMastery.com">
            <a:extLst>
              <a:ext uri="{FF2B5EF4-FFF2-40B4-BE49-F238E27FC236}">
                <a16:creationId xmlns:a16="http://schemas.microsoft.com/office/drawing/2014/main" id="{6CBBE738-CB70-4F41-E7F7-093D5FE78B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0" t="19276" r="27564" b="32806"/>
          <a:stretch>
            <a:fillRect/>
          </a:stretch>
        </p:blipFill>
        <p:spPr bwMode="auto">
          <a:xfrm>
            <a:off x="7383987" y="1855934"/>
            <a:ext cx="3952293" cy="4715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B85B4A74-FBEB-C2D0-200C-672F405F67C6}"/>
              </a:ext>
            </a:extLst>
          </p:cNvPr>
          <p:cNvSpPr txBox="1"/>
          <p:nvPr/>
        </p:nvSpPr>
        <p:spPr>
          <a:xfrm>
            <a:off x="8041459" y="6627168"/>
            <a:ext cx="26585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https://share.google/images/YLkebnXi1L8QzufqQ</a:t>
            </a: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0BC79087-203C-48DE-3C92-08CF0503E4C1}"/>
              </a:ext>
            </a:extLst>
          </p:cNvPr>
          <p:cNvSpPr txBox="1"/>
          <p:nvPr/>
        </p:nvSpPr>
        <p:spPr>
          <a:xfrm>
            <a:off x="548639" y="1097280"/>
            <a:ext cx="112775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Analogy — </a:t>
            </a:r>
            <a:r>
              <a:rPr lang="en-US" sz="200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the hiker</a:t>
            </a:r>
            <a:r>
              <a:rPr lang="en-US" sz="2000" dirty="0">
                <a:solidFill>
                  <a:srgbClr val="1A1A1A"/>
                </a:solidFill>
                <a:ea typeface="Calibri" pitchFamily="34" charset="-122"/>
                <a:cs typeface="Calibri" pitchFamily="34" charset="-120"/>
              </a:rPr>
              <a:t>: to find the lowest point in a hilly landscape, feel which direction is steepest downhill and take a step. Repeat.</a:t>
            </a:r>
            <a:endParaRPr lang="en-US" sz="20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2A45D1-A1B0-BEE0-DE56-F7A43779945A}"/>
              </a:ext>
            </a:extLst>
          </p:cNvPr>
          <p:cNvGrpSpPr/>
          <p:nvPr/>
        </p:nvGrpSpPr>
        <p:grpSpPr>
          <a:xfrm>
            <a:off x="581400" y="2331720"/>
            <a:ext cx="8011025" cy="2743200"/>
            <a:chOff x="581400" y="2331720"/>
            <a:chExt cx="8011025" cy="2743200"/>
          </a:xfrm>
        </p:grpSpPr>
        <p:sp>
          <p:nvSpPr>
            <p:cNvPr id="17" name="Text 2">
              <a:extLst>
                <a:ext uri="{FF2B5EF4-FFF2-40B4-BE49-F238E27FC236}">
                  <a16:creationId xmlns:a16="http://schemas.microsoft.com/office/drawing/2014/main" id="{BFC84A53-1723-AE79-5645-C939506CF9BE}"/>
                </a:ext>
              </a:extLst>
            </p:cNvPr>
            <p:cNvSpPr txBox="1"/>
            <p:nvPr/>
          </p:nvSpPr>
          <p:spPr>
            <a:xfrm>
              <a:off x="2191625" y="2331720"/>
              <a:ext cx="64008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C8102E"/>
                  </a:solidFill>
                  <a:ea typeface="Calibri" pitchFamily="34" charset="-122"/>
                  <a:cs typeface="Calibri" pitchFamily="34" charset="-120"/>
                </a:rPr>
                <a:t>Learning rate = step size</a:t>
              </a:r>
              <a:endParaRPr lang="en-US" sz="2000"/>
            </a:p>
          </p:txBody>
        </p:sp>
        <p:sp>
          <p:nvSpPr>
            <p:cNvPr id="18" name="Shape 3">
              <a:extLst>
                <a:ext uri="{FF2B5EF4-FFF2-40B4-BE49-F238E27FC236}">
                  <a16:creationId xmlns:a16="http://schemas.microsoft.com/office/drawing/2014/main" id="{4F9C5DB8-85AE-7BE5-8847-667D08DE9E32}"/>
                </a:ext>
              </a:extLst>
            </p:cNvPr>
            <p:cNvSpPr/>
            <p:nvPr/>
          </p:nvSpPr>
          <p:spPr>
            <a:xfrm>
              <a:off x="581400" y="2834640"/>
              <a:ext cx="6400800" cy="1051560"/>
            </a:xfrm>
            <a:prstGeom prst="roundRect">
              <a:avLst>
                <a:gd name="adj" fmla="val 6957"/>
              </a:avLst>
            </a:prstGeom>
            <a:solidFill>
              <a:srgbClr val="FBE9EC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6CA3BB18-BA02-D2C4-427F-4ECE880071B1}"/>
                </a:ext>
              </a:extLst>
            </p:cNvPr>
            <p:cNvSpPr txBox="1"/>
            <p:nvPr/>
          </p:nvSpPr>
          <p:spPr>
            <a:xfrm>
              <a:off x="855720" y="2880360"/>
              <a:ext cx="594360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C8102E"/>
                  </a:solidFill>
                  <a:ea typeface="Calibri" pitchFamily="34" charset="-122"/>
                  <a:cs typeface="Calibri" pitchFamily="34" charset="-120"/>
                </a:rPr>
                <a:t>Too large:  </a:t>
              </a:r>
              <a:r>
                <a:rPr lang="en-US" sz="200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overshoot the minimum — bounce around, never settle.</a:t>
              </a:r>
              <a:endParaRPr lang="en-US" sz="2000"/>
            </a:p>
          </p:txBody>
        </p:sp>
        <p:sp>
          <p:nvSpPr>
            <p:cNvPr id="20" name="Shape 5">
              <a:extLst>
                <a:ext uri="{FF2B5EF4-FFF2-40B4-BE49-F238E27FC236}">
                  <a16:creationId xmlns:a16="http://schemas.microsoft.com/office/drawing/2014/main" id="{8D645053-4A00-2FBF-22A1-9449CEC12606}"/>
                </a:ext>
              </a:extLst>
            </p:cNvPr>
            <p:cNvSpPr/>
            <p:nvPr/>
          </p:nvSpPr>
          <p:spPr>
            <a:xfrm>
              <a:off x="581400" y="4023360"/>
              <a:ext cx="6400800" cy="1051560"/>
            </a:xfrm>
            <a:prstGeom prst="roundRect">
              <a:avLst>
                <a:gd name="adj" fmla="val 6957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6">
              <a:extLst>
                <a:ext uri="{FF2B5EF4-FFF2-40B4-BE49-F238E27FC236}">
                  <a16:creationId xmlns:a16="http://schemas.microsoft.com/office/drawing/2014/main" id="{25984DCB-3556-1B40-C85E-AB0FBF611B52}"/>
                </a:ext>
              </a:extLst>
            </p:cNvPr>
            <p:cNvSpPr txBox="1"/>
            <p:nvPr/>
          </p:nvSpPr>
          <p:spPr>
            <a:xfrm>
              <a:off x="855720" y="4069080"/>
              <a:ext cx="5943600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2F3C7E"/>
                  </a:solidFill>
                  <a:ea typeface="Calibri" pitchFamily="34" charset="-122"/>
                  <a:cs typeface="Calibri" pitchFamily="34" charset="-120"/>
                </a:rPr>
                <a:t>Too small:  </a:t>
              </a:r>
              <a:r>
                <a:rPr lang="en-US" sz="2000">
                  <a:solidFill>
                    <a:srgbClr val="1A1A1A"/>
                  </a:solidFill>
                  <a:ea typeface="Calibri" pitchFamily="34" charset="-122"/>
                  <a:cs typeface="Calibri" pitchFamily="34" charset="-120"/>
                </a:rPr>
                <a:t>training takes forever — tiny steps, slow progress.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046382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995A4-40D9-DCE7-6395-5ABAC8F2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485EE-10A5-1E6A-A160-F35E19B5A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Monitoring Training Progress</a:t>
            </a:r>
          </a:p>
        </p:txBody>
      </p:sp>
      <p:sp>
        <p:nvSpPr>
          <p:cNvPr id="34" name="Content Placeholder 33">
            <a:extLst>
              <a:ext uri="{FF2B5EF4-FFF2-40B4-BE49-F238E27FC236}">
                <a16:creationId xmlns:a16="http://schemas.microsoft.com/office/drawing/2014/main" id="{082508DA-CC18-D3F7-2EC8-1B1768451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55225"/>
            <a:ext cx="11277600" cy="529254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Healthy training: loss decreases, accuracy increases over time. Watch for these warning signs: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017C50-5C33-05A9-A606-D54543819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21</a:t>
            </a:fld>
            <a:endParaRPr lang="en-US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0060457-D9F3-C14F-D4EF-D4B34BC65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773" y="3320726"/>
            <a:ext cx="8111673" cy="2921159"/>
          </a:xfrm>
          <a:prstGeom prst="rect">
            <a:avLst/>
          </a:prstGeom>
        </p:spPr>
      </p:pic>
      <p:graphicFrame>
        <p:nvGraphicFramePr>
          <p:cNvPr id="36" name="Table 0">
            <a:extLst>
              <a:ext uri="{FF2B5EF4-FFF2-40B4-BE49-F238E27FC236}">
                <a16:creationId xmlns:a16="http://schemas.microsoft.com/office/drawing/2014/main" id="{E5E7B5A0-0C3C-392D-1DB5-DDE7277B04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7817469"/>
              </p:ext>
            </p:extLst>
          </p:nvPr>
        </p:nvGraphicFramePr>
        <p:xfrm>
          <a:off x="555974" y="1798571"/>
          <a:ext cx="10904833" cy="1503141"/>
        </p:xfrm>
        <a:graphic>
          <a:graphicData uri="http://schemas.openxmlformats.org/drawingml/2006/table">
            <a:tbl>
              <a:tblPr/>
              <a:tblGrid>
                <a:gridCol w="4831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7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60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7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loss ↓, validation loss ↑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stopping, regularization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15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losses plateau high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Underfitting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Bigger network, more features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9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oscillates wildly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 too high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 the learning rate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818C03A5-567B-E6B7-B038-D77BA3E1910F}"/>
              </a:ext>
            </a:extLst>
          </p:cNvPr>
          <p:cNvGrpSpPr/>
          <p:nvPr/>
        </p:nvGrpSpPr>
        <p:grpSpPr>
          <a:xfrm>
            <a:off x="555974" y="6303002"/>
            <a:ext cx="10098986" cy="456621"/>
            <a:chOff x="655320" y="5074920"/>
            <a:chExt cx="10881360" cy="822960"/>
          </a:xfrm>
        </p:grpSpPr>
        <p:sp>
          <p:nvSpPr>
            <p:cNvPr id="38" name="Shape 2">
              <a:extLst>
                <a:ext uri="{FF2B5EF4-FFF2-40B4-BE49-F238E27FC236}">
                  <a16:creationId xmlns:a16="http://schemas.microsoft.com/office/drawing/2014/main" id="{69D63CF7-500A-97BA-C48C-2886EB602270}"/>
                </a:ext>
              </a:extLst>
            </p:cNvPr>
            <p:cNvSpPr/>
            <p:nvPr/>
          </p:nvSpPr>
          <p:spPr>
            <a:xfrm>
              <a:off x="655320" y="5074920"/>
              <a:ext cx="10881360" cy="822960"/>
            </a:xfrm>
            <a:prstGeom prst="roundRect">
              <a:avLst>
                <a:gd name="adj" fmla="val 8889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3">
              <a:extLst>
                <a:ext uri="{FF2B5EF4-FFF2-40B4-BE49-F238E27FC236}">
                  <a16:creationId xmlns:a16="http://schemas.microsoft.com/office/drawing/2014/main" id="{8DC9619A-5707-BD73-871E-EF5650142648}"/>
                </a:ext>
              </a:extLst>
            </p:cNvPr>
            <p:cNvSpPr txBox="1"/>
            <p:nvPr/>
          </p:nvSpPr>
          <p:spPr>
            <a:xfrm>
              <a:off x="929640" y="5120640"/>
              <a:ext cx="1033272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Always monitor both training AND validation metrics.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1328276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02AA9-3EDD-A483-7677-B42C96FE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Part 3: </a:t>
            </a:r>
            <a:r>
              <a:rPr lang="en-US" sz="4400"/>
              <a:t>Hyperparameters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1FFE5B-2471-4C5D-7A91-CA0B068AC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The "knobs" you can turn to improve training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5574C5-9801-19B5-2759-713F1BF0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069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E067EA-032F-9010-C982-EC072B2E9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1F29C5-6D61-F593-FF70-1DDC56BC0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Hyperparameters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E94D4E-E5B7-0DE7-7F0F-8B924DCC5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23</a:t>
            </a:fld>
            <a:endParaRPr lang="en-US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16C9CB55-06F8-4293-01C2-523A18D9C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1265364"/>
              </p:ext>
            </p:extLst>
          </p:nvPr>
        </p:nvGraphicFramePr>
        <p:xfrm>
          <a:off x="579457" y="2394112"/>
          <a:ext cx="10881360" cy="1905000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Hyperparameter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controls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Typical range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rate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size for weight updates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– 0.1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 processed before an update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– 256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passes through the training data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– 1000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Layers, neurons, connections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Problem-dependent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Shape 1">
            <a:extLst>
              <a:ext uri="{FF2B5EF4-FFF2-40B4-BE49-F238E27FC236}">
                <a16:creationId xmlns:a16="http://schemas.microsoft.com/office/drawing/2014/main" id="{1487A2E7-53BA-DC23-DD33-119096FB749D}"/>
              </a:ext>
            </a:extLst>
          </p:cNvPr>
          <p:cNvSpPr/>
          <p:nvPr/>
        </p:nvSpPr>
        <p:spPr>
          <a:xfrm>
            <a:off x="640080" y="502920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7EFE7"/>
          </a:solidFill>
          <a:ln w="1270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93C85C2C-0AF3-69E7-D099-D5926DCF37CB}"/>
              </a:ext>
            </a:extLst>
          </p:cNvPr>
          <p:cNvSpPr txBox="1"/>
          <p:nvPr/>
        </p:nvSpPr>
        <p:spPr>
          <a:xfrm>
            <a:off x="914400" y="507492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tip: start with the Adam optimizer, learning rate 0.001, batch size 32.</a:t>
            </a:r>
            <a:endParaRPr lang="en-US" sz="20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9F9F4B-0DFE-BD7F-454C-01DD134DD5F2}"/>
              </a:ext>
            </a:extLst>
          </p:cNvPr>
          <p:cNvSpPr txBox="1"/>
          <p:nvPr/>
        </p:nvSpPr>
        <p:spPr>
          <a:xfrm>
            <a:off x="503676" y="1232925"/>
            <a:ext cx="10881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A hyperparameter is a configuration variable set before a machine learning model begins training that controls how the model learns. A hyperparameter is set, not learned.</a:t>
            </a:r>
          </a:p>
        </p:txBody>
      </p:sp>
    </p:spTree>
    <p:extLst>
      <p:ext uri="{BB962C8B-B14F-4D97-AF65-F5344CB8AC3E}">
        <p14:creationId xmlns:p14="http://schemas.microsoft.com/office/powerpoint/2010/main" val="30490755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4279D7-DAEB-FAE3-2E6A-C7DA7CC6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2F38-DA26-4441-E27D-F564FE89C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BREAK -  What is Deep Learning? (5:51)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92C2C-2262-C82B-19E5-7C153610A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24</a:t>
            </a:fld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DBC3D33-C31B-F161-B318-9EA689EBF03F}"/>
              </a:ext>
            </a:extLst>
          </p:cNvPr>
          <p:cNvSpPr>
            <a:spLocks noGrp="1" noChangeArrowheads="1"/>
          </p:cNvSpPr>
          <p:nvPr>
            <p:ph idx="4294967295"/>
          </p:nvPr>
        </p:nvSpPr>
        <p:spPr bwMode="auto">
          <a:xfrm>
            <a:off x="4124325" y="3189288"/>
            <a:ext cx="8067675" cy="4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79350" rIns="0" bIns="7935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 </a:t>
            </a:r>
            <a:endParaRPr lang="en-US" altLang="en-US" sz="180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681F4C-5BF9-EDEA-20AF-9C73ED684A3E}"/>
              </a:ext>
            </a:extLst>
          </p:cNvPr>
          <p:cNvSpPr txBox="1"/>
          <p:nvPr/>
        </p:nvSpPr>
        <p:spPr>
          <a:xfrm>
            <a:off x="457200" y="6625432"/>
            <a:ext cx="4572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https://www.youtube.com/watch?v=6M5VXKLf4D4</a:t>
            </a:r>
          </a:p>
        </p:txBody>
      </p:sp>
      <p:pic>
        <p:nvPicPr>
          <p:cNvPr id="3" name="Online Media 2" title="Deep Learning | What is Deep Learning? | Deep Learning Tutorial For Beginners | 2023 | Simplilearn">
            <a:hlinkClick r:id="" action="ppaction://media"/>
            <a:extLst>
              <a:ext uri="{FF2B5EF4-FFF2-40B4-BE49-F238E27FC236}">
                <a16:creationId xmlns:a16="http://schemas.microsoft.com/office/drawing/2014/main" id="{64AEBB15-46A0-DD69-ABBC-5C6A3C64357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547662" y="1097310"/>
            <a:ext cx="9607084" cy="54240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8994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1E02AA9-3EDD-A483-7677-B42C96FE7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Part 4: </a:t>
            </a:r>
            <a:r>
              <a:rPr lang="en-US" sz="4800"/>
              <a:t>Deep Learning</a:t>
            </a:r>
            <a:endParaRPr lang="en-US" sz="440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8A243B8-1295-0539-A0B1-2E79208B6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When shallow networks aren't enough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5574C5-9801-19B5-2759-713F1BF0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680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2F8AB-6C02-8312-E1EF-E6AE8A5C0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9379E-CC67-79B2-F10E-A8FB14166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Why Go Deeper Than One Hidden Layer?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5692D6A3-6B3B-2FA9-72C5-B31CC64D56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Shallow networks plateau in performance as data grows.</a:t>
            </a:r>
          </a:p>
          <a:p>
            <a:r>
              <a:rPr lang="en-US"/>
              <a:t>Deep networks keep improving as data grows.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01A66B-B952-B4F3-7876-3805ED70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26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0A7EDA7-4A75-040A-67D5-F5DBF4874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160" y="1207530"/>
            <a:ext cx="4992554" cy="2648119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18B9A8C7-C96C-1C94-7054-71D15D4DDFEB}"/>
              </a:ext>
            </a:extLst>
          </p:cNvPr>
          <p:cNvGrpSpPr/>
          <p:nvPr/>
        </p:nvGrpSpPr>
        <p:grpSpPr>
          <a:xfrm>
            <a:off x="457200" y="3985225"/>
            <a:ext cx="10515600" cy="2743200"/>
            <a:chOff x="822960" y="3017520"/>
            <a:chExt cx="10515600" cy="2743200"/>
          </a:xfrm>
        </p:grpSpPr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4755F164-4F74-E35F-88D9-E3EAADB740E1}"/>
                </a:ext>
              </a:extLst>
            </p:cNvPr>
            <p:cNvSpPr/>
            <p:nvPr/>
          </p:nvSpPr>
          <p:spPr>
            <a:xfrm>
              <a:off x="822960" y="3017520"/>
              <a:ext cx="10515600" cy="1554480"/>
            </a:xfrm>
            <a:prstGeom prst="roundRect">
              <a:avLst>
                <a:gd name="adj" fmla="val 5882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0" name="Text 3">
              <a:extLst>
                <a:ext uri="{FF2B5EF4-FFF2-40B4-BE49-F238E27FC236}">
                  <a16:creationId xmlns:a16="http://schemas.microsoft.com/office/drawing/2014/main" id="{DCD1AA7F-6701-71A4-1189-C336FBCED174}"/>
                </a:ext>
              </a:extLst>
            </p:cNvPr>
            <p:cNvSpPr txBox="1"/>
            <p:nvPr/>
          </p:nvSpPr>
          <p:spPr>
            <a:xfrm>
              <a:off x="1097280" y="315468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Neural scaling laws (2020)</a:t>
              </a:r>
              <a:endParaRPr lang="en-US" sz="2000"/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6527087F-AD1C-DDC5-5518-5F90B8269B2E}"/>
                </a:ext>
              </a:extLst>
            </p:cNvPr>
            <p:cNvSpPr txBox="1"/>
            <p:nvPr/>
          </p:nvSpPr>
          <p:spPr>
            <a:xfrm>
              <a:off x="1097280" y="3566160"/>
              <a:ext cx="1005840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improves predictably with more compute, more training data, and more parameters (bigger models).</a:t>
              </a:r>
              <a:endParaRPr lang="en-US" sz="2000"/>
            </a:p>
          </p:txBody>
        </p:sp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1251F121-D98D-8660-02FC-4CA6F77D2CAB}"/>
                </a:ext>
              </a:extLst>
            </p:cNvPr>
            <p:cNvSpPr/>
            <p:nvPr/>
          </p:nvSpPr>
          <p:spPr>
            <a:xfrm>
              <a:off x="822960" y="4846320"/>
              <a:ext cx="10515600" cy="914400"/>
            </a:xfrm>
            <a:prstGeom prst="roundRect">
              <a:avLst>
                <a:gd name="adj" fmla="val 80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2E3C2A58-C23F-CC8C-81A0-D39A36DC15AD}"/>
                </a:ext>
              </a:extLst>
            </p:cNvPr>
            <p:cNvSpPr txBox="1"/>
            <p:nvPr/>
          </p:nvSpPr>
          <p:spPr>
            <a:xfrm>
              <a:off x="1097280" y="4892040"/>
              <a:ext cx="10058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This discovery launched the race to build ever-larger models → GPT, Claude, and beyond.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316836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BB603B-3202-5A02-1132-3C135BC6F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D160D5B-E9B7-4896-1651-B8C6EF4137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Shallow vs. Deep Networks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A83D36-260D-4394-350B-F51715D37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27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46007A9-808A-C72A-E4C2-EF96472B2236}"/>
              </a:ext>
            </a:extLst>
          </p:cNvPr>
          <p:cNvGrpSpPr/>
          <p:nvPr/>
        </p:nvGrpSpPr>
        <p:grpSpPr>
          <a:xfrm>
            <a:off x="527613" y="1595310"/>
            <a:ext cx="10908792" cy="4709160"/>
            <a:chOff x="640080" y="1600200"/>
            <a:chExt cx="10908792" cy="4709160"/>
          </a:xfrm>
        </p:grpSpPr>
        <p:sp>
          <p:nvSpPr>
            <p:cNvPr id="14" name="Shape 1">
              <a:extLst>
                <a:ext uri="{FF2B5EF4-FFF2-40B4-BE49-F238E27FC236}">
                  <a16:creationId xmlns:a16="http://schemas.microsoft.com/office/drawing/2014/main" id="{3A3876FB-C1AA-9109-4611-35C712480DBA}"/>
                </a:ext>
              </a:extLst>
            </p:cNvPr>
            <p:cNvSpPr/>
            <p:nvPr/>
          </p:nvSpPr>
          <p:spPr>
            <a:xfrm>
              <a:off x="640080" y="1600200"/>
              <a:ext cx="5193792" cy="4206240"/>
            </a:xfrm>
            <a:prstGeom prst="roundRect">
              <a:avLst>
                <a:gd name="adj" fmla="val 217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5" name="Shape 2">
              <a:extLst>
                <a:ext uri="{FF2B5EF4-FFF2-40B4-BE49-F238E27FC236}">
                  <a16:creationId xmlns:a16="http://schemas.microsoft.com/office/drawing/2014/main" id="{DF123EB3-C3A7-2BF3-ED44-1D96320EAC6B}"/>
                </a:ext>
              </a:extLst>
            </p:cNvPr>
            <p:cNvSpPr/>
            <p:nvPr/>
          </p:nvSpPr>
          <p:spPr>
            <a:xfrm>
              <a:off x="640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F9866327-90B8-8BFA-FEE6-15F255F83AEB}"/>
                </a:ext>
              </a:extLst>
            </p:cNvPr>
            <p:cNvSpPr txBox="1"/>
            <p:nvPr/>
          </p:nvSpPr>
          <p:spPr>
            <a:xfrm>
              <a:off x="822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Shallow (1 hidden layer)</a:t>
              </a:r>
              <a:endParaRPr lang="en-US" sz="2400"/>
            </a:p>
          </p:txBody>
        </p:sp>
        <p:sp>
          <p:nvSpPr>
            <p:cNvPr id="17" name="Text 4">
              <a:extLst>
                <a:ext uri="{FF2B5EF4-FFF2-40B4-BE49-F238E27FC236}">
                  <a16:creationId xmlns:a16="http://schemas.microsoft.com/office/drawing/2014/main" id="{282541CE-5DFD-EE6C-C429-9D7E8A691A0E}"/>
                </a:ext>
              </a:extLst>
            </p:cNvPr>
            <p:cNvSpPr txBox="1"/>
            <p:nvPr/>
          </p:nvSpPr>
          <p:spPr>
            <a:xfrm>
              <a:off x="960120" y="2514600"/>
              <a:ext cx="4599432" cy="3154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Can theoretically learn any function</a:t>
              </a:r>
              <a:endParaRPr lang="en-US" sz="2000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Easier to train</a:t>
              </a:r>
              <a:endParaRPr lang="en-US" sz="2000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May need exponentially many neurons</a:t>
              </a:r>
              <a:endParaRPr lang="en-US" sz="2000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Performance plateaus with more data</a:t>
              </a:r>
              <a:endParaRPr lang="en-US" sz="2000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CD8C1F3F-ED31-30AB-678F-75FC4652955D}"/>
                </a:ext>
              </a:extLst>
            </p:cNvPr>
            <p:cNvSpPr/>
            <p:nvPr/>
          </p:nvSpPr>
          <p:spPr>
            <a:xfrm>
              <a:off x="6355080" y="1600200"/>
              <a:ext cx="5193792" cy="4206240"/>
            </a:xfrm>
            <a:prstGeom prst="roundRect">
              <a:avLst>
                <a:gd name="adj" fmla="val 217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Shape 6">
              <a:extLst>
                <a:ext uri="{FF2B5EF4-FFF2-40B4-BE49-F238E27FC236}">
                  <a16:creationId xmlns:a16="http://schemas.microsoft.com/office/drawing/2014/main" id="{2351C5F8-8884-F1C8-7145-25CF9B7D66DA}"/>
                </a:ext>
              </a:extLst>
            </p:cNvPr>
            <p:cNvSpPr/>
            <p:nvPr/>
          </p:nvSpPr>
          <p:spPr>
            <a:xfrm>
              <a:off x="6355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8B8442BD-34F7-6FF9-D41F-1F3600657077}"/>
                </a:ext>
              </a:extLst>
            </p:cNvPr>
            <p:cNvSpPr txBox="1"/>
            <p:nvPr/>
          </p:nvSpPr>
          <p:spPr>
            <a:xfrm>
              <a:off x="6537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4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(many hidden layers)</a:t>
              </a:r>
              <a:endParaRPr lang="en-US" sz="2400"/>
            </a:p>
          </p:txBody>
        </p:sp>
        <p:sp>
          <p:nvSpPr>
            <p:cNvPr id="21" name="Text 8">
              <a:extLst>
                <a:ext uri="{FF2B5EF4-FFF2-40B4-BE49-F238E27FC236}">
                  <a16:creationId xmlns:a16="http://schemas.microsoft.com/office/drawing/2014/main" id="{D1A182C7-EB2E-6632-96A9-35968F126395}"/>
                </a:ext>
              </a:extLst>
            </p:cNvPr>
            <p:cNvSpPr txBox="1"/>
            <p:nvPr/>
          </p:nvSpPr>
          <p:spPr>
            <a:xfrm>
              <a:off x="6675120" y="2514600"/>
              <a:ext cx="4599432" cy="31546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Learns hierarchical representations</a:t>
              </a:r>
              <a:endParaRPr lang="en-US" sz="2000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More parameter-efficient for representing complex functions</a:t>
              </a:r>
              <a:endParaRPr lang="en-US" sz="2000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Keeps improving with more data</a:t>
              </a:r>
              <a:endParaRPr lang="en-US" sz="2000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Harder to train (vanishing gradients)</a:t>
              </a:r>
              <a:endParaRPr lang="en-US" sz="2000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BE7D31D-0772-1E97-D2CE-24A63F91E647}"/>
                </a:ext>
              </a:extLst>
            </p:cNvPr>
            <p:cNvSpPr/>
            <p:nvPr/>
          </p:nvSpPr>
          <p:spPr>
            <a:xfrm>
              <a:off x="640080" y="5577840"/>
              <a:ext cx="10881360" cy="731520"/>
            </a:xfrm>
            <a:prstGeom prst="roundRect">
              <a:avLst>
                <a:gd name="adj" fmla="val 100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011FBDAD-0D7C-A9CC-4A8C-690AD96ED70C}"/>
                </a:ext>
              </a:extLst>
            </p:cNvPr>
            <p:cNvSpPr txBox="1"/>
            <p:nvPr/>
          </p:nvSpPr>
          <p:spPr>
            <a:xfrm>
              <a:off x="914400" y="5623560"/>
              <a:ext cx="103327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Key insight: depth enables learning abstractions built on abstractions.</a:t>
              </a:r>
              <a:endParaRPr lang="en-US" sz="2000"/>
            </a:p>
          </p:txBody>
        </p:sp>
      </p:grpSp>
    </p:spTree>
    <p:extLst>
      <p:ext uri="{BB962C8B-B14F-4D97-AF65-F5344CB8AC3E}">
        <p14:creationId xmlns:p14="http://schemas.microsoft.com/office/powerpoint/2010/main" val="33802303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64D29-8268-1725-641F-486A48884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EA364-EEB2-65A0-6D47-FAB61722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 Brief History of Deep Learning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7F1051A5-204A-864D-07F9-0F41235DF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n-US"/>
          </a:p>
          <a:p>
            <a:pPr marL="0" indent="0">
              <a:lnSpc>
                <a:spcPct val="100000"/>
              </a:lnSpc>
              <a:buNone/>
            </a:pPr>
            <a:r>
              <a:rPr lang="en-US"/>
              <a:t>From McCulloch–Pitts (1943) and the perceptron (1958) through backprop (1986), </a:t>
            </a:r>
            <a:r>
              <a:rPr lang="en-US" err="1"/>
              <a:t>AlexNet</a:t>
            </a:r>
            <a:r>
              <a:rPr lang="en-US"/>
              <a:t> (2012), the Transformer (2017), and ChatGPT reaching the mainstream (2022).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6F6E0B-2104-9736-45AF-A0DE65C8D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28</a:t>
            </a:fld>
            <a:endParaRPr lang="en-US"/>
          </a:p>
        </p:txBody>
      </p:sp>
      <p:pic>
        <p:nvPicPr>
          <p:cNvPr id="24" name="Picture 4" descr="A Brief History of AI with Deep Learning | by LM Po | Medium">
            <a:extLst>
              <a:ext uri="{FF2B5EF4-FFF2-40B4-BE49-F238E27FC236}">
                <a16:creationId xmlns:a16="http://schemas.microsoft.com/office/drawing/2014/main" id="{D85FADB7-2ABF-0A62-85FF-550F0B3F2C6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43"/>
          <a:stretch>
            <a:fillRect/>
          </a:stretch>
        </p:blipFill>
        <p:spPr bwMode="auto">
          <a:xfrm>
            <a:off x="575886" y="1121529"/>
            <a:ext cx="9421842" cy="46296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022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91FB0-13AF-4A19-D068-5297663C5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6AA7BB8-29D7-EC97-3D33-31673EE5AC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2012 Breakthrough: </a:t>
            </a:r>
            <a:r>
              <a:rPr lang="en-US" err="1"/>
              <a:t>AlexNet</a:t>
            </a:r>
            <a:endParaRPr lang="en-US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C75D51CE-F4ED-4F99-9FE6-E60A9CF082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963" y="1759497"/>
            <a:ext cx="11277600" cy="529254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ImageNet error rate (lower is better):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8A3C72-1959-6A44-7A39-693D5BD92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29</a:t>
            </a:fld>
            <a:endParaRPr lang="en-US"/>
          </a:p>
        </p:txBody>
      </p:sp>
      <p:pic>
        <p:nvPicPr>
          <p:cNvPr id="20" name="Picture 2" descr="🚀 AlexNet's Source Code Just Dropped – Relive the AI Revolution! | Nabeel  Ali">
            <a:extLst>
              <a:ext uri="{FF2B5EF4-FFF2-40B4-BE49-F238E27FC236}">
                <a16:creationId xmlns:a16="http://schemas.microsoft.com/office/drawing/2014/main" id="{D111DB43-6D6D-41AD-43B8-C3CF13755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816" y="640027"/>
            <a:ext cx="2815449" cy="1896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FBFA337F-81CE-F569-A0D5-CFEF459D3AC6}"/>
              </a:ext>
            </a:extLst>
          </p:cNvPr>
          <p:cNvGrpSpPr/>
          <p:nvPr/>
        </p:nvGrpSpPr>
        <p:grpSpPr>
          <a:xfrm>
            <a:off x="457200" y="2696956"/>
            <a:ext cx="10881360" cy="4160520"/>
            <a:chOff x="640080" y="1737360"/>
            <a:chExt cx="10881360" cy="4160520"/>
          </a:xfrm>
        </p:grpSpPr>
        <p:sp>
          <p:nvSpPr>
            <p:cNvPr id="23" name="Text 2">
              <a:extLst>
                <a:ext uri="{FF2B5EF4-FFF2-40B4-BE49-F238E27FC236}">
                  <a16:creationId xmlns:a16="http://schemas.microsoft.com/office/drawing/2014/main" id="{A2B32878-27D7-CAAC-8922-51B1826834FA}"/>
                </a:ext>
              </a:extLst>
            </p:cNvPr>
            <p:cNvSpPr txBox="1"/>
            <p:nvPr/>
          </p:nvSpPr>
          <p:spPr>
            <a:xfrm>
              <a:off x="640080" y="1737360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2011 (pre-deep)</a:t>
              </a:r>
              <a:endParaRPr lang="en-US"/>
            </a:p>
          </p:txBody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A538B1C5-3DE1-86C1-74BC-1EBD3B1DBE62}"/>
                </a:ext>
              </a:extLst>
            </p:cNvPr>
            <p:cNvSpPr/>
            <p:nvPr/>
          </p:nvSpPr>
          <p:spPr>
            <a:xfrm>
              <a:off x="3474720" y="1810512"/>
              <a:ext cx="6400800" cy="365760"/>
            </a:xfrm>
            <a:prstGeom prst="rect">
              <a:avLst/>
            </a:prstGeom>
            <a:solidFill>
              <a:srgbClr val="5F5F5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F6FED09E-2BF8-543C-F163-2710CC157F61}"/>
                </a:ext>
              </a:extLst>
            </p:cNvPr>
            <p:cNvSpPr txBox="1"/>
            <p:nvPr/>
          </p:nvSpPr>
          <p:spPr>
            <a:xfrm>
              <a:off x="9966960" y="1737360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5F5F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26%</a:t>
              </a:r>
              <a:endParaRPr lang="en-US" sz="1600"/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7DFD67F2-332A-63A3-0E57-51B5D967F75D}"/>
                </a:ext>
              </a:extLst>
            </p:cNvPr>
            <p:cNvSpPr txBox="1"/>
            <p:nvPr/>
          </p:nvSpPr>
          <p:spPr>
            <a:xfrm>
              <a:off x="640080" y="2395728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2012 AlexNet</a:t>
              </a:r>
              <a:endParaRPr lang="en-US"/>
            </a:p>
          </p:txBody>
        </p:sp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AFA78B94-52C6-0B39-376F-82F8D50F222D}"/>
                </a:ext>
              </a:extLst>
            </p:cNvPr>
            <p:cNvSpPr/>
            <p:nvPr/>
          </p:nvSpPr>
          <p:spPr>
            <a:xfrm>
              <a:off x="3474720" y="2468880"/>
              <a:ext cx="3938954" cy="365760"/>
            </a:xfrm>
            <a:prstGeom prst="rect">
              <a:avLst/>
            </a:prstGeom>
            <a:solidFill>
              <a:srgbClr val="2C5F2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30758C6A-E1BE-77E2-AB08-5DA80002979A}"/>
                </a:ext>
              </a:extLst>
            </p:cNvPr>
            <p:cNvSpPr txBox="1"/>
            <p:nvPr/>
          </p:nvSpPr>
          <p:spPr>
            <a:xfrm>
              <a:off x="7505114" y="2395728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16%</a:t>
              </a:r>
              <a:endParaRPr lang="en-US" sz="1600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1F400526-A7CF-CDAE-620C-66C20583E6A6}"/>
                </a:ext>
              </a:extLst>
            </p:cNvPr>
            <p:cNvSpPr txBox="1"/>
            <p:nvPr/>
          </p:nvSpPr>
          <p:spPr>
            <a:xfrm>
              <a:off x="640080" y="3054096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2015 ResNet</a:t>
              </a:r>
              <a:endParaRPr lang="en-US"/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2401523C-24BD-B596-73F6-8D84C728C3AC}"/>
                </a:ext>
              </a:extLst>
            </p:cNvPr>
            <p:cNvSpPr/>
            <p:nvPr/>
          </p:nvSpPr>
          <p:spPr>
            <a:xfrm>
              <a:off x="3474720" y="3127248"/>
              <a:ext cx="886265" cy="365760"/>
            </a:xfrm>
            <a:prstGeom prst="rect">
              <a:avLst/>
            </a:prstGeom>
            <a:solidFill>
              <a:srgbClr val="2F3C7E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590368ED-82D1-AE41-DE22-B650E88DF741}"/>
                </a:ext>
              </a:extLst>
            </p:cNvPr>
            <p:cNvSpPr txBox="1"/>
            <p:nvPr/>
          </p:nvSpPr>
          <p:spPr>
            <a:xfrm>
              <a:off x="4452425" y="3054096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3.6%</a:t>
              </a:r>
              <a:endParaRPr lang="en-US" sz="1600"/>
            </a:p>
          </p:txBody>
        </p:sp>
        <p:sp>
          <p:nvSpPr>
            <p:cNvPr id="32" name="Text 11">
              <a:extLst>
                <a:ext uri="{FF2B5EF4-FFF2-40B4-BE49-F238E27FC236}">
                  <a16:creationId xmlns:a16="http://schemas.microsoft.com/office/drawing/2014/main" id="{02D3A2DB-89A9-4609-38D8-F976C1980E5F}"/>
                </a:ext>
              </a:extLst>
            </p:cNvPr>
            <p:cNvSpPr txBox="1"/>
            <p:nvPr/>
          </p:nvSpPr>
          <p:spPr>
            <a:xfrm>
              <a:off x="640080" y="3712464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Human</a:t>
              </a:r>
              <a:endParaRPr lang="en-US"/>
            </a:p>
          </p:txBody>
        </p:sp>
        <p:sp>
          <p:nvSpPr>
            <p:cNvPr id="33" name="Shape 12">
              <a:extLst>
                <a:ext uri="{FF2B5EF4-FFF2-40B4-BE49-F238E27FC236}">
                  <a16:creationId xmlns:a16="http://schemas.microsoft.com/office/drawing/2014/main" id="{FBDDA5CC-1B43-B632-3B8F-64E90667089A}"/>
                </a:ext>
              </a:extLst>
            </p:cNvPr>
            <p:cNvSpPr/>
            <p:nvPr/>
          </p:nvSpPr>
          <p:spPr>
            <a:xfrm>
              <a:off x="3474720" y="3785616"/>
              <a:ext cx="1230923" cy="365760"/>
            </a:xfrm>
            <a:prstGeom prst="rect">
              <a:avLst/>
            </a:prstGeom>
            <a:solidFill>
              <a:srgbClr val="B8860B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9052BD60-0464-2034-0FBD-673B4047EE94}"/>
                </a:ext>
              </a:extLst>
            </p:cNvPr>
            <p:cNvSpPr txBox="1"/>
            <p:nvPr/>
          </p:nvSpPr>
          <p:spPr>
            <a:xfrm>
              <a:off x="4797083" y="3712464"/>
              <a:ext cx="12801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B886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5%</a:t>
              </a:r>
              <a:endParaRPr lang="en-US" sz="1600"/>
            </a:p>
          </p:txBody>
        </p:sp>
        <p:sp>
          <p:nvSpPr>
            <p:cNvPr id="35" name="Shape 14">
              <a:extLst>
                <a:ext uri="{FF2B5EF4-FFF2-40B4-BE49-F238E27FC236}">
                  <a16:creationId xmlns:a16="http://schemas.microsoft.com/office/drawing/2014/main" id="{12F15267-21BA-5F01-E719-80C08DA71A34}"/>
                </a:ext>
              </a:extLst>
            </p:cNvPr>
            <p:cNvSpPr/>
            <p:nvPr/>
          </p:nvSpPr>
          <p:spPr>
            <a:xfrm>
              <a:off x="640080" y="4617720"/>
              <a:ext cx="10881360" cy="1280160"/>
            </a:xfrm>
            <a:prstGeom prst="roundRect">
              <a:avLst>
                <a:gd name="adj" fmla="val 5714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6A441B72-416E-FD27-ABC6-207D3629D0BC}"/>
                </a:ext>
              </a:extLst>
            </p:cNvPr>
            <p:cNvSpPr txBox="1"/>
            <p:nvPr/>
          </p:nvSpPr>
          <p:spPr>
            <a:xfrm>
              <a:off x="914400" y="4754880"/>
              <a:ext cx="1033272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spcAft>
                  <a:spcPts val="600"/>
                </a:spcAft>
                <a:buNone/>
              </a:pPr>
              <a:r>
                <a:rPr lang="en-US" sz="2000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Three factors enabled the breakthrough:  </a:t>
              </a:r>
              <a:endParaRPr lang="en-US" sz="2000"/>
            </a:p>
            <a:p>
              <a:pPr marL="0" indent="0">
                <a:buNone/>
              </a:pP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Big Data (ImageNet)  ·  GPU computing (NVIDIA)  ·  algorithmic advances (ReLU, dropout).</a:t>
              </a:r>
              <a:endParaRPr lang="en-US" sz="1700"/>
            </a:p>
          </p:txBody>
        </p:sp>
      </p:grpSp>
    </p:spTree>
    <p:extLst>
      <p:ext uri="{BB962C8B-B14F-4D97-AF65-F5344CB8AC3E}">
        <p14:creationId xmlns:p14="http://schemas.microsoft.com/office/powerpoint/2010/main" val="38350368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1D6E2-046F-CA30-9EFD-E9F0D70B2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FAAA09-2A81-C45D-48BA-B9F469B5E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Part 5: </a:t>
            </a:r>
            <a:r>
              <a:rPr lang="en-US" sz="4400"/>
              <a:t>Specialized Architectures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1789B13-1047-0635-3312-1AABC1E66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</a:rPr>
              <a:t>Different data types need different network designs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47B4625-8A54-DB7C-14F7-9D9E53C3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46909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6DE6F-0E7D-4F14-82A0-045D10A76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33C67-5F51-C480-3733-A3C9C3949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Convolutional Neural Networks (CNNs)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371B6-F6C5-6260-F152-CEE52CE4E0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26065"/>
            <a:ext cx="11277600" cy="529254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Instead of looking at every pixel independently, CNNs scan for patterns with small “filters” that slide across the image.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0011DC-0691-648C-192A-734686A1C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31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5944240-E55B-1343-13CB-933FF0FBEE75}"/>
              </a:ext>
            </a:extLst>
          </p:cNvPr>
          <p:cNvGrpSpPr/>
          <p:nvPr/>
        </p:nvGrpSpPr>
        <p:grpSpPr>
          <a:xfrm>
            <a:off x="547173" y="2360326"/>
            <a:ext cx="10881360" cy="2428517"/>
            <a:chOff x="640080" y="1920240"/>
            <a:chExt cx="10881360" cy="2428517"/>
          </a:xfrm>
        </p:grpSpPr>
        <p:sp>
          <p:nvSpPr>
            <p:cNvPr id="23" name="Shape 2">
              <a:extLst>
                <a:ext uri="{FF2B5EF4-FFF2-40B4-BE49-F238E27FC236}">
                  <a16:creationId xmlns:a16="http://schemas.microsoft.com/office/drawing/2014/main" id="{1641FFB9-9FD7-B777-4AFA-E0600726F493}"/>
                </a:ext>
              </a:extLst>
            </p:cNvPr>
            <p:cNvSpPr/>
            <p:nvPr/>
          </p:nvSpPr>
          <p:spPr>
            <a:xfrm>
              <a:off x="640080" y="1920240"/>
              <a:ext cx="3703320" cy="1828800"/>
            </a:xfrm>
            <a:prstGeom prst="roundRect">
              <a:avLst>
                <a:gd name="adj" fmla="val 5000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Text 3">
              <a:extLst>
                <a:ext uri="{FF2B5EF4-FFF2-40B4-BE49-F238E27FC236}">
                  <a16:creationId xmlns:a16="http://schemas.microsoft.com/office/drawing/2014/main" id="{818EF954-9296-C517-FA42-699284655685}"/>
                </a:ext>
              </a:extLst>
            </p:cNvPr>
            <p:cNvSpPr txBox="1"/>
            <p:nvPr/>
          </p:nvSpPr>
          <p:spPr>
            <a:xfrm>
              <a:off x="868680" y="205740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 1</a:t>
              </a:r>
              <a:endParaRPr lang="en-US" sz="2000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6F7889A5-FEE4-FCA2-045F-16DA79C36991}"/>
                </a:ext>
              </a:extLst>
            </p:cNvPr>
            <p:cNvSpPr txBox="1"/>
            <p:nvPr/>
          </p:nvSpPr>
          <p:spPr>
            <a:xfrm>
              <a:off x="868680" y="2560320"/>
              <a:ext cx="329184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Detects edges and simple lines</a:t>
              </a:r>
              <a:endParaRPr lang="en-US"/>
            </a:p>
          </p:txBody>
        </p:sp>
        <p:sp>
          <p:nvSpPr>
            <p:cNvPr id="26" name="Shape 5">
              <a:extLst>
                <a:ext uri="{FF2B5EF4-FFF2-40B4-BE49-F238E27FC236}">
                  <a16:creationId xmlns:a16="http://schemas.microsoft.com/office/drawing/2014/main" id="{1F676C47-CECA-F365-29BE-49091FE72D6E}"/>
                </a:ext>
              </a:extLst>
            </p:cNvPr>
            <p:cNvSpPr/>
            <p:nvPr/>
          </p:nvSpPr>
          <p:spPr>
            <a:xfrm>
              <a:off x="4343400" y="2834640"/>
              <a:ext cx="521208" cy="0"/>
            </a:xfrm>
            <a:prstGeom prst="line">
              <a:avLst/>
            </a:prstGeom>
            <a:noFill/>
            <a:ln w="3175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FB48C3D9-3917-B7E0-AAA9-302DD7C807B1}"/>
                </a:ext>
              </a:extLst>
            </p:cNvPr>
            <p:cNvSpPr/>
            <p:nvPr/>
          </p:nvSpPr>
          <p:spPr>
            <a:xfrm>
              <a:off x="4224528" y="1920240"/>
              <a:ext cx="3703320" cy="1828800"/>
            </a:xfrm>
            <a:prstGeom prst="roundRect">
              <a:avLst>
                <a:gd name="adj" fmla="val 5000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A025E202-D10B-53A9-937C-98ACDF565A8C}"/>
                </a:ext>
              </a:extLst>
            </p:cNvPr>
            <p:cNvSpPr txBox="1"/>
            <p:nvPr/>
          </p:nvSpPr>
          <p:spPr>
            <a:xfrm>
              <a:off x="4453128" y="205740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Layers 2–3</a:t>
              </a:r>
              <a:endParaRPr lang="en-US" sz="2000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A3BE9D4D-0350-8070-C745-71EEADB14BB8}"/>
                </a:ext>
              </a:extLst>
            </p:cNvPr>
            <p:cNvSpPr txBox="1"/>
            <p:nvPr/>
          </p:nvSpPr>
          <p:spPr>
            <a:xfrm>
              <a:off x="4453128" y="2560320"/>
              <a:ext cx="329184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Combines them into shapes &amp; textures</a:t>
              </a:r>
              <a:endParaRPr lang="en-US"/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037EA6C8-A937-025F-2181-55A315FBA33A}"/>
                </a:ext>
              </a:extLst>
            </p:cNvPr>
            <p:cNvSpPr/>
            <p:nvPr/>
          </p:nvSpPr>
          <p:spPr>
            <a:xfrm>
              <a:off x="7927848" y="2834640"/>
              <a:ext cx="521208" cy="0"/>
            </a:xfrm>
            <a:prstGeom prst="line">
              <a:avLst/>
            </a:prstGeom>
            <a:noFill/>
            <a:ln w="3175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1" name="Shape 10">
              <a:extLst>
                <a:ext uri="{FF2B5EF4-FFF2-40B4-BE49-F238E27FC236}">
                  <a16:creationId xmlns:a16="http://schemas.microsoft.com/office/drawing/2014/main" id="{D6DA3DEA-D3FA-8500-586F-3C9A5A669468}"/>
                </a:ext>
              </a:extLst>
            </p:cNvPr>
            <p:cNvSpPr/>
            <p:nvPr/>
          </p:nvSpPr>
          <p:spPr>
            <a:xfrm>
              <a:off x="7808976" y="1920240"/>
              <a:ext cx="3703320" cy="1828800"/>
            </a:xfrm>
            <a:prstGeom prst="roundRect">
              <a:avLst>
                <a:gd name="adj" fmla="val 5000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" name="Text 11">
              <a:extLst>
                <a:ext uri="{FF2B5EF4-FFF2-40B4-BE49-F238E27FC236}">
                  <a16:creationId xmlns:a16="http://schemas.microsoft.com/office/drawing/2014/main" id="{37CE2439-44AD-133A-E692-599250FCBECE}"/>
                </a:ext>
              </a:extLst>
            </p:cNvPr>
            <p:cNvSpPr txBox="1"/>
            <p:nvPr/>
          </p:nvSpPr>
          <p:spPr>
            <a:xfrm>
              <a:off x="8037576" y="2057400"/>
              <a:ext cx="329184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layers</a:t>
              </a:r>
              <a:endParaRPr lang="en-US" sz="2000"/>
            </a:p>
          </p:txBody>
        </p:sp>
        <p:sp>
          <p:nvSpPr>
            <p:cNvPr id="33" name="Text 12">
              <a:extLst>
                <a:ext uri="{FF2B5EF4-FFF2-40B4-BE49-F238E27FC236}">
                  <a16:creationId xmlns:a16="http://schemas.microsoft.com/office/drawing/2014/main" id="{844CCCA9-D374-42F1-35F1-2D12F0C16F9F}"/>
                </a:ext>
              </a:extLst>
            </p:cNvPr>
            <p:cNvSpPr txBox="1"/>
            <p:nvPr/>
          </p:nvSpPr>
          <p:spPr>
            <a:xfrm>
              <a:off x="8037576" y="2560320"/>
              <a:ext cx="3291840" cy="10058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Recognizes objects (faces, cars, cats)</a:t>
              </a:r>
              <a:endParaRPr lang="en-US"/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4BFE133B-8077-66BE-6CD4-12810BF23CAD}"/>
                </a:ext>
              </a:extLst>
            </p:cNvPr>
            <p:cNvSpPr txBox="1"/>
            <p:nvPr/>
          </p:nvSpPr>
          <p:spPr>
            <a:xfrm>
              <a:off x="640080" y="3891557"/>
              <a:ext cx="1088136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i="1">
                  <a:solidFill>
                    <a:srgbClr val="6D2E46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Used in: face recognition, medical imaging, self-driving cars, photo filters.</a:t>
              </a:r>
              <a:endParaRPr lang="en-US"/>
            </a:p>
          </p:txBody>
        </p:sp>
      </p:grpSp>
      <p:pic>
        <p:nvPicPr>
          <p:cNvPr id="36" name="Picture 2">
            <a:extLst>
              <a:ext uri="{FF2B5EF4-FFF2-40B4-BE49-F238E27FC236}">
                <a16:creationId xmlns:a16="http://schemas.microsoft.com/office/drawing/2014/main" id="{2CCAEAC5-EC11-D4A6-3EAB-2FBD252FDD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15" r="3489" b="6610"/>
          <a:stretch/>
        </p:blipFill>
        <p:spPr bwMode="auto">
          <a:xfrm>
            <a:off x="659639" y="4812216"/>
            <a:ext cx="6617342" cy="1960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0CE3A563-9BB5-2D89-2D98-44CE19AA5D91}"/>
              </a:ext>
            </a:extLst>
          </p:cNvPr>
          <p:cNvSpPr txBox="1"/>
          <p:nvPr/>
        </p:nvSpPr>
        <p:spPr>
          <a:xfrm>
            <a:off x="7620000" y="6603194"/>
            <a:ext cx="4572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9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/>
              <a:t>https://towardsdatascience.com/convolutional-neural-networks-explained-9cc5188c4939</a:t>
            </a:r>
          </a:p>
        </p:txBody>
      </p:sp>
    </p:spTree>
    <p:extLst>
      <p:ext uri="{BB962C8B-B14F-4D97-AF65-F5344CB8AC3E}">
        <p14:creationId xmlns:p14="http://schemas.microsoft.com/office/powerpoint/2010/main" val="18314155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B81DC-FC48-1B1A-F9CF-E55A92C7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D878B9-7FE9-C2E8-1F66-DEC48A62F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Recurrent Neural Networks (RNNs)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60F1B1A-A704-8742-66DB-0ACEC426E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63515"/>
            <a:ext cx="11277600" cy="5292545"/>
          </a:xfrm>
        </p:spPr>
        <p:txBody>
          <a:bodyPr/>
          <a:lstStyle/>
          <a:p>
            <a:r>
              <a:rPr lang="en-US"/>
              <a:t>RNNs have “memory” — they remember what came before while processing the current input.</a:t>
            </a:r>
          </a:p>
          <a:p>
            <a:r>
              <a:rPr lang="en-US"/>
              <a:t>Predicting the next word: “The cat sat on the ___” — the RNN uses “cat / sat / on / the” to predict “mat.”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7E1C10-C2A4-E6A6-5FBD-83C6B0946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32</a:t>
            </a:fld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ECEE98-724E-5FF7-9359-AC6E7E84FC2E}"/>
              </a:ext>
            </a:extLst>
          </p:cNvPr>
          <p:cNvGrpSpPr/>
          <p:nvPr/>
        </p:nvGrpSpPr>
        <p:grpSpPr>
          <a:xfrm>
            <a:off x="607375" y="2505065"/>
            <a:ext cx="10908792" cy="2011680"/>
            <a:chOff x="640080" y="3566160"/>
            <a:chExt cx="10908792" cy="2011680"/>
          </a:xfrm>
        </p:grpSpPr>
        <p:sp>
          <p:nvSpPr>
            <p:cNvPr id="19" name="Shape 2">
              <a:extLst>
                <a:ext uri="{FF2B5EF4-FFF2-40B4-BE49-F238E27FC236}">
                  <a16:creationId xmlns:a16="http://schemas.microsoft.com/office/drawing/2014/main" id="{747928E0-FECD-2672-9413-2384446EC967}"/>
                </a:ext>
              </a:extLst>
            </p:cNvPr>
            <p:cNvSpPr/>
            <p:nvPr/>
          </p:nvSpPr>
          <p:spPr>
            <a:xfrm>
              <a:off x="640080" y="3566160"/>
              <a:ext cx="5193792" cy="2011680"/>
            </a:xfrm>
            <a:prstGeom prst="roundRect">
              <a:avLst>
                <a:gd name="adj" fmla="val 454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3E6D7C5E-8258-95FC-DE23-8C9A3C0932F2}"/>
                </a:ext>
              </a:extLst>
            </p:cNvPr>
            <p:cNvSpPr/>
            <p:nvPr/>
          </p:nvSpPr>
          <p:spPr>
            <a:xfrm>
              <a:off x="640080" y="356616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2CB70601-83A9-55FD-CB4F-A527813A9A5A}"/>
                </a:ext>
              </a:extLst>
            </p:cNvPr>
            <p:cNvSpPr txBox="1"/>
            <p:nvPr/>
          </p:nvSpPr>
          <p:spPr>
            <a:xfrm>
              <a:off x="822960" y="356616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Limitation</a:t>
              </a:r>
              <a:endParaRPr lang="en-US" sz="1800"/>
            </a:p>
          </p:txBody>
        </p:sp>
        <p:sp>
          <p:nvSpPr>
            <p:cNvPr id="22" name="Text 5">
              <a:extLst>
                <a:ext uri="{FF2B5EF4-FFF2-40B4-BE49-F238E27FC236}">
                  <a16:creationId xmlns:a16="http://schemas.microsoft.com/office/drawing/2014/main" id="{C62343E9-9C6B-9460-4C85-C27947787B7E}"/>
                </a:ext>
              </a:extLst>
            </p:cNvPr>
            <p:cNvSpPr txBox="1"/>
            <p:nvPr/>
          </p:nvSpPr>
          <p:spPr>
            <a:xfrm>
              <a:off x="960120" y="4480560"/>
              <a:ext cx="45994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16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Struggles with very long sequences</a:t>
              </a:r>
              <a:endParaRPr lang="en-US" sz="1600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16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Earlier context fades ('vanishing memory')</a:t>
              </a:r>
              <a:endParaRPr lang="en-US" sz="1600"/>
            </a:p>
          </p:txBody>
        </p:sp>
        <p:sp>
          <p:nvSpPr>
            <p:cNvPr id="23" name="Shape 6">
              <a:extLst>
                <a:ext uri="{FF2B5EF4-FFF2-40B4-BE49-F238E27FC236}">
                  <a16:creationId xmlns:a16="http://schemas.microsoft.com/office/drawing/2014/main" id="{33BF3BAB-4EFF-0F61-E23C-A37BC1A81396}"/>
                </a:ext>
              </a:extLst>
            </p:cNvPr>
            <p:cNvSpPr/>
            <p:nvPr/>
          </p:nvSpPr>
          <p:spPr>
            <a:xfrm>
              <a:off x="6355080" y="3566160"/>
              <a:ext cx="5193792" cy="2011680"/>
            </a:xfrm>
            <a:prstGeom prst="roundRect">
              <a:avLst>
                <a:gd name="adj" fmla="val 454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FB1F536F-38C6-50B8-6059-14AED411AFF3}"/>
                </a:ext>
              </a:extLst>
            </p:cNvPr>
            <p:cNvSpPr/>
            <p:nvPr/>
          </p:nvSpPr>
          <p:spPr>
            <a:xfrm>
              <a:off x="6355080" y="356616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C5F2D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18916668-E29A-95A3-5BD0-BBB2DCDB6CBF}"/>
                </a:ext>
              </a:extLst>
            </p:cNvPr>
            <p:cNvSpPr txBox="1"/>
            <p:nvPr/>
          </p:nvSpPr>
          <p:spPr>
            <a:xfrm>
              <a:off x="6537960" y="356616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8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Solution → Transformers</a:t>
              </a:r>
              <a:endParaRPr lang="en-US" sz="1800"/>
            </a:p>
          </p:txBody>
        </p:sp>
        <p:sp>
          <p:nvSpPr>
            <p:cNvPr id="26" name="Text 9">
              <a:extLst>
                <a:ext uri="{FF2B5EF4-FFF2-40B4-BE49-F238E27FC236}">
                  <a16:creationId xmlns:a16="http://schemas.microsoft.com/office/drawing/2014/main" id="{B5D5B352-8021-FAF4-2399-BFB058D83235}"/>
                </a:ext>
              </a:extLst>
            </p:cNvPr>
            <p:cNvSpPr txBox="1"/>
            <p:nvPr/>
          </p:nvSpPr>
          <p:spPr>
            <a:xfrm>
              <a:off x="6675120" y="4480560"/>
              <a:ext cx="45994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16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Look at all words at once</a:t>
              </a:r>
              <a:endParaRPr lang="en-US" sz="1600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sz="16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Coming up next…</a:t>
              </a:r>
              <a:endParaRPr lang="en-US" sz="160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AC5127DD-77B3-E379-2C00-B1F0A2E159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75" y="4592798"/>
            <a:ext cx="5943825" cy="2231842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126DD7DA-DEF2-F3D5-CDA0-2A3B535598D1}"/>
              </a:ext>
            </a:extLst>
          </p:cNvPr>
          <p:cNvSpPr txBox="1"/>
          <p:nvPr/>
        </p:nvSpPr>
        <p:spPr>
          <a:xfrm>
            <a:off x="7483623" y="6559518"/>
            <a:ext cx="265329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>
                <a:solidFill>
                  <a:schemeClr val="bg1">
                    <a:lumMod val="65000"/>
                  </a:schemeClr>
                </a:solidFill>
              </a:rPr>
              <a:t>https://hastie.su.domains/ISLR2/ISLRv2_website.pdf</a:t>
            </a:r>
          </a:p>
        </p:txBody>
      </p:sp>
    </p:spTree>
    <p:extLst>
      <p:ext uri="{BB962C8B-B14F-4D97-AF65-F5344CB8AC3E}">
        <p14:creationId xmlns:p14="http://schemas.microsoft.com/office/powerpoint/2010/main" val="3770099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9F02-707B-9F32-9C8E-9B0B70B26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5883-58F4-7EBF-A0F6-3AB9793F0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Transformers: The Attention Mechanism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EED69EF-A07A-BF61-0C5E-00D1C8B9F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44039"/>
            <a:ext cx="11277600" cy="529254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Google, 2017 — “Attention Is All You Need”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A0D0E6-9F8D-799F-FB98-FBC3C0D87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33</a:t>
            </a:fld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D98E9A-3B8C-4054-1D41-B420790181C7}"/>
              </a:ext>
            </a:extLst>
          </p:cNvPr>
          <p:cNvGrpSpPr/>
          <p:nvPr/>
        </p:nvGrpSpPr>
        <p:grpSpPr>
          <a:xfrm>
            <a:off x="532504" y="1898236"/>
            <a:ext cx="10908792" cy="4434840"/>
            <a:chOff x="640080" y="1463040"/>
            <a:chExt cx="10908792" cy="4434840"/>
          </a:xfrm>
        </p:grpSpPr>
        <p:sp>
          <p:nvSpPr>
            <p:cNvPr id="17" name="Shape 2">
              <a:extLst>
                <a:ext uri="{FF2B5EF4-FFF2-40B4-BE49-F238E27FC236}">
                  <a16:creationId xmlns:a16="http://schemas.microsoft.com/office/drawing/2014/main" id="{88C1A46F-BC18-DF94-10A3-19E7DC97F24D}"/>
                </a:ext>
              </a:extLst>
            </p:cNvPr>
            <p:cNvSpPr/>
            <p:nvPr/>
          </p:nvSpPr>
          <p:spPr>
            <a:xfrm>
              <a:off x="640080" y="1463040"/>
              <a:ext cx="10881360" cy="1234440"/>
            </a:xfrm>
            <a:prstGeom prst="roundRect">
              <a:avLst>
                <a:gd name="adj" fmla="val 7407"/>
              </a:avLst>
            </a:prstGeom>
            <a:solidFill>
              <a:srgbClr val="E7EFE7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8" name="Text 3">
              <a:extLst>
                <a:ext uri="{FF2B5EF4-FFF2-40B4-BE49-F238E27FC236}">
                  <a16:creationId xmlns:a16="http://schemas.microsoft.com/office/drawing/2014/main" id="{8F683FF0-07BD-58CD-1A66-8EB26C0C50DB}"/>
                </a:ext>
              </a:extLst>
            </p:cNvPr>
            <p:cNvSpPr txBox="1"/>
            <p:nvPr/>
          </p:nvSpPr>
          <p:spPr>
            <a:xfrm>
              <a:off x="914400" y="155448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Core idea</a:t>
              </a:r>
              <a:endParaRPr lang="en-US"/>
            </a:p>
          </p:txBody>
        </p:sp>
        <p:sp>
          <p:nvSpPr>
            <p:cNvPr id="19" name="Text 4">
              <a:extLst>
                <a:ext uri="{FF2B5EF4-FFF2-40B4-BE49-F238E27FC236}">
                  <a16:creationId xmlns:a16="http://schemas.microsoft.com/office/drawing/2014/main" id="{EF6799D1-97E5-414D-C583-AD71B5E2EBCF}"/>
                </a:ext>
              </a:extLst>
            </p:cNvPr>
            <p:cNvSpPr txBox="1"/>
            <p:nvPr/>
          </p:nvSpPr>
          <p:spPr>
            <a:xfrm>
              <a:off x="914400" y="1920240"/>
              <a:ext cx="1005840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When processing each word, look back at ALL other words and focus on the most relevant ones.  “The animal didn’t cross the street because IT was too tired” → attention links “it” to “animal,” not “street.”</a:t>
              </a:r>
              <a:endParaRPr lang="en-US"/>
            </a:p>
          </p:txBody>
        </p:sp>
        <p:sp>
          <p:nvSpPr>
            <p:cNvPr id="20" name="Shape 5">
              <a:extLst>
                <a:ext uri="{FF2B5EF4-FFF2-40B4-BE49-F238E27FC236}">
                  <a16:creationId xmlns:a16="http://schemas.microsoft.com/office/drawing/2014/main" id="{9830E89E-49A5-EDD9-E16E-94FFBE37CFB6}"/>
                </a:ext>
              </a:extLst>
            </p:cNvPr>
            <p:cNvSpPr/>
            <p:nvPr/>
          </p:nvSpPr>
          <p:spPr>
            <a:xfrm>
              <a:off x="640080" y="2834640"/>
              <a:ext cx="5193792" cy="2011680"/>
            </a:xfrm>
            <a:prstGeom prst="roundRect">
              <a:avLst>
                <a:gd name="adj" fmla="val 454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1" name="Shape 6">
              <a:extLst>
                <a:ext uri="{FF2B5EF4-FFF2-40B4-BE49-F238E27FC236}">
                  <a16:creationId xmlns:a16="http://schemas.microsoft.com/office/drawing/2014/main" id="{1EED6A7D-BA01-5180-D336-9EF462B3B1F1}"/>
                </a:ext>
              </a:extLst>
            </p:cNvPr>
            <p:cNvSpPr/>
            <p:nvPr/>
          </p:nvSpPr>
          <p:spPr>
            <a:xfrm>
              <a:off x="640080" y="283464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7">
              <a:extLst>
                <a:ext uri="{FF2B5EF4-FFF2-40B4-BE49-F238E27FC236}">
                  <a16:creationId xmlns:a16="http://schemas.microsoft.com/office/drawing/2014/main" id="{7A200D22-4460-00E9-2E8C-C8F7D5AAD2B1}"/>
                </a:ext>
              </a:extLst>
            </p:cNvPr>
            <p:cNvSpPr txBox="1"/>
            <p:nvPr/>
          </p:nvSpPr>
          <p:spPr>
            <a:xfrm>
              <a:off x="822960" y="283464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RNN (old)</a:t>
              </a:r>
              <a:endParaRPr lang="en-US" sz="2000"/>
            </a:p>
          </p:txBody>
        </p:sp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46E56960-A581-9E54-AA16-844F408B96A8}"/>
                </a:ext>
              </a:extLst>
            </p:cNvPr>
            <p:cNvSpPr txBox="1"/>
            <p:nvPr/>
          </p:nvSpPr>
          <p:spPr>
            <a:xfrm>
              <a:off x="960120" y="3749040"/>
              <a:ext cx="45994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Words processed one at a time</a:t>
              </a:r>
              <a:endParaRPr lang="en-US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Slow; loses long-range context</a:t>
              </a:r>
              <a:endParaRPr lang="en-US"/>
            </a:p>
          </p:txBody>
        </p:sp>
        <p:sp>
          <p:nvSpPr>
            <p:cNvPr id="24" name="Shape 9">
              <a:extLst>
                <a:ext uri="{FF2B5EF4-FFF2-40B4-BE49-F238E27FC236}">
                  <a16:creationId xmlns:a16="http://schemas.microsoft.com/office/drawing/2014/main" id="{D024A457-724C-4CF9-A5F1-D81BD63E0B55}"/>
                </a:ext>
              </a:extLst>
            </p:cNvPr>
            <p:cNvSpPr/>
            <p:nvPr/>
          </p:nvSpPr>
          <p:spPr>
            <a:xfrm>
              <a:off x="6355080" y="2834640"/>
              <a:ext cx="5193792" cy="2011680"/>
            </a:xfrm>
            <a:prstGeom prst="roundRect">
              <a:avLst>
                <a:gd name="adj" fmla="val 454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5" name="Shape 10">
              <a:extLst>
                <a:ext uri="{FF2B5EF4-FFF2-40B4-BE49-F238E27FC236}">
                  <a16:creationId xmlns:a16="http://schemas.microsoft.com/office/drawing/2014/main" id="{5BAC26AB-8D58-6143-48CC-BEF733019288}"/>
                </a:ext>
              </a:extLst>
            </p:cNvPr>
            <p:cNvSpPr/>
            <p:nvPr/>
          </p:nvSpPr>
          <p:spPr>
            <a:xfrm>
              <a:off x="6355080" y="283464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Text 11">
              <a:extLst>
                <a:ext uri="{FF2B5EF4-FFF2-40B4-BE49-F238E27FC236}">
                  <a16:creationId xmlns:a16="http://schemas.microsoft.com/office/drawing/2014/main" id="{CFFFA434-4ACA-8DF8-01D2-026C4CD39A6F}"/>
                </a:ext>
              </a:extLst>
            </p:cNvPr>
            <p:cNvSpPr txBox="1"/>
            <p:nvPr/>
          </p:nvSpPr>
          <p:spPr>
            <a:xfrm>
              <a:off x="6537960" y="283464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Transformer (new)</a:t>
              </a:r>
              <a:endParaRPr lang="en-US" sz="2000"/>
            </a:p>
          </p:txBody>
        </p:sp>
        <p:sp>
          <p:nvSpPr>
            <p:cNvPr id="27" name="Text 12">
              <a:extLst>
                <a:ext uri="{FF2B5EF4-FFF2-40B4-BE49-F238E27FC236}">
                  <a16:creationId xmlns:a16="http://schemas.microsoft.com/office/drawing/2014/main" id="{BB6F301E-2D68-38F3-DCB8-EB9A3EF86333}"/>
                </a:ext>
              </a:extLst>
            </p:cNvPr>
            <p:cNvSpPr txBox="1"/>
            <p:nvPr/>
          </p:nvSpPr>
          <p:spPr>
            <a:xfrm>
              <a:off x="6675120" y="3749040"/>
              <a:ext cx="4599432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All words at once (parallel)</a:t>
              </a:r>
              <a:endParaRPr lang="en-US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Attention finds the connections</a:t>
              </a:r>
              <a:endParaRPr lang="en-US"/>
            </a:p>
          </p:txBody>
        </p:sp>
        <p:sp>
          <p:nvSpPr>
            <p:cNvPr id="28" name="Shape 13">
              <a:extLst>
                <a:ext uri="{FF2B5EF4-FFF2-40B4-BE49-F238E27FC236}">
                  <a16:creationId xmlns:a16="http://schemas.microsoft.com/office/drawing/2014/main" id="{1608ADEE-CF69-219E-F0C1-91AA2214CCEE}"/>
                </a:ext>
              </a:extLst>
            </p:cNvPr>
            <p:cNvSpPr/>
            <p:nvPr/>
          </p:nvSpPr>
          <p:spPr>
            <a:xfrm>
              <a:off x="640080" y="5029200"/>
              <a:ext cx="10881360" cy="868680"/>
            </a:xfrm>
            <a:prstGeom prst="roundRect">
              <a:avLst>
                <a:gd name="adj" fmla="val 8421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Text 14">
              <a:extLst>
                <a:ext uri="{FF2B5EF4-FFF2-40B4-BE49-F238E27FC236}">
                  <a16:creationId xmlns:a16="http://schemas.microsoft.com/office/drawing/2014/main" id="{FD3BEEDE-8C8A-8FE7-0995-D14D7F594532}"/>
                </a:ext>
              </a:extLst>
            </p:cNvPr>
            <p:cNvSpPr txBox="1"/>
            <p:nvPr/>
          </p:nvSpPr>
          <p:spPr>
            <a:xfrm>
              <a:off x="914400" y="5074920"/>
              <a:ext cx="103327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Powers GPT (ChatGPT), BERT (Google Search), Claude, DALL·E, and more — faster training and better context.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4940050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45D25-6B92-D323-D3D9-C7C5BD36EF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26838-D815-3585-E571-3B8967890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Large Language Models (LLMs)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021B803-4735-0587-18A3-507BDFBD0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Transformers scaled up to unprecedented sizes — the scale revolution: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9EAC45-FE02-4716-8E52-4A4BF1D76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34</a:t>
            </a:fld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9E2754C-D19B-952C-D350-77AD17397520}"/>
              </a:ext>
            </a:extLst>
          </p:cNvPr>
          <p:cNvGrpSpPr/>
          <p:nvPr/>
        </p:nvGrpSpPr>
        <p:grpSpPr>
          <a:xfrm>
            <a:off x="615232" y="2030564"/>
            <a:ext cx="12345394" cy="3703320"/>
            <a:chOff x="640080" y="1737360"/>
            <a:chExt cx="13990320" cy="3703320"/>
          </a:xfrm>
        </p:grpSpPr>
        <p:sp>
          <p:nvSpPr>
            <p:cNvPr id="23" name="Text 2">
              <a:extLst>
                <a:ext uri="{FF2B5EF4-FFF2-40B4-BE49-F238E27FC236}">
                  <a16:creationId xmlns:a16="http://schemas.microsoft.com/office/drawing/2014/main" id="{10E832F4-411A-35A1-910F-5970DDB73D0D}"/>
                </a:ext>
              </a:extLst>
            </p:cNvPr>
            <p:cNvSpPr txBox="1"/>
            <p:nvPr/>
          </p:nvSpPr>
          <p:spPr>
            <a:xfrm>
              <a:off x="640080" y="1737360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GPT-1 (2018)</a:t>
              </a:r>
              <a:endParaRPr lang="en-US"/>
            </a:p>
          </p:txBody>
        </p:sp>
        <p:sp>
          <p:nvSpPr>
            <p:cNvPr id="24" name="Shape 3">
              <a:extLst>
                <a:ext uri="{FF2B5EF4-FFF2-40B4-BE49-F238E27FC236}">
                  <a16:creationId xmlns:a16="http://schemas.microsoft.com/office/drawing/2014/main" id="{64D71346-F753-E153-AB9A-253CD3C8FD20}"/>
                </a:ext>
              </a:extLst>
            </p:cNvPr>
            <p:cNvSpPr/>
            <p:nvPr/>
          </p:nvSpPr>
          <p:spPr>
            <a:xfrm>
              <a:off x="3108960" y="1810512"/>
              <a:ext cx="1371600" cy="365760"/>
            </a:xfrm>
            <a:prstGeom prst="rect">
              <a:avLst/>
            </a:prstGeom>
            <a:solidFill>
              <a:srgbClr val="5F5F5F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5" name="Text 4">
              <a:extLst>
                <a:ext uri="{FF2B5EF4-FFF2-40B4-BE49-F238E27FC236}">
                  <a16:creationId xmlns:a16="http://schemas.microsoft.com/office/drawing/2014/main" id="{A7A7F277-2CB1-841F-1DD0-20955791F416}"/>
                </a:ext>
              </a:extLst>
            </p:cNvPr>
            <p:cNvSpPr txBox="1"/>
            <p:nvPr/>
          </p:nvSpPr>
          <p:spPr>
            <a:xfrm>
              <a:off x="4572000" y="1737360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5F5F5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117M parameters</a:t>
              </a:r>
              <a:endParaRPr lang="en-US"/>
            </a:p>
          </p:txBody>
        </p:sp>
        <p:sp>
          <p:nvSpPr>
            <p:cNvPr id="26" name="Text 5">
              <a:extLst>
                <a:ext uri="{FF2B5EF4-FFF2-40B4-BE49-F238E27FC236}">
                  <a16:creationId xmlns:a16="http://schemas.microsoft.com/office/drawing/2014/main" id="{276BF63D-2128-9235-A826-A5D729602EBD}"/>
                </a:ext>
              </a:extLst>
            </p:cNvPr>
            <p:cNvSpPr txBox="1"/>
            <p:nvPr/>
          </p:nvSpPr>
          <p:spPr>
            <a:xfrm>
              <a:off x="640080" y="2395728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GPT-2 (2019)</a:t>
              </a:r>
              <a:endParaRPr lang="en-US"/>
            </a:p>
          </p:txBody>
        </p:sp>
        <p:sp>
          <p:nvSpPr>
            <p:cNvPr id="27" name="Shape 6">
              <a:extLst>
                <a:ext uri="{FF2B5EF4-FFF2-40B4-BE49-F238E27FC236}">
                  <a16:creationId xmlns:a16="http://schemas.microsoft.com/office/drawing/2014/main" id="{94D46C58-6160-3619-4145-F2A4701524B2}"/>
                </a:ext>
              </a:extLst>
            </p:cNvPr>
            <p:cNvSpPr/>
            <p:nvPr/>
          </p:nvSpPr>
          <p:spPr>
            <a:xfrm>
              <a:off x="3108960" y="2468880"/>
              <a:ext cx="2743200" cy="365760"/>
            </a:xfrm>
            <a:prstGeom prst="rect">
              <a:avLst/>
            </a:prstGeom>
            <a:solidFill>
              <a:srgbClr val="2F3C7E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Text 7">
              <a:extLst>
                <a:ext uri="{FF2B5EF4-FFF2-40B4-BE49-F238E27FC236}">
                  <a16:creationId xmlns:a16="http://schemas.microsoft.com/office/drawing/2014/main" id="{8303C046-2865-1144-F910-8A3BB6C7003B}"/>
                </a:ext>
              </a:extLst>
            </p:cNvPr>
            <p:cNvSpPr txBox="1"/>
            <p:nvPr/>
          </p:nvSpPr>
          <p:spPr>
            <a:xfrm>
              <a:off x="5943600" y="2395728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F3C7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1.5B parameters</a:t>
              </a:r>
              <a:endParaRPr lang="en-US"/>
            </a:p>
          </p:txBody>
        </p:sp>
        <p:sp>
          <p:nvSpPr>
            <p:cNvPr id="29" name="Text 8">
              <a:extLst>
                <a:ext uri="{FF2B5EF4-FFF2-40B4-BE49-F238E27FC236}">
                  <a16:creationId xmlns:a16="http://schemas.microsoft.com/office/drawing/2014/main" id="{62179297-C2B2-E058-FBA3-EFA01C0968D2}"/>
                </a:ext>
              </a:extLst>
            </p:cNvPr>
            <p:cNvSpPr txBox="1"/>
            <p:nvPr/>
          </p:nvSpPr>
          <p:spPr>
            <a:xfrm>
              <a:off x="640080" y="3054096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GPT-3 (2020)</a:t>
              </a:r>
              <a:endParaRPr lang="en-US"/>
            </a:p>
          </p:txBody>
        </p:sp>
        <p:sp>
          <p:nvSpPr>
            <p:cNvPr id="30" name="Shape 9">
              <a:extLst>
                <a:ext uri="{FF2B5EF4-FFF2-40B4-BE49-F238E27FC236}">
                  <a16:creationId xmlns:a16="http://schemas.microsoft.com/office/drawing/2014/main" id="{EC93B993-328F-695D-EABF-06D0064E1DAC}"/>
                </a:ext>
              </a:extLst>
            </p:cNvPr>
            <p:cNvSpPr/>
            <p:nvPr/>
          </p:nvSpPr>
          <p:spPr>
            <a:xfrm>
              <a:off x="3108960" y="3127248"/>
              <a:ext cx="5943600" cy="365760"/>
            </a:xfrm>
            <a:prstGeom prst="rect">
              <a:avLst/>
            </a:prstGeom>
            <a:solidFill>
              <a:srgbClr val="2C5F2D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1" name="Text 10">
              <a:extLst>
                <a:ext uri="{FF2B5EF4-FFF2-40B4-BE49-F238E27FC236}">
                  <a16:creationId xmlns:a16="http://schemas.microsoft.com/office/drawing/2014/main" id="{0FAF7A0A-7B16-2CF1-5955-A52BCE24E47C}"/>
                </a:ext>
              </a:extLst>
            </p:cNvPr>
            <p:cNvSpPr txBox="1"/>
            <p:nvPr/>
          </p:nvSpPr>
          <p:spPr>
            <a:xfrm>
              <a:off x="9144000" y="3054096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2C5F2D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175B parameters</a:t>
              </a:r>
              <a:endParaRPr lang="en-US"/>
            </a:p>
          </p:txBody>
        </p:sp>
        <p:sp>
          <p:nvSpPr>
            <p:cNvPr id="32" name="Text 11">
              <a:extLst>
                <a:ext uri="{FF2B5EF4-FFF2-40B4-BE49-F238E27FC236}">
                  <a16:creationId xmlns:a16="http://schemas.microsoft.com/office/drawing/2014/main" id="{F5F9E65E-876A-0E4A-749C-C3D657D6ACDE}"/>
                </a:ext>
              </a:extLst>
            </p:cNvPr>
            <p:cNvSpPr txBox="1"/>
            <p:nvPr/>
          </p:nvSpPr>
          <p:spPr>
            <a:xfrm>
              <a:off x="640080" y="3712464"/>
              <a:ext cx="237744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GPT-4 (2023)</a:t>
              </a:r>
              <a:endParaRPr lang="en-US"/>
            </a:p>
          </p:txBody>
        </p:sp>
        <p:sp>
          <p:nvSpPr>
            <p:cNvPr id="33" name="Shape 12">
              <a:extLst>
                <a:ext uri="{FF2B5EF4-FFF2-40B4-BE49-F238E27FC236}">
                  <a16:creationId xmlns:a16="http://schemas.microsoft.com/office/drawing/2014/main" id="{6E8038CE-3AEA-7AD5-DB65-8D769D7BDC1F}"/>
                </a:ext>
              </a:extLst>
            </p:cNvPr>
            <p:cNvSpPr/>
            <p:nvPr/>
          </p:nvSpPr>
          <p:spPr>
            <a:xfrm>
              <a:off x="3108960" y="3785616"/>
              <a:ext cx="8686800" cy="365760"/>
            </a:xfrm>
            <a:prstGeom prst="rect">
              <a:avLst/>
            </a:prstGeom>
            <a:solidFill>
              <a:srgbClr val="C8102E"/>
            </a:solidFill>
            <a:ln/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4" name="Text 13">
              <a:extLst>
                <a:ext uri="{FF2B5EF4-FFF2-40B4-BE49-F238E27FC236}">
                  <a16:creationId xmlns:a16="http://schemas.microsoft.com/office/drawing/2014/main" id="{779F2BCF-5C6A-ABDF-2793-CE2FA7BDD256}"/>
                </a:ext>
              </a:extLst>
            </p:cNvPr>
            <p:cNvSpPr txBox="1"/>
            <p:nvPr/>
          </p:nvSpPr>
          <p:spPr>
            <a:xfrm>
              <a:off x="11887200" y="3712464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~1T+ parameters</a:t>
              </a:r>
              <a:endParaRPr lang="en-US"/>
            </a:p>
          </p:txBody>
        </p:sp>
        <p:sp>
          <p:nvSpPr>
            <p:cNvPr id="35" name="Shape 14">
              <a:extLst>
                <a:ext uri="{FF2B5EF4-FFF2-40B4-BE49-F238E27FC236}">
                  <a16:creationId xmlns:a16="http://schemas.microsoft.com/office/drawing/2014/main" id="{3A752DB2-D218-6704-5136-7DB8B68498A4}"/>
                </a:ext>
              </a:extLst>
            </p:cNvPr>
            <p:cNvSpPr/>
            <p:nvPr/>
          </p:nvSpPr>
          <p:spPr>
            <a:xfrm>
              <a:off x="640080" y="4572000"/>
              <a:ext cx="10881360" cy="868680"/>
            </a:xfrm>
            <a:prstGeom prst="roundRect">
              <a:avLst>
                <a:gd name="adj" fmla="val 8421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6" name="Text 15">
              <a:extLst>
                <a:ext uri="{FF2B5EF4-FFF2-40B4-BE49-F238E27FC236}">
                  <a16:creationId xmlns:a16="http://schemas.microsoft.com/office/drawing/2014/main" id="{D83D1223-6C09-CC4D-3762-9BD9668BAB26}"/>
                </a:ext>
              </a:extLst>
            </p:cNvPr>
            <p:cNvSpPr txBox="1"/>
            <p:nvPr/>
          </p:nvSpPr>
          <p:spPr>
            <a:xfrm>
              <a:off x="914400" y="4617720"/>
              <a:ext cx="10332720" cy="7772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Bigger models + more data → emergent capabilities: reasoning, coding, creativity.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6229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3048F-D72F-1D37-2F24-7D618C4F1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9EDC97-AE2C-4D70-EFA3-2A048E23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Part 6: </a:t>
            </a:r>
            <a:r>
              <a:rPr lang="en-US" sz="4400"/>
              <a:t>Making Deep Learning Practical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77BFD41-AC81-EB1A-952B-806ECFA064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solidFill>
                  <a:schemeClr val="accent5">
                    <a:lumMod val="75000"/>
                  </a:schemeClr>
                </a:solidFill>
              </a:rPr>
              <a:t>Techniques that make it work in the real world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B4D48F8-34C6-28D0-6D59-427A41B85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5819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870AB-1369-B14A-0177-9E54D30CA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C094281-5880-6FD6-B9D2-ADB67531F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Transfer Learning &amp; Fine-Tuning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7F5CF4E5-14DF-A882-807D-48B4D2DA0A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i="1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train from scratch — build on what others already learned.</a:t>
            </a:r>
            <a:endParaRPr lang="en-US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797E88-57EA-F012-7338-A0671121F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36</a:t>
            </a:fld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B6A77EB-062B-E3B5-F77A-80A21C5BC0E7}"/>
              </a:ext>
            </a:extLst>
          </p:cNvPr>
          <p:cNvGrpSpPr/>
          <p:nvPr/>
        </p:nvGrpSpPr>
        <p:grpSpPr>
          <a:xfrm>
            <a:off x="542283" y="2133193"/>
            <a:ext cx="10908792" cy="4251960"/>
            <a:chOff x="640080" y="1600200"/>
            <a:chExt cx="10908792" cy="4251960"/>
          </a:xfrm>
        </p:grpSpPr>
        <p:sp>
          <p:nvSpPr>
            <p:cNvPr id="20" name="Shape 2">
              <a:extLst>
                <a:ext uri="{FF2B5EF4-FFF2-40B4-BE49-F238E27FC236}">
                  <a16:creationId xmlns:a16="http://schemas.microsoft.com/office/drawing/2014/main" id="{55B16423-2CD8-566C-0C3C-5995546B14B3}"/>
                </a:ext>
              </a:extLst>
            </p:cNvPr>
            <p:cNvSpPr/>
            <p:nvPr/>
          </p:nvSpPr>
          <p:spPr>
            <a:xfrm>
              <a:off x="640080" y="1600200"/>
              <a:ext cx="5193792" cy="2377440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1" name="Shape 3">
              <a:extLst>
                <a:ext uri="{FF2B5EF4-FFF2-40B4-BE49-F238E27FC236}">
                  <a16:creationId xmlns:a16="http://schemas.microsoft.com/office/drawing/2014/main" id="{7AD4C714-CB6A-7298-FCE9-282624993D0F}"/>
                </a:ext>
              </a:extLst>
            </p:cNvPr>
            <p:cNvSpPr/>
            <p:nvPr/>
          </p:nvSpPr>
          <p:spPr>
            <a:xfrm>
              <a:off x="640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C8102E"/>
            </a:solidFill>
            <a:ln w="12700">
              <a:solidFill>
                <a:srgbClr val="C8102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5627A24E-7461-8653-DCFA-314FACB28D06}"/>
                </a:ext>
              </a:extLst>
            </p:cNvPr>
            <p:cNvSpPr txBox="1"/>
            <p:nvPr/>
          </p:nvSpPr>
          <p:spPr>
            <a:xfrm>
              <a:off x="822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problem</a:t>
              </a:r>
              <a:endParaRPr lang="en-US" sz="2000"/>
            </a:p>
          </p:txBody>
        </p:sp>
        <p:sp>
          <p:nvSpPr>
            <p:cNvPr id="23" name="Text 5">
              <a:extLst>
                <a:ext uri="{FF2B5EF4-FFF2-40B4-BE49-F238E27FC236}">
                  <a16:creationId xmlns:a16="http://schemas.microsoft.com/office/drawing/2014/main" id="{A995C55C-4EB9-F33C-6CA2-5342CE17B265}"/>
                </a:ext>
              </a:extLst>
            </p:cNvPr>
            <p:cNvSpPr txBox="1"/>
            <p:nvPr/>
          </p:nvSpPr>
          <p:spPr>
            <a:xfrm>
              <a:off x="960120" y="2514600"/>
              <a:ext cx="4599432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Training from scratch needs massive datasets</a:t>
              </a:r>
              <a:endParaRPr lang="en-US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Expensive compute</a:t>
              </a:r>
              <a:endParaRPr lang="en-US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Weeks of training</a:t>
              </a:r>
              <a:endParaRPr lang="en-US"/>
            </a:p>
          </p:txBody>
        </p:sp>
        <p:sp>
          <p:nvSpPr>
            <p:cNvPr id="24" name="Shape 6">
              <a:extLst>
                <a:ext uri="{FF2B5EF4-FFF2-40B4-BE49-F238E27FC236}">
                  <a16:creationId xmlns:a16="http://schemas.microsoft.com/office/drawing/2014/main" id="{ECAD8333-9C64-A4D0-92D9-3653B86589C7}"/>
                </a:ext>
              </a:extLst>
            </p:cNvPr>
            <p:cNvSpPr/>
            <p:nvPr/>
          </p:nvSpPr>
          <p:spPr>
            <a:xfrm>
              <a:off x="6355080" y="1600200"/>
              <a:ext cx="5193792" cy="2377440"/>
            </a:xfrm>
            <a:prstGeom prst="roundRect">
              <a:avLst>
                <a:gd name="adj" fmla="val 384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5" name="Shape 7">
              <a:extLst>
                <a:ext uri="{FF2B5EF4-FFF2-40B4-BE49-F238E27FC236}">
                  <a16:creationId xmlns:a16="http://schemas.microsoft.com/office/drawing/2014/main" id="{C84B4C36-393D-A4DE-F78B-1CFE0AB118BA}"/>
                </a:ext>
              </a:extLst>
            </p:cNvPr>
            <p:cNvSpPr/>
            <p:nvPr/>
          </p:nvSpPr>
          <p:spPr>
            <a:xfrm>
              <a:off x="6355080" y="160020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C5F2D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Text 8">
              <a:extLst>
                <a:ext uri="{FF2B5EF4-FFF2-40B4-BE49-F238E27FC236}">
                  <a16:creationId xmlns:a16="http://schemas.microsoft.com/office/drawing/2014/main" id="{55965706-2C87-E9E8-4407-0C0E0501C3F7}"/>
                </a:ext>
              </a:extLst>
            </p:cNvPr>
            <p:cNvSpPr txBox="1"/>
            <p:nvPr/>
          </p:nvSpPr>
          <p:spPr>
            <a:xfrm>
              <a:off x="6537960" y="160020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solution</a:t>
              </a:r>
              <a:endParaRPr lang="en-US" sz="2000"/>
            </a:p>
          </p:txBody>
        </p:sp>
        <p:sp>
          <p:nvSpPr>
            <p:cNvPr id="27" name="Text 9">
              <a:extLst>
                <a:ext uri="{FF2B5EF4-FFF2-40B4-BE49-F238E27FC236}">
                  <a16:creationId xmlns:a16="http://schemas.microsoft.com/office/drawing/2014/main" id="{AC16633C-1A9E-2329-7194-18170D7166DD}"/>
                </a:ext>
              </a:extLst>
            </p:cNvPr>
            <p:cNvSpPr txBox="1"/>
            <p:nvPr/>
          </p:nvSpPr>
          <p:spPr>
            <a:xfrm>
              <a:off x="6675120" y="2514600"/>
              <a:ext cx="4599432" cy="1325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Start with a pre-trained model</a:t>
              </a:r>
              <a:endParaRPr lang="en-US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Fine-tune on your data</a:t>
              </a:r>
              <a:endParaRPr lang="en-US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Works with small datasets</a:t>
              </a:r>
              <a:endParaRPr lang="en-US"/>
            </a:p>
          </p:txBody>
        </p:sp>
        <p:sp>
          <p:nvSpPr>
            <p:cNvPr id="28" name="Shape 10">
              <a:extLst>
                <a:ext uri="{FF2B5EF4-FFF2-40B4-BE49-F238E27FC236}">
                  <a16:creationId xmlns:a16="http://schemas.microsoft.com/office/drawing/2014/main" id="{0DB7C7D2-AEB5-42B7-8C9F-749EA53A2280}"/>
                </a:ext>
              </a:extLst>
            </p:cNvPr>
            <p:cNvSpPr/>
            <p:nvPr/>
          </p:nvSpPr>
          <p:spPr>
            <a:xfrm>
              <a:off x="640080" y="4206240"/>
              <a:ext cx="10881360" cy="1645920"/>
            </a:xfrm>
            <a:prstGeom prst="roundRect">
              <a:avLst>
                <a:gd name="adj" fmla="val 5556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D4006944-FB24-BE47-7C12-1F2CD71D2F55}"/>
                </a:ext>
              </a:extLst>
            </p:cNvPr>
            <p:cNvSpPr txBox="1"/>
            <p:nvPr/>
          </p:nvSpPr>
          <p:spPr>
            <a:xfrm>
              <a:off x="914400" y="4297680"/>
              <a:ext cx="1005840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Example</a:t>
              </a:r>
              <a:endParaRPr lang="en-US"/>
            </a:p>
          </p:txBody>
        </p:sp>
        <p:sp>
          <p:nvSpPr>
            <p:cNvPr id="30" name="Text 12">
              <a:extLst>
                <a:ext uri="{FF2B5EF4-FFF2-40B4-BE49-F238E27FC236}">
                  <a16:creationId xmlns:a16="http://schemas.microsoft.com/office/drawing/2014/main" id="{D7FC37AC-EF9C-D066-4446-C22837C267C3}"/>
                </a:ext>
              </a:extLst>
            </p:cNvPr>
            <p:cNvSpPr txBox="1"/>
            <p:nvPr/>
          </p:nvSpPr>
          <p:spPr>
            <a:xfrm>
              <a:off x="914400" y="4663440"/>
              <a:ext cx="1005840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BERT learned language from Wikipedia (billions of words); fine-tune it for spam detection with just 1,000 labeled emails. This is why you can build powerful AI without Google-scale resources.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858432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69A6A-B907-0B2E-EA13-938BE3804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3D05AC-6639-E839-3ED7-135AB9C57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Multimodal &amp; Generative AI</a:t>
            </a:r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9E4E1B0-1302-6964-2AB0-44355CA50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3872"/>
            <a:ext cx="11277600" cy="5292545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Modern models handle multiple input types — and create new content, not just classify it.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4351F3-2692-D418-9AA8-D3D75B0CE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37</a:t>
            </a:fld>
            <a:endParaRPr lang="en-US"/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84F85AB1-E60E-F1D6-E803-A6D98CDE1CA8}"/>
              </a:ext>
            </a:extLst>
          </p:cNvPr>
          <p:cNvSpPr txBox="1"/>
          <p:nvPr/>
        </p:nvSpPr>
        <p:spPr>
          <a:xfrm>
            <a:off x="556953" y="1920871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— combines: text · images · audio · video</a:t>
            </a:r>
            <a:endParaRPr lang="en-US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B9DABA01-E664-BDEE-49DD-7C24CC40DEBB}"/>
              </a:ext>
            </a:extLst>
          </p:cNvPr>
          <p:cNvSpPr txBox="1"/>
          <p:nvPr/>
        </p:nvSpPr>
        <p:spPr>
          <a:xfrm>
            <a:off x="556953" y="2286631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“Upload a photo of my fridge — what can I make for dinner?” → the model reads the image and answers in text.</a:t>
            </a:r>
            <a:endParaRPr lang="en-US"/>
          </a:p>
        </p:txBody>
      </p:sp>
      <p:graphicFrame>
        <p:nvGraphicFramePr>
          <p:cNvPr id="30" name="Table 0">
            <a:extLst>
              <a:ext uri="{FF2B5EF4-FFF2-40B4-BE49-F238E27FC236}">
                <a16:creationId xmlns:a16="http://schemas.microsoft.com/office/drawing/2014/main" id="{032BF25E-C59E-0590-D6B7-D4F64C2A7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3585197"/>
              </p:ext>
            </p:extLst>
          </p:nvPr>
        </p:nvGraphicFramePr>
        <p:xfrm>
          <a:off x="556953" y="2880991"/>
          <a:ext cx="10881360" cy="17221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Generative type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ChatGPT, Claude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Conversations, code, essays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DALL·E, Midjourney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 from text prompts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Suno, ElevenLabs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Music, voice cloning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Sora, Runway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from descriptions</a:t>
                      </a:r>
                      <a:endParaRPr lang="en-US" sz="18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2" name="Text 4">
            <a:extLst>
              <a:ext uri="{FF2B5EF4-FFF2-40B4-BE49-F238E27FC236}">
                <a16:creationId xmlns:a16="http://schemas.microsoft.com/office/drawing/2014/main" id="{7C38F0B2-C3A3-7598-12F7-D1D91A62239A}"/>
              </a:ext>
            </a:extLst>
          </p:cNvPr>
          <p:cNvSpPr txBox="1"/>
          <p:nvPr/>
        </p:nvSpPr>
        <p:spPr>
          <a:xfrm>
            <a:off x="556953" y="6127111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models learn the “distribution” of their training data, then sample new examples from it.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7629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2DA8A-49DA-E8AB-27AA-1ADD465601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44129D4-784D-6DE0-D94A-CBCA0ED1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/>
              <a:t>Part 7: </a:t>
            </a:r>
            <a:r>
              <a:rPr lang="en-US" sz="4400"/>
              <a:t>Challenges &amp; Limitations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9D643CC-682B-CD1F-8267-8E6557579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learning is powerful, but not perfect</a:t>
            </a:r>
            <a:endParaRPr lang="en-US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0A509A-1BBF-4F33-8B82-0E32659E9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557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09C125-C52F-3791-703C-12B9FD313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B5B7D01-47B8-887D-FA32-92C973A56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Black Box Problem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00EA2109-2CA2-9511-94FB-DEFF6B434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We often can’t explain WHY a neural network made a decision.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9F355C-AECD-EB01-DABD-8BB50FFF4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39</a:t>
            </a:fld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2593E3D-08CD-DF4A-A1BC-C9A2A1681CFF}"/>
              </a:ext>
            </a:extLst>
          </p:cNvPr>
          <p:cNvGrpSpPr/>
          <p:nvPr/>
        </p:nvGrpSpPr>
        <p:grpSpPr>
          <a:xfrm>
            <a:off x="586292" y="2326097"/>
            <a:ext cx="10881360" cy="4023360"/>
            <a:chOff x="640080" y="1920240"/>
            <a:chExt cx="10881360" cy="4023360"/>
          </a:xfrm>
        </p:grpSpPr>
        <p:sp>
          <p:nvSpPr>
            <p:cNvPr id="21" name="Shape 2">
              <a:extLst>
                <a:ext uri="{FF2B5EF4-FFF2-40B4-BE49-F238E27FC236}">
                  <a16:creationId xmlns:a16="http://schemas.microsoft.com/office/drawing/2014/main" id="{8B1F90A8-2790-E1C8-A126-44C772602026}"/>
                </a:ext>
              </a:extLst>
            </p:cNvPr>
            <p:cNvSpPr/>
            <p:nvPr/>
          </p:nvSpPr>
          <p:spPr>
            <a:xfrm>
              <a:off x="1463040" y="1920240"/>
              <a:ext cx="2377440" cy="914400"/>
            </a:xfrm>
            <a:prstGeom prst="roundRect">
              <a:avLst>
                <a:gd name="adj" fmla="val 8000"/>
              </a:avLst>
            </a:prstGeom>
            <a:solidFill>
              <a:srgbClr val="2F3C7E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2" name="Text 3">
              <a:extLst>
                <a:ext uri="{FF2B5EF4-FFF2-40B4-BE49-F238E27FC236}">
                  <a16:creationId xmlns:a16="http://schemas.microsoft.com/office/drawing/2014/main" id="{9317B837-6810-53EF-D8E0-E60A9AB380A0}"/>
                </a:ext>
              </a:extLst>
            </p:cNvPr>
            <p:cNvSpPr txBox="1"/>
            <p:nvPr/>
          </p:nvSpPr>
          <p:spPr>
            <a:xfrm>
              <a:off x="1463040" y="1920240"/>
              <a:ext cx="23774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Input</a:t>
              </a:r>
              <a:endParaRPr lang="en-US"/>
            </a:p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(image)</a:t>
              </a:r>
              <a:endParaRPr lang="en-US"/>
            </a:p>
          </p:txBody>
        </p:sp>
        <p:sp>
          <p:nvSpPr>
            <p:cNvPr id="23" name="Shape 4">
              <a:extLst>
                <a:ext uri="{FF2B5EF4-FFF2-40B4-BE49-F238E27FC236}">
                  <a16:creationId xmlns:a16="http://schemas.microsoft.com/office/drawing/2014/main" id="{7622620F-FCDC-A0B1-5788-572BFA10533E}"/>
                </a:ext>
              </a:extLst>
            </p:cNvPr>
            <p:cNvSpPr/>
            <p:nvPr/>
          </p:nvSpPr>
          <p:spPr>
            <a:xfrm>
              <a:off x="4937760" y="1920240"/>
              <a:ext cx="2377440" cy="914400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4" name="Text 5">
              <a:extLst>
                <a:ext uri="{FF2B5EF4-FFF2-40B4-BE49-F238E27FC236}">
                  <a16:creationId xmlns:a16="http://schemas.microsoft.com/office/drawing/2014/main" id="{EF43C7E7-170B-839F-A0A4-2BE0A8C5B6A0}"/>
                </a:ext>
              </a:extLst>
            </p:cNvPr>
            <p:cNvSpPr txBox="1"/>
            <p:nvPr/>
          </p:nvSpPr>
          <p:spPr>
            <a:xfrm>
              <a:off x="4937760" y="1920240"/>
              <a:ext cx="23774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Neural network</a:t>
              </a:r>
              <a:endParaRPr lang="en-US"/>
            </a:p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???</a:t>
              </a:r>
              <a:endParaRPr lang="en-US"/>
            </a:p>
          </p:txBody>
        </p:sp>
        <p:sp>
          <p:nvSpPr>
            <p:cNvPr id="25" name="Shape 6">
              <a:extLst>
                <a:ext uri="{FF2B5EF4-FFF2-40B4-BE49-F238E27FC236}">
                  <a16:creationId xmlns:a16="http://schemas.microsoft.com/office/drawing/2014/main" id="{4842805E-FD30-2E07-D5F5-AB0394D6F037}"/>
                </a:ext>
              </a:extLst>
            </p:cNvPr>
            <p:cNvSpPr/>
            <p:nvPr/>
          </p:nvSpPr>
          <p:spPr>
            <a:xfrm>
              <a:off x="8412480" y="1920240"/>
              <a:ext cx="2377440" cy="914400"/>
            </a:xfrm>
            <a:prstGeom prst="roundRect">
              <a:avLst>
                <a:gd name="adj" fmla="val 8000"/>
              </a:avLst>
            </a:prstGeom>
            <a:solidFill>
              <a:srgbClr val="2C5F2D"/>
            </a:solidFill>
            <a:ln w="15875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6" name="Text 7">
              <a:extLst>
                <a:ext uri="{FF2B5EF4-FFF2-40B4-BE49-F238E27FC236}">
                  <a16:creationId xmlns:a16="http://schemas.microsoft.com/office/drawing/2014/main" id="{E14B89D9-451A-964F-BEC7-0B7453E8A654}"/>
                </a:ext>
              </a:extLst>
            </p:cNvPr>
            <p:cNvSpPr txBox="1"/>
            <p:nvPr/>
          </p:nvSpPr>
          <p:spPr>
            <a:xfrm>
              <a:off x="8412480" y="1920240"/>
              <a:ext cx="237744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Output</a:t>
              </a:r>
              <a:endParaRPr lang="en-US"/>
            </a:p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“cat”</a:t>
              </a:r>
              <a:endParaRPr lang="en-US"/>
            </a:p>
          </p:txBody>
        </p:sp>
        <p:sp>
          <p:nvSpPr>
            <p:cNvPr id="27" name="Shape 8">
              <a:extLst>
                <a:ext uri="{FF2B5EF4-FFF2-40B4-BE49-F238E27FC236}">
                  <a16:creationId xmlns:a16="http://schemas.microsoft.com/office/drawing/2014/main" id="{3E7094F9-4364-835F-5B96-18929453BC38}"/>
                </a:ext>
              </a:extLst>
            </p:cNvPr>
            <p:cNvSpPr/>
            <p:nvPr/>
          </p:nvSpPr>
          <p:spPr>
            <a:xfrm>
              <a:off x="3840480" y="2377440"/>
              <a:ext cx="1097280" cy="0"/>
            </a:xfrm>
            <a:prstGeom prst="line">
              <a:avLst/>
            </a:prstGeom>
            <a:noFill/>
            <a:ln w="3175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8" name="Shape 9">
              <a:extLst>
                <a:ext uri="{FF2B5EF4-FFF2-40B4-BE49-F238E27FC236}">
                  <a16:creationId xmlns:a16="http://schemas.microsoft.com/office/drawing/2014/main" id="{879AB1B9-1F2B-E5E0-448D-6A9459ED1F87}"/>
                </a:ext>
              </a:extLst>
            </p:cNvPr>
            <p:cNvSpPr/>
            <p:nvPr/>
          </p:nvSpPr>
          <p:spPr>
            <a:xfrm>
              <a:off x="7315200" y="2377440"/>
              <a:ext cx="1097280" cy="0"/>
            </a:xfrm>
            <a:prstGeom prst="line">
              <a:avLst/>
            </a:prstGeom>
            <a:noFill/>
            <a:ln w="31750">
              <a:solidFill>
                <a:srgbClr val="5F5F5F"/>
              </a:solidFill>
              <a:prstDash val="solid"/>
              <a:tailEnd type="triangle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9" name="Text 10">
              <a:extLst>
                <a:ext uri="{FF2B5EF4-FFF2-40B4-BE49-F238E27FC236}">
                  <a16:creationId xmlns:a16="http://schemas.microsoft.com/office/drawing/2014/main" id="{24B64617-22A5-B7A2-3EC7-8CF7C5158C0B}"/>
                </a:ext>
              </a:extLst>
            </p:cNvPr>
            <p:cNvSpPr txBox="1"/>
            <p:nvPr/>
          </p:nvSpPr>
          <p:spPr>
            <a:xfrm>
              <a:off x="640080" y="3200400"/>
              <a:ext cx="1088136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Why this matters — unanswered questions:</a:t>
              </a:r>
              <a:endParaRPr lang="en-US"/>
            </a:p>
          </p:txBody>
        </p:sp>
        <p:sp>
          <p:nvSpPr>
            <p:cNvPr id="30" name="Text 11">
              <a:extLst>
                <a:ext uri="{FF2B5EF4-FFF2-40B4-BE49-F238E27FC236}">
                  <a16:creationId xmlns:a16="http://schemas.microsoft.com/office/drawing/2014/main" id="{C400807B-1455-9547-A54C-3CE2B94DDCAF}"/>
                </a:ext>
              </a:extLst>
            </p:cNvPr>
            <p:cNvSpPr txBox="1"/>
            <p:nvPr/>
          </p:nvSpPr>
          <p:spPr>
            <a:xfrm>
              <a:off x="640080" y="3611880"/>
              <a:ext cx="10881360" cy="1645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Medical diagnosis: “Why did the model recommend this treatment?”</a:t>
              </a:r>
              <a:endParaRPr lang="en-US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Loan decision: “Why was my application denied?”</a:t>
              </a:r>
              <a:endParaRPr lang="en-US"/>
            </a:p>
            <a:p>
              <a:pPr marL="203200" indent="-203200">
                <a:spcAft>
                  <a:spcPts val="9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Self-driving: “Why did the car brake suddenly?”</a:t>
              </a:r>
              <a:endParaRPr lang="en-US"/>
            </a:p>
          </p:txBody>
        </p:sp>
        <p:sp>
          <p:nvSpPr>
            <p:cNvPr id="31" name="Shape 12">
              <a:extLst>
                <a:ext uri="{FF2B5EF4-FFF2-40B4-BE49-F238E27FC236}">
                  <a16:creationId xmlns:a16="http://schemas.microsoft.com/office/drawing/2014/main" id="{EDAF6315-18B7-ADF8-AEDF-B5BC41E14C6D}"/>
                </a:ext>
              </a:extLst>
            </p:cNvPr>
            <p:cNvSpPr/>
            <p:nvPr/>
          </p:nvSpPr>
          <p:spPr>
            <a:xfrm>
              <a:off x="640080" y="5212080"/>
              <a:ext cx="10881360" cy="731520"/>
            </a:xfrm>
            <a:prstGeom prst="roundRect">
              <a:avLst>
                <a:gd name="adj" fmla="val 100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32" name="Text 13">
              <a:extLst>
                <a:ext uri="{FF2B5EF4-FFF2-40B4-BE49-F238E27FC236}">
                  <a16:creationId xmlns:a16="http://schemas.microsoft.com/office/drawing/2014/main" id="{710D8FB1-0435-B80C-04FC-A4404C25954E}"/>
                </a:ext>
              </a:extLst>
            </p:cNvPr>
            <p:cNvSpPr txBox="1"/>
            <p:nvPr/>
          </p:nvSpPr>
          <p:spPr>
            <a:xfrm>
              <a:off x="914400" y="5257800"/>
              <a:ext cx="10332720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Active research area: Explainable AI (XAI) aims to make models interpretable.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85054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EA5F6-A7CA-1FE3-70DA-BD4CE9CF3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999AF-2E59-603D-9561-660A843E4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Adversarial Examples: Fooling Neural Networks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389FE9D-8F0D-53EA-CFD9-485977375E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The famous panda attack: add noise invisible to humans, and the model’s answer flips completely.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5D8B65-A3D8-6142-5117-2178B11C9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40</a:t>
            </a:fld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26914FD9-6414-E73E-4C86-DE07D81591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0581" y="2205512"/>
            <a:ext cx="5417645" cy="1811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6D2F1D6-0F4C-BC7B-BF12-09D51DCEB698}"/>
              </a:ext>
            </a:extLst>
          </p:cNvPr>
          <p:cNvSpPr txBox="1"/>
          <p:nvPr/>
        </p:nvSpPr>
        <p:spPr>
          <a:xfrm>
            <a:off x="8367616" y="6642556"/>
            <a:ext cx="23003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>
                <a:solidFill>
                  <a:schemeClr val="bg1">
                    <a:lumMod val="50000"/>
                  </a:schemeClr>
                </a:solidFill>
              </a:rPr>
              <a:t>https://share.google/images/xAQo7li22MjLgTxy6</a:t>
            </a: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EACA43CD-D1F9-0CE8-1C01-BBF0099385FE}"/>
              </a:ext>
            </a:extLst>
          </p:cNvPr>
          <p:cNvSpPr txBox="1"/>
          <p:nvPr/>
        </p:nvSpPr>
        <p:spPr>
          <a:xfrm>
            <a:off x="640080" y="4248709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>
                <a:solidFill>
                  <a:srgbClr val="5F5F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“panda” (57.7%)   +   imperceptible noise   =   “gibbon” (99.3% confidence)</a:t>
            </a:r>
            <a:endParaRPr lang="en-US"/>
          </a:p>
        </p:txBody>
      </p:sp>
      <p:sp>
        <p:nvSpPr>
          <p:cNvPr id="26" name="Text 3">
            <a:extLst>
              <a:ext uri="{FF2B5EF4-FFF2-40B4-BE49-F238E27FC236}">
                <a16:creationId xmlns:a16="http://schemas.microsoft.com/office/drawing/2014/main" id="{6AC22A23-B2F2-A781-A792-239215031EFF}"/>
              </a:ext>
            </a:extLst>
          </p:cNvPr>
          <p:cNvSpPr txBox="1"/>
          <p:nvPr/>
        </p:nvSpPr>
        <p:spPr>
          <a:xfrm>
            <a:off x="640080" y="484632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 for AI systems (self-driving cars, facial recognition)</a:t>
            </a:r>
            <a:endParaRPr lang="en-US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networks don’t “understand” images the way humans do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514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6E721-D696-824F-5620-AFE50870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7553E1D-3D19-F16F-BDA2-EA3E1D819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Other Key Challenges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2EAE48-C45A-EC78-A988-FA30AFA5F6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i="1">
              <a:solidFill>
                <a:srgbClr val="6D2E4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i="1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active research areas — the field is improving rapidly.</a:t>
            </a:r>
            <a:endParaRPr lang="en-US"/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E2CD69-AC08-9F22-E91B-6BBA84EF9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41</a:t>
            </a:fld>
            <a:endParaRPr lang="en-US"/>
          </a:p>
        </p:txBody>
      </p:sp>
      <p:graphicFrame>
        <p:nvGraphicFramePr>
          <p:cNvPr id="28" name="Table 0">
            <a:extLst>
              <a:ext uri="{FF2B5EF4-FFF2-40B4-BE49-F238E27FC236}">
                <a16:creationId xmlns:a16="http://schemas.microsoft.com/office/drawing/2014/main" id="{22FAC117-266C-B3C5-2225-56F40BA170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6192394"/>
              </p:ext>
            </p:extLst>
          </p:nvPr>
        </p:nvGraphicFramePr>
        <p:xfrm>
          <a:off x="508054" y="1752029"/>
          <a:ext cx="10881360" cy="1905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Emerging remedy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1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hungry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Often needs millions of labeled examples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Few-shot learning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 expensive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large models costs millions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architectures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Bias &amp; fairness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Models can amplify societal biases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Careful data curation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b="1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Hallucinations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state false information confidently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 augmentation</a:t>
                      </a:r>
                      <a:endParaRPr lang="en-US" sz="20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7934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5852A-F926-A5B3-68E9-A52BB458B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E9002-AD5C-A389-9071-C9B105F9E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Key Takeaways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9370EE7-DF32-DB4A-D483-66A241221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42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DB8C8C4-56FF-8CBF-537E-3B8F1F31D610}"/>
              </a:ext>
            </a:extLst>
          </p:cNvPr>
          <p:cNvGrpSpPr/>
          <p:nvPr/>
        </p:nvGrpSpPr>
        <p:grpSpPr>
          <a:xfrm>
            <a:off x="386657" y="1595472"/>
            <a:ext cx="11618422" cy="4297680"/>
            <a:chOff x="822960" y="1600200"/>
            <a:chExt cx="10515600" cy="4297680"/>
          </a:xfrm>
        </p:grpSpPr>
        <p:sp>
          <p:nvSpPr>
            <p:cNvPr id="18" name="Shape 1">
              <a:extLst>
                <a:ext uri="{FF2B5EF4-FFF2-40B4-BE49-F238E27FC236}">
                  <a16:creationId xmlns:a16="http://schemas.microsoft.com/office/drawing/2014/main" id="{1AA21008-84AA-529C-8E95-27B04C635ECD}"/>
                </a:ext>
              </a:extLst>
            </p:cNvPr>
            <p:cNvSpPr/>
            <p:nvPr/>
          </p:nvSpPr>
          <p:spPr>
            <a:xfrm>
              <a:off x="822960" y="1600200"/>
              <a:ext cx="10515600" cy="1005840"/>
            </a:xfrm>
            <a:prstGeom prst="roundRect">
              <a:avLst>
                <a:gd name="adj" fmla="val 7273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19" name="Text 2">
              <a:extLst>
                <a:ext uri="{FF2B5EF4-FFF2-40B4-BE49-F238E27FC236}">
                  <a16:creationId xmlns:a16="http://schemas.microsoft.com/office/drawing/2014/main" id="{1B1414D0-1F54-8069-3C19-7C0E79DB3CF7}"/>
                </a:ext>
              </a:extLst>
            </p:cNvPr>
            <p:cNvSpPr txBox="1"/>
            <p:nvPr/>
          </p:nvSpPr>
          <p:spPr>
            <a:xfrm>
              <a:off x="1097280" y="1691640"/>
              <a:ext cx="10058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Networks learn by example   </a:t>
              </a: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They adjust weights to reduce prediction error — no hand-written rules.</a:t>
              </a:r>
              <a:endParaRPr lang="en-US" sz="2400"/>
            </a:p>
          </p:txBody>
        </p:sp>
        <p:sp>
          <p:nvSpPr>
            <p:cNvPr id="20" name="Shape 3">
              <a:extLst>
                <a:ext uri="{FF2B5EF4-FFF2-40B4-BE49-F238E27FC236}">
                  <a16:creationId xmlns:a16="http://schemas.microsoft.com/office/drawing/2014/main" id="{6515930F-D5A3-7C24-EC45-6D8CFA8DF12C}"/>
                </a:ext>
              </a:extLst>
            </p:cNvPr>
            <p:cNvSpPr/>
            <p:nvPr/>
          </p:nvSpPr>
          <p:spPr>
            <a:xfrm>
              <a:off x="822960" y="2697480"/>
              <a:ext cx="10515600" cy="1005840"/>
            </a:xfrm>
            <a:prstGeom prst="roundRect">
              <a:avLst>
                <a:gd name="adj" fmla="val 7273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1" name="Text 4">
              <a:extLst>
                <a:ext uri="{FF2B5EF4-FFF2-40B4-BE49-F238E27FC236}">
                  <a16:creationId xmlns:a16="http://schemas.microsoft.com/office/drawing/2014/main" id="{5EB11F84-DE54-BA93-A838-01EABFF4AD81}"/>
                </a:ext>
              </a:extLst>
            </p:cNvPr>
            <p:cNvSpPr txBox="1"/>
            <p:nvPr/>
          </p:nvSpPr>
          <p:spPr>
            <a:xfrm>
              <a:off x="1097280" y="2788920"/>
              <a:ext cx="10058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Deep = layers of abstraction   </a:t>
              </a: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Many layers learn hierarchical representations, built on each other.</a:t>
              </a:r>
              <a:endParaRPr lang="en-US" sz="2400"/>
            </a:p>
          </p:txBody>
        </p:sp>
        <p:sp>
          <p:nvSpPr>
            <p:cNvPr id="22" name="Shape 5">
              <a:extLst>
                <a:ext uri="{FF2B5EF4-FFF2-40B4-BE49-F238E27FC236}">
                  <a16:creationId xmlns:a16="http://schemas.microsoft.com/office/drawing/2014/main" id="{5D85EDBE-7F05-33CF-D611-44F8C95F15FE}"/>
                </a:ext>
              </a:extLst>
            </p:cNvPr>
            <p:cNvSpPr/>
            <p:nvPr/>
          </p:nvSpPr>
          <p:spPr>
            <a:xfrm>
              <a:off x="822960" y="3794760"/>
              <a:ext cx="10515600" cy="1005840"/>
            </a:xfrm>
            <a:prstGeom prst="roundRect">
              <a:avLst>
                <a:gd name="adj" fmla="val 7273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3" name="Text 6">
              <a:extLst>
                <a:ext uri="{FF2B5EF4-FFF2-40B4-BE49-F238E27FC236}">
                  <a16:creationId xmlns:a16="http://schemas.microsoft.com/office/drawing/2014/main" id="{8494C8D0-29E9-172F-E3AD-BEA1CFF3AE2D}"/>
                </a:ext>
              </a:extLst>
            </p:cNvPr>
            <p:cNvSpPr txBox="1"/>
            <p:nvPr/>
          </p:nvSpPr>
          <p:spPr>
            <a:xfrm>
              <a:off x="1097280" y="3886200"/>
              <a:ext cx="10058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Right architecture for the data   </a:t>
              </a: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CNNs for images, RNNs/Transformers for sequences.</a:t>
              </a:r>
              <a:endParaRPr lang="en-US" sz="2400"/>
            </a:p>
          </p:txBody>
        </p:sp>
        <p:sp>
          <p:nvSpPr>
            <p:cNvPr id="24" name="Shape 7">
              <a:extLst>
                <a:ext uri="{FF2B5EF4-FFF2-40B4-BE49-F238E27FC236}">
                  <a16:creationId xmlns:a16="http://schemas.microsoft.com/office/drawing/2014/main" id="{00D698A3-3878-F0D2-FAD1-F9FFFA683744}"/>
                </a:ext>
              </a:extLst>
            </p:cNvPr>
            <p:cNvSpPr/>
            <p:nvPr/>
          </p:nvSpPr>
          <p:spPr>
            <a:xfrm>
              <a:off x="822960" y="4892040"/>
              <a:ext cx="10515600" cy="1005840"/>
            </a:xfrm>
            <a:prstGeom prst="roundRect">
              <a:avLst>
                <a:gd name="adj" fmla="val 7273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400"/>
            </a:p>
          </p:txBody>
        </p:sp>
        <p:sp>
          <p:nvSpPr>
            <p:cNvPr id="25" name="Text 8">
              <a:extLst>
                <a:ext uri="{FF2B5EF4-FFF2-40B4-BE49-F238E27FC236}">
                  <a16:creationId xmlns:a16="http://schemas.microsoft.com/office/drawing/2014/main" id="{779E5B69-66B8-63AC-66FE-06D1E758122B}"/>
                </a:ext>
              </a:extLst>
            </p:cNvPr>
            <p:cNvSpPr txBox="1"/>
            <p:nvPr/>
          </p:nvSpPr>
          <p:spPr>
            <a:xfrm>
              <a:off x="1097280" y="4983480"/>
              <a:ext cx="100584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>
                  <a:solidFill>
                    <a:srgbClr val="C8102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Powerful but imperfect   </a:t>
              </a:r>
              <a:r>
                <a:rPr lang="en-US" sz="2000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Interpretability, robustness, and bias remain open challenges.</a:t>
              </a:r>
              <a:endParaRPr 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2815030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AF35AA2-A0E3-F520-E3C0-231327A7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Let’s Discuss (5–10 min)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C0F280B-C44F-1C47-CE00-2F038E9C38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/>
              <a:t>Neural networks can now match or beat humans at many narrow tasks, yet can’t explain their reasoning. For a decision in your field, is a more accurate “black box” worth less transparency — or not?</a:t>
            </a:r>
          </a:p>
          <a:p>
            <a:pPr marL="457200" indent="-457200">
              <a:buFont typeface="+mj-lt"/>
              <a:buAutoNum type="arabicPeriod"/>
            </a:pPr>
            <a:endParaRPr lang="en-US" sz="2000"/>
          </a:p>
          <a:p>
            <a:pPr marL="457200" indent="-457200">
              <a:buFont typeface="+mj-lt"/>
              <a:buAutoNum type="arabicPeriod"/>
            </a:pPr>
            <a:r>
              <a:rPr lang="en-US" sz="2000"/>
              <a:t>Adversarial examples show models don’t “see” like us. Where could that gap cause real harm — and what safeguard would you require before deploying such a system?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/>
              <a:t>Alternate: the same architecture (the Transformer) now powers text, images, and audio. What does it mean that one idea generalized so widely?</a:t>
            </a:r>
          </a:p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61D5DE-57C4-87A0-B7BE-620252FFA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14550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460F1-33D9-F323-4744-72A171259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A5E2D7-0953-78A4-5789-EF1C5760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Try It Yourself &amp; Learn More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5093AF-7C3A-0AC6-150B-A4F582E8D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44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C990BF2-B78A-42FE-57A7-EF3256D38075}"/>
              </a:ext>
            </a:extLst>
          </p:cNvPr>
          <p:cNvGrpSpPr/>
          <p:nvPr/>
        </p:nvGrpSpPr>
        <p:grpSpPr>
          <a:xfrm>
            <a:off x="537394" y="1460106"/>
            <a:ext cx="10908792" cy="2926080"/>
            <a:chOff x="640080" y="1645920"/>
            <a:chExt cx="10908792" cy="2926080"/>
          </a:xfrm>
        </p:grpSpPr>
        <p:sp>
          <p:nvSpPr>
            <p:cNvPr id="15" name="Shape 1">
              <a:extLst>
                <a:ext uri="{FF2B5EF4-FFF2-40B4-BE49-F238E27FC236}">
                  <a16:creationId xmlns:a16="http://schemas.microsoft.com/office/drawing/2014/main" id="{2B4C1E2E-99D3-E32B-F7DA-8D8D91700F7A}"/>
                </a:ext>
              </a:extLst>
            </p:cNvPr>
            <p:cNvSpPr/>
            <p:nvPr/>
          </p:nvSpPr>
          <p:spPr>
            <a:xfrm>
              <a:off x="640080" y="1645920"/>
              <a:ext cx="5193792" cy="2926080"/>
            </a:xfrm>
            <a:prstGeom prst="roundRect">
              <a:avLst>
                <a:gd name="adj" fmla="val 312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6" name="Shape 2">
              <a:extLst>
                <a:ext uri="{FF2B5EF4-FFF2-40B4-BE49-F238E27FC236}">
                  <a16:creationId xmlns:a16="http://schemas.microsoft.com/office/drawing/2014/main" id="{F7A953D2-3B91-C84E-DEBB-DF46B5AB2108}"/>
                </a:ext>
              </a:extLst>
            </p:cNvPr>
            <p:cNvSpPr/>
            <p:nvPr/>
          </p:nvSpPr>
          <p:spPr>
            <a:xfrm>
              <a:off x="640080" y="164592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C5F2D"/>
            </a:solidFill>
            <a:ln w="12700">
              <a:solidFill>
                <a:srgbClr val="2C5F2D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7" name="Text 3">
              <a:extLst>
                <a:ext uri="{FF2B5EF4-FFF2-40B4-BE49-F238E27FC236}">
                  <a16:creationId xmlns:a16="http://schemas.microsoft.com/office/drawing/2014/main" id="{F2771E12-C6E1-ECFE-4418-4823352BF227}"/>
                </a:ext>
              </a:extLst>
            </p:cNvPr>
            <p:cNvSpPr txBox="1"/>
            <p:nvPr/>
          </p:nvSpPr>
          <p:spPr>
            <a:xfrm>
              <a:off x="822960" y="164592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Hands-on (take-home)</a:t>
              </a:r>
              <a:endParaRPr lang="en-US" sz="2000"/>
            </a:p>
          </p:txBody>
        </p:sp>
        <p:sp>
          <p:nvSpPr>
            <p:cNvPr id="18" name="Text 4">
              <a:extLst>
                <a:ext uri="{FF2B5EF4-FFF2-40B4-BE49-F238E27FC236}">
                  <a16:creationId xmlns:a16="http://schemas.microsoft.com/office/drawing/2014/main" id="{5E65EF81-C697-D68A-583B-334A028F0342}"/>
                </a:ext>
              </a:extLst>
            </p:cNvPr>
            <p:cNvSpPr txBox="1"/>
            <p:nvPr/>
          </p:nvSpPr>
          <p:spPr>
            <a:xfrm>
              <a:off x="960120" y="2560320"/>
              <a:ext cx="4599432" cy="1874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TensorFlow Playground — </a:t>
              </a:r>
              <a:r>
                <a:rPr lang="en-US" u="sng">
                  <a:solidFill>
                    <a:schemeClr val="accent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playground.tensorflow.org</a:t>
              </a: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build a net, solve XOR, watch the boundary evolve</a:t>
              </a:r>
              <a:endParaRPr lang="en-US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Google Quick, Draw! — </a:t>
              </a:r>
              <a:r>
                <a:rPr lang="en-US" u="sng">
                  <a:solidFill>
                    <a:schemeClr val="accent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quickdraw.withgoogle.com</a:t>
              </a: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a CNN guesses your sketch in real time</a:t>
              </a:r>
              <a:endParaRPr lang="en-US"/>
            </a:p>
          </p:txBody>
        </p:sp>
        <p:sp>
          <p:nvSpPr>
            <p:cNvPr id="19" name="Shape 5">
              <a:extLst>
                <a:ext uri="{FF2B5EF4-FFF2-40B4-BE49-F238E27FC236}">
                  <a16:creationId xmlns:a16="http://schemas.microsoft.com/office/drawing/2014/main" id="{63B61890-4436-A94D-C8D7-46A994C295A1}"/>
                </a:ext>
              </a:extLst>
            </p:cNvPr>
            <p:cNvSpPr/>
            <p:nvPr/>
          </p:nvSpPr>
          <p:spPr>
            <a:xfrm>
              <a:off x="6355080" y="1645920"/>
              <a:ext cx="5193792" cy="2926080"/>
            </a:xfrm>
            <a:prstGeom prst="roundRect">
              <a:avLst>
                <a:gd name="adj" fmla="val 3125"/>
              </a:avLst>
            </a:prstGeom>
            <a:solidFill>
              <a:srgbClr val="F1F4F9"/>
            </a:solidFill>
            <a:ln w="12700">
              <a:solidFill>
                <a:srgbClr val="C9D2E0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0" name="Shape 6">
              <a:extLst>
                <a:ext uri="{FF2B5EF4-FFF2-40B4-BE49-F238E27FC236}">
                  <a16:creationId xmlns:a16="http://schemas.microsoft.com/office/drawing/2014/main" id="{907AE6D8-2674-A2E7-A791-0256E53403FF}"/>
                </a:ext>
              </a:extLst>
            </p:cNvPr>
            <p:cNvSpPr/>
            <p:nvPr/>
          </p:nvSpPr>
          <p:spPr>
            <a:xfrm>
              <a:off x="6355080" y="1645920"/>
              <a:ext cx="5193792" cy="731520"/>
            </a:xfrm>
            <a:prstGeom prst="roundRect">
              <a:avLst>
                <a:gd name="adj" fmla="val 12500"/>
              </a:avLst>
            </a:prstGeom>
            <a:solidFill>
              <a:srgbClr val="2F3C7E"/>
            </a:solidFill>
            <a:ln w="12700">
              <a:solidFill>
                <a:srgbClr val="2F3C7E"/>
              </a:solidFill>
              <a:prstDash val="solid"/>
            </a:ln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21" name="Text 7">
              <a:extLst>
                <a:ext uri="{FF2B5EF4-FFF2-40B4-BE49-F238E27FC236}">
                  <a16:creationId xmlns:a16="http://schemas.microsoft.com/office/drawing/2014/main" id="{1EC2B503-4C12-1EDE-0390-66926954514A}"/>
                </a:ext>
              </a:extLst>
            </p:cNvPr>
            <p:cNvSpPr txBox="1"/>
            <p:nvPr/>
          </p:nvSpPr>
          <p:spPr>
            <a:xfrm>
              <a:off x="6537960" y="1645920"/>
              <a:ext cx="4828032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Go deeper</a:t>
              </a:r>
              <a:endParaRPr lang="en-US" sz="2000"/>
            </a:p>
          </p:txBody>
        </p:sp>
        <p:sp>
          <p:nvSpPr>
            <p:cNvPr id="22" name="Text 8">
              <a:extLst>
                <a:ext uri="{FF2B5EF4-FFF2-40B4-BE49-F238E27FC236}">
                  <a16:creationId xmlns:a16="http://schemas.microsoft.com/office/drawing/2014/main" id="{61248A79-002C-BC52-FAFA-473836BE4C4B}"/>
                </a:ext>
              </a:extLst>
            </p:cNvPr>
            <p:cNvSpPr txBox="1"/>
            <p:nvPr/>
          </p:nvSpPr>
          <p:spPr>
            <a:xfrm>
              <a:off x="6675120" y="2560320"/>
              <a:ext cx="4599432" cy="1874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3Blue1Brown — “Neural Networks” series (visual, no math needed)</a:t>
              </a:r>
              <a:endParaRPr lang="en-US"/>
            </a:p>
            <a:p>
              <a:pPr marL="203200" indent="-203200">
                <a:spcAft>
                  <a:spcPts val="1000"/>
                </a:spcAft>
                <a:buSzPct val="100000"/>
                <a:buChar char="•"/>
              </a:pPr>
              <a:r>
                <a:rPr lang="en-US" u="sng">
                  <a:solidFill>
                    <a:schemeClr val="accent1">
                      <a:lumMod val="75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fast.ai </a:t>
              </a:r>
              <a:r>
                <a:rPr lang="en-US">
                  <a:solidFill>
                    <a:srgbClr val="1A1A1A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— “Practical Deep Learning” (free, hands-on coding)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48929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83FE5A-6E76-41E6-8E63-B032CDCA5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/>
              <a:t>Demos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893D1D-BC90-3D7E-2455-3EE384A42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3CF1919-F933-41C5-8E70-8A3C271D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45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F5528CB-FE80-43EC-841A-E9869337A777}"/>
              </a:ext>
            </a:extLst>
          </p:cNvPr>
          <p:cNvGrpSpPr/>
          <p:nvPr/>
        </p:nvGrpSpPr>
        <p:grpSpPr>
          <a:xfrm>
            <a:off x="6934201" y="4724400"/>
            <a:ext cx="2908935" cy="1329430"/>
            <a:chOff x="5556313" y="3416618"/>
            <a:chExt cx="2908935" cy="1329430"/>
          </a:xfrm>
        </p:grpSpPr>
        <p:grpSp>
          <p:nvGrpSpPr>
            <p:cNvPr id="6" name="object 8">
              <a:extLst>
                <a:ext uri="{FF2B5EF4-FFF2-40B4-BE49-F238E27FC236}">
                  <a16:creationId xmlns:a16="http://schemas.microsoft.com/office/drawing/2014/main" id="{9A97A8C8-43A0-4AEC-95E4-23AEA52DF507}"/>
                </a:ext>
              </a:extLst>
            </p:cNvPr>
            <p:cNvGrpSpPr/>
            <p:nvPr/>
          </p:nvGrpSpPr>
          <p:grpSpPr>
            <a:xfrm>
              <a:off x="5556313" y="3422708"/>
              <a:ext cx="1384935" cy="1323340"/>
              <a:chOff x="5556313" y="3422708"/>
              <a:chExt cx="1384935" cy="1323340"/>
            </a:xfrm>
          </p:grpSpPr>
          <p:sp>
            <p:nvSpPr>
              <p:cNvPr id="23" name="object 9">
                <a:extLst>
                  <a:ext uri="{FF2B5EF4-FFF2-40B4-BE49-F238E27FC236}">
                    <a16:creationId xmlns:a16="http://schemas.microsoft.com/office/drawing/2014/main" id="{8C7A2634-F671-4899-87B4-F1265FA093D6}"/>
                  </a:ext>
                </a:extLst>
              </p:cNvPr>
              <p:cNvSpPr/>
              <p:nvPr/>
            </p:nvSpPr>
            <p:spPr>
              <a:xfrm>
                <a:off x="5562981" y="3429376"/>
                <a:ext cx="1371600" cy="131000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1310004">
                    <a:moveTo>
                      <a:pt x="1228661" y="0"/>
                    </a:moveTo>
                    <a:lnTo>
                      <a:pt x="142938" y="0"/>
                    </a:lnTo>
                    <a:lnTo>
                      <a:pt x="97758" y="7287"/>
                    </a:lnTo>
                    <a:lnTo>
                      <a:pt x="58520" y="27578"/>
                    </a:lnTo>
                    <a:lnTo>
                      <a:pt x="27578" y="58520"/>
                    </a:lnTo>
                    <a:lnTo>
                      <a:pt x="7287" y="97758"/>
                    </a:lnTo>
                    <a:lnTo>
                      <a:pt x="0" y="142938"/>
                    </a:lnTo>
                    <a:lnTo>
                      <a:pt x="0" y="1166952"/>
                    </a:lnTo>
                    <a:lnTo>
                      <a:pt x="7287" y="1212130"/>
                    </a:lnTo>
                    <a:lnTo>
                      <a:pt x="27578" y="1251365"/>
                    </a:lnTo>
                    <a:lnTo>
                      <a:pt x="58520" y="1282303"/>
                    </a:lnTo>
                    <a:lnTo>
                      <a:pt x="97758" y="1302592"/>
                    </a:lnTo>
                    <a:lnTo>
                      <a:pt x="142938" y="1309878"/>
                    </a:lnTo>
                    <a:lnTo>
                      <a:pt x="1228661" y="1309878"/>
                    </a:lnTo>
                    <a:lnTo>
                      <a:pt x="1273841" y="1302592"/>
                    </a:lnTo>
                    <a:lnTo>
                      <a:pt x="1313079" y="1282303"/>
                    </a:lnTo>
                    <a:lnTo>
                      <a:pt x="1344021" y="1251365"/>
                    </a:lnTo>
                    <a:lnTo>
                      <a:pt x="1364312" y="1212130"/>
                    </a:lnTo>
                    <a:lnTo>
                      <a:pt x="1371600" y="1166952"/>
                    </a:lnTo>
                    <a:lnTo>
                      <a:pt x="1371600" y="142938"/>
                    </a:lnTo>
                    <a:lnTo>
                      <a:pt x="1364312" y="97758"/>
                    </a:lnTo>
                    <a:lnTo>
                      <a:pt x="1344021" y="58520"/>
                    </a:lnTo>
                    <a:lnTo>
                      <a:pt x="1313079" y="27578"/>
                    </a:lnTo>
                    <a:lnTo>
                      <a:pt x="1273841" y="7287"/>
                    </a:lnTo>
                    <a:lnTo>
                      <a:pt x="1228661" y="0"/>
                    </a:lnTo>
                    <a:close/>
                  </a:path>
                </a:pathLst>
              </a:custGeom>
              <a:solidFill>
                <a:srgbClr val="9FAFD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4" name="object 10">
                <a:extLst>
                  <a:ext uri="{FF2B5EF4-FFF2-40B4-BE49-F238E27FC236}">
                    <a16:creationId xmlns:a16="http://schemas.microsoft.com/office/drawing/2014/main" id="{E65375A8-9EB7-4742-96FF-F9CFFFC77EA6}"/>
                  </a:ext>
                </a:extLst>
              </p:cNvPr>
              <p:cNvSpPr/>
              <p:nvPr/>
            </p:nvSpPr>
            <p:spPr>
              <a:xfrm>
                <a:off x="5562981" y="3429376"/>
                <a:ext cx="1371600" cy="1310005"/>
              </a:xfrm>
              <a:custGeom>
                <a:avLst/>
                <a:gdLst/>
                <a:ahLst/>
                <a:cxnLst/>
                <a:rect l="l" t="t" r="r" b="b"/>
                <a:pathLst>
                  <a:path w="1371600" h="1310004">
                    <a:moveTo>
                      <a:pt x="0" y="142938"/>
                    </a:moveTo>
                    <a:lnTo>
                      <a:pt x="7287" y="97758"/>
                    </a:lnTo>
                    <a:lnTo>
                      <a:pt x="27578" y="58520"/>
                    </a:lnTo>
                    <a:lnTo>
                      <a:pt x="58520" y="27578"/>
                    </a:lnTo>
                    <a:lnTo>
                      <a:pt x="97758" y="7287"/>
                    </a:lnTo>
                    <a:lnTo>
                      <a:pt x="142938" y="0"/>
                    </a:lnTo>
                    <a:lnTo>
                      <a:pt x="1228661" y="0"/>
                    </a:lnTo>
                    <a:lnTo>
                      <a:pt x="1273841" y="7287"/>
                    </a:lnTo>
                    <a:lnTo>
                      <a:pt x="1313079" y="27578"/>
                    </a:lnTo>
                    <a:lnTo>
                      <a:pt x="1344021" y="58520"/>
                    </a:lnTo>
                    <a:lnTo>
                      <a:pt x="1364312" y="97758"/>
                    </a:lnTo>
                    <a:lnTo>
                      <a:pt x="1371600" y="142938"/>
                    </a:lnTo>
                    <a:lnTo>
                      <a:pt x="1371600" y="1166952"/>
                    </a:lnTo>
                    <a:lnTo>
                      <a:pt x="1364312" y="1212130"/>
                    </a:lnTo>
                    <a:lnTo>
                      <a:pt x="1344021" y="1251365"/>
                    </a:lnTo>
                    <a:lnTo>
                      <a:pt x="1313079" y="1282303"/>
                    </a:lnTo>
                    <a:lnTo>
                      <a:pt x="1273841" y="1302592"/>
                    </a:lnTo>
                    <a:lnTo>
                      <a:pt x="1228661" y="1309878"/>
                    </a:lnTo>
                    <a:lnTo>
                      <a:pt x="142938" y="1309878"/>
                    </a:lnTo>
                    <a:lnTo>
                      <a:pt x="97758" y="1302592"/>
                    </a:lnTo>
                    <a:lnTo>
                      <a:pt x="58520" y="1282303"/>
                    </a:lnTo>
                    <a:lnTo>
                      <a:pt x="27578" y="1251365"/>
                    </a:lnTo>
                    <a:lnTo>
                      <a:pt x="7287" y="1212130"/>
                    </a:lnTo>
                    <a:lnTo>
                      <a:pt x="0" y="1166952"/>
                    </a:lnTo>
                    <a:lnTo>
                      <a:pt x="0" y="142938"/>
                    </a:lnTo>
                    <a:close/>
                  </a:path>
                </a:pathLst>
              </a:custGeom>
              <a:ln w="1295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5" name="object 11">
                <a:extLst>
                  <a:ext uri="{FF2B5EF4-FFF2-40B4-BE49-F238E27FC236}">
                    <a16:creationId xmlns:a16="http://schemas.microsoft.com/office/drawing/2014/main" id="{981FBBF6-8F4D-415A-96BA-C8DA0B5FC986}"/>
                  </a:ext>
                </a:extLst>
              </p:cNvPr>
              <p:cNvSpPr/>
              <p:nvPr/>
            </p:nvSpPr>
            <p:spPr>
              <a:xfrm>
                <a:off x="6273927" y="3793617"/>
                <a:ext cx="0" cy="480695"/>
              </a:xfrm>
              <a:custGeom>
                <a:avLst/>
                <a:gdLst/>
                <a:ahLst/>
                <a:cxnLst/>
                <a:rect l="l" t="t" r="r" b="b"/>
                <a:pathLst>
                  <a:path h="480695">
                    <a:moveTo>
                      <a:pt x="0" y="480313"/>
                    </a:moveTo>
                    <a:lnTo>
                      <a:pt x="0" y="0"/>
                    </a:lnTo>
                  </a:path>
                </a:pathLst>
              </a:custGeom>
              <a:ln w="2514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6" name="object 12">
                <a:extLst>
                  <a:ext uri="{FF2B5EF4-FFF2-40B4-BE49-F238E27FC236}">
                    <a16:creationId xmlns:a16="http://schemas.microsoft.com/office/drawing/2014/main" id="{B23D0AC0-A58E-4F16-9FAC-68A22754DA69}"/>
                  </a:ext>
                </a:extLst>
              </p:cNvPr>
              <p:cNvSpPr/>
              <p:nvPr/>
            </p:nvSpPr>
            <p:spPr>
              <a:xfrm>
                <a:off x="6235829" y="4248531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0"/>
                    </a:moveTo>
                    <a:lnTo>
                      <a:pt x="38100" y="25400"/>
                    </a:lnTo>
                    <a:lnTo>
                      <a:pt x="0" y="0"/>
                    </a:lnTo>
                    <a:lnTo>
                      <a:pt x="38100" y="762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7" name="object 13">
              <a:extLst>
                <a:ext uri="{FF2B5EF4-FFF2-40B4-BE49-F238E27FC236}">
                  <a16:creationId xmlns:a16="http://schemas.microsoft.com/office/drawing/2014/main" id="{DDD6B0F8-563B-419E-8AA8-957D46727E88}"/>
                </a:ext>
              </a:extLst>
            </p:cNvPr>
            <p:cNvSpPr txBox="1"/>
            <p:nvPr/>
          </p:nvSpPr>
          <p:spPr>
            <a:xfrm>
              <a:off x="5664008" y="3816191"/>
              <a:ext cx="208006" cy="523240"/>
            </a:xfrm>
            <a:prstGeom prst="rect">
              <a:avLst/>
            </a:prstGeom>
          </p:spPr>
          <p:txBody>
            <a:bodyPr vert="vert270" wrap="square" lIns="0" tIns="0" rIns="0" bIns="0" rtlCol="0">
              <a:spAutoFit/>
            </a:bodyPr>
            <a:lstStyle/>
            <a:p>
              <a:pPr marL="12700">
                <a:lnSpc>
                  <a:spcPts val="1620"/>
                </a:lnSpc>
              </a:pPr>
              <a:r>
                <a:rPr sz="1600" b="1">
                  <a:latin typeface="Calibri"/>
                  <a:cs typeface="Calibri"/>
                </a:rPr>
                <a:t>A</a:t>
              </a:r>
              <a:r>
                <a:rPr sz="1600" b="1" spc="-20">
                  <a:latin typeface="Calibri"/>
                  <a:cs typeface="Calibri"/>
                </a:rPr>
                <a:t>g</a:t>
              </a:r>
              <a:r>
                <a:rPr sz="1600" b="1" spc="-5">
                  <a:latin typeface="Calibri"/>
                  <a:cs typeface="Calibri"/>
                </a:rPr>
                <a:t>e</a:t>
              </a:r>
              <a:r>
                <a:rPr sz="1600" b="1" spc="-20">
                  <a:latin typeface="Calibri"/>
                  <a:cs typeface="Calibri"/>
                </a:rPr>
                <a:t>n</a:t>
              </a:r>
              <a:r>
                <a:rPr sz="1600" b="1">
                  <a:latin typeface="Calibri"/>
                  <a:cs typeface="Calibri"/>
                </a:rPr>
                <a:t>t</a:t>
              </a:r>
              <a:endParaRPr sz="1600">
                <a:latin typeface="Calibri"/>
                <a:cs typeface="Calibri"/>
              </a:endParaRPr>
            </a:p>
          </p:txBody>
        </p:sp>
        <p:grpSp>
          <p:nvGrpSpPr>
            <p:cNvPr id="8" name="object 14">
              <a:extLst>
                <a:ext uri="{FF2B5EF4-FFF2-40B4-BE49-F238E27FC236}">
                  <a16:creationId xmlns:a16="http://schemas.microsoft.com/office/drawing/2014/main" id="{284C3457-480D-45B3-9C58-83D8E3A5B744}"/>
                </a:ext>
              </a:extLst>
            </p:cNvPr>
            <p:cNvGrpSpPr/>
            <p:nvPr/>
          </p:nvGrpSpPr>
          <p:grpSpPr>
            <a:xfrm>
              <a:off x="6090475" y="3874574"/>
              <a:ext cx="354330" cy="337185"/>
              <a:chOff x="6090475" y="3874574"/>
              <a:chExt cx="354330" cy="337185"/>
            </a:xfrm>
          </p:grpSpPr>
          <p:sp>
            <p:nvSpPr>
              <p:cNvPr id="21" name="object 15">
                <a:extLst>
                  <a:ext uri="{FF2B5EF4-FFF2-40B4-BE49-F238E27FC236}">
                    <a16:creationId xmlns:a16="http://schemas.microsoft.com/office/drawing/2014/main" id="{B6F6DE53-DE27-422A-8C5F-052436B5ABB9}"/>
                  </a:ext>
                </a:extLst>
              </p:cNvPr>
              <p:cNvSpPr/>
              <p:nvPr/>
            </p:nvSpPr>
            <p:spPr>
              <a:xfrm>
                <a:off x="6097143" y="3881241"/>
                <a:ext cx="34099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40995" h="323850">
                    <a:moveTo>
                      <a:pt x="249542" y="0"/>
                    </a:moveTo>
                    <a:lnTo>
                      <a:pt x="91071" y="0"/>
                    </a:lnTo>
                    <a:lnTo>
                      <a:pt x="55619" y="7157"/>
                    </a:lnTo>
                    <a:lnTo>
                      <a:pt x="26671" y="26676"/>
                    </a:lnTo>
                    <a:lnTo>
                      <a:pt x="7155" y="55624"/>
                    </a:lnTo>
                    <a:lnTo>
                      <a:pt x="0" y="91071"/>
                    </a:lnTo>
                    <a:lnTo>
                      <a:pt x="0" y="232791"/>
                    </a:lnTo>
                    <a:lnTo>
                      <a:pt x="7155" y="268235"/>
                    </a:lnTo>
                    <a:lnTo>
                      <a:pt x="26671" y="297180"/>
                    </a:lnTo>
                    <a:lnTo>
                      <a:pt x="55619" y="316694"/>
                    </a:lnTo>
                    <a:lnTo>
                      <a:pt x="91071" y="323850"/>
                    </a:lnTo>
                    <a:lnTo>
                      <a:pt x="249542" y="323850"/>
                    </a:lnTo>
                    <a:lnTo>
                      <a:pt x="284994" y="316694"/>
                    </a:lnTo>
                    <a:lnTo>
                      <a:pt x="313942" y="297180"/>
                    </a:lnTo>
                    <a:lnTo>
                      <a:pt x="333458" y="268235"/>
                    </a:lnTo>
                    <a:lnTo>
                      <a:pt x="340614" y="232791"/>
                    </a:lnTo>
                    <a:lnTo>
                      <a:pt x="340614" y="91071"/>
                    </a:lnTo>
                    <a:lnTo>
                      <a:pt x="333458" y="55624"/>
                    </a:lnTo>
                    <a:lnTo>
                      <a:pt x="313942" y="26676"/>
                    </a:lnTo>
                    <a:lnTo>
                      <a:pt x="284994" y="7157"/>
                    </a:lnTo>
                    <a:lnTo>
                      <a:pt x="249542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16">
                <a:extLst>
                  <a:ext uri="{FF2B5EF4-FFF2-40B4-BE49-F238E27FC236}">
                    <a16:creationId xmlns:a16="http://schemas.microsoft.com/office/drawing/2014/main" id="{628EAEB4-3C62-4454-9905-4B1637C46939}"/>
                  </a:ext>
                </a:extLst>
              </p:cNvPr>
              <p:cNvSpPr/>
              <p:nvPr/>
            </p:nvSpPr>
            <p:spPr>
              <a:xfrm>
                <a:off x="6097143" y="3881241"/>
                <a:ext cx="34099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340995" h="323850">
                    <a:moveTo>
                      <a:pt x="0" y="91071"/>
                    </a:moveTo>
                    <a:lnTo>
                      <a:pt x="7155" y="55624"/>
                    </a:lnTo>
                    <a:lnTo>
                      <a:pt x="26671" y="26676"/>
                    </a:lnTo>
                    <a:lnTo>
                      <a:pt x="55619" y="7157"/>
                    </a:lnTo>
                    <a:lnTo>
                      <a:pt x="91071" y="0"/>
                    </a:lnTo>
                    <a:lnTo>
                      <a:pt x="249542" y="0"/>
                    </a:lnTo>
                    <a:lnTo>
                      <a:pt x="284994" y="7157"/>
                    </a:lnTo>
                    <a:lnTo>
                      <a:pt x="313942" y="26676"/>
                    </a:lnTo>
                    <a:lnTo>
                      <a:pt x="333458" y="55624"/>
                    </a:lnTo>
                    <a:lnTo>
                      <a:pt x="340614" y="91071"/>
                    </a:lnTo>
                    <a:lnTo>
                      <a:pt x="340614" y="232791"/>
                    </a:lnTo>
                    <a:lnTo>
                      <a:pt x="333458" y="268235"/>
                    </a:lnTo>
                    <a:lnTo>
                      <a:pt x="313942" y="297180"/>
                    </a:lnTo>
                    <a:lnTo>
                      <a:pt x="284994" y="316694"/>
                    </a:lnTo>
                    <a:lnTo>
                      <a:pt x="249542" y="323850"/>
                    </a:lnTo>
                    <a:lnTo>
                      <a:pt x="91071" y="323850"/>
                    </a:lnTo>
                    <a:lnTo>
                      <a:pt x="55619" y="316694"/>
                    </a:lnTo>
                    <a:lnTo>
                      <a:pt x="26671" y="297180"/>
                    </a:lnTo>
                    <a:lnTo>
                      <a:pt x="7155" y="268235"/>
                    </a:lnTo>
                    <a:lnTo>
                      <a:pt x="0" y="232791"/>
                    </a:lnTo>
                    <a:lnTo>
                      <a:pt x="0" y="91071"/>
                    </a:lnTo>
                    <a:close/>
                  </a:path>
                </a:pathLst>
              </a:custGeom>
              <a:ln w="1295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9" name="object 17">
              <a:extLst>
                <a:ext uri="{FF2B5EF4-FFF2-40B4-BE49-F238E27FC236}">
                  <a16:creationId xmlns:a16="http://schemas.microsoft.com/office/drawing/2014/main" id="{1E7DA320-507F-4107-9729-B56C489E42DA}"/>
                </a:ext>
              </a:extLst>
            </p:cNvPr>
            <p:cNvSpPr txBox="1"/>
            <p:nvPr/>
          </p:nvSpPr>
          <p:spPr>
            <a:xfrm>
              <a:off x="6205675" y="3917286"/>
              <a:ext cx="120014" cy="259045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spcBef>
                  <a:spcPts val="100"/>
                </a:spcBef>
              </a:pPr>
              <a:r>
                <a:rPr sz="1600" b="1">
                  <a:latin typeface="Calibri"/>
                  <a:cs typeface="Calibri"/>
                </a:rPr>
                <a:t>?</a:t>
              </a:r>
              <a:endParaRPr sz="1600">
                <a:latin typeface="Calibri"/>
                <a:cs typeface="Calibri"/>
              </a:endParaRPr>
            </a:p>
          </p:txBody>
        </p:sp>
        <p:sp>
          <p:nvSpPr>
            <p:cNvPr id="10" name="object 18">
              <a:extLst>
                <a:ext uri="{FF2B5EF4-FFF2-40B4-BE49-F238E27FC236}">
                  <a16:creationId xmlns:a16="http://schemas.microsoft.com/office/drawing/2014/main" id="{41FFA689-F7F5-47CB-9625-BF1C46610CE1}"/>
                </a:ext>
              </a:extLst>
            </p:cNvPr>
            <p:cNvSpPr txBox="1"/>
            <p:nvPr/>
          </p:nvSpPr>
          <p:spPr>
            <a:xfrm>
              <a:off x="5988580" y="3538220"/>
              <a:ext cx="579755" cy="227626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400" spc="-10">
                  <a:latin typeface="Calibri"/>
                  <a:cs typeface="Calibri"/>
                </a:rPr>
                <a:t>Sens</a:t>
              </a:r>
              <a:r>
                <a:rPr sz="1400" spc="-5">
                  <a:latin typeface="Calibri"/>
                  <a:cs typeface="Calibri"/>
                </a:rPr>
                <a:t>o</a:t>
              </a:r>
              <a:r>
                <a:rPr sz="1400" spc="-35">
                  <a:latin typeface="Calibri"/>
                  <a:cs typeface="Calibri"/>
                </a:rPr>
                <a:t>r</a:t>
              </a:r>
              <a:r>
                <a:rPr sz="1400" spc="-5">
                  <a:latin typeface="Calibri"/>
                  <a:cs typeface="Calibri"/>
                </a:rPr>
                <a:t>s</a:t>
              </a:r>
              <a:endParaRPr sz="1400">
                <a:latin typeface="Calibri"/>
                <a:cs typeface="Calibri"/>
              </a:endParaRPr>
            </a:p>
          </p:txBody>
        </p:sp>
        <p:grpSp>
          <p:nvGrpSpPr>
            <p:cNvPr id="11" name="object 19">
              <a:extLst>
                <a:ext uri="{FF2B5EF4-FFF2-40B4-BE49-F238E27FC236}">
                  <a16:creationId xmlns:a16="http://schemas.microsoft.com/office/drawing/2014/main" id="{D3E76C6C-6012-41DD-A504-C7AB6284C9ED}"/>
                </a:ext>
              </a:extLst>
            </p:cNvPr>
            <p:cNvGrpSpPr/>
            <p:nvPr/>
          </p:nvGrpSpPr>
          <p:grpSpPr>
            <a:xfrm>
              <a:off x="7842313" y="3416618"/>
              <a:ext cx="622935" cy="1318895"/>
              <a:chOff x="7842313" y="3416618"/>
              <a:chExt cx="622935" cy="1318895"/>
            </a:xfrm>
          </p:grpSpPr>
          <p:sp>
            <p:nvSpPr>
              <p:cNvPr id="19" name="object 20">
                <a:extLst>
                  <a:ext uri="{FF2B5EF4-FFF2-40B4-BE49-F238E27FC236}">
                    <a16:creationId xmlns:a16="http://schemas.microsoft.com/office/drawing/2014/main" id="{7A2B6EC7-7009-4CD7-9D05-0BCC7E596576}"/>
                  </a:ext>
                </a:extLst>
              </p:cNvPr>
              <p:cNvSpPr/>
              <p:nvPr/>
            </p:nvSpPr>
            <p:spPr>
              <a:xfrm>
                <a:off x="7848981" y="3423286"/>
                <a:ext cx="609600" cy="130556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1305560">
                    <a:moveTo>
                      <a:pt x="542886" y="0"/>
                    </a:moveTo>
                    <a:lnTo>
                      <a:pt x="66713" y="0"/>
                    </a:lnTo>
                    <a:lnTo>
                      <a:pt x="40746" y="5242"/>
                    </a:lnTo>
                    <a:lnTo>
                      <a:pt x="19540" y="19540"/>
                    </a:lnTo>
                    <a:lnTo>
                      <a:pt x="5242" y="40746"/>
                    </a:lnTo>
                    <a:lnTo>
                      <a:pt x="0" y="66713"/>
                    </a:lnTo>
                    <a:lnTo>
                      <a:pt x="0" y="1238592"/>
                    </a:lnTo>
                    <a:lnTo>
                      <a:pt x="5242" y="1264559"/>
                    </a:lnTo>
                    <a:lnTo>
                      <a:pt x="19540" y="1285765"/>
                    </a:lnTo>
                    <a:lnTo>
                      <a:pt x="40746" y="1300063"/>
                    </a:lnTo>
                    <a:lnTo>
                      <a:pt x="66713" y="1305306"/>
                    </a:lnTo>
                    <a:lnTo>
                      <a:pt x="542886" y="1305306"/>
                    </a:lnTo>
                    <a:lnTo>
                      <a:pt x="568853" y="1300063"/>
                    </a:lnTo>
                    <a:lnTo>
                      <a:pt x="590059" y="1285765"/>
                    </a:lnTo>
                    <a:lnTo>
                      <a:pt x="604357" y="1264559"/>
                    </a:lnTo>
                    <a:lnTo>
                      <a:pt x="609600" y="1238592"/>
                    </a:lnTo>
                    <a:lnTo>
                      <a:pt x="609600" y="66713"/>
                    </a:lnTo>
                    <a:lnTo>
                      <a:pt x="604357" y="40746"/>
                    </a:lnTo>
                    <a:lnTo>
                      <a:pt x="590059" y="19540"/>
                    </a:lnTo>
                    <a:lnTo>
                      <a:pt x="568853" y="5242"/>
                    </a:lnTo>
                    <a:lnTo>
                      <a:pt x="542886" y="0"/>
                    </a:lnTo>
                    <a:close/>
                  </a:path>
                </a:pathLst>
              </a:custGeom>
              <a:solidFill>
                <a:srgbClr val="9FAFD1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21">
                <a:extLst>
                  <a:ext uri="{FF2B5EF4-FFF2-40B4-BE49-F238E27FC236}">
                    <a16:creationId xmlns:a16="http://schemas.microsoft.com/office/drawing/2014/main" id="{8AA72B75-B200-4E33-86D9-EA4C1E79F89A}"/>
                  </a:ext>
                </a:extLst>
              </p:cNvPr>
              <p:cNvSpPr/>
              <p:nvPr/>
            </p:nvSpPr>
            <p:spPr>
              <a:xfrm>
                <a:off x="7848981" y="3423286"/>
                <a:ext cx="609600" cy="1305560"/>
              </a:xfrm>
              <a:custGeom>
                <a:avLst/>
                <a:gdLst/>
                <a:ahLst/>
                <a:cxnLst/>
                <a:rect l="l" t="t" r="r" b="b"/>
                <a:pathLst>
                  <a:path w="609600" h="1305560">
                    <a:moveTo>
                      <a:pt x="0" y="66713"/>
                    </a:moveTo>
                    <a:lnTo>
                      <a:pt x="5242" y="40746"/>
                    </a:lnTo>
                    <a:lnTo>
                      <a:pt x="19540" y="19540"/>
                    </a:lnTo>
                    <a:lnTo>
                      <a:pt x="40746" y="5242"/>
                    </a:lnTo>
                    <a:lnTo>
                      <a:pt x="66713" y="0"/>
                    </a:lnTo>
                    <a:lnTo>
                      <a:pt x="542886" y="0"/>
                    </a:lnTo>
                    <a:lnTo>
                      <a:pt x="568853" y="5242"/>
                    </a:lnTo>
                    <a:lnTo>
                      <a:pt x="590059" y="19540"/>
                    </a:lnTo>
                    <a:lnTo>
                      <a:pt x="604357" y="40746"/>
                    </a:lnTo>
                    <a:lnTo>
                      <a:pt x="609600" y="66713"/>
                    </a:lnTo>
                    <a:lnTo>
                      <a:pt x="609600" y="1238592"/>
                    </a:lnTo>
                    <a:lnTo>
                      <a:pt x="604357" y="1264559"/>
                    </a:lnTo>
                    <a:lnTo>
                      <a:pt x="590059" y="1285765"/>
                    </a:lnTo>
                    <a:lnTo>
                      <a:pt x="568853" y="1300063"/>
                    </a:lnTo>
                    <a:lnTo>
                      <a:pt x="542886" y="1305306"/>
                    </a:lnTo>
                    <a:lnTo>
                      <a:pt x="66713" y="1305306"/>
                    </a:lnTo>
                    <a:lnTo>
                      <a:pt x="40746" y="1300063"/>
                    </a:lnTo>
                    <a:lnTo>
                      <a:pt x="19540" y="1285765"/>
                    </a:lnTo>
                    <a:lnTo>
                      <a:pt x="5242" y="1264559"/>
                    </a:lnTo>
                    <a:lnTo>
                      <a:pt x="0" y="1238592"/>
                    </a:lnTo>
                    <a:lnTo>
                      <a:pt x="0" y="66713"/>
                    </a:lnTo>
                    <a:close/>
                  </a:path>
                </a:pathLst>
              </a:custGeom>
              <a:ln w="1295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2" name="object 22">
              <a:extLst>
                <a:ext uri="{FF2B5EF4-FFF2-40B4-BE49-F238E27FC236}">
                  <a16:creationId xmlns:a16="http://schemas.microsoft.com/office/drawing/2014/main" id="{41A14813-55CF-4D6F-9E5D-F1CC15A2C184}"/>
                </a:ext>
              </a:extLst>
            </p:cNvPr>
            <p:cNvSpPr txBox="1"/>
            <p:nvPr/>
          </p:nvSpPr>
          <p:spPr>
            <a:xfrm>
              <a:off x="8120588" y="3509034"/>
              <a:ext cx="208006" cy="1110615"/>
            </a:xfrm>
            <a:prstGeom prst="rect">
              <a:avLst/>
            </a:prstGeom>
          </p:spPr>
          <p:txBody>
            <a:bodyPr vert="vert" wrap="square" lIns="0" tIns="0" rIns="0" bIns="0" rtlCol="0">
              <a:spAutoFit/>
            </a:bodyPr>
            <a:lstStyle/>
            <a:p>
              <a:pPr marL="12700">
                <a:lnSpc>
                  <a:spcPts val="1620"/>
                </a:lnSpc>
              </a:pPr>
              <a:r>
                <a:rPr sz="1600" b="1" spc="-10">
                  <a:latin typeface="Calibri"/>
                  <a:cs typeface="Calibri"/>
                </a:rPr>
                <a:t>Environment</a:t>
              </a:r>
              <a:endParaRPr sz="1600">
                <a:latin typeface="Calibri"/>
                <a:cs typeface="Calibri"/>
              </a:endParaRPr>
            </a:p>
          </p:txBody>
        </p:sp>
        <p:grpSp>
          <p:nvGrpSpPr>
            <p:cNvPr id="13" name="object 23">
              <a:extLst>
                <a:ext uri="{FF2B5EF4-FFF2-40B4-BE49-F238E27FC236}">
                  <a16:creationId xmlns:a16="http://schemas.microsoft.com/office/drawing/2014/main" id="{9A02118B-60DE-4A5D-A8B0-3702A89C2E18}"/>
                </a:ext>
              </a:extLst>
            </p:cNvPr>
            <p:cNvGrpSpPr/>
            <p:nvPr/>
          </p:nvGrpSpPr>
          <p:grpSpPr>
            <a:xfrm>
              <a:off x="6682358" y="3628265"/>
              <a:ext cx="1329055" cy="963294"/>
              <a:chOff x="6682358" y="3628265"/>
              <a:chExt cx="1329055" cy="963294"/>
            </a:xfrm>
          </p:grpSpPr>
          <p:sp>
            <p:nvSpPr>
              <p:cNvPr id="15" name="object 24">
                <a:extLst>
                  <a:ext uri="{FF2B5EF4-FFF2-40B4-BE49-F238E27FC236}">
                    <a16:creationId xmlns:a16="http://schemas.microsoft.com/office/drawing/2014/main" id="{37CD0F36-68B1-4823-B39C-8824D6D4A501}"/>
                  </a:ext>
                </a:extLst>
              </p:cNvPr>
              <p:cNvSpPr/>
              <p:nvPr/>
            </p:nvSpPr>
            <p:spPr>
              <a:xfrm>
                <a:off x="6733158" y="3666362"/>
                <a:ext cx="1278255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78254">
                    <a:moveTo>
                      <a:pt x="0" y="0"/>
                    </a:moveTo>
                    <a:lnTo>
                      <a:pt x="1278128" y="0"/>
                    </a:lnTo>
                  </a:path>
                </a:pathLst>
              </a:custGeom>
              <a:ln w="2514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25">
                <a:extLst>
                  <a:ext uri="{FF2B5EF4-FFF2-40B4-BE49-F238E27FC236}">
                    <a16:creationId xmlns:a16="http://schemas.microsoft.com/office/drawing/2014/main" id="{0AF03D06-6B03-47AF-89D9-6650037C10EA}"/>
                  </a:ext>
                </a:extLst>
              </p:cNvPr>
              <p:cNvSpPr/>
              <p:nvPr/>
            </p:nvSpPr>
            <p:spPr>
              <a:xfrm>
                <a:off x="6682358" y="362826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76200" y="0"/>
                    </a:moveTo>
                    <a:lnTo>
                      <a:pt x="0" y="38100"/>
                    </a:lnTo>
                    <a:lnTo>
                      <a:pt x="76200" y="76200"/>
                    </a:lnTo>
                    <a:lnTo>
                      <a:pt x="50800" y="38100"/>
                    </a:lnTo>
                    <a:lnTo>
                      <a:pt x="7620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26">
                <a:extLst>
                  <a:ext uri="{FF2B5EF4-FFF2-40B4-BE49-F238E27FC236}">
                    <a16:creationId xmlns:a16="http://schemas.microsoft.com/office/drawing/2014/main" id="{AF458A1C-BFFC-4DC4-A5D4-4C937C894DD7}"/>
                  </a:ext>
                </a:extLst>
              </p:cNvPr>
              <p:cNvSpPr/>
              <p:nvPr/>
            </p:nvSpPr>
            <p:spPr>
              <a:xfrm>
                <a:off x="6748652" y="4553330"/>
                <a:ext cx="120777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07770">
                    <a:moveTo>
                      <a:pt x="1207261" y="0"/>
                    </a:moveTo>
                    <a:lnTo>
                      <a:pt x="0" y="0"/>
                    </a:lnTo>
                  </a:path>
                </a:pathLst>
              </a:custGeom>
              <a:ln w="25146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27">
                <a:extLst>
                  <a:ext uri="{FF2B5EF4-FFF2-40B4-BE49-F238E27FC236}">
                    <a16:creationId xmlns:a16="http://schemas.microsoft.com/office/drawing/2014/main" id="{38D279F4-9481-4DA9-A66F-8255CF0DD300}"/>
                  </a:ext>
                </a:extLst>
              </p:cNvPr>
              <p:cNvSpPr/>
              <p:nvPr/>
            </p:nvSpPr>
            <p:spPr>
              <a:xfrm>
                <a:off x="7930514" y="4515228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0"/>
                    </a:moveTo>
                    <a:lnTo>
                      <a:pt x="25400" y="38099"/>
                    </a:lnTo>
                    <a:lnTo>
                      <a:pt x="0" y="76199"/>
                    </a:lnTo>
                    <a:lnTo>
                      <a:pt x="76200" y="380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4" name="object 28">
              <a:extLst>
                <a:ext uri="{FF2B5EF4-FFF2-40B4-BE49-F238E27FC236}">
                  <a16:creationId xmlns:a16="http://schemas.microsoft.com/office/drawing/2014/main" id="{3B0EC87F-6AB7-48D7-A7F6-FF0166102B34}"/>
                </a:ext>
              </a:extLst>
            </p:cNvPr>
            <p:cNvSpPr txBox="1"/>
            <p:nvPr/>
          </p:nvSpPr>
          <p:spPr>
            <a:xfrm>
              <a:off x="7116819" y="3655567"/>
              <a:ext cx="518159" cy="1814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spcBef>
                  <a:spcPts val="95"/>
                </a:spcBef>
              </a:pPr>
              <a:r>
                <a:rPr sz="1100" spc="-5">
                  <a:latin typeface="Calibri"/>
                  <a:cs typeface="Calibri"/>
                </a:rPr>
                <a:t>P</a:t>
              </a:r>
              <a:r>
                <a:rPr sz="1100" spc="-10">
                  <a:latin typeface="Calibri"/>
                  <a:cs typeface="Calibri"/>
                </a:rPr>
                <a:t>e</a:t>
              </a:r>
              <a:r>
                <a:rPr sz="1100" spc="-5">
                  <a:latin typeface="Calibri"/>
                  <a:cs typeface="Calibri"/>
                </a:rPr>
                <a:t>r</a:t>
              </a:r>
              <a:r>
                <a:rPr sz="1100" spc="-10">
                  <a:latin typeface="Calibri"/>
                  <a:cs typeface="Calibri"/>
                </a:rPr>
                <a:t>cepts</a:t>
              </a:r>
              <a:endParaRPr sz="1100">
                <a:latin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57035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AE41E-9352-49B1-85CC-F4BAB43F2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Hands-on: TensorFlow Playground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63CB99-664D-401D-B164-1E1F71DC2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4B6C9-F977-47F9-A532-97FA6661BEE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86781" y="1302828"/>
            <a:ext cx="5341938" cy="52927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000">
                <a:latin typeface="+mn-lt"/>
                <a:hlinkClick r:id="rId3"/>
              </a:rPr>
              <a:t>https://playground.tensorflow.org/</a:t>
            </a:r>
            <a:endParaRPr lang="en-US" sz="200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+mn-lt"/>
              </a:rPr>
              <a:t>Try these experiments:</a:t>
            </a:r>
            <a:endParaRPr lang="en-US" sz="1800">
              <a:latin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b="1">
                <a:latin typeface="+mn-lt"/>
              </a:rPr>
              <a:t>Linearly separable data</a:t>
            </a:r>
            <a:r>
              <a:rPr lang="en-US" sz="1800">
                <a:latin typeface="+mn-lt"/>
              </a:rPr>
              <a:t>: Can a single neuron (no hidden layers) solve it?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 b="1">
                <a:latin typeface="+mn-lt"/>
              </a:rPr>
              <a:t>XOR pattern</a:t>
            </a:r>
            <a:r>
              <a:rPr lang="en-US" sz="1800">
                <a:latin typeface="+mn-lt"/>
              </a:rPr>
              <a:t>: Add hidden layers until it works. What's the minimum?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+mn-lt"/>
              </a:rPr>
              <a:t>Spiral pattern</a:t>
            </a:r>
            <a:r>
              <a:rPr lang="en-US" sz="1800">
                <a:latin typeface="+mn-lt"/>
              </a:rPr>
              <a:t>: Experiment with: 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Number of hidden layers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Neurons per layer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Activation functions (</a:t>
            </a:r>
            <a:r>
              <a:rPr lang="en-US" sz="1800" err="1">
                <a:latin typeface="+mn-lt"/>
              </a:rPr>
              <a:t>ReLU</a:t>
            </a:r>
            <a:r>
              <a:rPr lang="en-US" sz="1800">
                <a:latin typeface="+mn-lt"/>
              </a:rPr>
              <a:t> vs. Sigmoid)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Learning rate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+mn-lt"/>
              </a:rPr>
              <a:t>Observe</a:t>
            </a:r>
            <a:r>
              <a:rPr lang="en-US" sz="1800">
                <a:latin typeface="+mn-lt"/>
              </a:rPr>
              <a:t>: How does the decision boundary evolve 	during training?</a:t>
            </a:r>
          </a:p>
          <a:p>
            <a:pPr marL="0" indent="0">
              <a:lnSpc>
                <a:spcPct val="110000"/>
              </a:lnSpc>
              <a:buNone/>
            </a:pPr>
            <a:endParaRPr lang="en-US"/>
          </a:p>
        </p:txBody>
      </p:sp>
      <p:pic>
        <p:nvPicPr>
          <p:cNvPr id="1026" name="Picture 2" descr="Understanding neural networks with TensorFlow Playground | Google Cloud Blog">
            <a:extLst>
              <a:ext uri="{FF2B5EF4-FFF2-40B4-BE49-F238E27FC236}">
                <a16:creationId xmlns:a16="http://schemas.microsoft.com/office/drawing/2014/main" id="{6CD2245B-31D1-316C-DFD0-A0B952EE8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449552"/>
            <a:ext cx="5813518" cy="34133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13588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66CFB-8000-F2BF-1436-F528D11D2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142A0-7FAC-01D4-2887-9E34D3F3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Hands-on: Google Quick, Draw!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3A0AF-987A-6ABA-7FE0-FA95CD544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F4C0E-91FA-4D94-8941-E22F3A83D5F1}" type="slidenum">
              <a:rPr lang="en-US" smtClean="0"/>
              <a:t>47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6BB2-4CCD-11DF-CE67-66A3FBEBDE0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09600" y="1306114"/>
            <a:ext cx="8382000" cy="52927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+mn-lt"/>
                <a:hlinkClick r:id="rId3"/>
              </a:rPr>
              <a:t>https://quickdraw.withgoogle.com/</a:t>
            </a:r>
            <a:endParaRPr lang="en-US" sz="180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+mn-lt"/>
              </a:rPr>
              <a:t>The experience:</a:t>
            </a:r>
            <a:endParaRPr lang="en-US" sz="1800">
              <a:latin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You're given an object to draw (e.g., "cat")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You have 20 seconds to sketch it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A neural network tries to recognize your drawing </a:t>
            </a:r>
            <a:r>
              <a:rPr lang="en-US" sz="1800" i="1">
                <a:latin typeface="+mn-lt"/>
              </a:rPr>
              <a:t>in real-time</a:t>
            </a:r>
            <a:endParaRPr lang="en-US" sz="180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+mn-lt"/>
              </a:rPr>
              <a:t>While playing, notice:</a:t>
            </a:r>
            <a:endParaRPr lang="en-US" sz="1800">
              <a:latin typeface="+mn-lt"/>
            </a:endParaRP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How quickly does it recognize your drawing?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What features does it seem to rely on?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en-US" sz="1800">
                <a:latin typeface="+mn-lt"/>
              </a:rPr>
              <a:t>When does it get confused?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US" sz="1800" b="1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1">
                <a:latin typeface="+mn-lt"/>
              </a:rPr>
              <a:t>Behind the scenes</a:t>
            </a:r>
            <a:r>
              <a:rPr lang="en-US" sz="1800">
                <a:latin typeface="+mn-lt"/>
              </a:rPr>
              <a:t>: CNN trained on millions of human sketches</a:t>
            </a:r>
          </a:p>
          <a:p>
            <a:pPr marL="0" indent="0">
              <a:lnSpc>
                <a:spcPct val="110000"/>
              </a:lnSpc>
              <a:buNone/>
            </a:pPr>
            <a:endParaRPr lang="en-US"/>
          </a:p>
        </p:txBody>
      </p:sp>
      <p:pic>
        <p:nvPicPr>
          <p:cNvPr id="2050" name="Picture 2" descr="Quick, Draw! by Google Creative Lab - Experiments with Google">
            <a:extLst>
              <a:ext uri="{FF2B5EF4-FFF2-40B4-BE49-F238E27FC236}">
                <a16:creationId xmlns:a16="http://schemas.microsoft.com/office/drawing/2014/main" id="{A0A995FD-3169-B58F-911C-2330B53083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0235" y="3491345"/>
            <a:ext cx="4723447" cy="2656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63245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2013 - 2022 Theme [1788630384749]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2749</Words>
  <Application>Microsoft Office PowerPoint</Application>
  <PresentationFormat>Widescreen</PresentationFormat>
  <Paragraphs>468</Paragraphs>
  <Slides>47</Slides>
  <Notes>4</Notes>
  <HiddenSlides>0</HiddenSlides>
  <MMClips>2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6" baseType="lpstr">
      <vt:lpstr>Arial</vt:lpstr>
      <vt:lpstr>Baskerville SemiBold</vt:lpstr>
      <vt:lpstr>Calibri</vt:lpstr>
      <vt:lpstr>Calibri Light</vt:lpstr>
      <vt:lpstr>Cambria</vt:lpstr>
      <vt:lpstr>Courier New</vt:lpstr>
      <vt:lpstr>Helvetica Neue Light</vt:lpstr>
      <vt:lpstr>1_Office 2013 - 2022 Theme [1788630384749]</vt:lpstr>
      <vt:lpstr>think-cell Slide</vt:lpstr>
      <vt:lpstr>ALY 3510  AI Foundations:    An Interdisciplinary Approach  Lecture 4:   Neural Networks &amp; Deep Learning  Session/Section:  Fall 2026 Time:        Monday  5:50-7:10 PM  and Virtual Instructor:    Vladimir Shapiro </vt:lpstr>
      <vt:lpstr>Pre-Lecture Video (1:03)</vt:lpstr>
      <vt:lpstr>Agenda</vt:lpstr>
      <vt:lpstr>Part 1: Introduction to Neural Networks</vt:lpstr>
      <vt:lpstr>Quick Recap: What is Machine Learning?</vt:lpstr>
      <vt:lpstr>Why Neural Networks? End-to-End Learning</vt:lpstr>
      <vt:lpstr>Inspiration from the Brain</vt:lpstr>
      <vt:lpstr>The Artificial Neuron (Perceptron)</vt:lpstr>
      <vt:lpstr>The Perceptron's Fatal Flaw</vt:lpstr>
      <vt:lpstr>Multi-Layer Perceptron (MLP)</vt:lpstr>
      <vt:lpstr>Neural Network Terminology</vt:lpstr>
      <vt:lpstr>The Power of Neural Networks</vt:lpstr>
      <vt:lpstr>Activation Functions: Adding Nonlinearity</vt:lpstr>
      <vt:lpstr>Softmax: From Scores to Probabilities</vt:lpstr>
      <vt:lpstr>Part 2: How Neural Network Learn</vt:lpstr>
      <vt:lpstr>How Training Works: The Cycle</vt:lpstr>
      <vt:lpstr>Learning in Action: A Concrete Example</vt:lpstr>
      <vt:lpstr>Measuring Error: Loss Functions</vt:lpstr>
      <vt:lpstr>Backpropagation: Assigning Blame</vt:lpstr>
      <vt:lpstr>Finding the Best Weights: Gradient Descent</vt:lpstr>
      <vt:lpstr>Monitoring Training Progress</vt:lpstr>
      <vt:lpstr>Part 3: Hyperparameters</vt:lpstr>
      <vt:lpstr>Key Hyperparameters</vt:lpstr>
      <vt:lpstr>BREAK -  What is Deep Learning? (5:51)</vt:lpstr>
      <vt:lpstr>Part 4: Deep Learning</vt:lpstr>
      <vt:lpstr>Why Go Deeper Than One Hidden Layer?</vt:lpstr>
      <vt:lpstr>Shallow vs. Deep Networks</vt:lpstr>
      <vt:lpstr>A Brief History of Deep Learning</vt:lpstr>
      <vt:lpstr>The 2012 Breakthrough: AlexNet</vt:lpstr>
      <vt:lpstr>Part 5: Specialized Architectures</vt:lpstr>
      <vt:lpstr>Convolutional Neural Networks (CNNs)</vt:lpstr>
      <vt:lpstr>Recurrent Neural Networks (RNNs)</vt:lpstr>
      <vt:lpstr>Transformers: The Attention Mechanism</vt:lpstr>
      <vt:lpstr>Large Language Models (LLMs)</vt:lpstr>
      <vt:lpstr>Part 6: Making Deep Learning Practical</vt:lpstr>
      <vt:lpstr>Transfer Learning &amp; Fine-Tuning</vt:lpstr>
      <vt:lpstr>Multimodal &amp; Generative AI</vt:lpstr>
      <vt:lpstr>Part 7: Challenges &amp; Limitations</vt:lpstr>
      <vt:lpstr>The Black Box Problem</vt:lpstr>
      <vt:lpstr>Adversarial Examples: Fooling Neural Networks</vt:lpstr>
      <vt:lpstr>Other Key Challenges</vt:lpstr>
      <vt:lpstr>Key Takeaways</vt:lpstr>
      <vt:lpstr>Let’s Discuss (5–10 min)</vt:lpstr>
      <vt:lpstr>Try It Yourself &amp; Learn More</vt:lpstr>
      <vt:lpstr>Demos</vt:lpstr>
      <vt:lpstr>Hands-on: TensorFlow Playground</vt:lpstr>
      <vt:lpstr>Hands-on: Google Quick, Draw!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– Level I</dc:title>
  <dc:subject/>
  <dc:creator>v.shapiro@northeastern.edu</dc:creator>
  <cp:keywords/>
  <dc:description/>
  <cp:lastModifiedBy>Shapiro, Vladimir</cp:lastModifiedBy>
  <cp:revision>1</cp:revision>
  <cp:lastPrinted>2016-05-10T18:03:23Z</cp:lastPrinted>
  <dcterms:created xsi:type="dcterms:W3CDTF">2015-10-08T16:21:21Z</dcterms:created>
  <dcterms:modified xsi:type="dcterms:W3CDTF">2026-10-06T00:40:39Z</dcterms:modified>
  <cp:category/>
</cp:coreProperties>
</file>