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handoutMasterIdLst>
    <p:handoutMasterId r:id="rId18"/>
  </p:handoutMasterIdLst>
  <p:sldIdLst>
    <p:sldId id="449" r:id="rId2"/>
    <p:sldId id="1081" r:id="rId3"/>
    <p:sldId id="1082" r:id="rId4"/>
    <p:sldId id="762" r:id="rId5"/>
    <p:sldId id="1090" r:id="rId6"/>
    <p:sldId id="1092" r:id="rId7"/>
    <p:sldId id="891" r:id="rId8"/>
    <p:sldId id="1083" r:id="rId9"/>
    <p:sldId id="894" r:id="rId10"/>
    <p:sldId id="1089" r:id="rId11"/>
    <p:sldId id="776" r:id="rId12"/>
    <p:sldId id="1086" r:id="rId13"/>
    <p:sldId id="1087" r:id="rId14"/>
    <p:sldId id="1091" r:id="rId15"/>
    <p:sldId id="697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piro, Vladimir" initials="SV" lastIdx="1" clrIdx="0">
    <p:extLst>
      <p:ext uri="{19B8F6BF-5375-455C-9EA6-DF929625EA0E}">
        <p15:presenceInfo xmlns:p15="http://schemas.microsoft.com/office/powerpoint/2012/main" userId="S::vladisha@northeastern.edu::487b986e-9dea-4ba8-b33e-8d9a67ec1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AD1F33-8C6E-4026-8FD0-FA6C74757EF4}" v="11" dt="2026-10-15T18:31:44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03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piro, Vladimir" userId="487b986e-9dea-4ba8-b33e-8d9a67ec1e6d" providerId="ADAL" clId="{AD5DA62A-DE80-4B28-A03D-42D81E3BD365}"/>
    <pc:docChg chg="undo custSel addSld delSld modSld sldOrd">
      <pc:chgData name="Shapiro, Vladimir" userId="487b986e-9dea-4ba8-b33e-8d9a67ec1e6d" providerId="ADAL" clId="{AD5DA62A-DE80-4B28-A03D-42D81E3BD365}" dt="2026-10-15T18:31:52.093" v="740" actId="108"/>
      <pc:docMkLst>
        <pc:docMk/>
      </pc:docMkLst>
      <pc:sldChg chg="modSp add del mod">
        <pc:chgData name="Shapiro, Vladimir" userId="487b986e-9dea-4ba8-b33e-8d9a67ec1e6d" providerId="ADAL" clId="{AD5DA62A-DE80-4B28-A03D-42D81E3BD365}" dt="2026-10-15T15:11:27.906" v="486" actId="2696"/>
        <pc:sldMkLst>
          <pc:docMk/>
          <pc:sldMk cId="606806964" sldId="449"/>
        </pc:sldMkLst>
      </pc:sldChg>
      <pc:sldChg chg="add del">
        <pc:chgData name="Shapiro, Vladimir" userId="487b986e-9dea-4ba8-b33e-8d9a67ec1e6d" providerId="ADAL" clId="{AD5DA62A-DE80-4B28-A03D-42D81E3BD365}" dt="2026-10-15T15:11:36.821" v="487" actId="47"/>
        <pc:sldMkLst>
          <pc:docMk/>
          <pc:sldMk cId="2934510906" sldId="492"/>
        </pc:sldMkLst>
      </pc:sldChg>
      <pc:sldChg chg="modSp mod">
        <pc:chgData name="Shapiro, Vladimir" userId="487b986e-9dea-4ba8-b33e-8d9a67ec1e6d" providerId="ADAL" clId="{AD5DA62A-DE80-4B28-A03D-42D81E3BD365}" dt="2026-10-15T18:31:52.093" v="740" actId="108"/>
        <pc:sldMkLst>
          <pc:docMk/>
          <pc:sldMk cId="480447238" sldId="762"/>
        </pc:sldMkLst>
        <pc:spChg chg="mod">
          <ac:chgData name="Shapiro, Vladimir" userId="487b986e-9dea-4ba8-b33e-8d9a67ec1e6d" providerId="ADAL" clId="{AD5DA62A-DE80-4B28-A03D-42D81E3BD365}" dt="2026-10-15T18:31:52.093" v="740" actId="108"/>
          <ac:spMkLst>
            <pc:docMk/>
            <pc:sldMk cId="480447238" sldId="762"/>
            <ac:spMk id="3" creationId="{BA33C9A6-E25E-4CA3-985C-158FD297028E}"/>
          </ac:spMkLst>
        </pc:spChg>
      </pc:sldChg>
      <pc:sldChg chg="delSp modSp mod">
        <pc:chgData name="Shapiro, Vladimir" userId="487b986e-9dea-4ba8-b33e-8d9a67ec1e6d" providerId="ADAL" clId="{AD5DA62A-DE80-4B28-A03D-42D81E3BD365}" dt="2026-10-15T16:34:34.888" v="656" actId="2710"/>
        <pc:sldMkLst>
          <pc:docMk/>
          <pc:sldMk cId="1771604083" sldId="891"/>
        </pc:sldMkLst>
        <pc:spChg chg="mod">
          <ac:chgData name="Shapiro, Vladimir" userId="487b986e-9dea-4ba8-b33e-8d9a67ec1e6d" providerId="ADAL" clId="{AD5DA62A-DE80-4B28-A03D-42D81E3BD365}" dt="2026-10-15T16:34:34.888" v="656" actId="2710"/>
          <ac:spMkLst>
            <pc:docMk/>
            <pc:sldMk cId="1771604083" sldId="891"/>
            <ac:spMk id="3" creationId="{BA33C9A6-E25E-4CA3-985C-158FD297028E}"/>
          </ac:spMkLst>
        </pc:spChg>
        <pc:picChg chg="del">
          <ac:chgData name="Shapiro, Vladimir" userId="487b986e-9dea-4ba8-b33e-8d9a67ec1e6d" providerId="ADAL" clId="{AD5DA62A-DE80-4B28-A03D-42D81E3BD365}" dt="2026-10-15T16:26:27.148" v="526" actId="478"/>
          <ac:picMkLst>
            <pc:docMk/>
            <pc:sldMk cId="1771604083" sldId="891"/>
            <ac:picMk id="4" creationId="{54366B4C-5979-4483-BBB6-5496EDCA6B96}"/>
          </ac:picMkLst>
        </pc:picChg>
      </pc:sldChg>
      <pc:sldChg chg="add del">
        <pc:chgData name="Shapiro, Vladimir" userId="487b986e-9dea-4ba8-b33e-8d9a67ec1e6d" providerId="ADAL" clId="{AD5DA62A-DE80-4B28-A03D-42D81E3BD365}" dt="2026-10-15T15:11:42.427" v="488" actId="47"/>
        <pc:sldMkLst>
          <pc:docMk/>
          <pc:sldMk cId="630124591" sldId="982"/>
        </pc:sldMkLst>
      </pc:sldChg>
      <pc:sldChg chg="modSp mod">
        <pc:chgData name="Shapiro, Vladimir" userId="487b986e-9dea-4ba8-b33e-8d9a67ec1e6d" providerId="ADAL" clId="{AD5DA62A-DE80-4B28-A03D-42D81E3BD365}" dt="2026-10-15T16:27:37.257" v="608" actId="1076"/>
        <pc:sldMkLst>
          <pc:docMk/>
          <pc:sldMk cId="3426125430" sldId="1083"/>
        </pc:sldMkLst>
        <pc:spChg chg="mod">
          <ac:chgData name="Shapiro, Vladimir" userId="487b986e-9dea-4ba8-b33e-8d9a67ec1e6d" providerId="ADAL" clId="{AD5DA62A-DE80-4B28-A03D-42D81E3BD365}" dt="2026-10-15T16:27:31.700" v="606" actId="6549"/>
          <ac:spMkLst>
            <pc:docMk/>
            <pc:sldMk cId="3426125430" sldId="1083"/>
            <ac:spMk id="3" creationId="{7AACEA44-D752-E931-3EA1-4F2EC5B57E8A}"/>
          </ac:spMkLst>
        </pc:spChg>
        <pc:picChg chg="mod">
          <ac:chgData name="Shapiro, Vladimir" userId="487b986e-9dea-4ba8-b33e-8d9a67ec1e6d" providerId="ADAL" clId="{AD5DA62A-DE80-4B28-A03D-42D81E3BD365}" dt="2026-10-15T16:27:37.257" v="608" actId="1076"/>
          <ac:picMkLst>
            <pc:docMk/>
            <pc:sldMk cId="3426125430" sldId="1083"/>
            <ac:picMk id="1026" creationId="{473F565B-9C78-D75D-9974-837FE5B4425A}"/>
          </ac:picMkLst>
        </pc:picChg>
      </pc:sldChg>
      <pc:sldChg chg="modSp mod">
        <pc:chgData name="Shapiro, Vladimir" userId="487b986e-9dea-4ba8-b33e-8d9a67ec1e6d" providerId="ADAL" clId="{AD5DA62A-DE80-4B28-A03D-42D81E3BD365}" dt="2026-10-15T18:14:28.289" v="712" actId="14100"/>
        <pc:sldMkLst>
          <pc:docMk/>
          <pc:sldMk cId="3717202325" sldId="1090"/>
        </pc:sldMkLst>
        <pc:spChg chg="mod">
          <ac:chgData name="Shapiro, Vladimir" userId="487b986e-9dea-4ba8-b33e-8d9a67ec1e6d" providerId="ADAL" clId="{AD5DA62A-DE80-4B28-A03D-42D81E3BD365}" dt="2026-10-15T16:25:52.914" v="504" actId="20577"/>
          <ac:spMkLst>
            <pc:docMk/>
            <pc:sldMk cId="3717202325" sldId="1090"/>
            <ac:spMk id="3" creationId="{7FB8016C-724B-CD1F-DF23-797C435DB897}"/>
          </ac:spMkLst>
        </pc:spChg>
        <pc:picChg chg="mod">
          <ac:chgData name="Shapiro, Vladimir" userId="487b986e-9dea-4ba8-b33e-8d9a67ec1e6d" providerId="ADAL" clId="{AD5DA62A-DE80-4B28-A03D-42D81E3BD365}" dt="2026-10-15T18:14:28.289" v="712" actId="14100"/>
          <ac:picMkLst>
            <pc:docMk/>
            <pc:sldMk cId="3717202325" sldId="1090"/>
            <ac:picMk id="1026" creationId="{6AF0F173-3ADD-FFF3-BEAB-BC044594D723}"/>
          </ac:picMkLst>
        </pc:picChg>
      </pc:sldChg>
      <pc:sldChg chg="addSp delSp modSp add mod">
        <pc:chgData name="Shapiro, Vladimir" userId="487b986e-9dea-4ba8-b33e-8d9a67ec1e6d" providerId="ADAL" clId="{AD5DA62A-DE80-4B28-A03D-42D81E3BD365}" dt="2026-10-15T18:15:22.694" v="727" actId="1076"/>
        <pc:sldMkLst>
          <pc:docMk/>
          <pc:sldMk cId="2532997381" sldId="1092"/>
        </pc:sldMkLst>
        <pc:spChg chg="mod">
          <ac:chgData name="Shapiro, Vladimir" userId="487b986e-9dea-4ba8-b33e-8d9a67ec1e6d" providerId="ADAL" clId="{AD5DA62A-DE80-4B28-A03D-42D81E3BD365}" dt="2026-10-15T18:14:50.046" v="720" actId="20577"/>
          <ac:spMkLst>
            <pc:docMk/>
            <pc:sldMk cId="2532997381" sldId="1092"/>
            <ac:spMk id="3" creationId="{90DFB1F9-8CA0-666F-504B-9486A7D08702}"/>
          </ac:spMkLst>
        </pc:spChg>
        <pc:picChg chg="add mod">
          <ac:chgData name="Shapiro, Vladimir" userId="487b986e-9dea-4ba8-b33e-8d9a67ec1e6d" providerId="ADAL" clId="{AD5DA62A-DE80-4B28-A03D-42D81E3BD365}" dt="2026-10-15T18:15:22.694" v="727" actId="1076"/>
          <ac:picMkLst>
            <pc:docMk/>
            <pc:sldMk cId="2532997381" sldId="1092"/>
            <ac:picMk id="6" creationId="{12BB676C-4198-B3D1-ADD6-6810E6C33CED}"/>
          </ac:picMkLst>
        </pc:picChg>
        <pc:picChg chg="del">
          <ac:chgData name="Shapiro, Vladimir" userId="487b986e-9dea-4ba8-b33e-8d9a67ec1e6d" providerId="ADAL" clId="{AD5DA62A-DE80-4B28-A03D-42D81E3BD365}" dt="2026-10-15T18:14:43.555" v="714" actId="478"/>
          <ac:picMkLst>
            <pc:docMk/>
            <pc:sldMk cId="2532997381" sldId="1092"/>
            <ac:picMk id="1026" creationId="{240A27EF-49C9-FD43-D3CE-A8B75B8218E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20C3D-B18F-408C-AB7E-3E832705066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81ED-B271-4688-BA18-CA7E4726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9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DE9AC-4BE4-4D3A-A0A7-E4076EE786F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F66-ACA7-4F65-9AFB-6946E0F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4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4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00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015E-7B17-B796-7641-9CB43F18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3607F-2E0F-A499-A675-ED438FC33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E07B2-6E36-6317-48A3-3DB7816F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8AFFC-1616-0F93-45AD-E2512916EC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22D68-8114-E12E-D0B5-7319BEDE7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12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7FE9-B9F7-6346-1547-622B418E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7A0B0-8FAD-147C-CC6B-5D5D01811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E065E-29DF-ED5D-4A0A-D971107C4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059B2-2DF2-35F9-7932-C5D653D39D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B2620-C9F3-C006-33B6-B699C4D22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00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9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3B84-23E2-C7EB-5BFD-BD610B35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53F18-8EFE-BFB7-057A-00AFC5B30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7A6E9-7869-7429-4E44-A9D07EEF7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142B7-81EE-B759-7B1E-DE7903F041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D3D22-D0A9-3EA4-105E-68185630B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9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91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957F-09F5-7E40-1109-22DACB0F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41E3B-4359-CF58-22D3-95171F70E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37BD2-6942-BC56-B931-840DDDFC4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4B5A1-0935-87CC-24F0-BD6C40FD10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F4E93-5178-02C7-AE69-2F85F0706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7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2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31F0-6621-F1FC-7DDC-25BA12BF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5F8B7-F86E-2D18-DA61-A87970526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800CF-2B1D-07AE-DF24-B7682455B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481D7-B880-367C-AE89-6E2B6DDB97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E8A04-46DD-7C64-4B90-45845C4BD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31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3536-9B45-4EB6-09E7-8388A04C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395B1-4012-6413-C576-A36C5267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4B8AD-5FF1-B7E0-6EDD-441DE5CD9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33B9F-18FD-D5B6-4954-83FADF3776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C3925-2A0C-DC62-5093-EE037724E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5637"/>
            <a:ext cx="7772400" cy="1754326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3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D082245-D0FD-47B0-A037-C26B7F228C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0594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D082245-D0FD-47B0-A037-C26B7F22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1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0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4057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57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1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9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4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0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B6FECB2-520B-4294-ACE6-32A45264D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857783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47" imgH="348" progId="TCLayout.ActiveDocument.1">
                  <p:embed/>
                </p:oleObj>
              </mc:Choice>
              <mc:Fallback>
                <p:oleObj name="think-cell Slide" r:id="rId15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B6FECB2-520B-4294-ACE6-32A45264D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hap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8D878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646331"/>
          </a:xfrm>
          <a:prstGeom prst="rect">
            <a:avLst/>
          </a:prstGeom>
        </p:spPr>
        <p:txBody>
          <a:bodyPr vert="horz" lIns="45720" tIns="45720" rIns="4572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5454"/>
            <a:ext cx="8229600" cy="52925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52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CB2026"/>
          </a:solidFill>
          <a:latin typeface="Baskerville SemiBold" charset="0"/>
          <a:ea typeface="Baskerville SemiBold" charset="0"/>
          <a:cs typeface="Baskerville SemiBold" charset="0"/>
        </a:defRPr>
      </a:lvl1pPr>
    </p:titleStyle>
    <p:bodyStyle>
      <a:lvl1pPr marL="234950" indent="-23495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1pPr>
      <a:lvl2pPr marL="57785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2pPr>
      <a:lvl3pPr marL="919163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3pPr>
      <a:lvl4pPr marL="1260475" indent="-227013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4pPr>
      <a:lvl5pPr marL="1601788" indent="-227013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EBWI8MfwzU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385794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Baskerville SemiBold"/>
              </a:rPr>
              <a:t>ALY 3510 	AI Foundations: </a:t>
            </a:r>
            <a:br>
              <a:rPr lang="en-US" sz="3600" dirty="0">
                <a:latin typeface="Baskerville SemiBold"/>
              </a:rPr>
            </a:br>
            <a:r>
              <a:rPr lang="en-US" sz="3600" dirty="0">
                <a:latin typeface="Baskerville SemiBold"/>
              </a:rPr>
              <a:t>		An Interdisciplinary Approach</a:t>
            </a:r>
            <a:br>
              <a:rPr lang="en-US" sz="4000" dirty="0">
                <a:latin typeface="Baskerville SemiBold"/>
              </a:rPr>
            </a:br>
            <a:br>
              <a:rPr lang="en-US" sz="4000" dirty="0"/>
            </a:br>
            <a:r>
              <a:rPr lang="en-US" sz="2400" dirty="0">
                <a:latin typeface="Baskerville SemiBold"/>
              </a:rPr>
              <a:t>Lecture 6: </a:t>
            </a:r>
            <a:br>
              <a:rPr lang="en-US" sz="2400" dirty="0"/>
            </a:br>
            <a:r>
              <a:rPr lang="en-US" sz="2400" dirty="0">
                <a:latin typeface="Baskerville SemiBold"/>
              </a:rPr>
              <a:t>	</a:t>
            </a:r>
            <a:r>
              <a:rPr lang="en-US" sz="2800" dirty="0"/>
              <a:t> </a:t>
            </a:r>
            <a:r>
              <a:rPr lang="en-US" sz="3600" dirty="0">
                <a:latin typeface="Baskerville SemiBold"/>
              </a:rPr>
              <a:t>Natural Language Processing (NLP)</a:t>
            </a:r>
            <a:br>
              <a:rPr lang="en-US" sz="3600" spc="-10" dirty="0">
                <a:solidFill>
                  <a:schemeClr val="dk1"/>
                </a:solidFill>
                <a:latin typeface="Calibri" panose="020F050202020403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</a:br>
            <a:br>
              <a:rPr lang="en-US" sz="2400" dirty="0">
                <a:latin typeface="Baskerville SemiBold"/>
              </a:rPr>
            </a:br>
            <a:br>
              <a:rPr lang="en-US" sz="2400" dirty="0"/>
            </a:br>
            <a:r>
              <a:rPr lang="en-US" sz="2400" dirty="0">
                <a:latin typeface="Baskerville SemiBold"/>
              </a:rPr>
              <a:t>Session/Section: 	Fall 2026</a:t>
            </a:r>
            <a:br>
              <a:rPr lang="en-US" sz="2400" dirty="0"/>
            </a:br>
            <a:r>
              <a:rPr lang="en-US" sz="2400" dirty="0">
                <a:latin typeface="Baskerville SemiBold"/>
              </a:rPr>
              <a:t>Time:       	</a:t>
            </a:r>
            <a:r>
              <a:rPr lang="en-US" sz="2400">
                <a:latin typeface="Baskerville SemiBold"/>
              </a:rPr>
              <a:t>Monday  5:50-7:10 PM  and Virtual</a:t>
            </a:r>
            <a:br>
              <a:rPr lang="en-US" sz="2400" dirty="0"/>
            </a:br>
            <a:r>
              <a:rPr lang="en-US" sz="2400" dirty="0">
                <a:latin typeface="Baskerville SemiBold"/>
              </a:rPr>
              <a:t>Instructor:  		Vladimir Shapiro</a:t>
            </a:r>
            <a:br>
              <a:rPr lang="en-US" sz="2400" dirty="0">
                <a:latin typeface="Calibri Light"/>
                <a:cs typeface="Calibri Light"/>
              </a:rPr>
            </a:br>
            <a:endParaRPr lang="en-US" sz="2400" dirty="0"/>
          </a:p>
        </p:txBody>
      </p:sp>
      <p:pic>
        <p:nvPicPr>
          <p:cNvPr id="4" name="Picture 3" descr="Image result for northeastern logo" title="Logo">
            <a:extLst>
              <a:ext uri="{FF2B5EF4-FFF2-40B4-BE49-F238E27FC236}">
                <a16:creationId xmlns:a16="http://schemas.microsoft.com/office/drawing/2014/main" id="{81B0B0B8-8116-4011-A6C1-42E6C07960E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885" y="5791200"/>
            <a:ext cx="2698115" cy="9626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E88DC-BC17-4108-B0AE-E05EFC8C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0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53DFD5-71A9-5AE1-0348-55ABB823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6858-47C0-CB22-D0A7-01B29AA7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/>
              <a:t>Follow-Up Video (0:40)</a:t>
            </a:r>
            <a:br>
              <a:rPr lang="en-US" sz="2400"/>
            </a:br>
            <a:r>
              <a:rPr lang="en-US" sz="2400"/>
              <a:t>“AI Slop”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D274C-FC61-0FD6-047E-700381BC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8418F-4B9B-C01A-3637-DBBC96022900}"/>
              </a:ext>
            </a:extLst>
          </p:cNvPr>
          <p:cNvSpPr txBox="1"/>
          <p:nvPr/>
        </p:nvSpPr>
        <p:spPr>
          <a:xfrm>
            <a:off x="457200" y="656525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https://www.youtube.com/shorts/WEBWI8MfwzU</a:t>
            </a:r>
          </a:p>
        </p:txBody>
      </p:sp>
      <p:pic>
        <p:nvPicPr>
          <p:cNvPr id="6" name="Online Media 5" title="AI slop in research">
            <a:hlinkClick r:id="" action="ppaction://media"/>
            <a:extLst>
              <a:ext uri="{FF2B5EF4-FFF2-40B4-BE49-F238E27FC236}">
                <a16:creationId xmlns:a16="http://schemas.microsoft.com/office/drawing/2014/main" id="{25FDD5BF-86B5-E929-1902-59DC6DBD030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238250" y="827239"/>
            <a:ext cx="3256854" cy="576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6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53DFD5-71A9-5AE1-0348-55ABB823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6858-47C0-CB22-D0A7-01B29AA7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/>
          <a:p>
            <a:r>
              <a:rPr lang="en-US" dirty="0"/>
              <a:t>Follow-Up - More about “</a:t>
            </a:r>
            <a:r>
              <a:rPr lang="en-US" dirty="0" err="1"/>
              <a:t>Workslop</a:t>
            </a:r>
            <a:r>
              <a:rPr lang="en-US" dirty="0"/>
              <a:t>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D274C-FC61-0FD6-047E-700381BC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8418F-4B9B-C01A-3637-DBBC96022900}"/>
              </a:ext>
            </a:extLst>
          </p:cNvPr>
          <p:cNvSpPr txBox="1"/>
          <p:nvPr/>
        </p:nvSpPr>
        <p:spPr>
          <a:xfrm>
            <a:off x="457200" y="656525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https://www.youtube.com/shorts/WEBWI8MfwzU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FB1DA-47CE-F860-F756-BEFE917C0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8" y="1948179"/>
            <a:ext cx="8458803" cy="3765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229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153400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Going well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AI platforms bring security (several previous students)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AI platforms provide access to cutting–edge tools, e.g., GenAI (previous students)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student: SageMaker is really a “workbench + factory” when it comes to machine learning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student: “how IT teams prevent runaway cloud costs”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student: “Azure distributes tasks across many machines in data centers around the world. “</a:t>
            </a:r>
          </a:p>
          <a:p>
            <a:pPr lvl="1"/>
            <a:r>
              <a:rPr lang="en-US" sz="1800" dirty="0">
                <a:cs typeface="Arial" panose="020B0604020202020204" pitchFamily="34" charset="0"/>
              </a:rPr>
              <a:t>John M., Charles V.: "Amazon SageMaker is … In simple terms, it is an AI workshop"</a:t>
            </a:r>
          </a:p>
          <a:p>
            <a:pPr lvl="1"/>
            <a:r>
              <a:rPr lang="en-US" sz="1800" dirty="0">
                <a:cs typeface="Arial" panose="020B0604020202020204" pitchFamily="34" charset="0"/>
              </a:rPr>
              <a:t>Carla: "I think of Azure AI as a toolbox and workspace combined. "</a:t>
            </a:r>
          </a:p>
          <a:p>
            <a:pPr lvl="1"/>
            <a:r>
              <a:rPr lang="en-US" sz="1800" dirty="0">
                <a:cs typeface="Arial" panose="020B0604020202020204" pitchFamily="34" charset="0"/>
              </a:rPr>
              <a:t>Kevin: " In simple terms, Azure is a rented set of computing resources plus tools for building AI"</a:t>
            </a: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5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CDB9-D6A5-4828-A334-266AD3F2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128" y="136083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F0A-939E-4DDA-9F7D-FEE79939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4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79C1-2327-7040-D032-0B0487A7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8016C-724B-CD1F-DF23-797C435D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153400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Going well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</a:t>
            </a: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8D0EA-A02A-F30B-D60E-9037DD81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5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F76D6-D2FF-C9CA-48C2-3531ABCD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128" y="136083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629CF-9555-0430-941A-6B76142D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F0F173-3ADD-FFF3-BEAB-BC044594D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087" y="1056762"/>
            <a:ext cx="3829467" cy="574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20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C556-FD98-0F35-6368-A5AE5483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B1F9-8CA0-666F-504B-9486A7D0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153400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Going well</a:t>
            </a:r>
          </a:p>
          <a:p>
            <a:pPr lvl="1">
              <a:lnSpc>
                <a:spcPct val="100000"/>
              </a:lnSpc>
            </a:pPr>
            <a:r>
              <a:rPr lang="en-US" sz="1800" dirty="0" err="1">
                <a:cs typeface="Arial" panose="020B0604020202020204" pitchFamily="34" charset="0"/>
              </a:rPr>
              <a:t>Luizza</a:t>
            </a: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08D53-1B27-2219-BE07-192AFC93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5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9BB92-46A4-2EF8-5DCD-6AC72C1EF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128" y="136083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73CDB-B156-9ED7-3DF5-60730769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B676C-4198-B3D1-ADD6-6810E6C33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74" y="2313339"/>
            <a:ext cx="6556395" cy="43199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2997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458201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To improve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Late or missing submissions.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/>
              <a:t>Visuals would help support the narrative.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Researching external sources is beneficial to support your arguments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Prompts are often being ignored, e.g., "Choose one AI platform and explain its purpose in simple terms"</a:t>
            </a:r>
            <a:endParaRPr lang="en-US" sz="1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 lvl="1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5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F0A-939E-4DDA-9F7D-FEE79939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0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44F7-54D2-3EDA-A25D-6F6E8CEF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CEA44-D752-E931-3EA1-4F2EC5B5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458201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To consider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It would be nice to say a few words about the history of AI platforms. How and why they came into being…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How about the “time to market” argument in favor of AI platforms vs. developing solutions “in-house”?</a:t>
            </a: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2A2A2-FCBC-6820-E310-0E842509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5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B3AC0-FCE0-A87C-6B0D-F40E4907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Speed To Market - Sourcebynet">
            <a:extLst>
              <a:ext uri="{FF2B5EF4-FFF2-40B4-BE49-F238E27FC236}">
                <a16:creationId xmlns:a16="http://schemas.microsoft.com/office/drawing/2014/main" id="{473F565B-9C78-D75D-9974-837FE5B44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971" y="3245634"/>
            <a:ext cx="5475204" cy="352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DB61C2-FBD1-C314-43B4-41731C10341E}"/>
              </a:ext>
            </a:extLst>
          </p:cNvPr>
          <p:cNvSpPr txBox="1"/>
          <p:nvPr/>
        </p:nvSpPr>
        <p:spPr>
          <a:xfrm>
            <a:off x="4970372" y="6627168"/>
            <a:ext cx="30861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https://share.google/images/BunkVR8srddR0c2vc</a:t>
            </a:r>
          </a:p>
        </p:txBody>
      </p:sp>
    </p:spTree>
    <p:extLst>
      <p:ext uri="{BB962C8B-B14F-4D97-AF65-F5344CB8AC3E}">
        <p14:creationId xmlns:p14="http://schemas.microsoft.com/office/powerpoint/2010/main" val="342612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4474030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Easy subject?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Useful visuals (Chelsea, Bohan, Zack)             		-&gt;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first-hand observation in healthcare - wearable sensors (previous student)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Faster computation may be critical for real-time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Bohan: “This video links this idea to real-world applications such as autonomous vehicle networks, smart grids, federated learning, edge AI, and blockchain-based AI “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/>
              <a:t>Feedback - Week 5</a:t>
            </a:r>
            <a:br>
              <a:rPr lang="en-US"/>
            </a:br>
            <a:r>
              <a:rPr lang="en-US" sz="2400"/>
              <a:t>Assignment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CDB9-D6A5-4828-A334-266AD3F2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596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C3EA-9CFF-4A56-9495-996257B4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94546A-AB67-34D6-533A-E0CE64E6B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407" y="4082074"/>
            <a:ext cx="3896510" cy="2385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7F0AF0-BF11-8681-AFC2-63874841C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229" y="1536662"/>
            <a:ext cx="4102867" cy="1789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267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AA55E-F7E4-DBDD-F486-9DCF873E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F69C-9EA8-B809-3D67-37813CA24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7917367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Federated learning (Chris, Zack, Odette, others)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Heterogeneous systems in Smart Home (Nnamdi)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V2V (vehicle-to-vehicle) - avert 80% crashes; platooning (previous student)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A6FFB-1973-7E16-3B24-5AEEEB38B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/>
              <a:t>Feedback - Week 5</a:t>
            </a:r>
            <a:br>
              <a:rPr lang="en-US"/>
            </a:br>
            <a:r>
              <a:rPr lang="en-US" sz="2400"/>
              <a:t>Assignment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9365B-CDB4-3D27-FBE4-FC4D4F843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596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CA04-550B-C045-9BC4-3F4DD425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180C5B-58D9-DCE3-98EE-D14FE003B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175" y="3622433"/>
            <a:ext cx="5705511" cy="313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8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565454"/>
            <a:ext cx="8519533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To improve – formal matters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Missing submissions!</a:t>
            </a:r>
          </a:p>
          <a:p>
            <a:pPr marL="349250" lvl="1" indent="0">
              <a:lnSpc>
                <a:spcPct val="100000"/>
              </a:lnSpc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“Include visuals whenever appropriate” – how about that?</a:t>
            </a:r>
          </a:p>
          <a:p>
            <a:pPr marL="349250" lvl="1" indent="0">
              <a:lnSpc>
                <a:spcPct val="100000"/>
              </a:lnSpc>
              <a:buNone/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It would be nice to summarize the video before developing enumerated tasks</a:t>
            </a:r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/>
              <a:t>Feedback - Week 5</a:t>
            </a:r>
            <a:br>
              <a:rPr lang="en-US"/>
            </a:br>
            <a:r>
              <a:rPr lang="en-US" sz="2400"/>
              <a:t>Assignment</a:t>
            </a:r>
            <a:endParaRPr lang="en-US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4366B4C-5979-4483-BBB6-5496EDCA6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0" y="1167081"/>
            <a:ext cx="796746" cy="79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C3EA-9CFF-4A56-9495-996257B4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1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02699-82F0-DE7D-CE09-B878581D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E68B-4151-4BEB-4F5A-29D968C1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36622"/>
          </a:xfrm>
        </p:spPr>
        <p:txBody>
          <a:bodyPr/>
          <a:lstStyle/>
          <a:p>
            <a:r>
              <a:rPr lang="en-US" sz="3200" dirty="0">
                <a:latin typeface="Baskerville SemiBold"/>
              </a:rPr>
              <a:t>“Touchpoint” meetings with online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47E6B-67DD-20DD-7596-1F4B2B7F6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396868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Scope:</a:t>
            </a:r>
          </a:p>
          <a:p>
            <a:pPr lvl="1"/>
            <a:r>
              <a:rPr lang="en-US" sz="1800" dirty="0"/>
              <a:t>Understand personal situation</a:t>
            </a:r>
          </a:p>
          <a:p>
            <a:pPr lvl="1"/>
            <a:r>
              <a:rPr lang="en-US" sz="1800" dirty="0"/>
              <a:t>Your feedback on the course content/pace/difficulty, etc.</a:t>
            </a:r>
          </a:p>
          <a:p>
            <a:pPr lvl="1"/>
            <a:r>
              <a:rPr lang="en-US" sz="1800" dirty="0"/>
              <a:t>Voluntary – email me if you would like to meet</a:t>
            </a:r>
          </a:p>
          <a:p>
            <a:pPr lvl="1"/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66712-33DB-68A2-2D9A-9947AAA3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98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BB220-09A5-AD4D-493D-6FF735C0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9C3B-AB70-3440-F0CA-7A9197BD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229600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On-ground section - none</a:t>
            </a: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Online section - none</a:t>
            </a: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Due: Friday 2/27</a:t>
            </a:r>
            <a:r>
              <a:rPr lang="en-US" sz="1800" baseline="30000" dirty="0">
                <a:cs typeface="Arial" panose="020B0604020202020204" pitchFamily="34" charset="0"/>
              </a:rPr>
              <a:t>th</a:t>
            </a:r>
            <a:r>
              <a:rPr lang="en-US" sz="1800" dirty="0">
                <a:cs typeface="Arial" panose="020B0604020202020204" pitchFamily="34" charset="0"/>
              </a:rPr>
              <a:t>, EOD</a:t>
            </a:r>
          </a:p>
          <a:p>
            <a:pPr marL="0" indent="0">
              <a:buNone/>
            </a:pPr>
            <a:endParaRPr lang="en-US" sz="1800" dirty="0"/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2000" dirty="0">
              <a:cs typeface="Arial" panose="020B0604020202020204" pitchFamily="34" charset="0"/>
            </a:endParaRPr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B73EA-D89F-A469-DA54-05AF028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/>
              <a:t>Miscellaneous</a:t>
            </a:r>
            <a:br>
              <a:rPr lang="en-US" sz="3600"/>
            </a:br>
            <a:r>
              <a:rPr lang="en-US" sz="2400"/>
              <a:t>Team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62FB3-9EAD-D9DF-62BD-7C93F9B1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9FF4-C492-EB97-0C89-6A3F0FEBF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5DEC-F189-26AC-731D-84FC2838F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229600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/>
              </a:rPr>
              <a:t>On-ground – on paper</a:t>
            </a: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Online section – ProctorU handled</a:t>
            </a: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2000" dirty="0">
              <a:cs typeface="Arial" panose="020B0604020202020204" pitchFamily="34" charset="0"/>
            </a:endParaRPr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72311-C6D2-0A6D-21F3-2085D2A2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>
                <a:latin typeface="Baskerville SemiBold"/>
              </a:rPr>
              <a:t>Miscellaneous</a:t>
            </a:r>
            <a:br>
              <a:rPr lang="en-US" sz="3600" dirty="0"/>
            </a:br>
            <a:r>
              <a:rPr lang="en-US" sz="2400" dirty="0">
                <a:latin typeface="Baskerville SemiBold"/>
              </a:rPr>
              <a:t>Midterm next week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60F49-14CE-685A-FC3D-B3FBDC97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B5D3-6DD3-486B-9006-AC115FF7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/>
              <a:t>Topics Covered</a:t>
            </a:r>
            <a:br>
              <a:rPr lang="en-US"/>
            </a:br>
            <a:r>
              <a:rPr lang="en-US" sz="2400"/>
              <a:t>Course Tracker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71D1F-E6DB-4EA9-BBD3-D2E4B56F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FF0C74-6A86-C1E0-CC2E-7AB7BA257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60545"/>
              </p:ext>
            </p:extLst>
          </p:nvPr>
        </p:nvGraphicFramePr>
        <p:xfrm>
          <a:off x="457200" y="1289353"/>
          <a:ext cx="6395987" cy="5348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193953078"/>
                    </a:ext>
                  </a:extLst>
                </a:gridCol>
                <a:gridCol w="5557787">
                  <a:extLst>
                    <a:ext uri="{9D8B030D-6E8A-4147-A177-3AD203B41FA5}">
                      <a16:colId xmlns:a16="http://schemas.microsoft.com/office/drawing/2014/main" val="3794878605"/>
                    </a:ext>
                  </a:extLst>
                </a:gridCol>
              </a:tblGrid>
              <a:tr h="3066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Week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62579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57150" indent="0">
                        <a:lnSpc>
                          <a:spcPct val="100000"/>
                        </a:lnSpc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Overview of AI, history, definitions, and key concepts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4489828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Knowledge Representation and Reasoning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0770028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5715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Introduction to Machine Learning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0284554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Neural Networks &amp; Deep Learning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228819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Distributed AI &amp; AI Platforms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0638714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Natural Language Processing (NLP)</a:t>
                      </a:r>
                      <a:endParaRPr lang="en-US" sz="1800" b="1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6090701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Computer Vision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02732039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Robotics &amp; Embodied AI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48862954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 &amp; Creativity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4575660"/>
                  </a:ext>
                </a:extLst>
              </a:tr>
              <a:tr h="34775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Applications of AI – Healthcare, Finance, Education, Retail, Marketing, Entertainment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5314268"/>
                  </a:ext>
                </a:extLst>
              </a:tr>
              <a:tr h="34775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Applications of AI – Biomedical, Agriculture, Transportation, Mining, Manufacturing, Energy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8053130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 and Society, Bias &amp; Fairness in AI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48600602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The Future of AI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98882357"/>
                  </a:ext>
                </a:extLst>
              </a:tr>
              <a:tr h="34775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No Lecture - Final Project Report &amp; Presentation are Due</a:t>
                      </a:r>
                      <a:endParaRPr lang="en-US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666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154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vel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Level.thmx</Template>
  <TotalTime>387</TotalTime>
  <Words>736</Words>
  <Application>Microsoft Office PowerPoint</Application>
  <PresentationFormat>On-screen Show (4:3)</PresentationFormat>
  <Paragraphs>149</Paragraphs>
  <Slides>15</Slides>
  <Notes>11</Notes>
  <HiddenSlides>2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Baskerville SemiBold</vt:lpstr>
      <vt:lpstr>Calibri</vt:lpstr>
      <vt:lpstr>Calibri Light</vt:lpstr>
      <vt:lpstr>Helvetica Neue</vt:lpstr>
      <vt:lpstr>Helvetica Neue Light</vt:lpstr>
      <vt:lpstr>Trebuchet MS</vt:lpstr>
      <vt:lpstr>Level</vt:lpstr>
      <vt:lpstr>think-cell Slide</vt:lpstr>
      <vt:lpstr>ALY 3510  AI Foundations:    An Interdisciplinary Approach  Lecture 6:    Natural Language Processing (NLP)   Session/Section:  Fall 2026 Time:        Monday  5:50-7:10 PM  and Virtual Instructor:    Vladimir Shapiro </vt:lpstr>
      <vt:lpstr>Follow-Up Video (0:40) “AI Slop”</vt:lpstr>
      <vt:lpstr>Follow-Up - More about “Workslop”</vt:lpstr>
      <vt:lpstr>Feedback - Week 5 Reflection Journal</vt:lpstr>
      <vt:lpstr>Feedback - Week 5 Reflection Journal</vt:lpstr>
      <vt:lpstr>Feedback - Week 5 Reflection Journal</vt:lpstr>
      <vt:lpstr>Feedback - Week 5 Reflection Journal</vt:lpstr>
      <vt:lpstr>Feedback - Week 5 Reflection Journal</vt:lpstr>
      <vt:lpstr>Feedback - Week 5 Assignment</vt:lpstr>
      <vt:lpstr>Feedback - Week 5 Assignment</vt:lpstr>
      <vt:lpstr>Feedback - Week 5 Assignment</vt:lpstr>
      <vt:lpstr>“Touchpoint” meetings with online students</vt:lpstr>
      <vt:lpstr>Miscellaneous Team project</vt:lpstr>
      <vt:lpstr>Miscellaneous Midterm next week</vt:lpstr>
      <vt:lpstr>Topics Covered Course Tracker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Level I</dc:title>
  <dc:subject/>
  <dc:creator>v.shapiro@northeastern.edu</dc:creator>
  <cp:keywords/>
  <dc:description/>
  <cp:lastModifiedBy>Shapiro, Vladimir</cp:lastModifiedBy>
  <cp:revision>17</cp:revision>
  <cp:lastPrinted>2016-05-10T18:03:23Z</cp:lastPrinted>
  <dcterms:created xsi:type="dcterms:W3CDTF">2015-10-08T16:21:21Z</dcterms:created>
  <dcterms:modified xsi:type="dcterms:W3CDTF">2026-10-15T18:32:00Z</dcterms:modified>
  <cp:category/>
</cp:coreProperties>
</file>