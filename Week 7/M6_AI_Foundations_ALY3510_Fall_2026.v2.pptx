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4" r:id="rId1"/>
  </p:sldMasterIdLst>
  <p:notesMasterIdLst>
    <p:notesMasterId r:id="rId48"/>
  </p:notesMasterIdLst>
  <p:handoutMasterIdLst>
    <p:handoutMasterId r:id="rId49"/>
  </p:handoutMasterIdLst>
  <p:sldIdLst>
    <p:sldId id="491" r:id="rId2"/>
    <p:sldId id="982" r:id="rId3"/>
    <p:sldId id="492" r:id="rId4"/>
    <p:sldId id="761" r:id="rId5"/>
    <p:sldId id="1059" r:id="rId6"/>
    <p:sldId id="1171" r:id="rId7"/>
    <p:sldId id="1165" r:id="rId8"/>
    <p:sldId id="1170" r:id="rId9"/>
    <p:sldId id="1137" r:id="rId10"/>
    <p:sldId id="1100" r:id="rId11"/>
    <p:sldId id="1097" r:id="rId12"/>
    <p:sldId id="897" r:id="rId13"/>
    <p:sldId id="1138" r:id="rId14"/>
    <p:sldId id="1139" r:id="rId15"/>
    <p:sldId id="766" r:id="rId16"/>
    <p:sldId id="1160" r:id="rId17"/>
    <p:sldId id="753" r:id="rId18"/>
    <p:sldId id="832" r:id="rId19"/>
    <p:sldId id="767" r:id="rId20"/>
    <p:sldId id="1067" r:id="rId21"/>
    <p:sldId id="1142" r:id="rId22"/>
    <p:sldId id="1143" r:id="rId23"/>
    <p:sldId id="1108" r:id="rId24"/>
    <p:sldId id="1112" r:id="rId25"/>
    <p:sldId id="750" r:id="rId26"/>
    <p:sldId id="1068" r:id="rId27"/>
    <p:sldId id="1115" r:id="rId28"/>
    <p:sldId id="1144" r:id="rId29"/>
    <p:sldId id="1159" r:id="rId30"/>
    <p:sldId id="1084" r:id="rId31"/>
    <p:sldId id="1019" r:id="rId32"/>
    <p:sldId id="1122" r:id="rId33"/>
    <p:sldId id="1148" r:id="rId34"/>
    <p:sldId id="1149" r:id="rId35"/>
    <p:sldId id="1056" r:id="rId36"/>
    <p:sldId id="1132" r:id="rId37"/>
    <p:sldId id="1093" r:id="rId38"/>
    <p:sldId id="544" r:id="rId39"/>
    <p:sldId id="1150" r:id="rId40"/>
    <p:sldId id="1141" r:id="rId41"/>
    <p:sldId id="1107" r:id="rId42"/>
    <p:sldId id="1109" r:id="rId43"/>
    <p:sldId id="1110" r:id="rId44"/>
    <p:sldId id="1111" r:id="rId45"/>
    <p:sldId id="1092" r:id="rId46"/>
    <p:sldId id="697" r:id="rId47"/>
  </p:sldIdLst>
  <p:sldSz cx="12192000" cy="6858000"/>
  <p:notesSz cx="6858000" cy="9144000"/>
  <p:embeddedFontLst>
    <p:embeddedFont>
      <p:font typeface="Cambria" panose="02040503050406030204" pitchFamily="18" charset="0"/>
      <p:regular r:id="rId50"/>
      <p:bold r:id="rId51"/>
      <p:italic r:id="rId52"/>
      <p:boldItalic r:id="rId53"/>
    </p:embeddedFont>
    <p:embeddedFont>
      <p:font typeface="Consolas" panose="020B0609020204030204" pitchFamily="49" charset="0"/>
      <p:regular r:id="rId54"/>
      <p:bold r:id="rId55"/>
      <p:italic r:id="rId56"/>
      <p:boldItalic r:id="rId57"/>
    </p:embeddedFont>
    <p:embeddedFont>
      <p:font typeface="Trebuchet MS" panose="020B0603020202020204" pitchFamily="34" charset="0"/>
      <p:regular r:id="rId58"/>
      <p:bold r:id="rId59"/>
      <p:italic r:id="rId60"/>
      <p:boldItalic r:id="rId61"/>
    </p:embeddedFont>
  </p:embeddedFontLst>
  <p:custDataLst>
    <p:tags r:id="rId6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piro, Vladimir" initials="SV" lastIdx="1" clrIdx="0">
    <p:extLst>
      <p:ext uri="{19B8F6BF-5375-455C-9EA6-DF929625EA0E}">
        <p15:presenceInfo xmlns:p15="http://schemas.microsoft.com/office/powerpoint/2012/main" userId="S::vladisha@northeastern.edu::487b986e-9dea-4ba8-b33e-8d9a67ec1e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D0B025-9153-4A37-9B7F-0062E3298F44}" v="12" dt="2026-10-17T18:48:11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260" autoAdjust="0"/>
  </p:normalViewPr>
  <p:slideViewPr>
    <p:cSldViewPr snapToGrid="0">
      <p:cViewPr varScale="1">
        <p:scale>
          <a:sx n="77" d="100"/>
          <a:sy n="77" d="100"/>
        </p:scale>
        <p:origin x="1556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commentAuthors" Target="commentAuthors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piro, Vladimir" userId="487b986e-9dea-4ba8-b33e-8d9a67ec1e6d" providerId="ADAL" clId="{AD5DA62A-DE80-4B28-A03D-42D81E3BD365}"/>
    <pc:docChg chg="undo custSel addSld delSld modSld sldOrd modMainMaster modNotesMaster">
      <pc:chgData name="Shapiro, Vladimir" userId="487b986e-9dea-4ba8-b33e-8d9a67ec1e6d" providerId="ADAL" clId="{AD5DA62A-DE80-4B28-A03D-42D81E3BD365}" dt="2026-10-17T19:15:24.689" v="1398" actId="478"/>
      <pc:docMkLst>
        <pc:docMk/>
      </pc:docMkLst>
      <pc:sldChg chg="modSp add del mod">
        <pc:chgData name="Shapiro, Vladimir" userId="487b986e-9dea-4ba8-b33e-8d9a67ec1e6d" providerId="ADAL" clId="{AD5DA62A-DE80-4B28-A03D-42D81E3BD365}" dt="2026-10-17T18:29:34.076" v="1218" actId="20577"/>
        <pc:sldMkLst>
          <pc:docMk/>
          <pc:sldMk cId="2934510906" sldId="492"/>
        </pc:sldMkLst>
        <pc:spChg chg="mod">
          <ac:chgData name="Shapiro, Vladimir" userId="487b986e-9dea-4ba8-b33e-8d9a67ec1e6d" providerId="ADAL" clId="{AD5DA62A-DE80-4B28-A03D-42D81E3BD365}" dt="2026-10-17T18:29:34.076" v="1218" actId="20577"/>
          <ac:spMkLst>
            <pc:docMk/>
            <pc:sldMk cId="2934510906" sldId="492"/>
            <ac:spMk id="3" creationId="{00000000-0000-0000-0000-000000000000}"/>
          </ac:spMkLst>
        </pc:spChg>
        <pc:picChg chg="mod">
          <ac:chgData name="Shapiro, Vladimir" userId="487b986e-9dea-4ba8-b33e-8d9a67ec1e6d" providerId="ADAL" clId="{AD5DA62A-DE80-4B28-A03D-42D81E3BD365}" dt="2026-10-15T15:12:38.409" v="872" actId="1076"/>
          <ac:picMkLst>
            <pc:docMk/>
            <pc:sldMk cId="2934510906" sldId="492"/>
            <ac:picMk id="7" creationId="{7D8B7C62-1320-382B-665C-ED055D5CDEA6}"/>
          </ac:picMkLst>
        </pc:picChg>
      </pc:sldChg>
      <pc:sldChg chg="delSp mod">
        <pc:chgData name="Shapiro, Vladimir" userId="487b986e-9dea-4ba8-b33e-8d9a67ec1e6d" providerId="ADAL" clId="{AD5DA62A-DE80-4B28-A03D-42D81E3BD365}" dt="2026-10-17T19:15:24.689" v="1398" actId="478"/>
        <pc:sldMkLst>
          <pc:docMk/>
          <pc:sldMk cId="1795703591" sldId="544"/>
        </pc:sldMkLst>
        <pc:grpChg chg="del">
          <ac:chgData name="Shapiro, Vladimir" userId="487b986e-9dea-4ba8-b33e-8d9a67ec1e6d" providerId="ADAL" clId="{AD5DA62A-DE80-4B28-A03D-42D81E3BD365}" dt="2026-10-17T19:15:24.689" v="1398" actId="478"/>
          <ac:grpSpMkLst>
            <pc:docMk/>
            <pc:sldMk cId="1795703591" sldId="544"/>
            <ac:grpSpMk id="5" creationId="{9F5528CB-FE80-43EC-841A-E9869337A777}"/>
          </ac:grpSpMkLst>
        </pc:grpChg>
      </pc:sldChg>
      <pc:sldChg chg="modSp add mod ord modClrScheme chgLayout">
        <pc:chgData name="Shapiro, Vladimir" userId="487b986e-9dea-4ba8-b33e-8d9a67ec1e6d" providerId="ADAL" clId="{AD5DA62A-DE80-4B28-A03D-42D81E3BD365}" dt="2026-10-17T18:44:32.909" v="1350"/>
        <pc:sldMkLst>
          <pc:docMk/>
          <pc:sldMk cId="3925154467" sldId="697"/>
        </pc:sldMkLst>
        <pc:spChg chg="mod ord">
          <ac:chgData name="Shapiro, Vladimir" userId="487b986e-9dea-4ba8-b33e-8d9a67ec1e6d" providerId="ADAL" clId="{AD5DA62A-DE80-4B28-A03D-42D81E3BD365}" dt="2026-10-17T18:40:38.687" v="1345" actId="108"/>
          <ac:spMkLst>
            <pc:docMk/>
            <pc:sldMk cId="3925154467" sldId="697"/>
            <ac:spMk id="2" creationId="{2EBFB5D3-6DD3-486B-9006-AC115FF71C38}"/>
          </ac:spMkLst>
        </pc:spChg>
        <pc:spChg chg="mod ord">
          <ac:chgData name="Shapiro, Vladimir" userId="487b986e-9dea-4ba8-b33e-8d9a67ec1e6d" providerId="ADAL" clId="{AD5DA62A-DE80-4B28-A03D-42D81E3BD365}" dt="2026-10-17T18:40:26.304" v="1340" actId="700"/>
          <ac:spMkLst>
            <pc:docMk/>
            <pc:sldMk cId="3925154467" sldId="697"/>
            <ac:spMk id="3" creationId="{9A371D1F-E6DB-4EA9-BBD3-D2E4B56F790C}"/>
          </ac:spMkLst>
        </pc:spChg>
        <pc:graphicFrameChg chg="mod modGraphic">
          <ac:chgData name="Shapiro, Vladimir" userId="487b986e-9dea-4ba8-b33e-8d9a67ec1e6d" providerId="ADAL" clId="{AD5DA62A-DE80-4B28-A03D-42D81E3BD365}" dt="2026-10-17T18:40:52.885" v="1348" actId="207"/>
          <ac:graphicFrameMkLst>
            <pc:docMk/>
            <pc:sldMk cId="3925154467" sldId="697"/>
            <ac:graphicFrameMk id="5" creationId="{B4FF0C74-6A86-C1E0-CC2E-7AB7BA2579C7}"/>
          </ac:graphicFrameMkLst>
        </pc:graphicFrameChg>
      </pc:sldChg>
      <pc:sldChg chg="modSp mod">
        <pc:chgData name="Shapiro, Vladimir" userId="487b986e-9dea-4ba8-b33e-8d9a67ec1e6d" providerId="ADAL" clId="{AD5DA62A-DE80-4B28-A03D-42D81E3BD365}" dt="2026-10-17T17:59:09.485" v="1005" actId="14100"/>
        <pc:sldMkLst>
          <pc:docMk/>
          <pc:sldMk cId="3368008654" sldId="750"/>
        </pc:sldMkLst>
        <pc:spChg chg="mod">
          <ac:chgData name="Shapiro, Vladimir" userId="487b986e-9dea-4ba8-b33e-8d9a67ec1e6d" providerId="ADAL" clId="{AD5DA62A-DE80-4B28-A03D-42D81E3BD365}" dt="2026-10-17T17:59:03.025" v="1003" actId="20577"/>
          <ac:spMkLst>
            <pc:docMk/>
            <pc:sldMk cId="3368008654" sldId="750"/>
            <ac:spMk id="3" creationId="{BFA4B6C9-F977-47F9-A532-97FA6661BEE3}"/>
          </ac:spMkLst>
        </pc:spChg>
        <pc:spChg chg="mod">
          <ac:chgData name="Shapiro, Vladimir" userId="487b986e-9dea-4ba8-b33e-8d9a67ec1e6d" providerId="ADAL" clId="{AD5DA62A-DE80-4B28-A03D-42D81E3BD365}" dt="2026-10-17T17:58:47.190" v="998" actId="1076"/>
          <ac:spMkLst>
            <pc:docMk/>
            <pc:sldMk cId="3368008654" sldId="750"/>
            <ac:spMk id="6" creationId="{AD8B18F3-69AB-4C9C-A37C-F60F1E823D5E}"/>
          </ac:spMkLst>
        </pc:spChg>
        <pc:picChg chg="mod">
          <ac:chgData name="Shapiro, Vladimir" userId="487b986e-9dea-4ba8-b33e-8d9a67ec1e6d" providerId="ADAL" clId="{AD5DA62A-DE80-4B28-A03D-42D81E3BD365}" dt="2026-10-17T17:59:09.485" v="1005" actId="14100"/>
          <ac:picMkLst>
            <pc:docMk/>
            <pc:sldMk cId="3368008654" sldId="750"/>
            <ac:picMk id="3074" creationId="{AE6BE19C-DCD8-46D1-BB34-8FCA7A3166EC}"/>
          </ac:picMkLst>
        </pc:picChg>
      </pc:sldChg>
      <pc:sldChg chg="modSp mod">
        <pc:chgData name="Shapiro, Vladimir" userId="487b986e-9dea-4ba8-b33e-8d9a67ec1e6d" providerId="ADAL" clId="{AD5DA62A-DE80-4B28-A03D-42D81E3BD365}" dt="2026-10-17T17:52:22.858" v="958" actId="1076"/>
        <pc:sldMkLst>
          <pc:docMk/>
          <pc:sldMk cId="2926773082" sldId="753"/>
        </pc:sldMkLst>
        <pc:spChg chg="mod">
          <ac:chgData name="Shapiro, Vladimir" userId="487b986e-9dea-4ba8-b33e-8d9a67ec1e6d" providerId="ADAL" clId="{AD5DA62A-DE80-4B28-A03D-42D81E3BD365}" dt="2026-10-17T17:52:22.858" v="958" actId="1076"/>
          <ac:spMkLst>
            <pc:docMk/>
            <pc:sldMk cId="2926773082" sldId="753"/>
            <ac:spMk id="3" creationId="{BFA4B6C9-F977-47F9-A532-97FA6661BEE3}"/>
          </ac:spMkLst>
        </pc:spChg>
      </pc:sldChg>
      <pc:sldChg chg="modSp mod">
        <pc:chgData name="Shapiro, Vladimir" userId="487b986e-9dea-4ba8-b33e-8d9a67ec1e6d" providerId="ADAL" clId="{AD5DA62A-DE80-4B28-A03D-42D81E3BD365}" dt="2026-10-17T17:51:43.449" v="956" actId="14100"/>
        <pc:sldMkLst>
          <pc:docMk/>
          <pc:sldMk cId="647549809" sldId="766"/>
        </pc:sldMkLst>
        <pc:spChg chg="mod">
          <ac:chgData name="Shapiro, Vladimir" userId="487b986e-9dea-4ba8-b33e-8d9a67ec1e6d" providerId="ADAL" clId="{AD5DA62A-DE80-4B28-A03D-42D81E3BD365}" dt="2026-10-17T17:51:33.868" v="953" actId="1076"/>
          <ac:spMkLst>
            <pc:docMk/>
            <pc:sldMk cId="647549809" sldId="766"/>
            <ac:spMk id="3" creationId="{BFA4B6C9-F977-47F9-A532-97FA6661BEE3}"/>
          </ac:spMkLst>
        </pc:spChg>
        <pc:picChg chg="mod">
          <ac:chgData name="Shapiro, Vladimir" userId="487b986e-9dea-4ba8-b33e-8d9a67ec1e6d" providerId="ADAL" clId="{AD5DA62A-DE80-4B28-A03D-42D81E3BD365}" dt="2026-10-17T17:51:43.449" v="956" actId="14100"/>
          <ac:picMkLst>
            <pc:docMk/>
            <pc:sldMk cId="647549809" sldId="766"/>
            <ac:picMk id="2050" creationId="{1843C780-9E51-4BE3-B6F7-DE8AA4084C98}"/>
          </ac:picMkLst>
        </pc:picChg>
      </pc:sldChg>
      <pc:sldChg chg="modSp add del mod setBg chgLayout">
        <pc:chgData name="Shapiro, Vladimir" userId="487b986e-9dea-4ba8-b33e-8d9a67ec1e6d" providerId="ADAL" clId="{AD5DA62A-DE80-4B28-A03D-42D81E3BD365}" dt="2026-10-15T15:14:15.316" v="887"/>
        <pc:sldMkLst>
          <pc:docMk/>
          <pc:sldMk cId="630124591" sldId="982"/>
        </pc:sldMkLst>
        <pc:spChg chg="mod ord">
          <ac:chgData name="Shapiro, Vladimir" userId="487b986e-9dea-4ba8-b33e-8d9a67ec1e6d" providerId="ADAL" clId="{AD5DA62A-DE80-4B28-A03D-42D81E3BD365}" dt="2026-10-15T15:13:40.967" v="881" actId="14100"/>
          <ac:spMkLst>
            <pc:docMk/>
            <pc:sldMk cId="630124591" sldId="982"/>
            <ac:spMk id="2" creationId="{09C36858-47C0-CB22-D0A7-01B29AA72EBC}"/>
          </ac:spMkLst>
        </pc:spChg>
        <pc:spChg chg="mod ord">
          <ac:chgData name="Shapiro, Vladimir" userId="487b986e-9dea-4ba8-b33e-8d9a67ec1e6d" providerId="ADAL" clId="{AD5DA62A-DE80-4B28-A03D-42D81E3BD365}" dt="2026-10-15T15:12:51.532" v="873" actId="700"/>
          <ac:spMkLst>
            <pc:docMk/>
            <pc:sldMk cId="630124591" sldId="982"/>
            <ac:spMk id="4" creationId="{9E8586F4-68D2-562C-45BB-035B5CFA79F4}"/>
          </ac:spMkLst>
        </pc:spChg>
        <pc:spChg chg="mod ord">
          <ac:chgData name="Shapiro, Vladimir" userId="487b986e-9dea-4ba8-b33e-8d9a67ec1e6d" providerId="ADAL" clId="{AD5DA62A-DE80-4B28-A03D-42D81E3BD365}" dt="2026-10-15T15:12:51.532" v="873" actId="700"/>
          <ac:spMkLst>
            <pc:docMk/>
            <pc:sldMk cId="630124591" sldId="982"/>
            <ac:spMk id="5" creationId="{8C1D274C-FC61-0FD6-047E-700381BC06B0}"/>
          </ac:spMkLst>
        </pc:spChg>
        <pc:spChg chg="mod">
          <ac:chgData name="Shapiro, Vladimir" userId="487b986e-9dea-4ba8-b33e-8d9a67ec1e6d" providerId="ADAL" clId="{AD5DA62A-DE80-4B28-A03D-42D81E3BD365}" dt="2026-10-15T15:13:50.487" v="884" actId="1076"/>
          <ac:spMkLst>
            <pc:docMk/>
            <pc:sldMk cId="630124591" sldId="982"/>
            <ac:spMk id="8" creationId="{02B8418F-4B9B-C01A-3637-DBBC96022900}"/>
          </ac:spMkLst>
        </pc:spChg>
        <pc:picChg chg="mod">
          <ac:chgData name="Shapiro, Vladimir" userId="487b986e-9dea-4ba8-b33e-8d9a67ec1e6d" providerId="ADAL" clId="{AD5DA62A-DE80-4B28-A03D-42D81E3BD365}" dt="2026-10-15T15:13:46.326" v="883" actId="14100"/>
          <ac:picMkLst>
            <pc:docMk/>
            <pc:sldMk cId="630124591" sldId="982"/>
            <ac:picMk id="3" creationId="{A9F34819-8292-CA18-E529-00AD174CD684}"/>
          </ac:picMkLst>
        </pc:picChg>
      </pc:sldChg>
      <pc:sldChg chg="modSp del mod">
        <pc:chgData name="Shapiro, Vladimir" userId="487b986e-9dea-4ba8-b33e-8d9a67ec1e6d" providerId="ADAL" clId="{AD5DA62A-DE80-4B28-A03D-42D81E3BD365}" dt="2026-10-17T19:05:12.123" v="1380"/>
        <pc:sldMkLst>
          <pc:docMk/>
          <pc:sldMk cId="518062794" sldId="1060"/>
        </pc:sldMkLst>
        <pc:spChg chg="mod">
          <ac:chgData name="Shapiro, Vladimir" userId="487b986e-9dea-4ba8-b33e-8d9a67ec1e6d" providerId="ADAL" clId="{AD5DA62A-DE80-4B28-A03D-42D81E3BD365}" dt="2026-10-17T17:45:54.062" v="908" actId="2710"/>
          <ac:spMkLst>
            <pc:docMk/>
            <pc:sldMk cId="518062794" sldId="1060"/>
            <ac:spMk id="3" creationId="{1ADD11E5-6C81-9733-A280-ADE1476BC110}"/>
          </ac:spMkLst>
        </pc:spChg>
        <pc:spChg chg="mod">
          <ac:chgData name="Shapiro, Vladimir" userId="487b986e-9dea-4ba8-b33e-8d9a67ec1e6d" providerId="ADAL" clId="{AD5DA62A-DE80-4B28-A03D-42D81E3BD365}" dt="2026-10-17T17:48:27.588" v="940" actId="14100"/>
          <ac:spMkLst>
            <pc:docMk/>
            <pc:sldMk cId="518062794" sldId="1060"/>
            <ac:spMk id="9" creationId="{5FA724DF-353B-BA0C-DD5E-45367335410E}"/>
          </ac:spMkLst>
        </pc:spChg>
        <pc:spChg chg="mod">
          <ac:chgData name="Shapiro, Vladimir" userId="487b986e-9dea-4ba8-b33e-8d9a67ec1e6d" providerId="ADAL" clId="{AD5DA62A-DE80-4B28-A03D-42D81E3BD365}" dt="2026-10-17T17:48:27.588" v="940" actId="14100"/>
          <ac:spMkLst>
            <pc:docMk/>
            <pc:sldMk cId="518062794" sldId="1060"/>
            <ac:spMk id="13" creationId="{04C883C6-0BA2-0BEA-933F-E409E4D9518A}"/>
          </ac:spMkLst>
        </pc:spChg>
        <pc:spChg chg="mod">
          <ac:chgData name="Shapiro, Vladimir" userId="487b986e-9dea-4ba8-b33e-8d9a67ec1e6d" providerId="ADAL" clId="{AD5DA62A-DE80-4B28-A03D-42D81E3BD365}" dt="2026-10-17T17:48:17.318" v="939" actId="20577"/>
          <ac:spMkLst>
            <pc:docMk/>
            <pc:sldMk cId="518062794" sldId="1060"/>
            <ac:spMk id="16" creationId="{BCAE2BD1-2286-F67A-10DF-F9B9386C5FDA}"/>
          </ac:spMkLst>
        </pc:spChg>
      </pc:sldChg>
      <pc:sldChg chg="modSp mod">
        <pc:chgData name="Shapiro, Vladimir" userId="487b986e-9dea-4ba8-b33e-8d9a67ec1e6d" providerId="ADAL" clId="{AD5DA62A-DE80-4B28-A03D-42D81E3BD365}" dt="2026-10-17T18:39:25.822" v="1338" actId="20577"/>
        <pc:sldMkLst>
          <pc:docMk/>
          <pc:sldMk cId="3006930539" sldId="1068"/>
        </pc:sldMkLst>
        <pc:spChg chg="mod">
          <ac:chgData name="Shapiro, Vladimir" userId="487b986e-9dea-4ba8-b33e-8d9a67ec1e6d" providerId="ADAL" clId="{AD5DA62A-DE80-4B28-A03D-42D81E3BD365}" dt="2026-10-17T18:39:25.822" v="1338" actId="20577"/>
          <ac:spMkLst>
            <pc:docMk/>
            <pc:sldMk cId="3006930539" sldId="1068"/>
            <ac:spMk id="8" creationId="{F9736BC7-B2CA-2EF8-48CC-56491904CB41}"/>
          </ac:spMkLst>
        </pc:spChg>
      </pc:sldChg>
      <pc:sldChg chg="modSp mod">
        <pc:chgData name="Shapiro, Vladimir" userId="487b986e-9dea-4ba8-b33e-8d9a67ec1e6d" providerId="ADAL" clId="{AD5DA62A-DE80-4B28-A03D-42D81E3BD365}" dt="2026-10-17T18:36:20.717" v="1325" actId="14100"/>
        <pc:sldMkLst>
          <pc:docMk/>
          <pc:sldMk cId="2600837938" sldId="1092"/>
        </pc:sldMkLst>
        <pc:spChg chg="mod">
          <ac:chgData name="Shapiro, Vladimir" userId="487b986e-9dea-4ba8-b33e-8d9a67ec1e6d" providerId="ADAL" clId="{AD5DA62A-DE80-4B28-A03D-42D81E3BD365}" dt="2026-10-17T18:36:20.717" v="1325" actId="14100"/>
          <ac:spMkLst>
            <pc:docMk/>
            <pc:sldMk cId="2600837938" sldId="1092"/>
            <ac:spMk id="3" creationId="{7F586359-77CD-85E8-F863-6AA2B830E457}"/>
          </ac:spMkLst>
        </pc:spChg>
      </pc:sldChg>
      <pc:sldChg chg="modSp mod">
        <pc:chgData name="Shapiro, Vladimir" userId="487b986e-9dea-4ba8-b33e-8d9a67ec1e6d" providerId="ADAL" clId="{AD5DA62A-DE80-4B28-A03D-42D81E3BD365}" dt="2026-10-17T18:37:08.823" v="1336" actId="20577"/>
        <pc:sldMkLst>
          <pc:docMk/>
          <pc:sldMk cId="4130401036" sldId="1093"/>
        </pc:sldMkLst>
        <pc:spChg chg="mod">
          <ac:chgData name="Shapiro, Vladimir" userId="487b986e-9dea-4ba8-b33e-8d9a67ec1e6d" providerId="ADAL" clId="{AD5DA62A-DE80-4B28-A03D-42D81E3BD365}" dt="2026-10-17T18:37:08.823" v="1336" actId="20577"/>
          <ac:spMkLst>
            <pc:docMk/>
            <pc:sldMk cId="4130401036" sldId="1093"/>
            <ac:spMk id="6" creationId="{BE05DA7E-74F8-D979-BA80-C6FC3F762001}"/>
          </ac:spMkLst>
        </pc:spChg>
      </pc:sldChg>
      <pc:sldChg chg="modSp del mod">
        <pc:chgData name="Shapiro, Vladimir" userId="487b986e-9dea-4ba8-b33e-8d9a67ec1e6d" providerId="ADAL" clId="{AD5DA62A-DE80-4B28-A03D-42D81E3BD365}" dt="2026-10-17T19:05:04.561" v="1376"/>
        <pc:sldMkLst>
          <pc:docMk/>
          <pc:sldMk cId="124600102" sldId="1094"/>
        </pc:sldMkLst>
        <pc:spChg chg="mod">
          <ac:chgData name="Shapiro, Vladimir" userId="487b986e-9dea-4ba8-b33e-8d9a67ec1e6d" providerId="ADAL" clId="{AD5DA62A-DE80-4B28-A03D-42D81E3BD365}" dt="2026-10-17T17:44:03.706" v="894" actId="113"/>
          <ac:spMkLst>
            <pc:docMk/>
            <pc:sldMk cId="124600102" sldId="1094"/>
            <ac:spMk id="10" creationId="{695DAD7E-E06F-AD2E-D711-C4F92D241736}"/>
          </ac:spMkLst>
        </pc:spChg>
        <pc:spChg chg="mod">
          <ac:chgData name="Shapiro, Vladimir" userId="487b986e-9dea-4ba8-b33e-8d9a67ec1e6d" providerId="ADAL" clId="{AD5DA62A-DE80-4B28-A03D-42D81E3BD365}" dt="2026-10-17T17:44:08.346" v="895" actId="113"/>
          <ac:spMkLst>
            <pc:docMk/>
            <pc:sldMk cId="124600102" sldId="1094"/>
            <ac:spMk id="14" creationId="{CF1A2851-071C-BCAC-C2A5-13A1DCD4CFF0}"/>
          </ac:spMkLst>
        </pc:spChg>
        <pc:spChg chg="mod">
          <ac:chgData name="Shapiro, Vladimir" userId="487b986e-9dea-4ba8-b33e-8d9a67ec1e6d" providerId="ADAL" clId="{AD5DA62A-DE80-4B28-A03D-42D81E3BD365}" dt="2026-10-17T17:44:13.232" v="896" actId="113"/>
          <ac:spMkLst>
            <pc:docMk/>
            <pc:sldMk cId="124600102" sldId="1094"/>
            <ac:spMk id="18" creationId="{03665B55-9F1A-B9C5-0D77-768A61275981}"/>
          </ac:spMkLst>
        </pc:spChg>
        <pc:spChg chg="mod">
          <ac:chgData name="Shapiro, Vladimir" userId="487b986e-9dea-4ba8-b33e-8d9a67ec1e6d" providerId="ADAL" clId="{AD5DA62A-DE80-4B28-A03D-42D81E3BD365}" dt="2026-10-17T17:44:18.721" v="897" actId="113"/>
          <ac:spMkLst>
            <pc:docMk/>
            <pc:sldMk cId="124600102" sldId="1094"/>
            <ac:spMk id="21" creationId="{71BD649D-9519-DFF8-6040-A3EC340BB1B9}"/>
          </ac:spMkLst>
        </pc:spChg>
        <pc:spChg chg="mod">
          <ac:chgData name="Shapiro, Vladimir" userId="487b986e-9dea-4ba8-b33e-8d9a67ec1e6d" providerId="ADAL" clId="{AD5DA62A-DE80-4B28-A03D-42D81E3BD365}" dt="2026-10-17T17:44:36.113" v="900" actId="20577"/>
          <ac:spMkLst>
            <pc:docMk/>
            <pc:sldMk cId="124600102" sldId="1094"/>
            <ac:spMk id="24" creationId="{54C6D4EA-0444-2E56-7432-022C1B641D23}"/>
          </ac:spMkLst>
        </pc:spChg>
        <pc:spChg chg="mod">
          <ac:chgData name="Shapiro, Vladimir" userId="487b986e-9dea-4ba8-b33e-8d9a67ec1e6d" providerId="ADAL" clId="{AD5DA62A-DE80-4B28-A03D-42D81E3BD365}" dt="2026-10-17T17:45:25.232" v="906" actId="14100"/>
          <ac:spMkLst>
            <pc:docMk/>
            <pc:sldMk cId="124600102" sldId="1094"/>
            <ac:spMk id="27" creationId="{2FF3C8E2-9A5B-53BE-1ED9-27F84D08F05A}"/>
          </ac:spMkLst>
        </pc:spChg>
        <pc:spChg chg="mod">
          <ac:chgData name="Shapiro, Vladimir" userId="487b986e-9dea-4ba8-b33e-8d9a67ec1e6d" providerId="ADAL" clId="{AD5DA62A-DE80-4B28-A03D-42D81E3BD365}" dt="2026-10-17T17:43:28.901" v="891" actId="113"/>
          <ac:spMkLst>
            <pc:docMk/>
            <pc:sldMk cId="124600102" sldId="1094"/>
            <ac:spMk id="30" creationId="{EA3030C8-424B-AFEA-533C-2DCBB98A3C45}"/>
          </ac:spMkLst>
        </pc:spChg>
        <pc:grpChg chg="mod">
          <ac:chgData name="Shapiro, Vladimir" userId="487b986e-9dea-4ba8-b33e-8d9a67ec1e6d" providerId="ADAL" clId="{AD5DA62A-DE80-4B28-A03D-42D81E3BD365}" dt="2026-10-17T17:45:33.802" v="907" actId="14100"/>
          <ac:grpSpMkLst>
            <pc:docMk/>
            <pc:sldMk cId="124600102" sldId="1094"/>
            <ac:grpSpMk id="8" creationId="{610A1156-BA3B-E442-38C0-2D3D3F3C5239}"/>
          </ac:grpSpMkLst>
        </pc:grpChg>
      </pc:sldChg>
      <pc:sldChg chg="modSp del mod">
        <pc:chgData name="Shapiro, Vladimir" userId="487b986e-9dea-4ba8-b33e-8d9a67ec1e6d" providerId="ADAL" clId="{AD5DA62A-DE80-4B28-A03D-42D81E3BD365}" dt="2026-10-17T19:05:08.937" v="1378"/>
        <pc:sldMkLst>
          <pc:docMk/>
          <pc:sldMk cId="3585266651" sldId="1096"/>
        </pc:sldMkLst>
        <pc:picChg chg="mod">
          <ac:chgData name="Shapiro, Vladimir" userId="487b986e-9dea-4ba8-b33e-8d9a67ec1e6d" providerId="ADAL" clId="{AD5DA62A-DE80-4B28-A03D-42D81E3BD365}" dt="2026-10-17T17:46:29.358" v="914" actId="1076"/>
          <ac:picMkLst>
            <pc:docMk/>
            <pc:sldMk cId="3585266651" sldId="1096"/>
            <ac:picMk id="9" creationId="{F5A1CA6F-16B1-B9D5-8B85-38A08BBC8BC4}"/>
          </ac:picMkLst>
        </pc:picChg>
      </pc:sldChg>
      <pc:sldChg chg="modSp mod">
        <pc:chgData name="Shapiro, Vladimir" userId="487b986e-9dea-4ba8-b33e-8d9a67ec1e6d" providerId="ADAL" clId="{AD5DA62A-DE80-4B28-A03D-42D81E3BD365}" dt="2026-10-17T17:50:28.459" v="950" actId="14100"/>
        <pc:sldMkLst>
          <pc:docMk/>
          <pc:sldMk cId="1748449568" sldId="1097"/>
        </pc:sldMkLst>
        <pc:spChg chg="mod">
          <ac:chgData name="Shapiro, Vladimir" userId="487b986e-9dea-4ba8-b33e-8d9a67ec1e6d" providerId="ADAL" clId="{AD5DA62A-DE80-4B28-A03D-42D81E3BD365}" dt="2026-10-17T17:50:17.544" v="947" actId="2710"/>
          <ac:spMkLst>
            <pc:docMk/>
            <pc:sldMk cId="1748449568" sldId="1097"/>
            <ac:spMk id="3" creationId="{525DCBAE-9D29-AF44-4FFE-0C22422ADC66}"/>
          </ac:spMkLst>
        </pc:spChg>
        <pc:picChg chg="mod">
          <ac:chgData name="Shapiro, Vladimir" userId="487b986e-9dea-4ba8-b33e-8d9a67ec1e6d" providerId="ADAL" clId="{AD5DA62A-DE80-4B28-A03D-42D81E3BD365}" dt="2026-10-17T17:50:28.459" v="950" actId="14100"/>
          <ac:picMkLst>
            <pc:docMk/>
            <pc:sldMk cId="1748449568" sldId="1097"/>
            <ac:picMk id="10" creationId="{1710531F-B60A-9BAA-DB36-42DE598D5BF3}"/>
          </ac:picMkLst>
        </pc:picChg>
      </pc:sldChg>
      <pc:sldChg chg="modSp mod">
        <pc:chgData name="Shapiro, Vladimir" userId="487b986e-9dea-4ba8-b33e-8d9a67ec1e6d" providerId="ADAL" clId="{AD5DA62A-DE80-4B28-A03D-42D81E3BD365}" dt="2026-10-17T17:49:37.239" v="945" actId="403"/>
        <pc:sldMkLst>
          <pc:docMk/>
          <pc:sldMk cId="2332790384" sldId="1100"/>
        </pc:sldMkLst>
        <pc:spChg chg="mod">
          <ac:chgData name="Shapiro, Vladimir" userId="487b986e-9dea-4ba8-b33e-8d9a67ec1e6d" providerId="ADAL" clId="{AD5DA62A-DE80-4B28-A03D-42D81E3BD365}" dt="2026-10-17T17:49:18.748" v="943" actId="14100"/>
          <ac:spMkLst>
            <pc:docMk/>
            <pc:sldMk cId="2332790384" sldId="1100"/>
            <ac:spMk id="19" creationId="{7B19C3AE-5322-8EB7-A834-A18F73CA006F}"/>
          </ac:spMkLst>
        </pc:spChg>
        <pc:spChg chg="mod">
          <ac:chgData name="Shapiro, Vladimir" userId="487b986e-9dea-4ba8-b33e-8d9a67ec1e6d" providerId="ADAL" clId="{AD5DA62A-DE80-4B28-A03D-42D81E3BD365}" dt="2026-10-17T17:49:37.239" v="945" actId="403"/>
          <ac:spMkLst>
            <pc:docMk/>
            <pc:sldMk cId="2332790384" sldId="1100"/>
            <ac:spMk id="20" creationId="{B398C4D1-7CD9-E9EB-8A0A-076FEBA281C2}"/>
          </ac:spMkLst>
        </pc:spChg>
        <pc:grpChg chg="mod">
          <ac:chgData name="Shapiro, Vladimir" userId="487b986e-9dea-4ba8-b33e-8d9a67ec1e6d" providerId="ADAL" clId="{AD5DA62A-DE80-4B28-A03D-42D81E3BD365}" dt="2026-10-17T17:49:04.148" v="941" actId="14100"/>
          <ac:grpSpMkLst>
            <pc:docMk/>
            <pc:sldMk cId="2332790384" sldId="1100"/>
            <ac:grpSpMk id="9" creationId="{A46535FF-1222-B6D6-3136-1EA3742E72F5}"/>
          </ac:grpSpMkLst>
        </pc:grpChg>
      </pc:sldChg>
      <pc:sldChg chg="modSp mod">
        <pc:chgData name="Shapiro, Vladimir" userId="487b986e-9dea-4ba8-b33e-8d9a67ec1e6d" providerId="ADAL" clId="{AD5DA62A-DE80-4B28-A03D-42D81E3BD365}" dt="2026-10-17T18:24:20.493" v="1179" actId="1076"/>
        <pc:sldMkLst>
          <pc:docMk/>
          <pc:sldMk cId="563501540" sldId="1107"/>
        </pc:sldMkLst>
        <pc:picChg chg="mod">
          <ac:chgData name="Shapiro, Vladimir" userId="487b986e-9dea-4ba8-b33e-8d9a67ec1e6d" providerId="ADAL" clId="{AD5DA62A-DE80-4B28-A03D-42D81E3BD365}" dt="2026-10-17T18:24:20.493" v="1179" actId="1076"/>
          <ac:picMkLst>
            <pc:docMk/>
            <pc:sldMk cId="563501540" sldId="1107"/>
            <ac:picMk id="7" creationId="{D8C05900-0525-93AE-3369-DE9368536639}"/>
          </ac:picMkLst>
        </pc:picChg>
      </pc:sldChg>
      <pc:sldChg chg="modSp mod chgLayout">
        <pc:chgData name="Shapiro, Vladimir" userId="487b986e-9dea-4ba8-b33e-8d9a67ec1e6d" providerId="ADAL" clId="{AD5DA62A-DE80-4B28-A03D-42D81E3BD365}" dt="2026-10-17T18:24:39.589" v="1183" actId="14100"/>
        <pc:sldMkLst>
          <pc:docMk/>
          <pc:sldMk cId="141998060" sldId="1109"/>
        </pc:sldMkLst>
        <pc:spChg chg="mod ord">
          <ac:chgData name="Shapiro, Vladimir" userId="487b986e-9dea-4ba8-b33e-8d9a67ec1e6d" providerId="ADAL" clId="{AD5DA62A-DE80-4B28-A03D-42D81E3BD365}" dt="2026-10-17T18:24:28.051" v="1180" actId="700"/>
          <ac:spMkLst>
            <pc:docMk/>
            <pc:sldMk cId="141998060" sldId="1109"/>
            <ac:spMk id="2" creationId="{8725A62A-5C55-17A3-3B80-777545C61D6B}"/>
          </ac:spMkLst>
        </pc:spChg>
        <pc:spChg chg="mod ord">
          <ac:chgData name="Shapiro, Vladimir" userId="487b986e-9dea-4ba8-b33e-8d9a67ec1e6d" providerId="ADAL" clId="{AD5DA62A-DE80-4B28-A03D-42D81E3BD365}" dt="2026-10-17T18:24:39.589" v="1183" actId="14100"/>
          <ac:spMkLst>
            <pc:docMk/>
            <pc:sldMk cId="141998060" sldId="1109"/>
            <ac:spMk id="3" creationId="{DA009D4E-57A8-DB97-3C21-C09B6150E4E7}"/>
          </ac:spMkLst>
        </pc:spChg>
        <pc:spChg chg="mod ord">
          <ac:chgData name="Shapiro, Vladimir" userId="487b986e-9dea-4ba8-b33e-8d9a67ec1e6d" providerId="ADAL" clId="{AD5DA62A-DE80-4B28-A03D-42D81E3BD365}" dt="2026-10-17T18:24:28.051" v="1180" actId="700"/>
          <ac:spMkLst>
            <pc:docMk/>
            <pc:sldMk cId="141998060" sldId="1109"/>
            <ac:spMk id="4" creationId="{804D7D56-A321-4DED-B11A-0DE2494D64B9}"/>
          </ac:spMkLst>
        </pc:spChg>
        <pc:grpChg chg="mod">
          <ac:chgData name="Shapiro, Vladimir" userId="487b986e-9dea-4ba8-b33e-8d9a67ec1e6d" providerId="ADAL" clId="{AD5DA62A-DE80-4B28-A03D-42D81E3BD365}" dt="2026-10-17T18:24:30.919" v="1181" actId="1076"/>
          <ac:grpSpMkLst>
            <pc:docMk/>
            <pc:sldMk cId="141998060" sldId="1109"/>
            <ac:grpSpMk id="5" creationId="{024B4047-3A70-3BDB-B272-76C65959DEB1}"/>
          </ac:grpSpMkLst>
        </pc:grpChg>
        <pc:cxnChg chg="mod">
          <ac:chgData name="Shapiro, Vladimir" userId="487b986e-9dea-4ba8-b33e-8d9a67ec1e6d" providerId="ADAL" clId="{AD5DA62A-DE80-4B28-A03D-42D81E3BD365}" dt="2026-10-17T18:24:36.389" v="1182" actId="1076"/>
          <ac:cxnSpMkLst>
            <pc:docMk/>
            <pc:sldMk cId="141998060" sldId="1109"/>
            <ac:cxnSpMk id="24" creationId="{72BB6CEC-7D04-5AD8-321A-D935B15255CD}"/>
          </ac:cxnSpMkLst>
        </pc:cxnChg>
      </pc:sldChg>
      <pc:sldChg chg="modSp mod">
        <pc:chgData name="Shapiro, Vladimir" userId="487b986e-9dea-4ba8-b33e-8d9a67ec1e6d" providerId="ADAL" clId="{AD5DA62A-DE80-4B28-A03D-42D81E3BD365}" dt="2026-10-17T18:35:22.107" v="1307" actId="20577"/>
        <pc:sldMkLst>
          <pc:docMk/>
          <pc:sldMk cId="2967859145" sldId="1110"/>
        </pc:sldMkLst>
        <pc:spChg chg="mod">
          <ac:chgData name="Shapiro, Vladimir" userId="487b986e-9dea-4ba8-b33e-8d9a67ec1e6d" providerId="ADAL" clId="{AD5DA62A-DE80-4B28-A03D-42D81E3BD365}" dt="2026-10-17T18:24:49.093" v="1185" actId="14100"/>
          <ac:spMkLst>
            <pc:docMk/>
            <pc:sldMk cId="2967859145" sldId="1110"/>
            <ac:spMk id="3" creationId="{B3D32136-8929-0FD9-F342-87AE7242190D}"/>
          </ac:spMkLst>
        </pc:spChg>
        <pc:spChg chg="mod">
          <ac:chgData name="Shapiro, Vladimir" userId="487b986e-9dea-4ba8-b33e-8d9a67ec1e6d" providerId="ADAL" clId="{AD5DA62A-DE80-4B28-A03D-42D81E3BD365}" dt="2026-10-17T18:35:22.107" v="1307" actId="20577"/>
          <ac:spMkLst>
            <pc:docMk/>
            <pc:sldMk cId="2967859145" sldId="1110"/>
            <ac:spMk id="26" creationId="{DE27ED03-8D34-72C2-50E2-FCABEC866C27}"/>
          </ac:spMkLst>
        </pc:spChg>
        <pc:grpChg chg="mod">
          <ac:chgData name="Shapiro, Vladimir" userId="487b986e-9dea-4ba8-b33e-8d9a67ec1e6d" providerId="ADAL" clId="{AD5DA62A-DE80-4B28-A03D-42D81E3BD365}" dt="2026-10-17T18:24:56.213" v="1188" actId="14100"/>
          <ac:grpSpMkLst>
            <pc:docMk/>
            <pc:sldMk cId="2967859145" sldId="1110"/>
            <ac:grpSpMk id="5" creationId="{1992F1C7-C2D3-A196-EAC1-14C5786D8350}"/>
          </ac:grpSpMkLst>
        </pc:grpChg>
        <pc:cxnChg chg="mod">
          <ac:chgData name="Shapiro, Vladimir" userId="487b986e-9dea-4ba8-b33e-8d9a67ec1e6d" providerId="ADAL" clId="{AD5DA62A-DE80-4B28-A03D-42D81E3BD365}" dt="2026-10-17T18:24:46.781" v="1184" actId="1076"/>
          <ac:cxnSpMkLst>
            <pc:docMk/>
            <pc:sldMk cId="2967859145" sldId="1110"/>
            <ac:cxnSpMk id="24" creationId="{EBEDB428-DE1C-21A5-7596-9A1B5A64606C}"/>
          </ac:cxnSpMkLst>
        </pc:cxnChg>
      </pc:sldChg>
      <pc:sldChg chg="modSp mod">
        <pc:chgData name="Shapiro, Vladimir" userId="487b986e-9dea-4ba8-b33e-8d9a67ec1e6d" providerId="ADAL" clId="{AD5DA62A-DE80-4B28-A03D-42D81E3BD365}" dt="2026-10-17T18:25:11.660" v="1191" actId="14100"/>
        <pc:sldMkLst>
          <pc:docMk/>
          <pc:sldMk cId="3565631162" sldId="1111"/>
        </pc:sldMkLst>
        <pc:spChg chg="mod">
          <ac:chgData name="Shapiro, Vladimir" userId="487b986e-9dea-4ba8-b33e-8d9a67ec1e6d" providerId="ADAL" clId="{AD5DA62A-DE80-4B28-A03D-42D81E3BD365}" dt="2026-10-17T18:25:11.660" v="1191" actId="14100"/>
          <ac:spMkLst>
            <pc:docMk/>
            <pc:sldMk cId="3565631162" sldId="1111"/>
            <ac:spMk id="3" creationId="{BF7E0EE2-A5DE-D4C4-F9D0-526DB7573A19}"/>
          </ac:spMkLst>
        </pc:spChg>
        <pc:grpChg chg="mod">
          <ac:chgData name="Shapiro, Vladimir" userId="487b986e-9dea-4ba8-b33e-8d9a67ec1e6d" providerId="ADAL" clId="{AD5DA62A-DE80-4B28-A03D-42D81E3BD365}" dt="2026-10-17T18:25:03.502" v="1189" actId="1076"/>
          <ac:grpSpMkLst>
            <pc:docMk/>
            <pc:sldMk cId="3565631162" sldId="1111"/>
            <ac:grpSpMk id="5" creationId="{C22E8E94-8D7C-FDC7-B397-BA3FF08EBEDA}"/>
          </ac:grpSpMkLst>
        </pc:grpChg>
        <pc:cxnChg chg="mod">
          <ac:chgData name="Shapiro, Vladimir" userId="487b986e-9dea-4ba8-b33e-8d9a67ec1e6d" providerId="ADAL" clId="{AD5DA62A-DE80-4B28-A03D-42D81E3BD365}" dt="2026-10-17T18:25:06.910" v="1190" actId="1076"/>
          <ac:cxnSpMkLst>
            <pc:docMk/>
            <pc:sldMk cId="3565631162" sldId="1111"/>
            <ac:cxnSpMk id="24" creationId="{F9480B27-A690-6FE1-B8DA-E873EDAB7F03}"/>
          </ac:cxnSpMkLst>
        </pc:cxnChg>
      </pc:sldChg>
      <pc:sldChg chg="addSp delSp modSp mod">
        <pc:chgData name="Shapiro, Vladimir" userId="487b986e-9dea-4ba8-b33e-8d9a67ec1e6d" providerId="ADAL" clId="{AD5DA62A-DE80-4B28-A03D-42D81E3BD365}" dt="2026-10-17T18:32:49.253" v="1290" actId="20577"/>
        <pc:sldMkLst>
          <pc:docMk/>
          <pc:sldMk cId="3384403089" sldId="1112"/>
        </pc:sldMkLst>
        <pc:spChg chg="del">
          <ac:chgData name="Shapiro, Vladimir" userId="487b986e-9dea-4ba8-b33e-8d9a67ec1e6d" providerId="ADAL" clId="{AD5DA62A-DE80-4B28-A03D-42D81E3BD365}" dt="2026-10-17T17:57:49.153" v="990" actId="478"/>
          <ac:spMkLst>
            <pc:docMk/>
            <pc:sldMk cId="3384403089" sldId="1112"/>
            <ac:spMk id="6" creationId="{90759A6B-0452-1ACF-2F4C-7BB7CF361C00}"/>
          </ac:spMkLst>
        </pc:spChg>
        <pc:spChg chg="mod">
          <ac:chgData name="Shapiro, Vladimir" userId="487b986e-9dea-4ba8-b33e-8d9a67ec1e6d" providerId="ADAL" clId="{AD5DA62A-DE80-4B28-A03D-42D81E3BD365}" dt="2026-10-17T17:56:21.375" v="985" actId="14100"/>
          <ac:spMkLst>
            <pc:docMk/>
            <pc:sldMk cId="3384403089" sldId="1112"/>
            <ac:spMk id="12" creationId="{74CE5AA9-492A-7033-A39F-0C3F99CE668B}"/>
          </ac:spMkLst>
        </pc:spChg>
        <pc:spChg chg="mod">
          <ac:chgData name="Shapiro, Vladimir" userId="487b986e-9dea-4ba8-b33e-8d9a67ec1e6d" providerId="ADAL" clId="{AD5DA62A-DE80-4B28-A03D-42D81E3BD365}" dt="2026-10-17T17:56:21.375" v="985" actId="14100"/>
          <ac:spMkLst>
            <pc:docMk/>
            <pc:sldMk cId="3384403089" sldId="1112"/>
            <ac:spMk id="16" creationId="{454939FA-535F-C465-56B4-830F620BA6FA}"/>
          </ac:spMkLst>
        </pc:spChg>
        <pc:spChg chg="mod">
          <ac:chgData name="Shapiro, Vladimir" userId="487b986e-9dea-4ba8-b33e-8d9a67ec1e6d" providerId="ADAL" clId="{AD5DA62A-DE80-4B28-A03D-42D81E3BD365}" dt="2026-10-17T18:32:49.253" v="1290" actId="20577"/>
          <ac:spMkLst>
            <pc:docMk/>
            <pc:sldMk cId="3384403089" sldId="1112"/>
            <ac:spMk id="19" creationId="{BD3A263C-FA8C-A832-3798-5170F066A70B}"/>
          </ac:spMkLst>
        </pc:spChg>
        <pc:picChg chg="add mod">
          <ac:chgData name="Shapiro, Vladimir" userId="487b986e-9dea-4ba8-b33e-8d9a67ec1e6d" providerId="ADAL" clId="{AD5DA62A-DE80-4B28-A03D-42D81E3BD365}" dt="2026-10-17T17:58:22.190" v="997" actId="1076"/>
          <ac:picMkLst>
            <pc:docMk/>
            <pc:sldMk cId="3384403089" sldId="1112"/>
            <ac:picMk id="7" creationId="{02A9FE00-3630-494C-A500-FC88EA1B5AE7}"/>
          </ac:picMkLst>
        </pc:picChg>
        <pc:picChg chg="del mod">
          <ac:chgData name="Shapiro, Vladimir" userId="487b986e-9dea-4ba8-b33e-8d9a67ec1e6d" providerId="ADAL" clId="{AD5DA62A-DE80-4B28-A03D-42D81E3BD365}" dt="2026-10-17T17:57:42.301" v="989" actId="478"/>
          <ac:picMkLst>
            <pc:docMk/>
            <pc:sldMk cId="3384403089" sldId="1112"/>
            <ac:picMk id="8" creationId="{CBE6E97F-0C8F-51B8-C290-514181FEAD0B}"/>
          </ac:picMkLst>
        </pc:picChg>
      </pc:sldChg>
      <pc:sldChg chg="del">
        <pc:chgData name="Shapiro, Vladimir" userId="487b986e-9dea-4ba8-b33e-8d9a67ec1e6d" providerId="ADAL" clId="{AD5DA62A-DE80-4B28-A03D-42D81E3BD365}" dt="2026-10-17T17:58:01.243" v="991" actId="47"/>
        <pc:sldMkLst>
          <pc:docMk/>
          <pc:sldMk cId="1165878231" sldId="1114"/>
        </pc:sldMkLst>
      </pc:sldChg>
      <pc:sldChg chg="modSp mod">
        <pc:chgData name="Shapiro, Vladimir" userId="487b986e-9dea-4ba8-b33e-8d9a67ec1e6d" providerId="ADAL" clId="{AD5DA62A-DE80-4B28-A03D-42D81E3BD365}" dt="2026-10-17T17:59:29.181" v="1007" actId="14100"/>
        <pc:sldMkLst>
          <pc:docMk/>
          <pc:sldMk cId="4292653231" sldId="1115"/>
        </pc:sldMkLst>
        <pc:spChg chg="mod">
          <ac:chgData name="Shapiro, Vladimir" userId="487b986e-9dea-4ba8-b33e-8d9a67ec1e6d" providerId="ADAL" clId="{AD5DA62A-DE80-4B28-A03D-42D81E3BD365}" dt="2026-10-17T17:59:29.181" v="1007" actId="14100"/>
          <ac:spMkLst>
            <pc:docMk/>
            <pc:sldMk cId="4292653231" sldId="1115"/>
            <ac:spMk id="3" creationId="{E77D6EAD-2205-54BD-F2B9-0AB52ADFC35E}"/>
          </ac:spMkLst>
        </pc:spChg>
      </pc:sldChg>
      <pc:sldChg chg="delSp mod">
        <pc:chgData name="Shapiro, Vladimir" userId="487b986e-9dea-4ba8-b33e-8d9a67ec1e6d" providerId="ADAL" clId="{AD5DA62A-DE80-4B28-A03D-42D81E3BD365}" dt="2026-10-17T18:34:55.828" v="1306" actId="478"/>
        <pc:sldMkLst>
          <pc:docMk/>
          <pc:sldMk cId="2003165625" sldId="1132"/>
        </pc:sldMkLst>
        <pc:cxnChg chg="del">
          <ac:chgData name="Shapiro, Vladimir" userId="487b986e-9dea-4ba8-b33e-8d9a67ec1e6d" providerId="ADAL" clId="{AD5DA62A-DE80-4B28-A03D-42D81E3BD365}" dt="2026-10-17T18:34:55.828" v="1306" actId="478"/>
          <ac:cxnSpMkLst>
            <pc:docMk/>
            <pc:sldMk cId="2003165625" sldId="1132"/>
            <ac:cxnSpMk id="24" creationId="{C3A837E7-6E45-A3AD-8778-B81F788F65F8}"/>
          </ac:cxnSpMkLst>
        </pc:cxnChg>
      </pc:sldChg>
      <pc:sldChg chg="modSp mod">
        <pc:chgData name="Shapiro, Vladimir" userId="487b986e-9dea-4ba8-b33e-8d9a67ec1e6d" providerId="ADAL" clId="{AD5DA62A-DE80-4B28-A03D-42D81E3BD365}" dt="2026-10-17T17:51:22.763" v="952" actId="1076"/>
        <pc:sldMkLst>
          <pc:docMk/>
          <pc:sldMk cId="2949218937" sldId="1139"/>
        </pc:sldMkLst>
        <pc:spChg chg="mod">
          <ac:chgData name="Shapiro, Vladimir" userId="487b986e-9dea-4ba8-b33e-8d9a67ec1e6d" providerId="ADAL" clId="{AD5DA62A-DE80-4B28-A03D-42D81E3BD365}" dt="2026-10-17T17:51:18.492" v="951" actId="14100"/>
          <ac:spMkLst>
            <pc:docMk/>
            <pc:sldMk cId="2949218937" sldId="1139"/>
            <ac:spMk id="3" creationId="{AFF50534-06CB-F0C8-B745-F116B51E84D8}"/>
          </ac:spMkLst>
        </pc:spChg>
        <pc:grpChg chg="mod">
          <ac:chgData name="Shapiro, Vladimir" userId="487b986e-9dea-4ba8-b33e-8d9a67ec1e6d" providerId="ADAL" clId="{AD5DA62A-DE80-4B28-A03D-42D81E3BD365}" dt="2026-10-17T17:51:22.763" v="952" actId="1076"/>
          <ac:grpSpMkLst>
            <pc:docMk/>
            <pc:sldMk cId="2949218937" sldId="1139"/>
            <ac:grpSpMk id="26" creationId="{21B918A6-DA11-99CB-77A2-C677609A3113}"/>
          </ac:grpSpMkLst>
        </pc:grpChg>
      </pc:sldChg>
      <pc:sldChg chg="del">
        <pc:chgData name="Shapiro, Vladimir" userId="487b986e-9dea-4ba8-b33e-8d9a67ec1e6d" providerId="ADAL" clId="{AD5DA62A-DE80-4B28-A03D-42D81E3BD365}" dt="2026-10-17T19:00:27.758" v="1371"/>
        <pc:sldMkLst>
          <pc:docMk/>
          <pc:sldMk cId="3005907907" sldId="1140"/>
        </pc:sldMkLst>
      </pc:sldChg>
      <pc:sldChg chg="delSp mod">
        <pc:chgData name="Shapiro, Vladimir" userId="487b986e-9dea-4ba8-b33e-8d9a67ec1e6d" providerId="ADAL" clId="{AD5DA62A-DE80-4B28-A03D-42D81E3BD365}" dt="2026-10-17T19:15:22.040" v="1397" actId="478"/>
        <pc:sldMkLst>
          <pc:docMk/>
          <pc:sldMk cId="1383199391" sldId="1141"/>
        </pc:sldMkLst>
        <pc:grpChg chg="del">
          <ac:chgData name="Shapiro, Vladimir" userId="487b986e-9dea-4ba8-b33e-8d9a67ec1e6d" providerId="ADAL" clId="{AD5DA62A-DE80-4B28-A03D-42D81E3BD365}" dt="2026-10-17T19:15:22.040" v="1397" actId="478"/>
          <ac:grpSpMkLst>
            <pc:docMk/>
            <pc:sldMk cId="1383199391" sldId="1141"/>
            <ac:grpSpMk id="5" creationId="{6B86C87F-A3D0-2C31-CA4E-2327399C5B0B}"/>
          </ac:grpSpMkLst>
        </pc:grpChg>
      </pc:sldChg>
      <pc:sldChg chg="modSp mod">
        <pc:chgData name="Shapiro, Vladimir" userId="487b986e-9dea-4ba8-b33e-8d9a67ec1e6d" providerId="ADAL" clId="{AD5DA62A-DE80-4B28-A03D-42D81E3BD365}" dt="2026-10-17T17:53:24.074" v="962" actId="1076"/>
        <pc:sldMkLst>
          <pc:docMk/>
          <pc:sldMk cId="3022185286" sldId="1142"/>
        </pc:sldMkLst>
        <pc:spChg chg="mod">
          <ac:chgData name="Shapiro, Vladimir" userId="487b986e-9dea-4ba8-b33e-8d9a67ec1e6d" providerId="ADAL" clId="{AD5DA62A-DE80-4B28-A03D-42D81E3BD365}" dt="2026-10-17T17:52:47.735" v="959" actId="2710"/>
          <ac:spMkLst>
            <pc:docMk/>
            <pc:sldMk cId="3022185286" sldId="1142"/>
            <ac:spMk id="3" creationId="{9D988831-D4A6-EB98-770D-1BBF98C687EC}"/>
          </ac:spMkLst>
        </pc:spChg>
        <pc:spChg chg="mod">
          <ac:chgData name="Shapiro, Vladimir" userId="487b986e-9dea-4ba8-b33e-8d9a67ec1e6d" providerId="ADAL" clId="{AD5DA62A-DE80-4B28-A03D-42D81E3BD365}" dt="2026-10-17T17:53:03.074" v="960" actId="14100"/>
          <ac:spMkLst>
            <pc:docMk/>
            <pc:sldMk cId="3022185286" sldId="1142"/>
            <ac:spMk id="43" creationId="{CA5A74B6-0A59-EA76-97CC-7A96ED4433E7}"/>
          </ac:spMkLst>
        </pc:spChg>
        <pc:spChg chg="mod">
          <ac:chgData name="Shapiro, Vladimir" userId="487b986e-9dea-4ba8-b33e-8d9a67ec1e6d" providerId="ADAL" clId="{AD5DA62A-DE80-4B28-A03D-42D81E3BD365}" dt="2026-10-17T17:53:24.074" v="962" actId="1076"/>
          <ac:spMkLst>
            <pc:docMk/>
            <pc:sldMk cId="3022185286" sldId="1142"/>
            <ac:spMk id="49" creationId="{76598632-622D-1EB8-B57F-CF5B1F0926B8}"/>
          </ac:spMkLst>
        </pc:spChg>
      </pc:sldChg>
      <pc:sldChg chg="modSp mod">
        <pc:chgData name="Shapiro, Vladimir" userId="487b986e-9dea-4ba8-b33e-8d9a67ec1e6d" providerId="ADAL" clId="{AD5DA62A-DE80-4B28-A03D-42D81E3BD365}" dt="2026-10-17T17:54:10.873" v="966" actId="1076"/>
        <pc:sldMkLst>
          <pc:docMk/>
          <pc:sldMk cId="3053954772" sldId="1143"/>
        </pc:sldMkLst>
        <pc:spChg chg="mod">
          <ac:chgData name="Shapiro, Vladimir" userId="487b986e-9dea-4ba8-b33e-8d9a67ec1e6d" providerId="ADAL" clId="{AD5DA62A-DE80-4B28-A03D-42D81E3BD365}" dt="2026-10-17T17:53:47.329" v="965" actId="14100"/>
          <ac:spMkLst>
            <pc:docMk/>
            <pc:sldMk cId="3053954772" sldId="1143"/>
            <ac:spMk id="3" creationId="{67BBC199-A1B9-2829-5E6E-0C483B97DE91}"/>
          </ac:spMkLst>
        </pc:spChg>
        <pc:grpChg chg="mod">
          <ac:chgData name="Shapiro, Vladimir" userId="487b986e-9dea-4ba8-b33e-8d9a67ec1e6d" providerId="ADAL" clId="{AD5DA62A-DE80-4B28-A03D-42D81E3BD365}" dt="2026-10-17T17:54:10.873" v="966" actId="1076"/>
          <ac:grpSpMkLst>
            <pc:docMk/>
            <pc:sldMk cId="3053954772" sldId="1143"/>
            <ac:grpSpMk id="5" creationId="{D9C13DE0-12A7-32AB-077D-826370AEA572}"/>
          </ac:grpSpMkLst>
        </pc:grpChg>
      </pc:sldChg>
      <pc:sldChg chg="modSp mod">
        <pc:chgData name="Shapiro, Vladimir" userId="487b986e-9dea-4ba8-b33e-8d9a67ec1e6d" providerId="ADAL" clId="{AD5DA62A-DE80-4B28-A03D-42D81E3BD365}" dt="2026-10-17T18:34:14.473" v="1305" actId="20577"/>
        <pc:sldMkLst>
          <pc:docMk/>
          <pc:sldMk cId="3767682982" sldId="1144"/>
        </pc:sldMkLst>
        <pc:spChg chg="mod">
          <ac:chgData name="Shapiro, Vladimir" userId="487b986e-9dea-4ba8-b33e-8d9a67ec1e6d" providerId="ADAL" clId="{AD5DA62A-DE80-4B28-A03D-42D81E3BD365}" dt="2026-10-17T18:34:03.395" v="1304" actId="6549"/>
          <ac:spMkLst>
            <pc:docMk/>
            <pc:sldMk cId="3767682982" sldId="1144"/>
            <ac:spMk id="3" creationId="{FD19886B-91A4-717A-1272-605C68DDE751}"/>
          </ac:spMkLst>
        </pc:spChg>
        <pc:spChg chg="mod">
          <ac:chgData name="Shapiro, Vladimir" userId="487b986e-9dea-4ba8-b33e-8d9a67ec1e6d" providerId="ADAL" clId="{AD5DA62A-DE80-4B28-A03D-42D81E3BD365}" dt="2026-10-17T18:34:14.473" v="1305" actId="20577"/>
          <ac:spMkLst>
            <pc:docMk/>
            <pc:sldMk cId="3767682982" sldId="1144"/>
            <ac:spMk id="23" creationId="{89A5D99A-E9F9-937A-E6BD-9C26CA251236}"/>
          </ac:spMkLst>
        </pc:spChg>
      </pc:sldChg>
      <pc:sldChg chg="modSp del mod">
        <pc:chgData name="Shapiro, Vladimir" userId="487b986e-9dea-4ba8-b33e-8d9a67ec1e6d" providerId="ADAL" clId="{AD5DA62A-DE80-4B28-A03D-42D81E3BD365}" dt="2026-10-17T18:04:29.323" v="1031"/>
        <pc:sldMkLst>
          <pc:docMk/>
          <pc:sldMk cId="3976626280" sldId="1146"/>
        </pc:sldMkLst>
        <pc:graphicFrameChg chg="mod modGraphic">
          <ac:chgData name="Shapiro, Vladimir" userId="487b986e-9dea-4ba8-b33e-8d9a67ec1e6d" providerId="ADAL" clId="{AD5DA62A-DE80-4B28-A03D-42D81E3BD365}" dt="2026-10-17T18:01:14.445" v="1029" actId="14100"/>
          <ac:graphicFrameMkLst>
            <pc:docMk/>
            <pc:sldMk cId="3976626280" sldId="1146"/>
            <ac:graphicFrameMk id="11" creationId="{8805AB0C-9FC4-8CEB-A162-2D789D71B2BC}"/>
          </ac:graphicFrameMkLst>
        </pc:graphicFrameChg>
      </pc:sldChg>
      <pc:sldChg chg="delSp modSp mod">
        <pc:chgData name="Shapiro, Vladimir" userId="487b986e-9dea-4ba8-b33e-8d9a67ec1e6d" providerId="ADAL" clId="{AD5DA62A-DE80-4B28-A03D-42D81E3BD365}" dt="2026-10-17T18:31:33.682" v="1286" actId="1076"/>
        <pc:sldMkLst>
          <pc:docMk/>
          <pc:sldMk cId="3872524427" sldId="1148"/>
        </pc:sldMkLst>
        <pc:spChg chg="mod">
          <ac:chgData name="Shapiro, Vladimir" userId="487b986e-9dea-4ba8-b33e-8d9a67ec1e6d" providerId="ADAL" clId="{AD5DA62A-DE80-4B28-A03D-42D81E3BD365}" dt="2026-10-17T18:31:21.899" v="1283" actId="20577"/>
          <ac:spMkLst>
            <pc:docMk/>
            <pc:sldMk cId="3872524427" sldId="1148"/>
            <ac:spMk id="3" creationId="{88B09B2B-EE07-CD84-933E-286D8CEBA636}"/>
          </ac:spMkLst>
        </pc:spChg>
        <pc:spChg chg="mod">
          <ac:chgData name="Shapiro, Vladimir" userId="487b986e-9dea-4ba8-b33e-8d9a67ec1e6d" providerId="ADAL" clId="{AD5DA62A-DE80-4B28-A03D-42D81E3BD365}" dt="2026-10-17T18:22:37.770" v="1109" actId="14100"/>
          <ac:spMkLst>
            <pc:docMk/>
            <pc:sldMk cId="3872524427" sldId="1148"/>
            <ac:spMk id="8" creationId="{9F4DFDAF-3C7C-96AC-73BF-883538887255}"/>
          </ac:spMkLst>
        </pc:spChg>
        <pc:grpChg chg="mod">
          <ac:chgData name="Shapiro, Vladimir" userId="487b986e-9dea-4ba8-b33e-8d9a67ec1e6d" providerId="ADAL" clId="{AD5DA62A-DE80-4B28-A03D-42D81E3BD365}" dt="2026-10-17T18:31:33.682" v="1286" actId="1076"/>
          <ac:grpSpMkLst>
            <pc:docMk/>
            <pc:sldMk cId="3872524427" sldId="1148"/>
            <ac:grpSpMk id="5" creationId="{870689AA-2E89-987B-3B8C-20D585A4C13C}"/>
          </ac:grpSpMkLst>
        </pc:grpChg>
        <pc:grpChg chg="del">
          <ac:chgData name="Shapiro, Vladimir" userId="487b986e-9dea-4ba8-b33e-8d9a67ec1e6d" providerId="ADAL" clId="{AD5DA62A-DE80-4B28-A03D-42D81E3BD365}" dt="2026-10-17T18:31:08.837" v="1280" actId="478"/>
          <ac:grpSpMkLst>
            <pc:docMk/>
            <pc:sldMk cId="3872524427" sldId="1148"/>
            <ac:grpSpMk id="43" creationId="{CA893F07-82B5-C4BD-17FC-48339851015F}"/>
          </ac:grpSpMkLst>
        </pc:grpChg>
        <pc:picChg chg="mod">
          <ac:chgData name="Shapiro, Vladimir" userId="487b986e-9dea-4ba8-b33e-8d9a67ec1e6d" providerId="ADAL" clId="{AD5DA62A-DE80-4B28-A03D-42D81E3BD365}" dt="2026-10-17T18:31:30.914" v="1285" actId="14100"/>
          <ac:picMkLst>
            <pc:docMk/>
            <pc:sldMk cId="3872524427" sldId="1148"/>
            <ac:picMk id="9" creationId="{7410AB6E-6F23-6923-B1BA-DEADAF4DD86A}"/>
          </ac:picMkLst>
        </pc:picChg>
      </pc:sldChg>
      <pc:sldChg chg="addSp modSp mod">
        <pc:chgData name="Shapiro, Vladimir" userId="487b986e-9dea-4ba8-b33e-8d9a67ec1e6d" providerId="ADAL" clId="{AD5DA62A-DE80-4B28-A03D-42D81E3BD365}" dt="2026-10-17T18:51:01.519" v="1369" actId="404"/>
        <pc:sldMkLst>
          <pc:docMk/>
          <pc:sldMk cId="18938889" sldId="1149"/>
        </pc:sldMkLst>
        <pc:spChg chg="add mod">
          <ac:chgData name="Shapiro, Vladimir" userId="487b986e-9dea-4ba8-b33e-8d9a67ec1e6d" providerId="ADAL" clId="{AD5DA62A-DE80-4B28-A03D-42D81E3BD365}" dt="2026-10-17T18:51:01.519" v="1369" actId="404"/>
          <ac:spMkLst>
            <pc:docMk/>
            <pc:sldMk cId="18938889" sldId="1149"/>
            <ac:spMk id="5" creationId="{020476B1-7424-619D-F0A4-2E7785339E5E}"/>
          </ac:spMkLst>
        </pc:spChg>
        <pc:spChg chg="mod">
          <ac:chgData name="Shapiro, Vladimir" userId="487b986e-9dea-4ba8-b33e-8d9a67ec1e6d" providerId="ADAL" clId="{AD5DA62A-DE80-4B28-A03D-42D81E3BD365}" dt="2026-10-17T18:23:03.768" v="1110" actId="20577"/>
          <ac:spMkLst>
            <pc:docMk/>
            <pc:sldMk cId="18938889" sldId="1149"/>
            <ac:spMk id="13" creationId="{C922547B-B398-9D96-ED38-A53EBF52FBF7}"/>
          </ac:spMkLst>
        </pc:spChg>
        <pc:spChg chg="mod">
          <ac:chgData name="Shapiro, Vladimir" userId="487b986e-9dea-4ba8-b33e-8d9a67ec1e6d" providerId="ADAL" clId="{AD5DA62A-DE80-4B28-A03D-42D81E3BD365}" dt="2026-10-17T18:48:15.201" v="1357" actId="6549"/>
          <ac:spMkLst>
            <pc:docMk/>
            <pc:sldMk cId="18938889" sldId="1149"/>
            <ac:spMk id="16" creationId="{6EDCA19D-2F0E-05E9-1406-B0799563500B}"/>
          </ac:spMkLst>
        </pc:spChg>
        <pc:grpChg chg="mod">
          <ac:chgData name="Shapiro, Vladimir" userId="487b986e-9dea-4ba8-b33e-8d9a67ec1e6d" providerId="ADAL" clId="{AD5DA62A-DE80-4B28-A03D-42D81E3BD365}" dt="2026-10-17T18:47:28.373" v="1353" actId="1076"/>
          <ac:grpSpMkLst>
            <pc:docMk/>
            <pc:sldMk cId="18938889" sldId="1149"/>
            <ac:grpSpMk id="10" creationId="{4D4B50BC-F1CF-BCCB-565B-AC94ABD0F7A2}"/>
          </ac:grpSpMkLst>
        </pc:grpChg>
      </pc:sldChg>
      <pc:sldChg chg="modSp mod">
        <pc:chgData name="Shapiro, Vladimir" userId="487b986e-9dea-4ba8-b33e-8d9a67ec1e6d" providerId="ADAL" clId="{AD5DA62A-DE80-4B28-A03D-42D81E3BD365}" dt="2026-10-17T18:30:17.950" v="1279" actId="20577"/>
        <pc:sldMkLst>
          <pc:docMk/>
          <pc:sldMk cId="735258063" sldId="1150"/>
        </pc:sldMkLst>
        <pc:spChg chg="mod">
          <ac:chgData name="Shapiro, Vladimir" userId="487b986e-9dea-4ba8-b33e-8d9a67ec1e6d" providerId="ADAL" clId="{AD5DA62A-DE80-4B28-A03D-42D81E3BD365}" dt="2026-10-17T18:30:17.950" v="1279" actId="20577"/>
          <ac:spMkLst>
            <pc:docMk/>
            <pc:sldMk cId="735258063" sldId="1150"/>
            <ac:spMk id="6" creationId="{D6EDA37E-D882-DA67-FB4F-852D5471745B}"/>
          </ac:spMkLst>
        </pc:spChg>
      </pc:sldChg>
      <pc:sldChg chg="modSp add del mod">
        <pc:chgData name="Shapiro, Vladimir" userId="487b986e-9dea-4ba8-b33e-8d9a67ec1e6d" providerId="ADAL" clId="{AD5DA62A-DE80-4B28-A03D-42D81E3BD365}" dt="2026-10-17T18:04:52.555" v="1043"/>
        <pc:sldMkLst>
          <pc:docMk/>
          <pc:sldMk cId="490605494" sldId="1151"/>
        </pc:sldMkLst>
        <pc:spChg chg="mod">
          <ac:chgData name="Shapiro, Vladimir" userId="487b986e-9dea-4ba8-b33e-8d9a67ec1e6d" providerId="ADAL" clId="{AD5DA62A-DE80-4B28-A03D-42D81E3BD365}" dt="2026-10-17T18:04:41.970" v="1039" actId="1076"/>
          <ac:spMkLst>
            <pc:docMk/>
            <pc:sldMk cId="490605494" sldId="1151"/>
            <ac:spMk id="20" creationId="{00000000-0000-0000-0000-000000000000}"/>
          </ac:spMkLst>
        </pc:spChg>
        <pc:grpChg chg="mod">
          <ac:chgData name="Shapiro, Vladimir" userId="487b986e-9dea-4ba8-b33e-8d9a67ec1e6d" providerId="ADAL" clId="{AD5DA62A-DE80-4B28-A03D-42D81E3BD365}" dt="2026-10-17T18:04:45.026" v="1040" actId="1076"/>
          <ac:grpSpMkLst>
            <pc:docMk/>
            <pc:sldMk cId="490605494" sldId="1151"/>
            <ac:grpSpMk id="5" creationId="{3A13B2FB-478F-0938-E5B0-AFEDB6C97FBB}"/>
          </ac:grpSpMkLst>
        </pc:grpChg>
        <pc:graphicFrameChg chg="mod modGraphic">
          <ac:chgData name="Shapiro, Vladimir" userId="487b986e-9dea-4ba8-b33e-8d9a67ec1e6d" providerId="ADAL" clId="{AD5DA62A-DE80-4B28-A03D-42D81E3BD365}" dt="2026-10-17T18:04:49.879" v="1041" actId="14100"/>
          <ac:graphicFrameMkLst>
            <pc:docMk/>
            <pc:sldMk cId="490605494" sldId="1151"/>
            <ac:graphicFrameMk id="11" creationId="{8805AB0C-9FC4-8CEB-A162-2D789D71B2BC}"/>
          </ac:graphicFrameMkLst>
        </pc:graphicFrameChg>
      </pc:sldChg>
      <pc:sldChg chg="modSp add del mod">
        <pc:chgData name="Shapiro, Vladimir" userId="487b986e-9dea-4ba8-b33e-8d9a67ec1e6d" providerId="ADAL" clId="{AD5DA62A-DE80-4B28-A03D-42D81E3BD365}" dt="2026-10-17T18:06:53.052" v="1056"/>
        <pc:sldMkLst>
          <pc:docMk/>
          <pc:sldMk cId="3984436910" sldId="1152"/>
        </pc:sldMkLst>
        <pc:spChg chg="mod">
          <ac:chgData name="Shapiro, Vladimir" userId="487b986e-9dea-4ba8-b33e-8d9a67ec1e6d" providerId="ADAL" clId="{AD5DA62A-DE80-4B28-A03D-42D81E3BD365}" dt="2026-10-17T18:05:03.176" v="1054"/>
          <ac:spMkLst>
            <pc:docMk/>
            <pc:sldMk cId="3984436910" sldId="1152"/>
            <ac:spMk id="20" creationId="{00000000-0000-0000-0000-000000000000}"/>
          </ac:spMkLst>
        </pc:spChg>
        <pc:grpChg chg="mod">
          <ac:chgData name="Shapiro, Vladimir" userId="487b986e-9dea-4ba8-b33e-8d9a67ec1e6d" providerId="ADAL" clId="{AD5DA62A-DE80-4B28-A03D-42D81E3BD365}" dt="2026-10-17T18:05:03.174" v="1051"/>
          <ac:grpSpMkLst>
            <pc:docMk/>
            <pc:sldMk cId="3984436910" sldId="1152"/>
            <ac:grpSpMk id="5" creationId="{3A13B2FB-478F-0938-E5B0-AFEDB6C97FBB}"/>
          </ac:grpSpMkLst>
        </pc:grpChg>
        <pc:graphicFrameChg chg="modGraphic">
          <ac:chgData name="Shapiro, Vladimir" userId="487b986e-9dea-4ba8-b33e-8d9a67ec1e6d" providerId="ADAL" clId="{AD5DA62A-DE80-4B28-A03D-42D81E3BD365}" dt="2026-10-17T18:04:53.114" v="1050"/>
          <ac:graphicFrameMkLst>
            <pc:docMk/>
            <pc:sldMk cId="3984436910" sldId="1152"/>
            <ac:graphicFrameMk id="11" creationId="{8805AB0C-9FC4-8CEB-A162-2D789D71B2BC}"/>
          </ac:graphicFrameMkLst>
        </pc:graphicFrameChg>
      </pc:sldChg>
      <pc:sldChg chg="modSp add del mod">
        <pc:chgData name="Shapiro, Vladimir" userId="487b986e-9dea-4ba8-b33e-8d9a67ec1e6d" providerId="ADAL" clId="{AD5DA62A-DE80-4B28-A03D-42D81E3BD365}" dt="2026-10-17T18:07:17.916" v="1065"/>
        <pc:sldMkLst>
          <pc:docMk/>
          <pc:sldMk cId="1510714205" sldId="1153"/>
        </pc:sldMkLst>
        <pc:graphicFrameChg chg="modGraphic">
          <ac:chgData name="Shapiro, Vladimir" userId="487b986e-9dea-4ba8-b33e-8d9a67ec1e6d" providerId="ADAL" clId="{AD5DA62A-DE80-4B28-A03D-42D81E3BD365}" dt="2026-10-17T18:06:53.597" v="1063"/>
          <ac:graphicFrameMkLst>
            <pc:docMk/>
            <pc:sldMk cId="1510714205" sldId="1153"/>
            <ac:graphicFrameMk id="11" creationId="{8805AB0C-9FC4-8CEB-A162-2D789D71B2BC}"/>
          </ac:graphicFrameMkLst>
        </pc:graphicFrameChg>
      </pc:sldChg>
      <pc:sldChg chg="add del">
        <pc:chgData name="Shapiro, Vladimir" userId="487b986e-9dea-4ba8-b33e-8d9a67ec1e6d" providerId="ADAL" clId="{AD5DA62A-DE80-4B28-A03D-42D81E3BD365}" dt="2026-10-17T18:07:35.100" v="1067"/>
        <pc:sldMkLst>
          <pc:docMk/>
          <pc:sldMk cId="2669361910" sldId="1154"/>
        </pc:sldMkLst>
      </pc:sldChg>
      <pc:sldChg chg="modSp add del mod">
        <pc:chgData name="Shapiro, Vladimir" userId="487b986e-9dea-4ba8-b33e-8d9a67ec1e6d" providerId="ADAL" clId="{AD5DA62A-DE80-4B28-A03D-42D81E3BD365}" dt="2026-10-17T18:11:08.702" v="1071"/>
        <pc:sldMkLst>
          <pc:docMk/>
          <pc:sldMk cId="2321034510" sldId="1155"/>
        </pc:sldMkLst>
        <pc:spChg chg="mod">
          <ac:chgData name="Shapiro, Vladimir" userId="487b986e-9dea-4ba8-b33e-8d9a67ec1e6d" providerId="ADAL" clId="{AD5DA62A-DE80-4B28-A03D-42D81E3BD365}" dt="2026-10-17T18:07:38.812" v="1069"/>
          <ac:spMkLst>
            <pc:docMk/>
            <pc:sldMk cId="2321034510" sldId="1155"/>
            <ac:spMk id="20" creationId="{00000000-0000-0000-0000-000000000000}"/>
          </ac:spMkLst>
        </pc:spChg>
        <pc:grpChg chg="mod">
          <ac:chgData name="Shapiro, Vladimir" userId="487b986e-9dea-4ba8-b33e-8d9a67ec1e6d" providerId="ADAL" clId="{AD5DA62A-DE80-4B28-A03D-42D81E3BD365}" dt="2026-10-17T18:07:38.811" v="1068"/>
          <ac:grpSpMkLst>
            <pc:docMk/>
            <pc:sldMk cId="2321034510" sldId="1155"/>
            <ac:grpSpMk id="5" creationId="{3A13B2FB-478F-0938-E5B0-AFEDB6C97FBB}"/>
          </ac:grpSpMkLst>
        </pc:grpChg>
      </pc:sldChg>
      <pc:sldChg chg="modSp add del mod">
        <pc:chgData name="Shapiro, Vladimir" userId="487b986e-9dea-4ba8-b33e-8d9a67ec1e6d" providerId="ADAL" clId="{AD5DA62A-DE80-4B28-A03D-42D81E3BD365}" dt="2026-10-17T18:11:40.997" v="1080"/>
        <pc:sldMkLst>
          <pc:docMk/>
          <pc:sldMk cId="824947408" sldId="1156"/>
        </pc:sldMkLst>
        <pc:graphicFrameChg chg="modGraphic">
          <ac:chgData name="Shapiro, Vladimir" userId="487b986e-9dea-4ba8-b33e-8d9a67ec1e6d" providerId="ADAL" clId="{AD5DA62A-DE80-4B28-A03D-42D81E3BD365}" dt="2026-10-17T18:11:08.763" v="1078"/>
          <ac:graphicFrameMkLst>
            <pc:docMk/>
            <pc:sldMk cId="824947408" sldId="1156"/>
            <ac:graphicFrameMk id="11" creationId="{8805AB0C-9FC4-8CEB-A162-2D789D71B2BC}"/>
          </ac:graphicFrameMkLst>
        </pc:graphicFrameChg>
      </pc:sldChg>
      <pc:sldChg chg="modSp add del mod">
        <pc:chgData name="Shapiro, Vladimir" userId="487b986e-9dea-4ba8-b33e-8d9a67ec1e6d" providerId="ADAL" clId="{AD5DA62A-DE80-4B28-A03D-42D81E3BD365}" dt="2026-10-17T18:19:38.452" v="1085"/>
        <pc:sldMkLst>
          <pc:docMk/>
          <pc:sldMk cId="1516793106" sldId="1157"/>
        </pc:sldMkLst>
        <pc:spChg chg="mod">
          <ac:chgData name="Shapiro, Vladimir" userId="487b986e-9dea-4ba8-b33e-8d9a67ec1e6d" providerId="ADAL" clId="{AD5DA62A-DE80-4B28-A03D-42D81E3BD365}" dt="2026-10-17T18:13:48.681" v="1083"/>
          <ac:spMkLst>
            <pc:docMk/>
            <pc:sldMk cId="1516793106" sldId="1157"/>
            <ac:spMk id="2" creationId="{0A3C23E5-1080-1DCF-7C35-2883D35FAE44}"/>
          </ac:spMkLst>
        </pc:spChg>
        <pc:spChg chg="mod">
          <ac:chgData name="Shapiro, Vladimir" userId="487b986e-9dea-4ba8-b33e-8d9a67ec1e6d" providerId="ADAL" clId="{AD5DA62A-DE80-4B28-A03D-42D81E3BD365}" dt="2026-10-17T18:11:45.075" v="1082"/>
          <ac:spMkLst>
            <pc:docMk/>
            <pc:sldMk cId="1516793106" sldId="1157"/>
            <ac:spMk id="20" creationId="{00000000-0000-0000-0000-000000000000}"/>
          </ac:spMkLst>
        </pc:spChg>
        <pc:grpChg chg="mod">
          <ac:chgData name="Shapiro, Vladimir" userId="487b986e-9dea-4ba8-b33e-8d9a67ec1e6d" providerId="ADAL" clId="{AD5DA62A-DE80-4B28-A03D-42D81E3BD365}" dt="2026-10-17T18:11:45.074" v="1081"/>
          <ac:grpSpMkLst>
            <pc:docMk/>
            <pc:sldMk cId="1516793106" sldId="1157"/>
            <ac:grpSpMk id="5" creationId="{3A13B2FB-478F-0938-E5B0-AFEDB6C97FBB}"/>
          </ac:grpSpMkLst>
        </pc:grpChg>
      </pc:sldChg>
      <pc:sldChg chg="modSp add del mod">
        <pc:chgData name="Shapiro, Vladimir" userId="487b986e-9dea-4ba8-b33e-8d9a67ec1e6d" providerId="ADAL" clId="{AD5DA62A-DE80-4B28-A03D-42D81E3BD365}" dt="2026-10-17T18:19:50.753" v="1095"/>
        <pc:sldMkLst>
          <pc:docMk/>
          <pc:sldMk cId="1328888014" sldId="1158"/>
        </pc:sldMkLst>
        <pc:spChg chg="mod">
          <ac:chgData name="Shapiro, Vladimir" userId="487b986e-9dea-4ba8-b33e-8d9a67ec1e6d" providerId="ADAL" clId="{AD5DA62A-DE80-4B28-A03D-42D81E3BD365}" dt="2026-10-17T18:19:43.114" v="1093"/>
          <ac:spMkLst>
            <pc:docMk/>
            <pc:sldMk cId="1328888014" sldId="1158"/>
            <ac:spMk id="20" creationId="{00000000-0000-0000-0000-000000000000}"/>
          </ac:spMkLst>
        </pc:spChg>
        <pc:grpChg chg="mod">
          <ac:chgData name="Shapiro, Vladimir" userId="487b986e-9dea-4ba8-b33e-8d9a67ec1e6d" providerId="ADAL" clId="{AD5DA62A-DE80-4B28-A03D-42D81E3BD365}" dt="2026-10-17T18:19:43.052" v="1092"/>
          <ac:grpSpMkLst>
            <pc:docMk/>
            <pc:sldMk cId="1328888014" sldId="1158"/>
            <ac:grpSpMk id="5" creationId="{3A13B2FB-478F-0938-E5B0-AFEDB6C97FBB}"/>
          </ac:grpSpMkLst>
        </pc:grpChg>
        <pc:graphicFrameChg chg="modGraphic">
          <ac:chgData name="Shapiro, Vladimir" userId="487b986e-9dea-4ba8-b33e-8d9a67ec1e6d" providerId="ADAL" clId="{AD5DA62A-DE80-4B28-A03D-42D81E3BD365}" dt="2026-10-17T18:19:39.057" v="1091"/>
          <ac:graphicFrameMkLst>
            <pc:docMk/>
            <pc:sldMk cId="1328888014" sldId="1158"/>
            <ac:graphicFrameMk id="11" creationId="{8805AB0C-9FC4-8CEB-A162-2D789D71B2BC}"/>
          </ac:graphicFrameMkLst>
        </pc:graphicFrameChg>
      </pc:sldChg>
      <pc:sldChg chg="modSp add mod modNotesTx">
        <pc:chgData name="Shapiro, Vladimir" userId="487b986e-9dea-4ba8-b33e-8d9a67ec1e6d" providerId="ADAL" clId="{AD5DA62A-DE80-4B28-A03D-42D81E3BD365}" dt="2026-10-17T18:20:54.314" v="1103" actId="6549"/>
        <pc:sldMkLst>
          <pc:docMk/>
          <pc:sldMk cId="738150539" sldId="1159"/>
        </pc:sldMkLst>
        <pc:graphicFrameChg chg="modGraphic">
          <ac:chgData name="Shapiro, Vladimir" userId="487b986e-9dea-4ba8-b33e-8d9a67ec1e6d" providerId="ADAL" clId="{AD5DA62A-DE80-4B28-A03D-42D81E3BD365}" dt="2026-10-17T18:19:51.296" v="1101"/>
          <ac:graphicFrameMkLst>
            <pc:docMk/>
            <pc:sldMk cId="738150539" sldId="1159"/>
            <ac:graphicFrameMk id="11" creationId="{8805AB0C-9FC4-8CEB-A162-2D789D71B2BC}"/>
          </ac:graphicFrameMkLst>
        </pc:graphicFrameChg>
      </pc:sldChg>
      <pc:sldChg chg="modSp add mod">
        <pc:chgData name="Shapiro, Vladimir" userId="487b986e-9dea-4ba8-b33e-8d9a67ec1e6d" providerId="ADAL" clId="{AD5DA62A-DE80-4B28-A03D-42D81E3BD365}" dt="2026-10-17T19:03:26.271" v="1374" actId="1076"/>
        <pc:sldMkLst>
          <pc:docMk/>
          <pc:sldMk cId="156418825" sldId="1160"/>
        </pc:sldMkLst>
        <pc:spChg chg="mod">
          <ac:chgData name="Shapiro, Vladimir" userId="487b986e-9dea-4ba8-b33e-8d9a67ec1e6d" providerId="ADAL" clId="{AD5DA62A-DE80-4B28-A03D-42D81E3BD365}" dt="2026-10-17T19:03:26.271" v="1374" actId="1076"/>
          <ac:spMkLst>
            <pc:docMk/>
            <pc:sldMk cId="156418825" sldId="1160"/>
            <ac:spMk id="40" creationId="{00000000-0000-0000-0000-000000000000}"/>
          </ac:spMkLst>
        </pc:spChg>
      </pc:sldChg>
      <pc:sldChg chg="add del">
        <pc:chgData name="Shapiro, Vladimir" userId="487b986e-9dea-4ba8-b33e-8d9a67ec1e6d" providerId="ADAL" clId="{AD5DA62A-DE80-4B28-A03D-42D81E3BD365}" dt="2026-10-17T19:11:50.904" v="1392"/>
        <pc:sldMkLst>
          <pc:docMk/>
          <pc:sldMk cId="320911127" sldId="1161"/>
        </pc:sldMkLst>
      </pc:sldChg>
      <pc:sldChg chg="add del">
        <pc:chgData name="Shapiro, Vladimir" userId="487b986e-9dea-4ba8-b33e-8d9a67ec1e6d" providerId="ADAL" clId="{AD5DA62A-DE80-4B28-A03D-42D81E3BD365}" dt="2026-10-17T19:09:02.226" v="1386"/>
        <pc:sldMkLst>
          <pc:docMk/>
          <pc:sldMk cId="250042564" sldId="1162"/>
        </pc:sldMkLst>
      </pc:sldChg>
      <pc:sldChg chg="add del">
        <pc:chgData name="Shapiro, Vladimir" userId="487b986e-9dea-4ba8-b33e-8d9a67ec1e6d" providerId="ADAL" clId="{AD5DA62A-DE80-4B28-A03D-42D81E3BD365}" dt="2026-10-17T19:05:32.699" v="1382"/>
        <pc:sldMkLst>
          <pc:docMk/>
          <pc:sldMk cId="2474029826" sldId="1163"/>
        </pc:sldMkLst>
      </pc:sldChg>
      <pc:sldChg chg="add del">
        <pc:chgData name="Shapiro, Vladimir" userId="487b986e-9dea-4ba8-b33e-8d9a67ec1e6d" providerId="ADAL" clId="{AD5DA62A-DE80-4B28-A03D-42D81E3BD365}" dt="2026-10-17T19:05:49.628" v="1384"/>
        <pc:sldMkLst>
          <pc:docMk/>
          <pc:sldMk cId="3939170328" sldId="1164"/>
        </pc:sldMkLst>
      </pc:sldChg>
      <pc:sldChg chg="add">
        <pc:chgData name="Shapiro, Vladimir" userId="487b986e-9dea-4ba8-b33e-8d9a67ec1e6d" providerId="ADAL" clId="{AD5DA62A-DE80-4B28-A03D-42D81E3BD365}" dt="2026-10-17T19:05:49.578" v="1383"/>
        <pc:sldMkLst>
          <pc:docMk/>
          <pc:sldMk cId="2974907657" sldId="1165"/>
        </pc:sldMkLst>
      </pc:sldChg>
      <pc:sldChg chg="add del">
        <pc:chgData name="Shapiro, Vladimir" userId="487b986e-9dea-4ba8-b33e-8d9a67ec1e6d" providerId="ADAL" clId="{AD5DA62A-DE80-4B28-A03D-42D81E3BD365}" dt="2026-10-17T19:09:24.180" v="1388"/>
        <pc:sldMkLst>
          <pc:docMk/>
          <pc:sldMk cId="2992487353" sldId="1166"/>
        </pc:sldMkLst>
      </pc:sldChg>
      <pc:sldChg chg="add del">
        <pc:chgData name="Shapiro, Vladimir" userId="487b986e-9dea-4ba8-b33e-8d9a67ec1e6d" providerId="ADAL" clId="{AD5DA62A-DE80-4B28-A03D-42D81E3BD365}" dt="2026-10-17T19:09:46.650" v="1390"/>
        <pc:sldMkLst>
          <pc:docMk/>
          <pc:sldMk cId="1081341353" sldId="1167"/>
        </pc:sldMkLst>
      </pc:sldChg>
      <pc:sldChg chg="add del">
        <pc:chgData name="Shapiro, Vladimir" userId="487b986e-9dea-4ba8-b33e-8d9a67ec1e6d" providerId="ADAL" clId="{AD5DA62A-DE80-4B28-A03D-42D81E3BD365}" dt="2026-10-17T19:12:08.886" v="1394"/>
        <pc:sldMkLst>
          <pc:docMk/>
          <pc:sldMk cId="1424438840" sldId="1168"/>
        </pc:sldMkLst>
      </pc:sldChg>
      <pc:sldChg chg="add del">
        <pc:chgData name="Shapiro, Vladimir" userId="487b986e-9dea-4ba8-b33e-8d9a67ec1e6d" providerId="ADAL" clId="{AD5DA62A-DE80-4B28-A03D-42D81E3BD365}" dt="2026-10-17T19:12:27.689" v="1396"/>
        <pc:sldMkLst>
          <pc:docMk/>
          <pc:sldMk cId="2859931720" sldId="1169"/>
        </pc:sldMkLst>
      </pc:sldChg>
      <pc:sldChg chg="add">
        <pc:chgData name="Shapiro, Vladimir" userId="487b986e-9dea-4ba8-b33e-8d9a67ec1e6d" providerId="ADAL" clId="{AD5DA62A-DE80-4B28-A03D-42D81E3BD365}" dt="2026-10-17T19:12:08.807" v="1393"/>
        <pc:sldMkLst>
          <pc:docMk/>
          <pc:sldMk cId="1733565820" sldId="1170"/>
        </pc:sldMkLst>
      </pc:sldChg>
      <pc:sldChg chg="add">
        <pc:chgData name="Shapiro, Vladimir" userId="487b986e-9dea-4ba8-b33e-8d9a67ec1e6d" providerId="ADAL" clId="{AD5DA62A-DE80-4B28-A03D-42D81E3BD365}" dt="2026-10-17T19:12:27.617" v="1395"/>
        <pc:sldMkLst>
          <pc:docMk/>
          <pc:sldMk cId="2254775038" sldId="11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20C3D-B18F-408C-AB7E-3E8327050663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A81ED-B271-4688-BA18-CA7E4726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95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DE9AC-4BE4-4D3A-A0A7-E4076EE786F7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3AF66-ACA7-4F65-9AFB-6946E0F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4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23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. 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44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1DDE-2378-FF3D-43AF-E97C1D7A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C4668-A1FA-EDE3-A9A5-61477B431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66FCE-CF9E-FA3E-8468-37C731279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016F0-81E9-3EFF-35E2-620F7C70C1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9EF39-E171-ABF9-DFF5-E90091562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34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3EEA0-254F-6982-C086-6FA621C6C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C37A6-269F-8CA5-EE29-6524DEADF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E1C6D-7605-864C-1234-6725FFEB0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88A5C-69F2-5539-8C65-904FD7F95D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687A9-B23E-623D-DC2F-0B6AE0EB3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49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2398-F3A0-02F2-D02C-9BE24C6F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EE2E8-5D91-58A9-8AE6-9AFEB9F2A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36FDE-F65E-6510-B081-CA769D2FE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95029-24CE-D8FF-34DE-D6B1A3373E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4D0AE-6B50-0BB7-640F-D7378CDD2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20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C861-69B1-BE44-0953-E639BDAE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8B4F7-2E95-017A-E84A-34730F232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D0B86-698C-6473-94B8-55CC1F5D2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912B1-61B9-04C4-2F3E-B8720EEDABF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04715-8346-13B8-F9BE-80CE3C1F1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01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4627-5597-8D35-93C8-889C2709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CB312-C436-C2A2-08F9-460984BD8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17C13-75B9-978E-F8B3-01BDA19BC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30788-08D0-99D7-C813-65C2A5CE24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B66E7-373C-F343-8454-C28273527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98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AA2B4-1DBB-39BF-C22C-38DC2E9E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D2F71-FE21-03DA-5538-2D99EEC9A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E1C7E-4981-66DC-7272-DA3686CCF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C48EC-1E4C-0C4A-083A-80DEE4A857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4062F-EE11-E2C6-219B-608156E89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58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AI  </a:t>
            </a:r>
            <a:r>
              <a:rPr lang="en-US" dirty="0" err="1"/>
              <a:t>breakthroughts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25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33B8-EDF3-8D6D-66F5-C05EBD5D7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31B8C-B65C-CEC4-4EF8-C24F15C14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AE440-7562-595D-9477-ADAE55BDF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0B338-1ED1-0B51-8727-1E0667FE13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82D87-DA53-3891-C866-6EF27EE22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45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D599-610E-D058-5F3D-0CD09621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E7BD2-515F-5DA1-B056-CE477C82D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CED13-2477-4C1C-0A21-229E129EA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03B1E-EC89-C4B0-67EB-B7AFE0AB68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D8D93-CA29-2F56-8530-22D5CE899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00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63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4B663-207A-3759-3386-487CF8E9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BA458-1068-8C10-C27D-B83551A41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F6445-030E-DEA1-601D-B70A8583C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A2CD1-088D-BD24-5C46-D73F2C1342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75E68-B14E-2665-DE6A-A2A1F7D64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55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04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0264-AC8D-7955-7D14-2C040BA9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D1AC0-ED22-06D1-E997-98C9779DA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DE170-7986-2F39-F6D5-16DA4B447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019CB-3D46-E09E-C430-57C5ADD241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F67FD-D874-4280-6CEF-5A1D636FF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07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BA32-A0D4-BA42-4543-96886D804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E7325-EF6C-1CE6-34E9-57F7D8CEA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D757B-E030-B703-7044-745B1579D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F1594-CA73-AE17-785D-4A3AD09A17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6B6E0-08F6-10B0-CB0A-35F911EE8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30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4B72A-E6A0-E28F-5D73-FE22CCFD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B8274-2DB0-53EC-9016-55D1EF8F5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F7A2A-6653-3EC2-277F-7449BC3F6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CF258-B29D-0424-C9EB-F50707A04F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8C824-21B9-BFCB-40BC-EE78556DB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58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3BAC-F5AC-BBBC-AF9D-48BD1D05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83EAB-0726-7206-8764-C497DB953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837E3-AFAA-9D39-66C9-3A594A0A7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14FDD-460F-E5C1-AF90-D778ED8B8B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6FB6A-01B2-9B8C-234A-E4D051CB4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99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1E07-49A4-927B-E279-ACBDCFEEB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83C83-DE9A-CB74-61EC-08914FB20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BA521-A5C3-CEC3-9E5A-A8442C440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C03A3-D74C-EB06-759E-B5CF1350A2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89D64-3F43-644A-4E27-0C155AA04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97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277F-76EA-AA58-E73A-6B8B58CA1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21D13-31DE-D559-42BE-E4755310F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C4AC8-BF3E-DA0E-3FA8-CF57C84D1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nine tasks that test basic language understanding, such as sentiment, paraphrase and inference.</a:t>
            </a:r>
          </a:p>
          <a:p>
            <a:pPr lvl="0"/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SQuAD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1.1: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reading-comprehension test where the model finds the answer to a question inside a Wikipedia passage.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MMLU: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about 16,000 multiple-choice questions across 57 school and professional subjects, from math to law to medicine.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GPQA Diamond: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198 PhD-level science questions in biology, chemistry and physics, written so that a web search won't find the answer.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AIME 2025: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30 problems from the 2025 American Invitational Mathematics Examination, a competition for top high-school students where each answer is a whole number from 0 to 999.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E5C39-D09F-47FA-9DAC-1B7231DB79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75925-CB5A-10CF-6075-1A7C98363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0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https://www.analyticsvidhya.com/blog/2019/06/understanding-transformers-nlp-state-of-the-art-models/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747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5E6E-316C-D60A-18F4-3FFFC934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F9081-1A3F-A872-F562-40A116D5B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A058B-2E43-8700-BEA4-0B5494C47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150C4-7C52-2F1E-7EE6-DCB78ADC11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58D02-11CE-8DA0-EFE3-D4D18DF3C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07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12B79-AE88-2794-9686-6C648E449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F20CD-CFD6-6039-DF15-80B6655C9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A8DAA-3832-0ECB-6548-BD1BF6667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4DB76-F87D-CBEE-F955-867CDBD22A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633FA-DA49-9397-5257-15CFB7675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959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8A88-DD61-F199-E8A7-1D4245C7F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0178C-5B2C-51AB-85D1-A5480915F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7337A-2CDA-401C-13B8-11919CA7D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B519B-1C99-40A6-C985-BDEAE93ADC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56F69-F20E-8CD8-311A-8B88FA48E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91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A5AFF-CE17-2B3E-252C-1F7B85CC8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D4E31-BEBD-AB99-AEBD-811E0AD2D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E511F-E2C8-4428-19A9-DB67E1608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18428-939A-1DC0-D2CE-DD9FD74579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B14A5-32F8-5269-4AFF-73EAD65F2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429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D6587-2488-BB75-DA62-0660EF0B7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4F83E-D008-EB12-B541-0937CE8EE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A7AF5-68CB-471A-F8A0-B2539F7EC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4D3F2-9FEB-91E8-CDED-30ACC707E3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DAE4B-F475-E3CC-D89F-98E43DF15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623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99754-DF19-B745-1769-C5F38C85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6E682-35EE-F120-6C3A-6B576630E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AA081-3395-64FC-3B5F-58626525F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FD6FA-1370-B3AB-FB7F-4DE4745738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89876-6075-078E-CD75-6BC02E6AA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20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3260-4472-8A1B-3A50-11CEFD124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7F638-18E0-E2CC-66BB-2FC20797C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0C5CD-51D8-62D5-90A1-7BAF5574A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655C1-A8FB-A962-BC38-37A3D6C068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930E9-44C9-9300-B614-F21E3B9A0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340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30678-3E6D-8DE7-9532-1D4C1E3C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B900F-19DA-F144-614C-407F435E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A5E35-5D08-D151-872D-A06C81354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313E9-2330-AD8A-3C5F-DBEE8208FF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B41F2-F274-637E-93BC-D8BCE91AD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16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F903-F5D5-D5E1-EA49-8B006D32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2F69C-2310-1DD4-C84C-170BCFA7F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A4224-7A4A-7365-5DB4-998291A57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60A4A-9E31-F652-DB1A-4EE4DEB46C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4FEE2-E006-72DB-B747-BA0762BF8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709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6697D-15B3-4956-C68B-71305727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8B3A4-DDE1-A392-F9FF-08C45E1B5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39D28-0003-A91F-A94F-F249E838B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2548C-CFD6-39D7-909E-9F4D26D392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F745B-9C73-AC46-1FA3-89CC0600B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133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ED166-A870-5436-8893-30B6EBAD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0144B-F0A5-BC85-E8EA-881FFFE1E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10A09-4ECB-155F-14B0-1FD1738F9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8CAB3-D81E-6B34-BA80-78B2613963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7056E-2ED2-B28F-A59B-13246F398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831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61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103632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80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>
                <a:latin typeface="+mn-lt"/>
              </a:defRPr>
            </a:lvl1pPr>
            <a:lvl2pPr>
              <a:defRPr sz="1800">
                <a:latin typeface="+mn-lt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64DE79-268F-4C1A-8933-263129D2AF90}" type="datetimeFigureOut"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F1C229D-64BF-A8B7-9727-11D23A2A8E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F1C229D-64BF-A8B7-9727-11D23A2A8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944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F1C229D-64BF-A8B7-9727-11D23A2A8E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F1C229D-64BF-A8B7-9727-11D23A2A8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404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1277600" cy="2852737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1277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69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1277600" cy="2852737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1277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425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486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25"/>
            <a:ext cx="5486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52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1277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1163"/>
            <a:ext cx="5486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05075"/>
            <a:ext cx="54864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681163"/>
            <a:ext cx="5486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05075"/>
            <a:ext cx="54864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097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72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016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292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5257800" cy="1600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0" y="987425"/>
            <a:ext cx="5791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52578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4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5257800" cy="1600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600" y="987425"/>
            <a:ext cx="5791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52578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55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489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365125"/>
            <a:ext cx="27432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65125"/>
            <a:ext cx="83820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66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3"/>
          <p:cNvSpPr/>
          <p:nvPr/>
        </p:nvSpPr>
        <p:spPr>
          <a:xfrm>
            <a:off x="0" y="-1"/>
            <a:ext cx="12192000" cy="365762"/>
          </a:xfrm>
          <a:prstGeom prst="rect">
            <a:avLst/>
          </a:prstGeom>
          <a:solidFill>
            <a:srgbClr val="8D8787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65457"/>
            <a:ext cx="11277600" cy="5292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5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5E2AFD1-71DA-B7E7-169D-75C1475315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</p:nvPr>
        </p:nvGraphicFramePr>
        <p:xfrm>
          <a:off x="2384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47" imgH="348" progId="TCLayout.ActiveDocument.1">
                  <p:embed/>
                </p:oleObj>
              </mc:Choice>
              <mc:Fallback>
                <p:oleObj name="think-cell Slide" r:id="rId17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5E2AFD1-71DA-B7E7-169D-75C1475315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84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7979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CB2026"/>
          </a:solidFill>
          <a:latin typeface="Baskerville SemiBold" charset="0"/>
          <a:ea typeface="Baskerville SemiBold" charset="0"/>
          <a:cs typeface="Baskerville SemiBold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None/>
        <a:tabLst/>
        <a:defRPr sz="20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20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8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f5bqPOkOJs4?feature=oembe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aWFllV6WsAs?feature=oembed" TargetMode="Externa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my5wFNQpFO0?start=2&amp;feature=oembed" TargetMode="External"/><Relationship Id="rId4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player.vimeo.com/video/413175823?app_id=122963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oloclub.github.io/transformer-explainer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ydMbcVLDeLE?feature=oembed" TargetMode="External"/><Relationship Id="rId4" Type="http://schemas.openxmlformats.org/officeDocument/2006/relationships/image" Target="../media/image18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share/ede9a4e6-f6ca-4201-8d44-c101442655da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Yf1o0TQzry8?start=395&amp;feature=oembed" TargetMode="External"/><Relationship Id="rId6" Type="http://schemas.openxmlformats.org/officeDocument/2006/relationships/image" Target="../media/image23.jpeg"/><Relationship Id="rId5" Type="http://schemas.openxmlformats.org/officeDocument/2006/relationships/hyperlink" Target="https://en.wikipedia.org/wiki/OpenAI" TargetMode="External"/><Relationship Id="rId4" Type="http://schemas.openxmlformats.org/officeDocument/2006/relationships/hyperlink" Target="https://en.wikipedia.org/wiki/Ilya_Sutskever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4970"/>
            <a:ext cx="11277600" cy="2852737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ALY3510 - Fall 2026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6: </a:t>
            </a:r>
            <a:br>
              <a:rPr lang="en-US" dirty="0"/>
            </a:br>
            <a:r>
              <a:rPr lang="en-US" dirty="0"/>
              <a:t>	 Natural Language Processing (NLP)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BBC64B-6683-F848-DEBD-5E9AE6BD9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CC18A-3487-4805-8621-103847D1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 descr="A wireframe of a brain&#10;&#10;AI-generated content may be incorrect.">
            <a:extLst>
              <a:ext uri="{FF2B5EF4-FFF2-40B4-BE49-F238E27FC236}">
                <a16:creationId xmlns:a16="http://schemas.microsoft.com/office/drawing/2014/main" id="{B39B9A75-B8ED-DB47-7F56-EFA9ABE442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6"/>
          <a:stretch/>
        </p:blipFill>
        <p:spPr>
          <a:xfrm>
            <a:off x="8441241" y="768350"/>
            <a:ext cx="2680320" cy="258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8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3DFD5-71A9-5AE1-0348-55ABB823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6858-47C0-CB22-D0A7-01B29AA72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838214" cy="646331"/>
          </a:xfrm>
        </p:spPr>
        <p:txBody>
          <a:bodyPr>
            <a:noAutofit/>
          </a:bodyPr>
          <a:lstStyle/>
          <a:p>
            <a:r>
              <a:rPr lang="en-US" sz="3200" dirty="0"/>
              <a:t>Pre-Lecture Video (2:54) - Introduction to Natural Language Processing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D274C-FC61-0FD6-047E-700381BC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8586F4-68D2-562C-45BB-035B5CFA79F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4124325" y="3189288"/>
            <a:ext cx="8067675" cy="4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8418F-4B9B-C01A-3637-DBBC96022900}"/>
              </a:ext>
            </a:extLst>
          </p:cNvPr>
          <p:cNvSpPr txBox="1"/>
          <p:nvPr/>
        </p:nvSpPr>
        <p:spPr>
          <a:xfrm>
            <a:off x="533400" y="661177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https://www.youtube.com/watch?v=f5bqPOkOJs4</a:t>
            </a:r>
          </a:p>
        </p:txBody>
      </p:sp>
      <p:pic>
        <p:nvPicPr>
          <p:cNvPr id="3" name="Online Media 2" title="Introduction to Natural Language Processing">
            <a:hlinkClick r:id="" action="ppaction://media"/>
            <a:extLst>
              <a:ext uri="{FF2B5EF4-FFF2-40B4-BE49-F238E27FC236}">
                <a16:creationId xmlns:a16="http://schemas.microsoft.com/office/drawing/2014/main" id="{A9F34819-8292-CA18-E529-00AD174CD68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25928" y="1186716"/>
            <a:ext cx="9198429" cy="519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Pre-lecture video</a:t>
            </a:r>
          </a:p>
          <a:p>
            <a:endParaRPr lang="en-US" dirty="0"/>
          </a:p>
          <a:p>
            <a:r>
              <a:rPr lang="en-US" dirty="0"/>
              <a:t>Lecture SECTIONS: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Embeddings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Sequence Models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Machine Translation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Transformers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NLP in the Real World</a:t>
            </a:r>
          </a:p>
          <a:p>
            <a:endParaRPr lang="en-US" dirty="0"/>
          </a:p>
          <a:p>
            <a:r>
              <a:rPr lang="en-US" dirty="0"/>
              <a:t>In-class discussion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3763E-048D-4786-B5D9-61C7C10D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EF4C0E-91FA-4D94-8941-E22F3A83D5F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7" name="Picture 6" descr="A wireframe of a brain&#10;&#10;AI-generated content may be incorrect.">
            <a:extLst>
              <a:ext uri="{FF2B5EF4-FFF2-40B4-BE49-F238E27FC236}">
                <a16:creationId xmlns:a16="http://schemas.microsoft.com/office/drawing/2014/main" id="{7D8B7C62-1320-382B-665C-ED055D5CD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6"/>
          <a:stretch/>
        </p:blipFill>
        <p:spPr>
          <a:xfrm>
            <a:off x="8722497" y="2041071"/>
            <a:ext cx="2693494" cy="259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1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What is NLP &amp; 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B6C9-F977-47F9-A532-97FA6661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521" y="1384179"/>
            <a:ext cx="11277600" cy="5292725"/>
          </a:xfrm>
        </p:spPr>
        <p:txBody>
          <a:bodyPr>
            <a:normAutofit/>
          </a:bodyPr>
          <a:lstStyle/>
          <a:p>
            <a:r>
              <a:rPr lang="en-US" dirty="0"/>
              <a:t>A branch of AI that enables computers to understand, interpret, and generate human language.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C88EF-54DF-418F-A4FB-CBB3DD02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0420B5-8D7A-9E57-BDBA-255C8F83D2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11315"/>
          <a:stretch>
            <a:fillRect/>
          </a:stretch>
        </p:blipFill>
        <p:spPr>
          <a:xfrm>
            <a:off x="3111578" y="1800520"/>
            <a:ext cx="2797210" cy="2188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8C38D2-8EEB-4B2C-73D4-D0D5DCC8E1CC}"/>
              </a:ext>
            </a:extLst>
          </p:cNvPr>
          <p:cNvSpPr txBox="1"/>
          <p:nvPr/>
        </p:nvSpPr>
        <p:spPr>
          <a:xfrm>
            <a:off x="6208853" y="6676904"/>
            <a:ext cx="45771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</a:rPr>
              <a:t>https://www.geeksforgeeks.org/nlp/introduction-to-natural-language-processing</a:t>
            </a:r>
            <a:r>
              <a:rPr lang="en-US" sz="1000"/>
              <a:t>/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7D19417-4AB2-DF1C-82C4-E87F4F39E08D}"/>
              </a:ext>
            </a:extLst>
          </p:cNvPr>
          <p:cNvGrpSpPr/>
          <p:nvPr/>
        </p:nvGrpSpPr>
        <p:grpSpPr>
          <a:xfrm>
            <a:off x="408044" y="4211637"/>
            <a:ext cx="11450178" cy="2517866"/>
            <a:chOff x="640080" y="1737360"/>
            <a:chExt cx="10881360" cy="3108960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B9EF3033-E25E-3D71-C0B2-2524529A5F45}"/>
                </a:ext>
              </a:extLst>
            </p:cNvPr>
            <p:cNvSpPr/>
            <p:nvPr/>
          </p:nvSpPr>
          <p:spPr>
            <a:xfrm>
              <a:off x="640080" y="17373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6CB30169-86B1-6F54-8315-71D1BEF4422B}"/>
                </a:ext>
              </a:extLst>
            </p:cNvPr>
            <p:cNvSpPr txBox="1"/>
            <p:nvPr/>
          </p:nvSpPr>
          <p:spPr>
            <a:xfrm>
              <a:off x="868680" y="18745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Natural communication</a:t>
              </a:r>
              <a:endParaRPr lang="en-US" dirty="0"/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A8323E25-A522-2161-9D35-838BF5F220D5}"/>
                </a:ext>
              </a:extLst>
            </p:cNvPr>
            <p:cNvSpPr txBox="1"/>
            <p:nvPr/>
          </p:nvSpPr>
          <p:spPr>
            <a:xfrm>
              <a:off x="868680" y="2377440"/>
              <a:ext cx="32461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Interact with computers using language, not code</a:t>
              </a:r>
              <a:endParaRPr lang="en-US" dirty="0"/>
            </a:p>
          </p:txBody>
        </p:sp>
        <p:sp>
          <p:nvSpPr>
            <p:cNvPr id="15" name="Shape 5">
              <a:extLst>
                <a:ext uri="{FF2B5EF4-FFF2-40B4-BE49-F238E27FC236}">
                  <a16:creationId xmlns:a16="http://schemas.microsoft.com/office/drawing/2014/main" id="{5D037943-912D-966E-C916-1B1AEC07E3FA}"/>
                </a:ext>
              </a:extLst>
            </p:cNvPr>
            <p:cNvSpPr/>
            <p:nvPr/>
          </p:nvSpPr>
          <p:spPr>
            <a:xfrm>
              <a:off x="4224528" y="17373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AEF1376A-C12B-0FED-DF67-E4B94A4AE975}"/>
                </a:ext>
              </a:extLst>
            </p:cNvPr>
            <p:cNvSpPr txBox="1"/>
            <p:nvPr/>
          </p:nvSpPr>
          <p:spPr>
            <a:xfrm>
              <a:off x="4453128" y="18745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Knowledge access</a:t>
              </a:r>
              <a:endParaRPr lang="en-US" dirty="0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E9D82FF1-D6F8-5B86-06DD-8E9702BA547E}"/>
                </a:ext>
              </a:extLst>
            </p:cNvPr>
            <p:cNvSpPr txBox="1"/>
            <p:nvPr/>
          </p:nvSpPr>
          <p:spPr>
            <a:xfrm>
              <a:off x="4453128" y="2377440"/>
              <a:ext cx="32461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Unlock meaning from books, web, documents</a:t>
              </a:r>
              <a:endParaRPr lang="en-US" dirty="0"/>
            </a:p>
          </p:txBody>
        </p:sp>
        <p:sp>
          <p:nvSpPr>
            <p:cNvPr id="18" name="Shape 8">
              <a:extLst>
                <a:ext uri="{FF2B5EF4-FFF2-40B4-BE49-F238E27FC236}">
                  <a16:creationId xmlns:a16="http://schemas.microsoft.com/office/drawing/2014/main" id="{ADD860F8-0227-EDFA-3C8B-92313D151F1E}"/>
                </a:ext>
              </a:extLst>
            </p:cNvPr>
            <p:cNvSpPr/>
            <p:nvPr/>
          </p:nvSpPr>
          <p:spPr>
            <a:xfrm>
              <a:off x="7808976" y="17373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44A413EF-F8E3-EB4D-006E-F0938AB6A9F0}"/>
                </a:ext>
              </a:extLst>
            </p:cNvPr>
            <p:cNvSpPr txBox="1"/>
            <p:nvPr/>
          </p:nvSpPr>
          <p:spPr>
            <a:xfrm>
              <a:off x="8037576" y="18745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Scale &amp; speed</a:t>
              </a:r>
              <a:endParaRPr lang="en-US" dirty="0"/>
            </a:p>
          </p:txBody>
        </p:sp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C81051AB-DFCD-EF3E-0126-5280B69D6083}"/>
                </a:ext>
              </a:extLst>
            </p:cNvPr>
            <p:cNvSpPr txBox="1"/>
            <p:nvPr/>
          </p:nvSpPr>
          <p:spPr>
            <a:xfrm>
              <a:off x="8037576" y="2377440"/>
              <a:ext cx="32461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 millions of documents in seconds</a:t>
              </a:r>
              <a:endParaRPr lang="en-US" dirty="0"/>
            </a:p>
          </p:txBody>
        </p:sp>
        <p:sp>
          <p:nvSpPr>
            <p:cNvPr id="21" name="Shape 11">
              <a:extLst>
                <a:ext uri="{FF2B5EF4-FFF2-40B4-BE49-F238E27FC236}">
                  <a16:creationId xmlns:a16="http://schemas.microsoft.com/office/drawing/2014/main" id="{D2C871CE-DB5B-9EC3-4EC5-E01C6C807107}"/>
                </a:ext>
              </a:extLst>
            </p:cNvPr>
            <p:cNvSpPr/>
            <p:nvPr/>
          </p:nvSpPr>
          <p:spPr>
            <a:xfrm>
              <a:off x="640080" y="3977640"/>
              <a:ext cx="10881360" cy="868680"/>
            </a:xfrm>
            <a:prstGeom prst="roundRect">
              <a:avLst>
                <a:gd name="adj" fmla="val 8421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547D5AEE-0766-D542-834D-4CFCAF69563D}"/>
                </a:ext>
              </a:extLst>
            </p:cNvPr>
            <p:cNvSpPr txBox="1"/>
            <p:nvPr/>
          </p:nvSpPr>
          <p:spPr>
            <a:xfrm>
              <a:off x="914400" y="4023360"/>
              <a:ext cx="103327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NLP has evolved from rule-based systems to neural models that understand context and generate human-like text.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71856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E9D57-9A26-231E-444B-FC337AA22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57E8-35EC-3453-CC8B-8835B631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Modern NLP Applications &amp;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D0BB2-DD76-A84A-567D-2899E3293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2442"/>
            <a:ext cx="11694573" cy="52927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Modern NLP learns contextual understanding from massive text corpora — approaching human-like interpretation.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Takeaway:  NLP has evolved from rule-based systems to powerful neural models that understand context and generate human-like 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3D618-20B1-AF4B-0C5A-736B75BD1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DA676F3-3FE1-0C65-7E8C-B4F6C05A5194}"/>
              </a:ext>
            </a:extLst>
          </p:cNvPr>
          <p:cNvGrpSpPr/>
          <p:nvPr/>
        </p:nvGrpSpPr>
        <p:grpSpPr>
          <a:xfrm>
            <a:off x="514756" y="2385330"/>
            <a:ext cx="11520976" cy="3108960"/>
            <a:chOff x="640080" y="1554480"/>
            <a:chExt cx="10908792" cy="3108960"/>
          </a:xfrm>
        </p:grpSpPr>
        <p:sp>
          <p:nvSpPr>
            <p:cNvPr id="44" name="Shape 1">
              <a:extLst>
                <a:ext uri="{FF2B5EF4-FFF2-40B4-BE49-F238E27FC236}">
                  <a16:creationId xmlns:a16="http://schemas.microsoft.com/office/drawing/2014/main" id="{ECBE0F52-87B1-B9DA-D86F-3C9B145934DF}"/>
                </a:ext>
              </a:extLst>
            </p:cNvPr>
            <p:cNvSpPr/>
            <p:nvPr/>
          </p:nvSpPr>
          <p:spPr>
            <a:xfrm>
              <a:off x="640080" y="1554480"/>
              <a:ext cx="5193792" cy="3108960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5" name="Shape 2">
              <a:extLst>
                <a:ext uri="{FF2B5EF4-FFF2-40B4-BE49-F238E27FC236}">
                  <a16:creationId xmlns:a16="http://schemas.microsoft.com/office/drawing/2014/main" id="{2BDB8A0F-A9F3-D181-D79E-AF27306B2479}"/>
                </a:ext>
              </a:extLst>
            </p:cNvPr>
            <p:cNvSpPr/>
            <p:nvPr/>
          </p:nvSpPr>
          <p:spPr>
            <a:xfrm>
              <a:off x="640080" y="155448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Text 3">
              <a:extLst>
                <a:ext uri="{FF2B5EF4-FFF2-40B4-BE49-F238E27FC236}">
                  <a16:creationId xmlns:a16="http://schemas.microsoft.com/office/drawing/2014/main" id="{9D371924-0EA9-BF55-5703-EB021DD9BA5F}"/>
                </a:ext>
              </a:extLst>
            </p:cNvPr>
            <p:cNvSpPr txBox="1"/>
            <p:nvPr/>
          </p:nvSpPr>
          <p:spPr>
            <a:xfrm>
              <a:off x="822960" y="155448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Applications you use daily</a:t>
              </a:r>
              <a:endParaRPr lang="en-US" sz="2400" dirty="0"/>
            </a:p>
          </p:txBody>
        </p:sp>
        <p:sp>
          <p:nvSpPr>
            <p:cNvPr id="47" name="Text 4">
              <a:extLst>
                <a:ext uri="{FF2B5EF4-FFF2-40B4-BE49-F238E27FC236}">
                  <a16:creationId xmlns:a16="http://schemas.microsoft.com/office/drawing/2014/main" id="{E4D41AE2-EDC3-835F-FA1B-486CDA3211E2}"/>
                </a:ext>
              </a:extLst>
            </p:cNvPr>
            <p:cNvSpPr txBox="1"/>
            <p:nvPr/>
          </p:nvSpPr>
          <p:spPr>
            <a:xfrm>
              <a:off x="960120" y="2468880"/>
              <a:ext cx="4752212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Conversational AI — ChatGPT, Claude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Translation — Google Translate, DeepL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Voice assistants — Siri, Alexa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Search, recommendations, content generation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 assistants — Copilot, Cursor</a:t>
              </a:r>
              <a:endParaRPr lang="en-US" sz="2000" dirty="0"/>
            </a:p>
          </p:txBody>
        </p:sp>
        <p:sp>
          <p:nvSpPr>
            <p:cNvPr id="48" name="Shape 5">
              <a:extLst>
                <a:ext uri="{FF2B5EF4-FFF2-40B4-BE49-F238E27FC236}">
                  <a16:creationId xmlns:a16="http://schemas.microsoft.com/office/drawing/2014/main" id="{F19D2CE0-42E4-D1D6-05B5-076DE2DD9480}"/>
                </a:ext>
              </a:extLst>
            </p:cNvPr>
            <p:cNvSpPr/>
            <p:nvPr/>
          </p:nvSpPr>
          <p:spPr>
            <a:xfrm>
              <a:off x="6355080" y="1554480"/>
              <a:ext cx="5193792" cy="3108960"/>
            </a:xfrm>
            <a:prstGeom prst="roundRect">
              <a:avLst>
                <a:gd name="adj" fmla="val 294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9" name="Shape 6">
              <a:extLst>
                <a:ext uri="{FF2B5EF4-FFF2-40B4-BE49-F238E27FC236}">
                  <a16:creationId xmlns:a16="http://schemas.microsoft.com/office/drawing/2014/main" id="{3FDAB39D-E68A-0515-66BC-507C22F1646F}"/>
                </a:ext>
              </a:extLst>
            </p:cNvPr>
            <p:cNvSpPr/>
            <p:nvPr/>
          </p:nvSpPr>
          <p:spPr>
            <a:xfrm>
              <a:off x="6355080" y="155448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09270340-6CA4-EA80-4A59-7CA60F8D0AE7}"/>
                </a:ext>
              </a:extLst>
            </p:cNvPr>
            <p:cNvSpPr txBox="1"/>
            <p:nvPr/>
          </p:nvSpPr>
          <p:spPr>
            <a:xfrm>
              <a:off x="6537960" y="155448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 NLP tasks</a:t>
              </a:r>
              <a:endParaRPr lang="en-US" sz="24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B63F54B3-E1C3-D3EA-5274-2EBA1DC00E90}"/>
                </a:ext>
              </a:extLst>
            </p:cNvPr>
            <p:cNvSpPr txBox="1"/>
            <p:nvPr/>
          </p:nvSpPr>
          <p:spPr>
            <a:xfrm>
              <a:off x="6675120" y="2468880"/>
              <a:ext cx="4599432" cy="2057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Speech recognition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 translation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Question answering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Sentiment &amp; text analysis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Summarization &amp; information extraction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6857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2D94-077C-FD6B-3A6C-F4C9FD88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D441-413D-D837-2C72-D46D30691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NLP Pipeline: From Text to Understanding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ECCCE-D6DE-5E34-F505-1ADC3976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10A1156-BA3B-E442-38C0-2D3D3F3C5239}"/>
              </a:ext>
            </a:extLst>
          </p:cNvPr>
          <p:cNvGrpSpPr/>
          <p:nvPr/>
        </p:nvGrpSpPr>
        <p:grpSpPr>
          <a:xfrm>
            <a:off x="320040" y="1914509"/>
            <a:ext cx="11414760" cy="3754771"/>
            <a:chOff x="320040" y="1914509"/>
            <a:chExt cx="11201400" cy="3754771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BD8EE1ED-C25B-A45B-A977-B8F8B528656C}"/>
                </a:ext>
              </a:extLst>
            </p:cNvPr>
            <p:cNvSpPr/>
            <p:nvPr/>
          </p:nvSpPr>
          <p:spPr>
            <a:xfrm>
              <a:off x="320040" y="1920240"/>
              <a:ext cx="1783080" cy="1188720"/>
            </a:xfrm>
            <a:prstGeom prst="roundRect">
              <a:avLst>
                <a:gd name="adj" fmla="val 6154"/>
              </a:avLst>
            </a:prstGeom>
            <a:solidFill>
              <a:srgbClr val="5F5F5F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695DAD7E-E06F-AD2E-D711-C4F92D241736}"/>
                </a:ext>
              </a:extLst>
            </p:cNvPr>
            <p:cNvSpPr txBox="1"/>
            <p:nvPr/>
          </p:nvSpPr>
          <p:spPr>
            <a:xfrm>
              <a:off x="320040" y="1920240"/>
              <a:ext cx="178308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text</a:t>
              </a:r>
              <a:endParaRPr lang="en-US" b="1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messy input</a:t>
              </a:r>
              <a:endParaRPr lang="en-US" dirty="0"/>
            </a:p>
          </p:txBody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86A6036A-5291-A1AF-60F9-B24C0A97D110}"/>
                </a:ext>
              </a:extLst>
            </p:cNvPr>
            <p:cNvSpPr/>
            <p:nvPr/>
          </p:nvSpPr>
          <p:spPr>
            <a:xfrm>
              <a:off x="2103120" y="2514600"/>
              <a:ext cx="54864" cy="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F20444A0-5BD0-9EF4-C6F5-A9EF6C678F2A}"/>
                </a:ext>
              </a:extLst>
            </p:cNvPr>
            <p:cNvSpPr/>
            <p:nvPr/>
          </p:nvSpPr>
          <p:spPr>
            <a:xfrm>
              <a:off x="2157984" y="1920240"/>
              <a:ext cx="1783080" cy="1188720"/>
            </a:xfrm>
            <a:prstGeom prst="roundRect">
              <a:avLst>
                <a:gd name="adj" fmla="val 6154"/>
              </a:avLst>
            </a:prstGeom>
            <a:solidFill>
              <a:srgbClr val="2F3C7E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CF1A2851-071C-BCAC-C2A5-13A1DCD4CFF0}"/>
                </a:ext>
              </a:extLst>
            </p:cNvPr>
            <p:cNvSpPr txBox="1"/>
            <p:nvPr/>
          </p:nvSpPr>
          <p:spPr>
            <a:xfrm>
              <a:off x="2157984" y="1920240"/>
              <a:ext cx="178308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Preprocess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clean &amp; normalize</a:t>
              </a:r>
              <a:endParaRPr lang="en-US" dirty="0"/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4EE46FA4-60A3-165A-44AA-FE6AFAF23612}"/>
                </a:ext>
              </a:extLst>
            </p:cNvPr>
            <p:cNvSpPr/>
            <p:nvPr/>
          </p:nvSpPr>
          <p:spPr>
            <a:xfrm>
              <a:off x="3941064" y="2514600"/>
              <a:ext cx="54864" cy="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910F4B79-0F24-BB6D-E1D4-0CA1C1F1D5AA}"/>
                </a:ext>
              </a:extLst>
            </p:cNvPr>
            <p:cNvSpPr/>
            <p:nvPr/>
          </p:nvSpPr>
          <p:spPr>
            <a:xfrm>
              <a:off x="3995928" y="1920240"/>
              <a:ext cx="1783080" cy="1188720"/>
            </a:xfrm>
            <a:prstGeom prst="roundRect">
              <a:avLst>
                <a:gd name="adj" fmla="val 6154"/>
              </a:avLst>
            </a:prstGeom>
            <a:solidFill>
              <a:srgbClr val="C8102E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03665B55-9F1A-B9C5-0D77-768A61275981}"/>
                </a:ext>
              </a:extLst>
            </p:cNvPr>
            <p:cNvSpPr txBox="1"/>
            <p:nvPr/>
          </p:nvSpPr>
          <p:spPr>
            <a:xfrm>
              <a:off x="3995928" y="1920240"/>
              <a:ext cx="178308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Tokenize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split into tokens</a:t>
              </a:r>
              <a:endParaRPr lang="en-US" dirty="0"/>
            </a:p>
          </p:txBody>
        </p:sp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D9C27B59-0D34-CE07-BA8E-D7D48D5CBF25}"/>
                </a:ext>
              </a:extLst>
            </p:cNvPr>
            <p:cNvSpPr/>
            <p:nvPr/>
          </p:nvSpPr>
          <p:spPr>
            <a:xfrm>
              <a:off x="5779008" y="2514600"/>
              <a:ext cx="54864" cy="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31E2FF0E-EF6A-A774-ABF5-20F23569B0E5}"/>
                </a:ext>
              </a:extLst>
            </p:cNvPr>
            <p:cNvSpPr/>
            <p:nvPr/>
          </p:nvSpPr>
          <p:spPr>
            <a:xfrm>
              <a:off x="5833872" y="1920240"/>
              <a:ext cx="1783080" cy="1188720"/>
            </a:xfrm>
            <a:prstGeom prst="roundRect">
              <a:avLst>
                <a:gd name="adj" fmla="val 6154"/>
              </a:avLst>
            </a:prstGeom>
            <a:solidFill>
              <a:srgbClr val="2C5F2D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71BD649D-9519-DFF8-6040-A3EC340BB1B9}"/>
                </a:ext>
              </a:extLst>
            </p:cNvPr>
            <p:cNvSpPr txBox="1"/>
            <p:nvPr/>
          </p:nvSpPr>
          <p:spPr>
            <a:xfrm>
              <a:off x="5833872" y="1920240"/>
              <a:ext cx="178308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tokens → vectors</a:t>
              </a:r>
              <a:endParaRPr lang="en-US" dirty="0"/>
            </a:p>
          </p:txBody>
        </p:sp>
        <p:sp>
          <p:nvSpPr>
            <p:cNvPr id="22" name="Shape 12">
              <a:extLst>
                <a:ext uri="{FF2B5EF4-FFF2-40B4-BE49-F238E27FC236}">
                  <a16:creationId xmlns:a16="http://schemas.microsoft.com/office/drawing/2014/main" id="{98B534AF-F4F6-8EF2-3345-233997632184}"/>
                </a:ext>
              </a:extLst>
            </p:cNvPr>
            <p:cNvSpPr/>
            <p:nvPr/>
          </p:nvSpPr>
          <p:spPr>
            <a:xfrm>
              <a:off x="7616952" y="2514600"/>
              <a:ext cx="54864" cy="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6014C70C-D1C6-116C-49ED-C390E5110E75}"/>
                </a:ext>
              </a:extLst>
            </p:cNvPr>
            <p:cNvSpPr/>
            <p:nvPr/>
          </p:nvSpPr>
          <p:spPr>
            <a:xfrm>
              <a:off x="7671816" y="1920240"/>
              <a:ext cx="1783080" cy="1188720"/>
            </a:xfrm>
            <a:prstGeom prst="roundRect">
              <a:avLst>
                <a:gd name="adj" fmla="val 6154"/>
              </a:avLst>
            </a:prstGeom>
            <a:solidFill>
              <a:srgbClr val="B8860B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54C6D4EA-0444-2E56-7432-022C1B641D23}"/>
                </a:ext>
              </a:extLst>
            </p:cNvPr>
            <p:cNvSpPr txBox="1"/>
            <p:nvPr/>
          </p:nvSpPr>
          <p:spPr>
            <a:xfrm>
              <a:off x="7671816" y="1920240"/>
              <a:ext cx="178308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RNN/Transformer</a:t>
              </a:r>
              <a:endParaRPr lang="en-US" dirty="0"/>
            </a:p>
          </p:txBody>
        </p:sp>
        <p:sp>
          <p:nvSpPr>
            <p:cNvPr id="25" name="Shape 15">
              <a:extLst>
                <a:ext uri="{FF2B5EF4-FFF2-40B4-BE49-F238E27FC236}">
                  <a16:creationId xmlns:a16="http://schemas.microsoft.com/office/drawing/2014/main" id="{A802DEBA-6B15-4E2A-25B1-4C3B0820E2DD}"/>
                </a:ext>
              </a:extLst>
            </p:cNvPr>
            <p:cNvSpPr/>
            <p:nvPr/>
          </p:nvSpPr>
          <p:spPr>
            <a:xfrm>
              <a:off x="9454896" y="2514600"/>
              <a:ext cx="54864" cy="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3E14F21C-BEB2-0232-E543-BE3468DD8293}"/>
                </a:ext>
              </a:extLst>
            </p:cNvPr>
            <p:cNvSpPr/>
            <p:nvPr/>
          </p:nvSpPr>
          <p:spPr>
            <a:xfrm>
              <a:off x="9509760" y="1920240"/>
              <a:ext cx="1783080" cy="1188720"/>
            </a:xfrm>
            <a:prstGeom prst="roundRect">
              <a:avLst>
                <a:gd name="adj" fmla="val 6154"/>
              </a:avLst>
            </a:prstGeom>
            <a:solidFill>
              <a:srgbClr val="6D2E46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2FF3C8E2-9A5B-53BE-1ED9-27F84D08F05A}"/>
                </a:ext>
              </a:extLst>
            </p:cNvPr>
            <p:cNvSpPr txBox="1"/>
            <p:nvPr/>
          </p:nvSpPr>
          <p:spPr>
            <a:xfrm>
              <a:off x="9454896" y="1914509"/>
              <a:ext cx="1939436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Application</a:t>
              </a:r>
              <a:endParaRPr lang="en-US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answer, translate</a:t>
              </a: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…</a:t>
              </a:r>
              <a:endParaRPr lang="en-US" dirty="0"/>
            </a:p>
          </p:txBody>
        </p:sp>
        <p:sp>
          <p:nvSpPr>
            <p:cNvPr id="28" name="Shape 18">
              <a:extLst>
                <a:ext uri="{FF2B5EF4-FFF2-40B4-BE49-F238E27FC236}">
                  <a16:creationId xmlns:a16="http://schemas.microsoft.com/office/drawing/2014/main" id="{2C79B9FA-85B4-47F6-F5AC-FE9E810DA230}"/>
                </a:ext>
              </a:extLst>
            </p:cNvPr>
            <p:cNvSpPr/>
            <p:nvPr/>
          </p:nvSpPr>
          <p:spPr>
            <a:xfrm>
              <a:off x="640080" y="3749040"/>
              <a:ext cx="10881360" cy="1920240"/>
            </a:xfrm>
            <a:prstGeom prst="roundRect">
              <a:avLst>
                <a:gd name="adj" fmla="val 4762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EDE1BC33-EA61-2BCF-9DBE-89F039018646}"/>
                </a:ext>
              </a:extLst>
            </p:cNvPr>
            <p:cNvSpPr txBox="1"/>
            <p:nvPr/>
          </p:nvSpPr>
          <p:spPr>
            <a:xfrm>
              <a:off x="914400" y="384048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 — “The Cats Are Sleeping on the Couch”</a:t>
              </a:r>
              <a:endParaRPr lang="en-US" sz="2000" dirty="0"/>
            </a:p>
          </p:txBody>
        </p: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EA3030C8-424B-AFEA-533C-2DCBB98A3C45}"/>
                </a:ext>
              </a:extLst>
            </p:cNvPr>
            <p:cNvSpPr txBox="1"/>
            <p:nvPr/>
          </p:nvSpPr>
          <p:spPr>
            <a:xfrm>
              <a:off x="914400" y="4251960"/>
              <a:ext cx="1033272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600"/>
                </a:spcAft>
                <a:buSzPct val="100000"/>
                <a:buChar char="•"/>
              </a:pPr>
              <a:r>
                <a:rPr lang="en-US" sz="20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Preprocess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→ “the cats are sleeping on the couch” (lowercased; stop words kept)</a:t>
              </a:r>
              <a:endParaRPr lang="en-US" sz="2000" dirty="0"/>
            </a:p>
            <a:p>
              <a:pPr marL="203200" indent="-203200">
                <a:spcAft>
                  <a:spcPts val="600"/>
                </a:spcAft>
                <a:buSzPct val="100000"/>
                <a:buChar char="•"/>
              </a:pPr>
              <a:r>
                <a:rPr lang="en-US" sz="20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Tokenize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→ [“the”, “cats”, “are”, </a:t>
              </a: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“sleep”, “ing”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“on”, “the”, “couch”]  (1 word → 2 tokens)</a:t>
              </a:r>
              <a:endParaRPr lang="en-US" sz="2000" dirty="0"/>
            </a:p>
            <a:p>
              <a:pPr marL="203200" indent="-203200">
                <a:spcAft>
                  <a:spcPts val="600"/>
                </a:spcAft>
                <a:buSzPct val="100000"/>
                <a:buChar char="•"/>
              </a:pPr>
              <a:r>
                <a:rPr lang="en-US" sz="20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→ each token becomes a vector of numbers the model can process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54775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90E3-B2DF-9686-533E-40DFC079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59B5-7093-1929-E2DF-FA6770086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Preprocessing &amp;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D11E5-6C81-9733-A280-ADE1476B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88900" marR="88900">
              <a:lnSpc>
                <a:spcPct val="100000"/>
              </a:lnSpc>
            </a:pPr>
            <a:r>
              <a:rPr lang="en-US" dirty="0"/>
              <a:t>Lowercasing and stop-word removal are classic steps for bag-of-words and TF-IDF models. Modern LLMs skip them and use subword tokens, which handle rare and made-up words.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113D5-EAB5-5914-3F54-A376F127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E7C8B2-98B8-3E2B-0DC7-6865E2858574}"/>
              </a:ext>
            </a:extLst>
          </p:cNvPr>
          <p:cNvGrpSpPr/>
          <p:nvPr/>
        </p:nvGrpSpPr>
        <p:grpSpPr>
          <a:xfrm>
            <a:off x="640080" y="1554480"/>
            <a:ext cx="11168212" cy="3594694"/>
            <a:chOff x="640080" y="1554480"/>
            <a:chExt cx="10908792" cy="3594694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5FA724DF-353B-BA0C-DD5E-45367335410E}"/>
                </a:ext>
              </a:extLst>
            </p:cNvPr>
            <p:cNvSpPr/>
            <p:nvPr/>
          </p:nvSpPr>
          <p:spPr>
            <a:xfrm>
              <a:off x="640080" y="1554480"/>
              <a:ext cx="5193792" cy="3594694"/>
            </a:xfrm>
            <a:prstGeom prst="roundRect">
              <a:avLst>
                <a:gd name="adj" fmla="val 2778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02F2CD4C-0AD7-21DB-D6C9-1F4F5D478B5D}"/>
                </a:ext>
              </a:extLst>
            </p:cNvPr>
            <p:cNvSpPr/>
            <p:nvPr/>
          </p:nvSpPr>
          <p:spPr>
            <a:xfrm>
              <a:off x="640080" y="155448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DDF425C1-7F15-7DE5-9833-63A1D700BAA1}"/>
                </a:ext>
              </a:extLst>
            </p:cNvPr>
            <p:cNvSpPr txBox="1"/>
            <p:nvPr/>
          </p:nvSpPr>
          <p:spPr>
            <a:xfrm>
              <a:off x="822960" y="155448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Preprocessing — clean the data</a:t>
              </a:r>
              <a:endParaRPr lang="en-US" sz="2400" dirty="0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6D97110D-55FC-A36B-54C1-CA3C4B2428A4}"/>
                </a:ext>
              </a:extLst>
            </p:cNvPr>
            <p:cNvSpPr txBox="1"/>
            <p:nvPr/>
          </p:nvSpPr>
          <p:spPr>
            <a:xfrm>
              <a:off x="960120" y="2468880"/>
              <a:ext cx="4599432" cy="2240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Lowercase everything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Remove punctuation, URLs, emojis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Remove stop words (“the”, “is”, “at”)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Normalize — consistent formatting</a:t>
              </a:r>
              <a:endParaRPr lang="en-US" sz="2000" dirty="0"/>
            </a:p>
          </p:txBody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04C883C6-0BA2-0BEA-933F-E409E4D9518A}"/>
                </a:ext>
              </a:extLst>
            </p:cNvPr>
            <p:cNvSpPr/>
            <p:nvPr/>
          </p:nvSpPr>
          <p:spPr>
            <a:xfrm>
              <a:off x="6355080" y="1554480"/>
              <a:ext cx="5193792" cy="3594694"/>
            </a:xfrm>
            <a:prstGeom prst="roundRect">
              <a:avLst>
                <a:gd name="adj" fmla="val 2778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" name="Shape 6">
              <a:extLst>
                <a:ext uri="{FF2B5EF4-FFF2-40B4-BE49-F238E27FC236}">
                  <a16:creationId xmlns:a16="http://schemas.microsoft.com/office/drawing/2014/main" id="{B09B7B47-6A1B-C73E-3052-8AC2FFA3B481}"/>
                </a:ext>
              </a:extLst>
            </p:cNvPr>
            <p:cNvSpPr/>
            <p:nvPr/>
          </p:nvSpPr>
          <p:spPr>
            <a:xfrm>
              <a:off x="6355080" y="155448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E11EEFE9-8121-6586-470C-87EBE04A6E29}"/>
                </a:ext>
              </a:extLst>
            </p:cNvPr>
            <p:cNvSpPr txBox="1"/>
            <p:nvPr/>
          </p:nvSpPr>
          <p:spPr>
            <a:xfrm>
              <a:off x="6537960" y="155448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Tokenization — split into tokens</a:t>
              </a:r>
              <a:endParaRPr lang="en-US" sz="2400" dirty="0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BCAE2BD1-2286-F67A-10DF-F9B9386C5FDA}"/>
                </a:ext>
              </a:extLst>
            </p:cNvPr>
            <p:cNvSpPr txBox="1"/>
            <p:nvPr/>
          </p:nvSpPr>
          <p:spPr>
            <a:xfrm>
              <a:off x="6675120" y="2468880"/>
              <a:ext cx="4599432" cy="2240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Break text into words, subwords, or characters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Tokens are the units that models actually process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“playing” → [“play”, “</a:t>
              </a:r>
              <a:r>
                <a:rPr lang="en-US" sz="2000" dirty="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ing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”] (subword pieces)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Foundation of everything downstream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7490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6332B-D2FB-84EE-BECF-7BBDF2E6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A3C7-1A6D-5D22-A633-CABE0041C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Preprocessing &amp; Tokenization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CF455-6303-99B0-6657-726898B2A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>
            <a:noAutofit/>
          </a:bodyPr>
          <a:lstStyle/>
          <a:p>
            <a:r>
              <a:rPr lang="en-US" dirty="0"/>
              <a:t>A noisy sentence shrinks to five tokens, following the pipeline order from slide 6.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Experiment with an interactive </a:t>
            </a:r>
            <a:r>
              <a:rPr lang="en-US" dirty="0">
                <a:hlinkClick r:id="rId3"/>
              </a:rPr>
              <a:t>tokenizer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10DB8-0021-6F9F-CBA0-691ECC6A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0" name="Step label 1"/>
          <p:cNvSpPr/>
          <p:nvPr/>
        </p:nvSpPr>
        <p:spPr>
          <a:xfrm>
            <a:off x="635000" y="2159000"/>
            <a:ext cx="2730500" cy="66040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</p:spPr>
        <p:txBody>
          <a:bodyPr wrap="none" lIns="177800" tIns="0" rIns="50800" bIns="0" anchor="ctr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Raw text</a:t>
            </a:r>
          </a:p>
        </p:txBody>
      </p:sp>
      <p:sp>
        <p:nvSpPr>
          <p:cNvPr id="101" name="Step label 2"/>
          <p:cNvSpPr/>
          <p:nvPr/>
        </p:nvSpPr>
        <p:spPr>
          <a:xfrm>
            <a:off x="635000" y="3098800"/>
            <a:ext cx="2730500" cy="660400"/>
          </a:xfrm>
          <a:prstGeom prst="roundRect">
            <a:avLst>
              <a:gd name="adj" fmla="val 12000"/>
            </a:avLst>
          </a:prstGeom>
          <a:solidFill>
            <a:srgbClr val="2E3A7A"/>
          </a:solidFill>
          <a:ln>
            <a:noFill/>
          </a:ln>
        </p:spPr>
        <p:txBody>
          <a:bodyPr wrap="none" lIns="177800" tIns="0" rIns="50800" bIns="0" anchor="ctr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1  Lowercase &amp; clean</a:t>
            </a:r>
          </a:p>
        </p:txBody>
      </p:sp>
      <p:sp>
        <p:nvSpPr>
          <p:cNvPr id="102" name="Step label 3"/>
          <p:cNvSpPr/>
          <p:nvPr/>
        </p:nvSpPr>
        <p:spPr>
          <a:xfrm>
            <a:off x="635000" y="4038600"/>
            <a:ext cx="2730500" cy="6604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>
            <a:noFill/>
          </a:ln>
        </p:spPr>
        <p:txBody>
          <a:bodyPr wrap="none" lIns="177800" tIns="0" rIns="50800" bIns="0" anchor="ctr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2  Tokenize</a:t>
            </a:r>
          </a:p>
        </p:txBody>
      </p:sp>
      <p:sp>
        <p:nvSpPr>
          <p:cNvPr id="103" name="Step label 4"/>
          <p:cNvSpPr/>
          <p:nvPr/>
        </p:nvSpPr>
        <p:spPr>
          <a:xfrm>
            <a:off x="635000" y="4978400"/>
            <a:ext cx="2730500" cy="660400"/>
          </a:xfrm>
          <a:prstGeom prst="roundRect">
            <a:avLst>
              <a:gd name="adj" fmla="val 12000"/>
            </a:avLst>
          </a:prstGeom>
          <a:solidFill>
            <a:srgbClr val="2E3A7A"/>
          </a:solidFill>
          <a:ln>
            <a:noFill/>
          </a:ln>
        </p:spPr>
        <p:txBody>
          <a:bodyPr wrap="none" lIns="177800" tIns="0" rIns="50800" bIns="0" anchor="ctr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3  Remove stop words</a:t>
            </a:r>
          </a:p>
        </p:txBody>
      </p:sp>
      <p:sp>
        <p:nvSpPr>
          <p:cNvPr id="104" name="Raw text value"/>
          <p:cNvSpPr/>
          <p:nvPr/>
        </p:nvSpPr>
        <p:spPr>
          <a:xfrm>
            <a:off x="3556000" y="2159000"/>
            <a:ext cx="8001000" cy="660400"/>
          </a:xfrm>
          <a:prstGeom prst="roundRect">
            <a:avLst>
              <a:gd name="adj" fmla="val 12000"/>
            </a:avLst>
          </a:prstGeom>
          <a:solidFill>
            <a:srgbClr val="F0F3F8"/>
          </a:solidFill>
          <a:ln w="12700">
            <a:solidFill>
              <a:srgbClr val="D9DEE8"/>
            </a:solidFill>
          </a:ln>
        </p:spPr>
        <p:txBody>
          <a:bodyPr wrap="none" lIns="203200" tIns="0" rIns="50800" bIns="0" anchor="ctr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Wow!! NLP chatbots are SO cool :) https://nlp.ai</a:t>
            </a:r>
          </a:p>
        </p:txBody>
      </p:sp>
      <p:sp>
        <p:nvSpPr>
          <p:cNvPr id="105" name="Cleaned text value"/>
          <p:cNvSpPr/>
          <p:nvPr/>
        </p:nvSpPr>
        <p:spPr>
          <a:xfrm>
            <a:off x="3556000" y="3098800"/>
            <a:ext cx="8001000" cy="660400"/>
          </a:xfrm>
          <a:prstGeom prst="roundRect">
            <a:avLst>
              <a:gd name="adj" fmla="val 12000"/>
            </a:avLst>
          </a:prstGeom>
          <a:solidFill>
            <a:srgbClr val="F0F3F8"/>
          </a:solidFill>
          <a:ln w="12700">
            <a:solidFill>
              <a:srgbClr val="D9DEE8"/>
            </a:solidFill>
          </a:ln>
        </p:spPr>
        <p:txBody>
          <a:bodyPr wrap="none" lIns="203200" tIns="0" rIns="50800" bIns="0" anchor="ctr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wow nlp chatbots are so cool</a:t>
            </a:r>
          </a:p>
        </p:txBody>
      </p:sp>
      <p:sp>
        <p:nvSpPr>
          <p:cNvPr id="119" name="Token wow"/>
          <p:cNvSpPr/>
          <p:nvPr/>
        </p:nvSpPr>
        <p:spPr>
          <a:xfrm>
            <a:off x="3556000" y="4114800"/>
            <a:ext cx="762000" cy="508000"/>
          </a:xfrm>
          <a:prstGeom prst="roundRect">
            <a:avLst>
              <a:gd name="adj" fmla="val 20000"/>
            </a:avLst>
          </a:prstGeom>
          <a:solidFill>
            <a:srgbClr val="FCE8EB"/>
          </a:solidFill>
          <a:ln w="12700">
            <a:solidFill>
              <a:srgbClr val="C8102E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"wow"</a:t>
            </a:r>
          </a:p>
        </p:txBody>
      </p:sp>
      <p:sp>
        <p:nvSpPr>
          <p:cNvPr id="120" name="Token nlp"/>
          <p:cNvSpPr/>
          <p:nvPr/>
        </p:nvSpPr>
        <p:spPr>
          <a:xfrm>
            <a:off x="4445000" y="4114800"/>
            <a:ext cx="762000" cy="508000"/>
          </a:xfrm>
          <a:prstGeom prst="roundRect">
            <a:avLst>
              <a:gd name="adj" fmla="val 20000"/>
            </a:avLst>
          </a:prstGeom>
          <a:solidFill>
            <a:srgbClr val="FCE8EB"/>
          </a:solidFill>
          <a:ln w="12700">
            <a:solidFill>
              <a:srgbClr val="C8102E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"nlp"</a:t>
            </a:r>
          </a:p>
        </p:txBody>
      </p:sp>
      <p:sp>
        <p:nvSpPr>
          <p:cNvPr id="121" name="Token chat"/>
          <p:cNvSpPr/>
          <p:nvPr/>
        </p:nvSpPr>
        <p:spPr>
          <a:xfrm>
            <a:off x="5334000" y="4114800"/>
            <a:ext cx="873760" cy="508000"/>
          </a:xfrm>
          <a:prstGeom prst="roundRect">
            <a:avLst>
              <a:gd name="adj" fmla="val 20000"/>
            </a:avLst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/>
                <a:cs typeface="Consolas"/>
              </a:rPr>
              <a:t>"chat"</a:t>
            </a:r>
          </a:p>
        </p:txBody>
      </p:sp>
      <p:sp>
        <p:nvSpPr>
          <p:cNvPr id="122" name="Token bots"/>
          <p:cNvSpPr/>
          <p:nvPr/>
        </p:nvSpPr>
        <p:spPr>
          <a:xfrm>
            <a:off x="6245860" y="4114800"/>
            <a:ext cx="873760" cy="508000"/>
          </a:xfrm>
          <a:prstGeom prst="roundRect">
            <a:avLst>
              <a:gd name="adj" fmla="val 20000"/>
            </a:avLst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/>
                <a:cs typeface="Consolas"/>
              </a:rPr>
              <a:t>"bots"</a:t>
            </a:r>
          </a:p>
        </p:txBody>
      </p:sp>
      <p:sp>
        <p:nvSpPr>
          <p:cNvPr id="123" name="Token are"/>
          <p:cNvSpPr/>
          <p:nvPr/>
        </p:nvSpPr>
        <p:spPr>
          <a:xfrm>
            <a:off x="7246620" y="4114800"/>
            <a:ext cx="762000" cy="508000"/>
          </a:xfrm>
          <a:prstGeom prst="roundRect">
            <a:avLst>
              <a:gd name="adj" fmla="val 20000"/>
            </a:avLst>
          </a:prstGeom>
          <a:solidFill>
            <a:srgbClr val="FCE8EB"/>
          </a:solidFill>
          <a:ln w="12700">
            <a:solidFill>
              <a:srgbClr val="C8102E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"are"</a:t>
            </a:r>
          </a:p>
        </p:txBody>
      </p:sp>
      <p:sp>
        <p:nvSpPr>
          <p:cNvPr id="124" name="Token so"/>
          <p:cNvSpPr/>
          <p:nvPr/>
        </p:nvSpPr>
        <p:spPr>
          <a:xfrm>
            <a:off x="8135620" y="4114800"/>
            <a:ext cx="650240" cy="508000"/>
          </a:xfrm>
          <a:prstGeom prst="roundRect">
            <a:avLst>
              <a:gd name="adj" fmla="val 20000"/>
            </a:avLst>
          </a:prstGeom>
          <a:solidFill>
            <a:srgbClr val="FCE8EB"/>
          </a:solidFill>
          <a:ln w="12700">
            <a:solidFill>
              <a:srgbClr val="C8102E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"so"</a:t>
            </a:r>
          </a:p>
        </p:txBody>
      </p:sp>
      <p:sp>
        <p:nvSpPr>
          <p:cNvPr id="125" name="Token cool"/>
          <p:cNvSpPr/>
          <p:nvPr/>
        </p:nvSpPr>
        <p:spPr>
          <a:xfrm>
            <a:off x="8912860" y="4114800"/>
            <a:ext cx="873760" cy="508000"/>
          </a:xfrm>
          <a:prstGeom prst="roundRect">
            <a:avLst>
              <a:gd name="adj" fmla="val 20000"/>
            </a:avLst>
          </a:prstGeom>
          <a:solidFill>
            <a:srgbClr val="FCE8EB"/>
          </a:solidFill>
          <a:ln w="12700">
            <a:solidFill>
              <a:srgbClr val="C8102E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"cool"</a:t>
            </a:r>
          </a:p>
        </p:txBody>
      </p:sp>
      <p:sp>
        <p:nvSpPr>
          <p:cNvPr id="126" name="Split note"/>
          <p:cNvSpPr/>
          <p:nvPr/>
        </p:nvSpPr>
        <p:spPr>
          <a:xfrm>
            <a:off x="9964420" y="4038600"/>
            <a:ext cx="1592580" cy="660400"/>
          </a:xfrm>
          <a:prstGeom prst="rect">
            <a:avLst/>
          </a:prstGeom>
          <a:noFill/>
          <a:ln>
            <a:noFill/>
          </a:ln>
        </p:spPr>
        <p:txBody>
          <a:bodyPr wrap="none" lIns="50800" tIns="0" rIns="0" bIns="0" anchor="ctr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C8102E"/>
                </a:solidFill>
              </a:rPr>
              <a:t>“chatbots” → 2 tokens</a:t>
            </a:r>
          </a:p>
        </p:txBody>
      </p:sp>
      <p:sp>
        <p:nvSpPr>
          <p:cNvPr id="127" name="Token wow"/>
          <p:cNvSpPr/>
          <p:nvPr/>
        </p:nvSpPr>
        <p:spPr>
          <a:xfrm>
            <a:off x="3556000" y="5054600"/>
            <a:ext cx="762000" cy="508000"/>
          </a:xfrm>
          <a:prstGeom prst="roundRect">
            <a:avLst>
              <a:gd name="adj" fmla="val 20000"/>
            </a:avLst>
          </a:prstGeom>
          <a:solidFill>
            <a:srgbClr val="E4E8F4"/>
          </a:solidFill>
          <a:ln w="12700">
            <a:solidFill>
              <a:srgbClr val="2E3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"wow"</a:t>
            </a:r>
          </a:p>
        </p:txBody>
      </p:sp>
      <p:sp>
        <p:nvSpPr>
          <p:cNvPr id="128" name="Token nlp"/>
          <p:cNvSpPr/>
          <p:nvPr/>
        </p:nvSpPr>
        <p:spPr>
          <a:xfrm>
            <a:off x="4445000" y="5054600"/>
            <a:ext cx="762000" cy="508000"/>
          </a:xfrm>
          <a:prstGeom prst="roundRect">
            <a:avLst>
              <a:gd name="adj" fmla="val 20000"/>
            </a:avLst>
          </a:prstGeom>
          <a:solidFill>
            <a:srgbClr val="E4E8F4"/>
          </a:solidFill>
          <a:ln w="12700">
            <a:solidFill>
              <a:srgbClr val="2E3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"nlp"</a:t>
            </a:r>
          </a:p>
        </p:txBody>
      </p:sp>
      <p:sp>
        <p:nvSpPr>
          <p:cNvPr id="129" name="Token chat"/>
          <p:cNvSpPr/>
          <p:nvPr/>
        </p:nvSpPr>
        <p:spPr>
          <a:xfrm>
            <a:off x="5334000" y="5054600"/>
            <a:ext cx="873760" cy="508000"/>
          </a:xfrm>
          <a:prstGeom prst="roundRect">
            <a:avLst>
              <a:gd name="adj" fmla="val 20000"/>
            </a:avLst>
          </a:prstGeom>
          <a:solidFill>
            <a:srgbClr val="E4E8F4"/>
          </a:solidFill>
          <a:ln w="12700">
            <a:solidFill>
              <a:srgbClr val="2E3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"chat"</a:t>
            </a:r>
          </a:p>
        </p:txBody>
      </p:sp>
      <p:sp>
        <p:nvSpPr>
          <p:cNvPr id="130" name="Token bots"/>
          <p:cNvSpPr/>
          <p:nvPr/>
        </p:nvSpPr>
        <p:spPr>
          <a:xfrm>
            <a:off x="6245860" y="5054600"/>
            <a:ext cx="873760" cy="508000"/>
          </a:xfrm>
          <a:prstGeom prst="roundRect">
            <a:avLst>
              <a:gd name="adj" fmla="val 20000"/>
            </a:avLst>
          </a:prstGeom>
          <a:solidFill>
            <a:srgbClr val="E4E8F4"/>
          </a:solidFill>
          <a:ln w="12700">
            <a:solidFill>
              <a:srgbClr val="2E3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"bots"</a:t>
            </a:r>
          </a:p>
        </p:txBody>
      </p:sp>
      <p:sp>
        <p:nvSpPr>
          <p:cNvPr id="131" name="Token are"/>
          <p:cNvSpPr/>
          <p:nvPr/>
        </p:nvSpPr>
        <p:spPr>
          <a:xfrm>
            <a:off x="7246620" y="5054600"/>
            <a:ext cx="762000" cy="50800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BFBFBF"/>
            </a:solidFill>
            <a:prstDash val="dash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strike="sngStrike" dirty="0">
                <a:solidFill>
                  <a:srgbClr val="8C8C8C"/>
                </a:solidFill>
                <a:latin typeface="Consolas"/>
                <a:cs typeface="Consolas"/>
              </a:rPr>
              <a:t>"are"</a:t>
            </a:r>
          </a:p>
        </p:txBody>
      </p:sp>
      <p:sp>
        <p:nvSpPr>
          <p:cNvPr id="132" name="Token so"/>
          <p:cNvSpPr/>
          <p:nvPr/>
        </p:nvSpPr>
        <p:spPr>
          <a:xfrm>
            <a:off x="8135620" y="5054600"/>
            <a:ext cx="650240" cy="50800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BFBFBF"/>
            </a:solidFill>
            <a:prstDash val="dash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strike="sngStrike" dirty="0">
                <a:solidFill>
                  <a:srgbClr val="8C8C8C"/>
                </a:solidFill>
                <a:latin typeface="Consolas"/>
                <a:cs typeface="Consolas"/>
              </a:rPr>
              <a:t>"so"</a:t>
            </a:r>
          </a:p>
        </p:txBody>
      </p:sp>
      <p:sp>
        <p:nvSpPr>
          <p:cNvPr id="133" name="Token cool"/>
          <p:cNvSpPr/>
          <p:nvPr/>
        </p:nvSpPr>
        <p:spPr>
          <a:xfrm>
            <a:off x="8912860" y="5054600"/>
            <a:ext cx="873760" cy="508000"/>
          </a:xfrm>
          <a:prstGeom prst="roundRect">
            <a:avLst>
              <a:gd name="adj" fmla="val 20000"/>
            </a:avLst>
          </a:prstGeom>
          <a:solidFill>
            <a:srgbClr val="E4E8F4"/>
          </a:solidFill>
          <a:ln w="12700">
            <a:solidFill>
              <a:srgbClr val="2E3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1A1A1A"/>
                </a:solidFill>
                <a:latin typeface="Consolas"/>
                <a:cs typeface="Consolas"/>
              </a:rPr>
              <a:t>"cool"</a:t>
            </a:r>
          </a:p>
        </p:txBody>
      </p:sp>
      <p:sp>
        <p:nvSpPr>
          <p:cNvPr id="134" name="Kept count"/>
          <p:cNvSpPr/>
          <p:nvPr/>
        </p:nvSpPr>
        <p:spPr>
          <a:xfrm>
            <a:off x="9964420" y="4978400"/>
            <a:ext cx="1592580" cy="660400"/>
          </a:xfrm>
          <a:prstGeom prst="rect">
            <a:avLst/>
          </a:prstGeom>
          <a:noFill/>
          <a:ln>
            <a:noFill/>
          </a:ln>
        </p:spPr>
        <p:txBody>
          <a:bodyPr wrap="none" lIns="50800" tIns="0" rIns="0" bIns="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E3A7A"/>
                </a:solidFill>
              </a:rPr>
              <a:t>5 tokens kept</a:t>
            </a:r>
          </a:p>
        </p:txBody>
      </p:sp>
    </p:spTree>
    <p:extLst>
      <p:ext uri="{BB962C8B-B14F-4D97-AF65-F5344CB8AC3E}">
        <p14:creationId xmlns:p14="http://schemas.microsoft.com/office/powerpoint/2010/main" val="1733565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4CE9EB-ADB0-069F-9409-0EA14AC02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Word Embeddings &amp; Text Representation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3E5AAF-3787-03D7-57E7-519B04A9A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Turning words into numbers that capture meaning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B5B41-AB56-0CE5-C09E-ED986775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EF4C0E-91FA-4D94-8941-E22F3A83D5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09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E883-7BB9-4268-15A3-B9106CC7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BDEE1-E68E-5781-E97E-B31B7B25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Bag of Words: A Simple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C35C-E768-AA4D-2165-E0D5B41DD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42" y="1272853"/>
            <a:ext cx="11277600" cy="81123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Bag-of-Words model represents text by counting word occurrences — ignoring grammar and word order (like dumping words into a bag).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FCCAF-2014-55AF-87C4-10B9E3BD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2" descr="An Introduction to Bag of Words (BoW) | by Vamshi Prakash | Medium">
            <a:extLst>
              <a:ext uri="{FF2B5EF4-FFF2-40B4-BE49-F238E27FC236}">
                <a16:creationId xmlns:a16="http://schemas.microsoft.com/office/drawing/2014/main" id="{2B77467F-1FEB-3AA0-72AB-FEE04DCDEE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" b="10085"/>
          <a:stretch>
            <a:fillRect/>
          </a:stretch>
        </p:blipFill>
        <p:spPr bwMode="auto">
          <a:xfrm>
            <a:off x="7753490" y="1955645"/>
            <a:ext cx="4360813" cy="2206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46535FF-1222-B6D6-3136-1EA3742E72F5}"/>
              </a:ext>
            </a:extLst>
          </p:cNvPr>
          <p:cNvGrpSpPr/>
          <p:nvPr/>
        </p:nvGrpSpPr>
        <p:grpSpPr>
          <a:xfrm>
            <a:off x="494118" y="2560143"/>
            <a:ext cx="11380112" cy="3357486"/>
            <a:chOff x="640080" y="1920240"/>
            <a:chExt cx="17469156" cy="3850507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861C96E0-377E-5654-9565-0EA94BBC8A5E}"/>
                </a:ext>
              </a:extLst>
            </p:cNvPr>
            <p:cNvSpPr/>
            <p:nvPr/>
          </p:nvSpPr>
          <p:spPr>
            <a:xfrm>
              <a:off x="640080" y="1920240"/>
              <a:ext cx="5193792" cy="2651760"/>
            </a:xfrm>
            <a:prstGeom prst="roundRect">
              <a:avLst>
                <a:gd name="adj" fmla="val 3448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57C05449-2F5F-CE6F-8996-FC2663950B76}"/>
                </a:ext>
              </a:extLst>
            </p:cNvPr>
            <p:cNvSpPr/>
            <p:nvPr/>
          </p:nvSpPr>
          <p:spPr>
            <a:xfrm>
              <a:off x="640080" y="192024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C5F2D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D6EF24FE-B275-45A0-348D-B4F259E38FE2}"/>
                </a:ext>
              </a:extLst>
            </p:cNvPr>
            <p:cNvSpPr txBox="1"/>
            <p:nvPr/>
          </p:nvSpPr>
          <p:spPr>
            <a:xfrm>
              <a:off x="822960" y="192024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Advantages</a:t>
              </a:r>
              <a:endParaRPr lang="en-US" sz="2000" dirty="0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F442439A-612B-71F1-B4DD-08B171FF5399}"/>
                </a:ext>
              </a:extLst>
            </p:cNvPr>
            <p:cNvSpPr txBox="1"/>
            <p:nvPr/>
          </p:nvSpPr>
          <p:spPr>
            <a:xfrm>
              <a:off x="960120" y="2834640"/>
              <a:ext cx="4599432" cy="160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Simple to implement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Works for basic classification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Computationally efficient</a:t>
              </a:r>
              <a:endParaRPr lang="en-US" dirty="0"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7252D272-B46F-9D5D-DAA6-EF65D3A4B859}"/>
                </a:ext>
              </a:extLst>
            </p:cNvPr>
            <p:cNvSpPr/>
            <p:nvPr/>
          </p:nvSpPr>
          <p:spPr>
            <a:xfrm>
              <a:off x="6233097" y="1920240"/>
              <a:ext cx="5315776" cy="2651760"/>
            </a:xfrm>
            <a:prstGeom prst="roundRect">
              <a:avLst>
                <a:gd name="adj" fmla="val 3448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666ECA52-FD1D-D72F-0DB5-923A5CFD790D}"/>
                </a:ext>
              </a:extLst>
            </p:cNvPr>
            <p:cNvSpPr/>
            <p:nvPr/>
          </p:nvSpPr>
          <p:spPr>
            <a:xfrm>
              <a:off x="6233095" y="1920240"/>
              <a:ext cx="5315778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C3A76EBA-1743-BBFC-AEBD-4011EC99B0E6}"/>
                </a:ext>
              </a:extLst>
            </p:cNvPr>
            <p:cNvSpPr txBox="1"/>
            <p:nvPr/>
          </p:nvSpPr>
          <p:spPr>
            <a:xfrm>
              <a:off x="6451936" y="1920240"/>
              <a:ext cx="4914055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Limitations</a:t>
              </a:r>
              <a:endParaRPr lang="en-US" sz="2000" dirty="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EB49DABA-5D66-1966-03F5-6541B1D905A0}"/>
                </a:ext>
              </a:extLst>
            </p:cNvPr>
            <p:cNvSpPr txBox="1"/>
            <p:nvPr/>
          </p:nvSpPr>
          <p:spPr>
            <a:xfrm>
              <a:off x="6610540" y="2834640"/>
              <a:ext cx="4664012" cy="160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Loses word order and context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semantic meaning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“Not bad” looks like “bad not”</a:t>
              </a:r>
              <a:endParaRPr lang="en-US" dirty="0"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7B19C3AE-5322-8EB7-A834-A18F73CA006F}"/>
                </a:ext>
              </a:extLst>
            </p:cNvPr>
            <p:cNvSpPr/>
            <p:nvPr/>
          </p:nvSpPr>
          <p:spPr>
            <a:xfrm>
              <a:off x="667512" y="4902067"/>
              <a:ext cx="17441724" cy="868680"/>
            </a:xfrm>
            <a:prstGeom prst="roundRect">
              <a:avLst>
                <a:gd name="adj" fmla="val 8421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B398C4D1-7CD9-E9EB-8A0A-076FEBA281C2}"/>
                </a:ext>
              </a:extLst>
            </p:cNvPr>
            <p:cNvSpPr txBox="1"/>
            <p:nvPr/>
          </p:nvSpPr>
          <p:spPr>
            <a:xfrm>
              <a:off x="914400" y="4892040"/>
              <a:ext cx="15402931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useful baseline — but modern methods capture far richer meaning. Enter word embeddings.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32790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F8360-8787-4259-76AD-734547D2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C72A-2100-4E74-482F-7744AC48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Words as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DCBAE-9D29-AF44-4FFE-0C22422AD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11277600" cy="52927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One-hot encoding: </a:t>
            </a:r>
            <a:r>
              <a:rPr lang="en-US" dirty="0"/>
              <a:t>each word = a unique ID (a huge sparse vector). No meaning; wasteful.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Dense embedding: </a:t>
            </a:r>
            <a:r>
              <a:rPr lang="en-US" dirty="0"/>
              <a:t>each word = a short list of numbers that captures its meaning.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Similar words get similar vectors </a:t>
            </a:r>
            <a:r>
              <a:rPr lang="en-US" dirty="0"/>
              <a:t>— so they cluster together in “vector space.”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pPr>
              <a:lnSpc>
                <a:spcPct val="100000"/>
              </a:lnSpc>
            </a:pPr>
            <a:r>
              <a:rPr lang="en-US" dirty="0"/>
              <a:t>Similar words (cat, dog, pet) cluster together in vector space, while unrelated words (car, truck) form separate clusters — learned from data, not hand-coded.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A18DE-2A8E-07AA-787D-120241D6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10531F-B60A-9BAA-DB36-42DE598D5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66" y="2558213"/>
            <a:ext cx="10938200" cy="363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4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Word Vectors/Embeddings – Video (2:08)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C9E987-9D14-4B7D-AD2B-7E7B62C7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82821-6F9D-4013-9C3A-C06B09230814}"/>
              </a:ext>
            </a:extLst>
          </p:cNvPr>
          <p:cNvSpPr txBox="1"/>
          <p:nvPr/>
        </p:nvSpPr>
        <p:spPr>
          <a:xfrm>
            <a:off x="457200" y="6627168"/>
            <a:ext cx="36898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https://www.youtube.com/watch?v=aWFllV6WsAs</a:t>
            </a:r>
          </a:p>
        </p:txBody>
      </p:sp>
      <p:pic>
        <p:nvPicPr>
          <p:cNvPr id="4" name="Online Media 3" title="Word Embeddings || Embedding Layers || Quick Explained">
            <a:hlinkClick r:id="" action="ppaction://media"/>
            <a:extLst>
              <a:ext uri="{FF2B5EF4-FFF2-40B4-BE49-F238E27FC236}">
                <a16:creationId xmlns:a16="http://schemas.microsoft.com/office/drawing/2014/main" id="{CC767DBF-9B1F-CB8D-EED4-8776D9D2408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39213" y="1270596"/>
            <a:ext cx="9317168" cy="526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ED798-8F9E-0938-CD1B-AACEEBC7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25CF-F567-A77D-CA51-96FEA36F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Word2vec &amp; Vector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7DD12-FA16-34FC-8E0C-095493F99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11460"/>
            <a:ext cx="11679865" cy="5657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 </a:t>
            </a:r>
          </a:p>
          <a:p>
            <a:pPr>
              <a:lnSpc>
                <a:spcPct val="100000"/>
              </a:lnSpc>
            </a:pPr>
            <a:r>
              <a:rPr lang="en-US" i="1" dirty="0"/>
              <a:t>These relationships emerge automatically from training — capital cities, verb tenses, and gender, never explicitly taught.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79258-0488-07A5-CDB2-2424ABAF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24A068B9-68EF-6997-B05A-80D0FAA46D51}"/>
              </a:ext>
            </a:extLst>
          </p:cNvPr>
          <p:cNvSpPr/>
          <p:nvPr/>
        </p:nvSpPr>
        <p:spPr>
          <a:xfrm>
            <a:off x="632734" y="1275907"/>
            <a:ext cx="11172692" cy="647097"/>
          </a:xfrm>
          <a:prstGeom prst="roundRect">
            <a:avLst>
              <a:gd name="adj" fmla="val 9412"/>
            </a:avLst>
          </a:prstGeom>
          <a:solidFill>
            <a:srgbClr val="E7EFE7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1585D82F-2381-9D82-A4EA-70E1B00AA4D8}"/>
              </a:ext>
            </a:extLst>
          </p:cNvPr>
          <p:cNvSpPr txBox="1"/>
          <p:nvPr/>
        </p:nvSpPr>
        <p:spPr>
          <a:xfrm>
            <a:off x="914398" y="1313971"/>
            <a:ext cx="10609363" cy="570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shall know a word by the company it keeps” — word2vec learns meaning by predicting neighboring words.</a:t>
            </a:r>
            <a:endParaRPr lang="en-US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F8FCA5E7-467F-359D-4047-5F3E134D0E31}"/>
              </a:ext>
            </a:extLst>
          </p:cNvPr>
          <p:cNvSpPr txBox="1"/>
          <p:nvPr/>
        </p:nvSpPr>
        <p:spPr>
          <a:xfrm>
            <a:off x="640080" y="2129701"/>
            <a:ext cx="11172692" cy="304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become arithmetic:</a:t>
            </a:r>
            <a:endParaRPr lang="en-US" dirty="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BB2BDE47-E08F-DB97-1B5D-8494FC4D8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341332"/>
              </p:ext>
            </p:extLst>
          </p:nvPr>
        </p:nvGraphicFramePr>
        <p:xfrm>
          <a:off x="640080" y="2541181"/>
          <a:ext cx="9630972" cy="1402080"/>
        </p:xfrm>
        <a:graphic>
          <a:graphicData uri="http://schemas.openxmlformats.org/drawingml/2006/table">
            <a:tbl>
              <a:tblPr/>
              <a:tblGrid>
                <a:gridCol w="348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7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math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king : man :: queen : woman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king − man + woman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queen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Athens : Greece :: ? : Norway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Greece − Athens + Oslo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Norway (capital → country)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: walked :: run : 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walked − walk + run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ran (verb tense)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Picture 2" descr="Word Embeddings">
            <a:extLst>
              <a:ext uri="{FF2B5EF4-FFF2-40B4-BE49-F238E27FC236}">
                <a16:creationId xmlns:a16="http://schemas.microsoft.com/office/drawing/2014/main" id="{3F764467-9B27-F1DE-E011-1C929FD4F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497" y="4050225"/>
            <a:ext cx="5647499" cy="22070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455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CD7B-2A9B-D023-B197-64230D3AE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50534-06CB-F0C8-B745-F116B51E8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51" y="1011460"/>
            <a:ext cx="11854511" cy="5657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Embeddings live in hundreds of dimensions. Projection techniques flatten them to 2D so we can see the clusters.</a:t>
            </a:r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i="1" dirty="0"/>
              <a:t>All three methods show the same thing: similar words cluster together — confirming embeddings capture meaning.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539388-4DFB-4750-B421-EAD4C030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Visualizing Embeddings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198D4-EBA9-3C30-F236-CDBD376C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B918A6-DA11-99CB-77A2-C677609A3113}"/>
              </a:ext>
            </a:extLst>
          </p:cNvPr>
          <p:cNvGrpSpPr/>
          <p:nvPr/>
        </p:nvGrpSpPr>
        <p:grpSpPr>
          <a:xfrm>
            <a:off x="366823" y="1778955"/>
            <a:ext cx="11458353" cy="3949095"/>
            <a:chOff x="1850150" y="2506562"/>
            <a:chExt cx="8941897" cy="34043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80E32E2-0935-EC84-BEE2-7548529DD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9097"/>
            <a:stretch>
              <a:fillRect/>
            </a:stretch>
          </p:blipFill>
          <p:spPr>
            <a:xfrm>
              <a:off x="1850150" y="2506562"/>
              <a:ext cx="8941897" cy="167402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9F34878-0929-6EC9-F05B-31D73A19EF58}"/>
                </a:ext>
              </a:extLst>
            </p:cNvPr>
            <p:cNvGrpSpPr/>
            <p:nvPr/>
          </p:nvGrpSpPr>
          <p:grpSpPr>
            <a:xfrm>
              <a:off x="2038180" y="4264992"/>
              <a:ext cx="8621170" cy="1645920"/>
              <a:chOff x="457200" y="2468880"/>
              <a:chExt cx="8307227" cy="1645920"/>
            </a:xfrm>
          </p:grpSpPr>
          <p:sp>
            <p:nvSpPr>
              <p:cNvPr id="7" name="Shape 7">
                <a:extLst>
                  <a:ext uri="{FF2B5EF4-FFF2-40B4-BE49-F238E27FC236}">
                    <a16:creationId xmlns:a16="http://schemas.microsoft.com/office/drawing/2014/main" id="{64FD7D1B-D8D5-F075-320C-BD49866946C4}"/>
                  </a:ext>
                </a:extLst>
              </p:cNvPr>
              <p:cNvSpPr/>
              <p:nvPr/>
            </p:nvSpPr>
            <p:spPr>
              <a:xfrm>
                <a:off x="457200" y="2468880"/>
                <a:ext cx="2560320" cy="164592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508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Shape 8">
                <a:extLst>
                  <a:ext uri="{FF2B5EF4-FFF2-40B4-BE49-F238E27FC236}">
                    <a16:creationId xmlns:a16="http://schemas.microsoft.com/office/drawing/2014/main" id="{919967D0-5C18-A6F4-F776-BD81F4DCEAF7}"/>
                  </a:ext>
                </a:extLst>
              </p:cNvPr>
              <p:cNvSpPr/>
              <p:nvPr/>
            </p:nvSpPr>
            <p:spPr>
              <a:xfrm>
                <a:off x="457200" y="2468880"/>
                <a:ext cx="2560320" cy="54864"/>
              </a:xfrm>
              <a:prstGeom prst="rect">
                <a:avLst/>
              </a:prstGeom>
              <a:solidFill>
                <a:srgbClr val="3F51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 9">
                <a:extLst>
                  <a:ext uri="{FF2B5EF4-FFF2-40B4-BE49-F238E27FC236}">
                    <a16:creationId xmlns:a16="http://schemas.microsoft.com/office/drawing/2014/main" id="{14F00B62-BA4C-BDDF-0259-E5C6679C0909}"/>
                  </a:ext>
                </a:extLst>
              </p:cNvPr>
              <p:cNvSpPr/>
              <p:nvPr/>
            </p:nvSpPr>
            <p:spPr>
              <a:xfrm>
                <a:off x="640080" y="260604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200" b="1" dirty="0">
                    <a:solidFill>
                      <a:srgbClr val="3F51B5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PCA</a:t>
                </a:r>
                <a:endParaRPr lang="en-US" sz="2200" dirty="0"/>
              </a:p>
            </p:txBody>
          </p:sp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01203DA3-04F9-7614-699E-213D48D0776C}"/>
                  </a:ext>
                </a:extLst>
              </p:cNvPr>
              <p:cNvSpPr/>
              <p:nvPr/>
            </p:nvSpPr>
            <p:spPr>
              <a:xfrm>
                <a:off x="640080" y="3017520"/>
                <a:ext cx="2194560" cy="914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2D2D2D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Linear projection.</a:t>
                </a:r>
                <a:endParaRPr lang="en-US" dirty="0"/>
              </a:p>
              <a:p>
                <a:r>
                  <a:rPr lang="en-US" dirty="0">
                    <a:solidFill>
                      <a:srgbClr val="2D2D2D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Fast, preserves global variance.</a:t>
                </a:r>
                <a:endParaRPr lang="en-US" dirty="0"/>
              </a:p>
            </p:txBody>
          </p:sp>
          <p:sp>
            <p:nvSpPr>
              <p:cNvPr id="14" name="Shape 11">
                <a:extLst>
                  <a:ext uri="{FF2B5EF4-FFF2-40B4-BE49-F238E27FC236}">
                    <a16:creationId xmlns:a16="http://schemas.microsoft.com/office/drawing/2014/main" id="{4CBFE50F-0AF6-F7E8-9539-878DEF9E47DA}"/>
                  </a:ext>
                </a:extLst>
              </p:cNvPr>
              <p:cNvSpPr/>
              <p:nvPr/>
            </p:nvSpPr>
            <p:spPr>
              <a:xfrm>
                <a:off x="3291840" y="2468880"/>
                <a:ext cx="2560320" cy="164592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508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Shape 12">
                <a:extLst>
                  <a:ext uri="{FF2B5EF4-FFF2-40B4-BE49-F238E27FC236}">
                    <a16:creationId xmlns:a16="http://schemas.microsoft.com/office/drawing/2014/main" id="{7F4445A6-7E9A-11E3-F1F7-7E621751EC89}"/>
                  </a:ext>
                </a:extLst>
              </p:cNvPr>
              <p:cNvSpPr/>
              <p:nvPr/>
            </p:nvSpPr>
            <p:spPr>
              <a:xfrm>
                <a:off x="3291840" y="2468880"/>
                <a:ext cx="2560320" cy="54864"/>
              </a:xfrm>
              <a:prstGeom prst="rect">
                <a:avLst/>
              </a:prstGeom>
              <a:solidFill>
                <a:srgbClr val="009688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 13">
                <a:extLst>
                  <a:ext uri="{FF2B5EF4-FFF2-40B4-BE49-F238E27FC236}">
                    <a16:creationId xmlns:a16="http://schemas.microsoft.com/office/drawing/2014/main" id="{125652E4-F44D-CC5B-3DBA-CED718DEE8E3}"/>
                  </a:ext>
                </a:extLst>
              </p:cNvPr>
              <p:cNvSpPr/>
              <p:nvPr/>
            </p:nvSpPr>
            <p:spPr>
              <a:xfrm>
                <a:off x="3474720" y="260604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200" b="1" dirty="0">
                    <a:solidFill>
                      <a:srgbClr val="009688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t-SNE</a:t>
                </a:r>
                <a:endParaRPr lang="en-US" sz="2200" dirty="0"/>
              </a:p>
            </p:txBody>
          </p:sp>
          <p:sp>
            <p:nvSpPr>
              <p:cNvPr id="19" name="Text 14">
                <a:extLst>
                  <a:ext uri="{FF2B5EF4-FFF2-40B4-BE49-F238E27FC236}">
                    <a16:creationId xmlns:a16="http://schemas.microsoft.com/office/drawing/2014/main" id="{CEFF6589-A6B8-46F5-5833-08F15487FE6C}"/>
                  </a:ext>
                </a:extLst>
              </p:cNvPr>
              <p:cNvSpPr/>
              <p:nvPr/>
            </p:nvSpPr>
            <p:spPr>
              <a:xfrm>
                <a:off x="3474719" y="3017520"/>
                <a:ext cx="2324323" cy="914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2D2D2D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Non-linear. Great</a:t>
                </a:r>
                <a:endParaRPr lang="en-US" dirty="0"/>
              </a:p>
              <a:p>
                <a:r>
                  <a:rPr lang="en-US" dirty="0">
                    <a:solidFill>
                      <a:srgbClr val="2D2D2D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showing local clusters.</a:t>
                </a:r>
                <a:endParaRPr lang="en-US" dirty="0"/>
              </a:p>
            </p:txBody>
          </p:sp>
          <p:sp>
            <p:nvSpPr>
              <p:cNvPr id="20" name="Shape 15">
                <a:extLst>
                  <a:ext uri="{FF2B5EF4-FFF2-40B4-BE49-F238E27FC236}">
                    <a16:creationId xmlns:a16="http://schemas.microsoft.com/office/drawing/2014/main" id="{D7BEB703-18E8-0EB0-0A4E-9FD4D463B279}"/>
                  </a:ext>
                </a:extLst>
              </p:cNvPr>
              <p:cNvSpPr/>
              <p:nvPr/>
            </p:nvSpPr>
            <p:spPr>
              <a:xfrm>
                <a:off x="6126480" y="2468880"/>
                <a:ext cx="2560320" cy="164592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508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Shape 16">
                <a:extLst>
                  <a:ext uri="{FF2B5EF4-FFF2-40B4-BE49-F238E27FC236}">
                    <a16:creationId xmlns:a16="http://schemas.microsoft.com/office/drawing/2014/main" id="{5C640A2A-0EF6-116F-8E24-2927FF7B2590}"/>
                  </a:ext>
                </a:extLst>
              </p:cNvPr>
              <p:cNvSpPr/>
              <p:nvPr/>
            </p:nvSpPr>
            <p:spPr>
              <a:xfrm>
                <a:off x="6126480" y="2468880"/>
                <a:ext cx="2560320" cy="54864"/>
              </a:xfrm>
              <a:prstGeom prst="rect">
                <a:avLst/>
              </a:prstGeom>
              <a:solidFill>
                <a:srgbClr val="7B1FA2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 17">
                <a:extLst>
                  <a:ext uri="{FF2B5EF4-FFF2-40B4-BE49-F238E27FC236}">
                    <a16:creationId xmlns:a16="http://schemas.microsoft.com/office/drawing/2014/main" id="{B2BF09A1-213C-3E5C-B322-2C597B996FAF}"/>
                  </a:ext>
                </a:extLst>
              </p:cNvPr>
              <p:cNvSpPr/>
              <p:nvPr/>
            </p:nvSpPr>
            <p:spPr>
              <a:xfrm>
                <a:off x="6309360" y="260604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200" b="1" dirty="0">
                    <a:solidFill>
                      <a:srgbClr val="7B1FA2"/>
                    </a:solidFill>
                    <a:latin typeface="Helvetica Neue" pitchFamily="34" charset="0"/>
                    <a:ea typeface="Helvetica Neue" pitchFamily="34" charset="-122"/>
                    <a:cs typeface="Helvetica Neue" pitchFamily="34" charset="-120"/>
                  </a:rPr>
                  <a:t>UMAP</a:t>
                </a:r>
                <a:endParaRPr lang="en-US" sz="2200" dirty="0"/>
              </a:p>
            </p:txBody>
          </p:sp>
          <p:sp>
            <p:nvSpPr>
              <p:cNvPr id="23" name="Text 18">
                <a:extLst>
                  <a:ext uri="{FF2B5EF4-FFF2-40B4-BE49-F238E27FC236}">
                    <a16:creationId xmlns:a16="http://schemas.microsoft.com/office/drawing/2014/main" id="{6E5C269E-AE0E-C092-45A7-3296B732A97C}"/>
                  </a:ext>
                </a:extLst>
              </p:cNvPr>
              <p:cNvSpPr/>
              <p:nvPr/>
            </p:nvSpPr>
            <p:spPr>
              <a:xfrm>
                <a:off x="6309360" y="3017520"/>
                <a:ext cx="2455067" cy="914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2D2D2D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Balances local</a:t>
                </a:r>
                <a:endParaRPr lang="en-US" dirty="0"/>
              </a:p>
              <a:p>
                <a:r>
                  <a:rPr lang="en-US" dirty="0">
                    <a:solidFill>
                      <a:srgbClr val="2D2D2D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global structure.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921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Visualization of Word Vectors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B6C9-F977-47F9-A532-97FA6661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0996"/>
            <a:ext cx="11277600" cy="5292545"/>
          </a:xfrm>
        </p:spPr>
        <p:txBody>
          <a:bodyPr>
            <a:normAutofit/>
          </a:bodyPr>
          <a:lstStyle/>
          <a:p>
            <a:r>
              <a:rPr lang="en-US" dirty="0"/>
              <a:t>Using PCA, UMAP or e.g., t-SNE https://habr.com/en/company/mailru/blog/449984/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C6157-DC93-4A03-9C2A-B813A05E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843C780-9E51-4BE3-B6F7-DE8AA4084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37" y="1772463"/>
            <a:ext cx="8759001" cy="4878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549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FD96C-0014-C4A4-1805-67BC1735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3F462-E735-F73A-8879-DAE467D9B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986" y="1154026"/>
            <a:ext cx="11647967" cy="5657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How similar are two words? Measure the angle between their vectors — same direction = similar; a right angle = unrelated.</a:t>
            </a:r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AA39B-77CC-7821-B039-2ACA185AD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Cosine Similarity: Measuring Closeness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6998D-195C-B9E4-AFE5-95D5D53B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259E3E-0179-51BE-8020-5EC9A533F8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225"/>
          <a:stretch>
            <a:fillRect/>
          </a:stretch>
        </p:blipFill>
        <p:spPr>
          <a:xfrm>
            <a:off x="2307265" y="4164757"/>
            <a:ext cx="6808234" cy="164126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1B3EF1C-64B5-AA2F-CAA0-A152ECB80761}"/>
              </a:ext>
            </a:extLst>
          </p:cNvPr>
          <p:cNvGrpSpPr/>
          <p:nvPr/>
        </p:nvGrpSpPr>
        <p:grpSpPr>
          <a:xfrm>
            <a:off x="345558" y="1907211"/>
            <a:ext cx="10908792" cy="4831438"/>
            <a:chOff x="640080" y="1828800"/>
            <a:chExt cx="10908792" cy="4831438"/>
          </a:xfrm>
        </p:grpSpPr>
        <p:sp>
          <p:nvSpPr>
            <p:cNvPr id="15" name="Shape 2">
              <a:extLst>
                <a:ext uri="{FF2B5EF4-FFF2-40B4-BE49-F238E27FC236}">
                  <a16:creationId xmlns:a16="http://schemas.microsoft.com/office/drawing/2014/main" id="{EEEEDC03-F382-D98B-54FC-6E41CBC881DF}"/>
                </a:ext>
              </a:extLst>
            </p:cNvPr>
            <p:cNvSpPr/>
            <p:nvPr/>
          </p:nvSpPr>
          <p:spPr>
            <a:xfrm>
              <a:off x="640080" y="1828800"/>
              <a:ext cx="5193792" cy="2008348"/>
            </a:xfrm>
            <a:prstGeom prst="roundRect">
              <a:avLst>
                <a:gd name="adj" fmla="val 3704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FEB343F2-C080-81F2-E106-2BDABBC43870}"/>
                </a:ext>
              </a:extLst>
            </p:cNvPr>
            <p:cNvSpPr/>
            <p:nvPr/>
          </p:nvSpPr>
          <p:spPr>
            <a:xfrm>
              <a:off x="640080" y="1828800"/>
              <a:ext cx="5193792" cy="606228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17219E2E-A543-5FF3-55C7-0F7D5C70C68B}"/>
                </a:ext>
              </a:extLst>
            </p:cNvPr>
            <p:cNvSpPr txBox="1"/>
            <p:nvPr/>
          </p:nvSpPr>
          <p:spPr>
            <a:xfrm>
              <a:off x="822960" y="1828800"/>
              <a:ext cx="4828032" cy="6062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intuition</a:t>
              </a:r>
              <a:endParaRPr lang="en-US" sz="2000" dirty="0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29CE5C28-4169-9126-3F3E-CED78275D0C7}"/>
                </a:ext>
              </a:extLst>
            </p:cNvPr>
            <p:cNvSpPr txBox="1"/>
            <p:nvPr/>
          </p:nvSpPr>
          <p:spPr>
            <a:xfrm>
              <a:off x="960120" y="2620932"/>
              <a:ext cx="459943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Similar — small angle (≈ 1.0)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Unrelated — right angle (≈ 0)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Opposite — 180° (≈ −1.0)</a:t>
              </a:r>
              <a:endParaRPr lang="en-US" dirty="0"/>
            </a:p>
          </p:txBody>
        </p:sp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BD164991-5647-0E2C-824E-B5E7D4177E5E}"/>
                </a:ext>
              </a:extLst>
            </p:cNvPr>
            <p:cNvSpPr/>
            <p:nvPr/>
          </p:nvSpPr>
          <p:spPr>
            <a:xfrm>
              <a:off x="6355080" y="1828800"/>
              <a:ext cx="5193792" cy="2008348"/>
            </a:xfrm>
            <a:prstGeom prst="roundRect">
              <a:avLst>
                <a:gd name="adj" fmla="val 3704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Shape 7">
              <a:extLst>
                <a:ext uri="{FF2B5EF4-FFF2-40B4-BE49-F238E27FC236}">
                  <a16:creationId xmlns:a16="http://schemas.microsoft.com/office/drawing/2014/main" id="{F3C565D6-ACE8-9A6E-D036-0976EB790AC8}"/>
                </a:ext>
              </a:extLst>
            </p:cNvPr>
            <p:cNvSpPr/>
            <p:nvPr/>
          </p:nvSpPr>
          <p:spPr>
            <a:xfrm>
              <a:off x="6355080" y="1828800"/>
              <a:ext cx="5193792" cy="606228"/>
            </a:xfrm>
            <a:prstGeom prst="roundRect">
              <a:avLst>
                <a:gd name="adj" fmla="val 12500"/>
              </a:avLst>
            </a:prstGeom>
            <a:solidFill>
              <a:srgbClr val="2C5F2D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325ADF99-E23E-2E1F-E5F1-D191E3CF81A4}"/>
                </a:ext>
              </a:extLst>
            </p:cNvPr>
            <p:cNvSpPr txBox="1"/>
            <p:nvPr/>
          </p:nvSpPr>
          <p:spPr>
            <a:xfrm>
              <a:off x="6537960" y="1828800"/>
              <a:ext cx="4828032" cy="6062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 examples</a:t>
              </a:r>
              <a:endParaRPr lang="en-US" sz="2000" dirty="0"/>
            </a:p>
          </p:txBody>
        </p:sp>
        <p:sp>
          <p:nvSpPr>
            <p:cNvPr id="30" name="Text 9">
              <a:extLst>
                <a:ext uri="{FF2B5EF4-FFF2-40B4-BE49-F238E27FC236}">
                  <a16:creationId xmlns:a16="http://schemas.microsoft.com/office/drawing/2014/main" id="{F040F37F-34FD-2CFF-0A74-4883729149B6}"/>
                </a:ext>
              </a:extLst>
            </p:cNvPr>
            <p:cNvSpPr txBox="1"/>
            <p:nvPr/>
          </p:nvSpPr>
          <p:spPr>
            <a:xfrm>
              <a:off x="6675120" y="2620932"/>
              <a:ext cx="459943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cosine(“cat”, “dog”) = 0.76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cosine(“cat”, “computer”) = 0.17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Powers search, recommendations, clustering</a:t>
              </a:r>
              <a:endParaRPr lang="en-US" dirty="0"/>
            </a:p>
          </p:txBody>
        </p:sp>
        <p:sp>
          <p:nvSpPr>
            <p:cNvPr id="31" name="Shape 10">
              <a:extLst>
                <a:ext uri="{FF2B5EF4-FFF2-40B4-BE49-F238E27FC236}">
                  <a16:creationId xmlns:a16="http://schemas.microsoft.com/office/drawing/2014/main" id="{4EEE757C-DCF6-2568-EEEC-52C8897D0FD6}"/>
                </a:ext>
              </a:extLst>
            </p:cNvPr>
            <p:cNvSpPr/>
            <p:nvPr/>
          </p:nvSpPr>
          <p:spPr>
            <a:xfrm>
              <a:off x="640080" y="6032234"/>
              <a:ext cx="10881360" cy="628004"/>
            </a:xfrm>
            <a:prstGeom prst="roundRect">
              <a:avLst>
                <a:gd name="adj" fmla="val 9412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" name="Text 11">
              <a:extLst>
                <a:ext uri="{FF2B5EF4-FFF2-40B4-BE49-F238E27FC236}">
                  <a16:creationId xmlns:a16="http://schemas.microsoft.com/office/drawing/2014/main" id="{64975DEB-7245-4F2C-BCD5-40DF1241716E}"/>
                </a:ext>
              </a:extLst>
            </p:cNvPr>
            <p:cNvSpPr txBox="1"/>
            <p:nvPr/>
          </p:nvSpPr>
          <p:spPr>
            <a:xfrm>
              <a:off x="914400" y="5928718"/>
              <a:ext cx="103327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Cosine similarity is the workhorse behind semantic search and “find similar” everywhere.</a:t>
              </a:r>
              <a:endParaRPr lang="en-US" sz="2000" dirty="0"/>
            </a:p>
          </p:txBody>
        </p:sp>
      </p:grpSp>
      <p:sp>
        <p:nvSpPr>
          <p:cNvPr id="40" name="Similarity Note"/>
          <p:cNvSpPr txBox="1"/>
          <p:nvPr/>
        </p:nvSpPr>
        <p:spPr>
          <a:xfrm>
            <a:off x="6030078" y="3982689"/>
            <a:ext cx="519684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000" dirty="0">
                <a:solidFill>
                  <a:srgbClr val="595959"/>
                </a:solidFill>
              </a:rPr>
              <a:t>Calculated with </a:t>
            </a:r>
            <a:r>
              <a:rPr lang="en-US" sz="1000" dirty="0" err="1">
                <a:solidFill>
                  <a:srgbClr val="595959"/>
                </a:solidFill>
              </a:rPr>
              <a:t>gensim's</a:t>
            </a:r>
            <a:r>
              <a:rPr lang="en-US" sz="1000" dirty="0">
                <a:solidFill>
                  <a:srgbClr val="595959"/>
                </a:solidFill>
              </a:rPr>
              <a:t> word2vec-google-news-300 model (</a:t>
            </a:r>
            <a:r>
              <a:rPr lang="en-US" sz="1000" dirty="0" err="1">
                <a:solidFill>
                  <a:srgbClr val="595959"/>
                </a:solidFill>
              </a:rPr>
              <a:t>Mikolov</a:t>
            </a:r>
            <a:r>
              <a:rPr lang="en-US" sz="1000" dirty="0">
                <a:solidFill>
                  <a:srgbClr val="595959"/>
                </a:solidFill>
              </a:rPr>
              <a:t> et al., 2013; </a:t>
            </a:r>
            <a:r>
              <a:rPr lang="en-US" sz="1000" dirty="0" err="1">
                <a:solidFill>
                  <a:srgbClr val="595959"/>
                </a:solidFill>
              </a:rPr>
              <a:t>Řehůřek</a:t>
            </a:r>
            <a:r>
              <a:rPr lang="en-US" sz="1000" dirty="0">
                <a:solidFill>
                  <a:srgbClr val="595959"/>
                </a:solidFill>
              </a:rPr>
              <a:t> &amp; Sojka, 2010).</a:t>
            </a:r>
          </a:p>
        </p:txBody>
      </p:sp>
    </p:spTree>
    <p:extLst>
      <p:ext uri="{BB962C8B-B14F-4D97-AF65-F5344CB8AC3E}">
        <p14:creationId xmlns:p14="http://schemas.microsoft.com/office/powerpoint/2010/main" val="156418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Sentence &amp; Document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B6C9-F977-47F9-A532-97FA6661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05" y="1392371"/>
            <a:ext cx="5550195" cy="529272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Sentence embeddings capture the meaning of whole phrases — enabling semantic search and duplicate detection.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Doc2vec extends the idea to entire documents — articles, papers, web pages.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Visualizing 120k Wikipedia pages: physics articles cluster, sports articles cluster — no manual labeling.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Doc2vec projection of ~120k Wikipedia pages, grouped by subject.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E70AD-6743-4D4D-9561-8B0F8AE6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A0E82-815B-4569-BAB8-E97C65CB9B4A}"/>
              </a:ext>
            </a:extLst>
          </p:cNvPr>
          <p:cNvSpPr txBox="1"/>
          <p:nvPr/>
        </p:nvSpPr>
        <p:spPr>
          <a:xfrm>
            <a:off x="6608135" y="6561986"/>
            <a:ext cx="70795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https://graphaware.com/nlp/2018/09/03/advanced-document-representation.html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81767-688A-4806-A151-20E980D56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395" y="1711378"/>
            <a:ext cx="6089650" cy="45735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26773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Embeddings – How-to Video (2:36)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406864-AA80-4147-9DD1-AE8D6C95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Online Media 4" title="Machine Learning Crash Course: Embeddings">
            <a:hlinkClick r:id="" action="ppaction://media"/>
            <a:extLst>
              <a:ext uri="{FF2B5EF4-FFF2-40B4-BE49-F238E27FC236}">
                <a16:creationId xmlns:a16="http://schemas.microsoft.com/office/drawing/2014/main" id="{F007941D-F9B6-67F9-740B-8FD1E05AC08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22016" y="1264074"/>
            <a:ext cx="9509803" cy="5369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E43CD1-FDE5-C98D-1F95-A968BD34DE70}"/>
              </a:ext>
            </a:extLst>
          </p:cNvPr>
          <p:cNvSpPr txBox="1"/>
          <p:nvPr/>
        </p:nvSpPr>
        <p:spPr>
          <a:xfrm>
            <a:off x="389899" y="6637641"/>
            <a:ext cx="33447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https://www.youtube.com/watch?v=my5wFNQpFO0&amp;t=2s</a:t>
            </a:r>
          </a:p>
        </p:txBody>
      </p:sp>
    </p:spTree>
    <p:extLst>
      <p:ext uri="{BB962C8B-B14F-4D97-AF65-F5344CB8AC3E}">
        <p14:creationId xmlns:p14="http://schemas.microsoft.com/office/powerpoint/2010/main" val="42671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What does Word “Mean” in the Context? (3:54)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406864-AA80-4147-9DD1-AE8D6C95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" name="Online Media 3" title="Contextual Word Representations">
            <a:hlinkClick r:id="" action="ppaction://media"/>
            <a:extLst>
              <a:ext uri="{FF2B5EF4-FFF2-40B4-BE49-F238E27FC236}">
                <a16:creationId xmlns:a16="http://schemas.microsoft.com/office/drawing/2014/main" id="{7FDDA480-3009-4C22-BD9A-7BD09232E1A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69165" y="1315285"/>
            <a:ext cx="8101686" cy="526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1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31D81-BBC4-48DC-FEA4-A2B5F7144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EA1691-C4F8-9D19-6B63-76030FBB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Sequence Models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005ABA-9AD3-F2D6-28CD-DAD8CA2CF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Processing language as ordered sequences of words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C461D-5D4E-99E5-F1F6-66652166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6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BA5C-BED9-011A-C809-FFAB5B3D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AF058-C719-C657-1D02-E64F1E3C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Why Sequence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88831-D4A6-EB98-770D-1BBF98C68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Embeddings give each word a fixed vector — but a word’s meaning depends on the words around it, and the order they come 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344EA-80A4-B80B-CA91-DBC28C38C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D210EA-FF23-98A1-5DC0-4A473BE19058}"/>
              </a:ext>
            </a:extLst>
          </p:cNvPr>
          <p:cNvGrpSpPr/>
          <p:nvPr/>
        </p:nvGrpSpPr>
        <p:grpSpPr>
          <a:xfrm>
            <a:off x="528437" y="2397642"/>
            <a:ext cx="11369396" cy="3840480"/>
            <a:chOff x="640080" y="1828800"/>
            <a:chExt cx="10908793" cy="3840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4D308B54-2F5B-9594-C241-3F13F16364DF}"/>
                </a:ext>
              </a:extLst>
            </p:cNvPr>
            <p:cNvSpPr/>
            <p:nvPr/>
          </p:nvSpPr>
          <p:spPr>
            <a:xfrm>
              <a:off x="640080" y="1828800"/>
              <a:ext cx="5193792" cy="2468880"/>
            </a:xfrm>
            <a:prstGeom prst="roundRect">
              <a:avLst>
                <a:gd name="adj" fmla="val 3704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F284FF22-98E4-34DC-F9CD-D5ADE3D927E3}"/>
                </a:ext>
              </a:extLst>
            </p:cNvPr>
            <p:cNvSpPr/>
            <p:nvPr/>
          </p:nvSpPr>
          <p:spPr>
            <a:xfrm>
              <a:off x="640080" y="18288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44EE37CD-63B3-5893-D884-03752967CAE2}"/>
                </a:ext>
              </a:extLst>
            </p:cNvPr>
            <p:cNvSpPr txBox="1"/>
            <p:nvPr/>
          </p:nvSpPr>
          <p:spPr>
            <a:xfrm>
              <a:off x="822960" y="18288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Context changes meaning</a:t>
              </a:r>
              <a:endParaRPr lang="en-US" sz="2000" dirty="0"/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CA5A74B6-0A59-EA76-97CC-7A96ED4433E7}"/>
                </a:ext>
              </a:extLst>
            </p:cNvPr>
            <p:cNvSpPr txBox="1"/>
            <p:nvPr/>
          </p:nvSpPr>
          <p:spPr>
            <a:xfrm>
              <a:off x="960120" y="2743200"/>
              <a:ext cx="4942103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“I sat on the river bank.” → edge of a river</a:t>
              </a:r>
              <a:endParaRPr lang="en-US" dirty="0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“I opened a bank account.” → a financial institution</a:t>
              </a:r>
              <a:endParaRPr lang="en-US" dirty="0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i="1" dirty="0">
                  <a:solidFill>
                    <a:srgbClr val="5F5F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word — the neighbors decide which meaning.</a:t>
              </a:r>
              <a:endParaRPr lang="en-US" dirty="0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E626405-A904-1B55-87DA-B287DE813DC1}"/>
                </a:ext>
              </a:extLst>
            </p:cNvPr>
            <p:cNvSpPr/>
            <p:nvPr/>
          </p:nvSpPr>
          <p:spPr>
            <a:xfrm>
              <a:off x="6355080" y="1828800"/>
              <a:ext cx="5193792" cy="2468880"/>
            </a:xfrm>
            <a:prstGeom prst="roundRect">
              <a:avLst>
                <a:gd name="adj" fmla="val 3704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5" name="Shape 7">
              <a:extLst>
                <a:ext uri="{FF2B5EF4-FFF2-40B4-BE49-F238E27FC236}">
                  <a16:creationId xmlns:a16="http://schemas.microsoft.com/office/drawing/2014/main" id="{A1A2330A-D54B-3FC3-4B3C-8A21044FEAF2}"/>
                </a:ext>
              </a:extLst>
            </p:cNvPr>
            <p:cNvSpPr/>
            <p:nvPr/>
          </p:nvSpPr>
          <p:spPr>
            <a:xfrm>
              <a:off x="6355080" y="18288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77342380-D6E6-3281-8DBB-5B6965D42F93}"/>
                </a:ext>
              </a:extLst>
            </p:cNvPr>
            <p:cNvSpPr txBox="1"/>
            <p:nvPr/>
          </p:nvSpPr>
          <p:spPr>
            <a:xfrm>
              <a:off x="6537960" y="18288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changes meaning</a:t>
              </a:r>
              <a:endParaRPr lang="en-US" sz="2000" dirty="0"/>
            </a:p>
          </p:txBody>
        </p:sp>
        <p:sp>
          <p:nvSpPr>
            <p:cNvPr id="47" name="Text 9">
              <a:extLst>
                <a:ext uri="{FF2B5EF4-FFF2-40B4-BE49-F238E27FC236}">
                  <a16:creationId xmlns:a16="http://schemas.microsoft.com/office/drawing/2014/main" id="{B94D2A28-F093-CD49-1CD3-3CA9103E1420}"/>
                </a:ext>
              </a:extLst>
            </p:cNvPr>
            <p:cNvSpPr txBox="1"/>
            <p:nvPr/>
          </p:nvSpPr>
          <p:spPr>
            <a:xfrm>
              <a:off x="6675120" y="2743200"/>
              <a:ext cx="459943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“Dog bites man.”</a:t>
              </a:r>
              <a:endParaRPr lang="en-US" dirty="0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“Man bites dog.”</a:t>
              </a:r>
              <a:endParaRPr lang="en-US" dirty="0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i="1" dirty="0">
                  <a:solidFill>
                    <a:srgbClr val="5F5F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words, opposite meaning — a bag of words can’t tell them apart.</a:t>
              </a:r>
              <a:endParaRPr lang="en-US" dirty="0"/>
            </a:p>
          </p:txBody>
        </p:sp>
        <p:sp>
          <p:nvSpPr>
            <p:cNvPr id="48" name="Shape 10">
              <a:extLst>
                <a:ext uri="{FF2B5EF4-FFF2-40B4-BE49-F238E27FC236}">
                  <a16:creationId xmlns:a16="http://schemas.microsoft.com/office/drawing/2014/main" id="{5C59D394-8CA5-7FEB-2786-D380BA681B19}"/>
                </a:ext>
              </a:extLst>
            </p:cNvPr>
            <p:cNvSpPr/>
            <p:nvPr/>
          </p:nvSpPr>
          <p:spPr>
            <a:xfrm>
              <a:off x="640080" y="4617720"/>
              <a:ext cx="10881360" cy="1051560"/>
            </a:xfrm>
            <a:prstGeom prst="roundRect">
              <a:avLst>
                <a:gd name="adj" fmla="val 6957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9" name="Text 11">
              <a:extLst>
                <a:ext uri="{FF2B5EF4-FFF2-40B4-BE49-F238E27FC236}">
                  <a16:creationId xmlns:a16="http://schemas.microsoft.com/office/drawing/2014/main" id="{76598632-622D-1EB8-B57F-CF5B1F0926B8}"/>
                </a:ext>
              </a:extLst>
            </p:cNvPr>
            <p:cNvSpPr txBox="1"/>
            <p:nvPr/>
          </p:nvSpPr>
          <p:spPr>
            <a:xfrm>
              <a:off x="667513" y="4663440"/>
              <a:ext cx="1088136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 we need models that read words in sequence and remember what came before — recurrent networks.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22185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016F2-A8CC-1D3E-7D97-9BBC2530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7E485-5BE2-B65A-7782-1DC038DD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RNN &amp; LSTM: Reading in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BC199-A1B9-2829-5E6E-0C483B97D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4931"/>
            <a:ext cx="11734800" cy="52925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Recurrent networks read one word at a time, keeping a running “memory” (a hidden state) of what came before.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20AE1-2988-D4A3-DC6B-BF7ABC2C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C13DE0-12A7-32AB-077D-826370AEA572}"/>
              </a:ext>
            </a:extLst>
          </p:cNvPr>
          <p:cNvGrpSpPr/>
          <p:nvPr/>
        </p:nvGrpSpPr>
        <p:grpSpPr>
          <a:xfrm>
            <a:off x="457200" y="2425244"/>
            <a:ext cx="10908792" cy="3611880"/>
            <a:chOff x="640080" y="1828800"/>
            <a:chExt cx="10908792" cy="3611880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F109241E-26AB-FD83-C5BD-400F0337FE5E}"/>
                </a:ext>
              </a:extLst>
            </p:cNvPr>
            <p:cNvSpPr/>
            <p:nvPr/>
          </p:nvSpPr>
          <p:spPr>
            <a:xfrm>
              <a:off x="640080" y="1828800"/>
              <a:ext cx="5193792" cy="2468880"/>
            </a:xfrm>
            <a:prstGeom prst="roundRect">
              <a:avLst>
                <a:gd name="adj" fmla="val 3704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D39DF424-9C04-7492-EF0E-10CB66BF8496}"/>
                </a:ext>
              </a:extLst>
            </p:cNvPr>
            <p:cNvSpPr/>
            <p:nvPr/>
          </p:nvSpPr>
          <p:spPr>
            <a:xfrm>
              <a:off x="640080" y="18288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2A521234-F4FB-94DC-E684-7FFB122212CA}"/>
                </a:ext>
              </a:extLst>
            </p:cNvPr>
            <p:cNvSpPr txBox="1"/>
            <p:nvPr/>
          </p:nvSpPr>
          <p:spPr>
            <a:xfrm>
              <a:off x="822960" y="18288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RNN — has memory</a:t>
              </a:r>
              <a:endParaRPr lang="en-US" sz="2000" dirty="0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EE45E7CC-7889-B2B6-9AA0-45FE30C7753D}"/>
                </a:ext>
              </a:extLst>
            </p:cNvPr>
            <p:cNvSpPr txBox="1"/>
            <p:nvPr/>
          </p:nvSpPr>
          <p:spPr>
            <a:xfrm>
              <a:off x="960120" y="2743200"/>
              <a:ext cx="459943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Reads word by word, left to right</a:t>
              </a:r>
              <a:endParaRPr lang="en-US" dirty="0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Hidden state carries context forward</a:t>
              </a:r>
              <a:endParaRPr lang="en-US" dirty="0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Problem: forgets early words in long sentences</a:t>
              </a:r>
              <a:endParaRPr lang="en-US" dirty="0"/>
            </a:p>
          </p:txBody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C534AF95-A596-143A-5683-0DCE568E9B75}"/>
                </a:ext>
              </a:extLst>
            </p:cNvPr>
            <p:cNvSpPr/>
            <p:nvPr/>
          </p:nvSpPr>
          <p:spPr>
            <a:xfrm>
              <a:off x="6355080" y="1828800"/>
              <a:ext cx="5193792" cy="2468880"/>
            </a:xfrm>
            <a:prstGeom prst="roundRect">
              <a:avLst>
                <a:gd name="adj" fmla="val 3704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D76FC333-0E63-F3C0-0D05-0D52C1003AEC}"/>
                </a:ext>
              </a:extLst>
            </p:cNvPr>
            <p:cNvSpPr/>
            <p:nvPr/>
          </p:nvSpPr>
          <p:spPr>
            <a:xfrm>
              <a:off x="6355080" y="18288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6E6F1EFE-0931-F717-7FCD-A4D4B1ADDFF6}"/>
                </a:ext>
              </a:extLst>
            </p:cNvPr>
            <p:cNvSpPr txBox="1"/>
            <p:nvPr/>
          </p:nvSpPr>
          <p:spPr>
            <a:xfrm>
              <a:off x="6537960" y="18288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LSTM — gated memory</a:t>
              </a:r>
              <a:endParaRPr lang="en-US" sz="2000" dirty="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91469365-D821-8952-C458-C8C94EA9F7FB}"/>
                </a:ext>
              </a:extLst>
            </p:cNvPr>
            <p:cNvSpPr txBox="1"/>
            <p:nvPr/>
          </p:nvSpPr>
          <p:spPr>
            <a:xfrm>
              <a:off x="6675120" y="2743200"/>
              <a:ext cx="459943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Forget / input / output gates</a:t>
              </a:r>
              <a:endParaRPr lang="en-US" dirty="0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Chooses what to keep vs. discard</a:t>
              </a:r>
              <a:endParaRPr lang="en-US" dirty="0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Handles long-range dependencies</a:t>
              </a:r>
              <a:endParaRPr lang="en-US" dirty="0"/>
            </a:p>
          </p:txBody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72A265C7-C821-DE94-B604-3FEDA56119B9}"/>
                </a:ext>
              </a:extLst>
            </p:cNvPr>
            <p:cNvSpPr/>
            <p:nvPr/>
          </p:nvSpPr>
          <p:spPr>
            <a:xfrm>
              <a:off x="640080" y="4617720"/>
              <a:ext cx="10881360" cy="822960"/>
            </a:xfrm>
            <a:prstGeom prst="roundRect">
              <a:avLst>
                <a:gd name="adj" fmla="val 8889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8228B38F-7F57-03DE-724C-8404E8EB3A20}"/>
                </a:ext>
              </a:extLst>
            </p:cNvPr>
            <p:cNvSpPr txBox="1"/>
            <p:nvPr/>
          </p:nvSpPr>
          <p:spPr>
            <a:xfrm>
              <a:off x="914400" y="4663440"/>
              <a:ext cx="103327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6D2E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Introduced in Lecture 4; the key point for NLP: they read in order and carry context — but still one word at a time. Transformers fix that.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53954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50C6-6059-028C-80EB-A3837D67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FA002E-1B51-10AB-9A94-1C64484B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Translation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EF60B-EA0F-2E7C-386A-BF8B911E4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Breaking language barriers with neural 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5EEE8-6F8E-3B3B-4497-1E437074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48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95D0-FEE2-BFEA-BD74-0F33D2F3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987E-5D60-3E50-DAEA-CD13C2186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Encoder-Decoder &amp; the Interlingua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3CD5-B7C9-1898-438E-76E07D2C6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46" y="1247681"/>
            <a:ext cx="11277600" cy="5292725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Encoder reads the whole input sentence and compresses it into a “thought vector” — a language-independent meaning.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Decoder generates the output language from that thought vector, word by word.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737B6-03D4-876C-D96D-6325D84E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F935BF-81BA-8126-4C56-E09EE66BD44C}"/>
              </a:ext>
            </a:extLst>
          </p:cNvPr>
          <p:cNvGrpSpPr/>
          <p:nvPr/>
        </p:nvGrpSpPr>
        <p:grpSpPr>
          <a:xfrm>
            <a:off x="597550" y="2546499"/>
            <a:ext cx="10433729" cy="1769980"/>
            <a:chOff x="640080" y="3200400"/>
            <a:chExt cx="10908792" cy="2468879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74CE5AA9-492A-7033-A39F-0C3F99CE668B}"/>
                </a:ext>
              </a:extLst>
            </p:cNvPr>
            <p:cNvSpPr/>
            <p:nvPr/>
          </p:nvSpPr>
          <p:spPr>
            <a:xfrm>
              <a:off x="640080" y="3200400"/>
              <a:ext cx="5193792" cy="2468879"/>
            </a:xfrm>
            <a:prstGeom prst="roundRect">
              <a:avLst>
                <a:gd name="adj" fmla="val 4000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52F30183-015D-C897-C52F-8FE786C3B5D3}"/>
                </a:ext>
              </a:extLst>
            </p:cNvPr>
            <p:cNvSpPr/>
            <p:nvPr/>
          </p:nvSpPr>
          <p:spPr>
            <a:xfrm>
              <a:off x="640080" y="32004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17C507F3-0BAC-DF27-4528-FD695E8703EC}"/>
                </a:ext>
              </a:extLst>
            </p:cNvPr>
            <p:cNvSpPr txBox="1"/>
            <p:nvPr/>
          </p:nvSpPr>
          <p:spPr>
            <a:xfrm>
              <a:off x="822960" y="32004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Traditional approach</a:t>
              </a:r>
              <a:endParaRPr lang="en-US" sz="2000" dirty="0"/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2083EA61-3438-E00A-050A-72D8679E1BAF}"/>
                </a:ext>
              </a:extLst>
            </p:cNvPr>
            <p:cNvSpPr txBox="1"/>
            <p:nvPr/>
          </p:nvSpPr>
          <p:spPr>
            <a:xfrm>
              <a:off x="960120" y="4114800"/>
              <a:ext cx="4599432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separate translator per language pair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languages → 20 models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 languages → 9,900 models!</a:t>
              </a:r>
              <a:endParaRPr lang="en-US" dirty="0"/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454939FA-535F-C465-56B4-830F620BA6FA}"/>
                </a:ext>
              </a:extLst>
            </p:cNvPr>
            <p:cNvSpPr/>
            <p:nvPr/>
          </p:nvSpPr>
          <p:spPr>
            <a:xfrm>
              <a:off x="6355080" y="3200400"/>
              <a:ext cx="5193792" cy="2468879"/>
            </a:xfrm>
            <a:prstGeom prst="roundRect">
              <a:avLst>
                <a:gd name="adj" fmla="val 4000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DC925D5D-E3EF-98E5-0C1E-3368B8766A30}"/>
                </a:ext>
              </a:extLst>
            </p:cNvPr>
            <p:cNvSpPr/>
            <p:nvPr/>
          </p:nvSpPr>
          <p:spPr>
            <a:xfrm>
              <a:off x="6355080" y="32004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C5F2D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CF3EFF87-C78E-6F1D-A55B-E296B6205612}"/>
                </a:ext>
              </a:extLst>
            </p:cNvPr>
            <p:cNvSpPr txBox="1"/>
            <p:nvPr/>
          </p:nvSpPr>
          <p:spPr>
            <a:xfrm>
              <a:off x="6537960" y="32004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approach (interlingua)</a:t>
              </a:r>
              <a:endParaRPr lang="en-US" sz="2000" dirty="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BD3A263C-FA8C-A832-3798-5170F066A70B}"/>
                </a:ext>
              </a:extLst>
            </p:cNvPr>
            <p:cNvSpPr txBox="1"/>
            <p:nvPr/>
          </p:nvSpPr>
          <p:spPr>
            <a:xfrm>
              <a:off x="6675120" y="4114800"/>
              <a:ext cx="4599432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Translate to/from a shared meaning space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FontTx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languages → 10 models; 100 → 200!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Enables zero-shot: pairs never trained</a:t>
              </a:r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2A9FE00-3630-494C-A500-FC88EA1B5A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893"/>
          <a:stretch>
            <a:fillRect/>
          </a:stretch>
        </p:blipFill>
        <p:spPr>
          <a:xfrm>
            <a:off x="1191820" y="4466036"/>
            <a:ext cx="8894691" cy="220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3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Translation – Vector Clustering by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B6C9-F977-47F9-A532-97FA6661B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6065"/>
            <a:ext cx="11277600" cy="52925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Can help with rare languages whenever developing dedicated translators isn’t practical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Clusters show similar languages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8E56D-1BF8-424F-900F-D394C402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E6BE19C-DCD8-46D1-BB34-8FCA7A316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248" y="1875252"/>
            <a:ext cx="5709810" cy="43719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8B18F3-69AB-4C9C-A37C-F60F1E823D5E}"/>
              </a:ext>
            </a:extLst>
          </p:cNvPr>
          <p:cNvSpPr txBox="1"/>
          <p:nvPr/>
        </p:nvSpPr>
        <p:spPr>
          <a:xfrm>
            <a:off x="7396264" y="6611779"/>
            <a:ext cx="518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65000"/>
                  </a:schemeClr>
                </a:solidFill>
              </a:rPr>
              <a:t>https://ai.googleblog.com/2019/11/highlights-from-2019-google-ai.html</a:t>
            </a:r>
          </a:p>
        </p:txBody>
      </p:sp>
    </p:spTree>
    <p:extLst>
      <p:ext uri="{BB962C8B-B14F-4D97-AF65-F5344CB8AC3E}">
        <p14:creationId xmlns:p14="http://schemas.microsoft.com/office/powerpoint/2010/main" val="3368008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E9E5-5648-06EA-3801-52E255F8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0C57B7-BA70-7F8B-1E0D-249FBE65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Transformers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736BC7-B2CA-2EF8-48CC-56491904C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5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"Attention is all you need"  Vaswani et al., 2017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5CDE2-EDC9-AD94-80F9-FAC11112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30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53311-1674-280D-6FF1-E15EEFCB9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950E7-BDB2-DCEF-92F1-45CF9A0F5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Self-Attention: The 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D6EAD-2205-54BD-F2B9-0AB52ADFC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734800" cy="5292545"/>
          </a:xfrm>
        </p:spPr>
        <p:txBody>
          <a:bodyPr>
            <a:noAutofit/>
          </a:bodyPr>
          <a:lstStyle/>
          <a:p>
            <a:r>
              <a:rPr lang="en-US" dirty="0"/>
              <a:t>Self-attention lets each word look at ALL other words at once to decide which are most relevant to its meaning.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Experiment with the </a:t>
            </a:r>
            <a:r>
              <a:rPr lang="en-US" dirty="0">
                <a:hlinkClick r:id="rId3"/>
              </a:rPr>
              <a:t>https://poloclub.github.io/transformer-explainer/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1D135-C7A5-05B2-E766-AD961B05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4B23BD-5A6F-F0CD-64D0-DFE9BF1F6166}"/>
              </a:ext>
            </a:extLst>
          </p:cNvPr>
          <p:cNvGrpSpPr/>
          <p:nvPr/>
        </p:nvGrpSpPr>
        <p:grpSpPr>
          <a:xfrm>
            <a:off x="565651" y="2344479"/>
            <a:ext cx="11277597" cy="3468127"/>
            <a:chOff x="640080" y="1828800"/>
            <a:chExt cx="10908792" cy="3566160"/>
          </a:xfrm>
        </p:grpSpPr>
        <p:sp>
          <p:nvSpPr>
            <p:cNvPr id="27" name="Shape 2">
              <a:extLst>
                <a:ext uri="{FF2B5EF4-FFF2-40B4-BE49-F238E27FC236}">
                  <a16:creationId xmlns:a16="http://schemas.microsoft.com/office/drawing/2014/main" id="{93311FA8-A8AB-7520-88CF-4A395FC9812F}"/>
                </a:ext>
              </a:extLst>
            </p:cNvPr>
            <p:cNvSpPr/>
            <p:nvPr/>
          </p:nvSpPr>
          <p:spPr>
            <a:xfrm>
              <a:off x="640080" y="1828800"/>
              <a:ext cx="5193792" cy="2377440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BB66CFD9-1541-06F8-BEB5-473E4FEF8D70}"/>
                </a:ext>
              </a:extLst>
            </p:cNvPr>
            <p:cNvSpPr/>
            <p:nvPr/>
          </p:nvSpPr>
          <p:spPr>
            <a:xfrm>
              <a:off x="640080" y="18288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DAD3D8F0-DE89-7197-9939-AB4172058116}"/>
                </a:ext>
              </a:extLst>
            </p:cNvPr>
            <p:cNvSpPr txBox="1"/>
            <p:nvPr/>
          </p:nvSpPr>
          <p:spPr>
            <a:xfrm>
              <a:off x="822960" y="18288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Word-sense disambiguation</a:t>
              </a:r>
              <a:endParaRPr lang="en-US" sz="2000" dirty="0"/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FF06CEEB-A9CE-1404-7F96-1656E3A2B426}"/>
                </a:ext>
              </a:extLst>
            </p:cNvPr>
            <p:cNvSpPr txBox="1"/>
            <p:nvPr/>
          </p:nvSpPr>
          <p:spPr>
            <a:xfrm>
              <a:off x="960120" y="2743200"/>
              <a:ext cx="4599432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“I went to the bank to deposit money.”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Attention to “deposit” &amp; “money” tells the model this is a financial bank — not a river bank.</a:t>
              </a:r>
              <a:endParaRPr lang="en-US" dirty="0"/>
            </a:p>
          </p:txBody>
        </p:sp>
        <p:sp>
          <p:nvSpPr>
            <p:cNvPr id="31" name="Shape 6">
              <a:extLst>
                <a:ext uri="{FF2B5EF4-FFF2-40B4-BE49-F238E27FC236}">
                  <a16:creationId xmlns:a16="http://schemas.microsoft.com/office/drawing/2014/main" id="{BF0C5FD9-73A6-0AEC-1E5F-3642704878EA}"/>
                </a:ext>
              </a:extLst>
            </p:cNvPr>
            <p:cNvSpPr/>
            <p:nvPr/>
          </p:nvSpPr>
          <p:spPr>
            <a:xfrm>
              <a:off x="6355080" y="1828800"/>
              <a:ext cx="5193792" cy="2377440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072FB9B1-89FE-9791-6EE0-E004B4B2B3C7}"/>
                </a:ext>
              </a:extLst>
            </p:cNvPr>
            <p:cNvSpPr/>
            <p:nvPr/>
          </p:nvSpPr>
          <p:spPr>
            <a:xfrm>
              <a:off x="6355080" y="18288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3" name="Text 8">
              <a:extLst>
                <a:ext uri="{FF2B5EF4-FFF2-40B4-BE49-F238E27FC236}">
                  <a16:creationId xmlns:a16="http://schemas.microsoft.com/office/drawing/2014/main" id="{60A9298A-4940-E614-BCD7-4EE3E9787C2F}"/>
                </a:ext>
              </a:extLst>
            </p:cNvPr>
            <p:cNvSpPr txBox="1"/>
            <p:nvPr/>
          </p:nvSpPr>
          <p:spPr>
            <a:xfrm>
              <a:off x="6537960" y="18288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Pronoun resolution</a:t>
              </a:r>
              <a:endParaRPr lang="en-US" sz="2000" dirty="0"/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2DDF3D31-57E5-84C2-A32B-314A3B7D3211}"/>
                </a:ext>
              </a:extLst>
            </p:cNvPr>
            <p:cNvSpPr txBox="1"/>
            <p:nvPr/>
          </p:nvSpPr>
          <p:spPr>
            <a:xfrm>
              <a:off x="6675120" y="2743200"/>
              <a:ext cx="4599432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“The animal didn’t cross the street because it was too tired.”</a:t>
              </a:r>
              <a:endParaRPr lang="en-US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Attention resolves “it” → “animal.”</a:t>
              </a:r>
              <a:endParaRPr lang="en-US" dirty="0"/>
            </a:p>
          </p:txBody>
        </p:sp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2AAE84BC-656B-D52D-2A44-9858AE0857AB}"/>
                </a:ext>
              </a:extLst>
            </p:cNvPr>
            <p:cNvSpPr/>
            <p:nvPr/>
          </p:nvSpPr>
          <p:spPr>
            <a:xfrm>
              <a:off x="640080" y="4526280"/>
              <a:ext cx="10881360" cy="868680"/>
            </a:xfrm>
            <a:prstGeom prst="roundRect">
              <a:avLst>
                <a:gd name="adj" fmla="val 8421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" name="Text 11">
              <a:extLst>
                <a:ext uri="{FF2B5EF4-FFF2-40B4-BE49-F238E27FC236}">
                  <a16:creationId xmlns:a16="http://schemas.microsoft.com/office/drawing/2014/main" id="{B7B68B08-6749-6DF3-A3A0-6894754A9E99}"/>
                </a:ext>
              </a:extLst>
            </p:cNvPr>
            <p:cNvSpPr txBox="1"/>
            <p:nvPr/>
          </p:nvSpPr>
          <p:spPr>
            <a:xfrm>
              <a:off x="677791" y="4550181"/>
              <a:ext cx="10766179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Self-attention captures long-range dependencies that RNNs struggle with — the key innovation behind modern LLMs.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92653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DB088-5728-0F32-F0C7-D721662D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56DA-DD1B-CEA4-79D0-F7174E08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Transformer Architecture &amp; Why It Won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886B-91A4-717A-1272-605C68DDE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5481084" cy="5292545"/>
          </a:xfrm>
        </p:spPr>
        <p:txBody>
          <a:bodyPr>
            <a:noAutofit/>
          </a:bodyPr>
          <a:lstStyle/>
          <a:p>
            <a:pPr marL="346075" indent="-346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layer = self-attention + feed-forward + residual/norm (not shown here)</a:t>
            </a:r>
          </a:p>
          <a:p>
            <a:pPr marL="346075" indent="-346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Stack many layers — each adds a deeper level of understanding.</a:t>
            </a:r>
          </a:p>
          <a:p>
            <a:pPr marL="346075" indent="-346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Depth of modern models: BERT ~12–24 layers · GPT-3 model has 96.</a:t>
            </a:r>
          </a:p>
          <a:p>
            <a:pPr marL="346075" indent="-3460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breakthrough: process ALL words in parallel, not one at a time → training on massive data became feasible.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4160F-F955-1A7E-4797-55AEEC15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A5D99A-E9F9-937A-E6BD-9C26CA251236}"/>
              </a:ext>
            </a:extLst>
          </p:cNvPr>
          <p:cNvSpPr txBox="1"/>
          <p:nvPr/>
        </p:nvSpPr>
        <p:spPr>
          <a:xfrm>
            <a:off x="6429774" y="6628876"/>
            <a:ext cx="5409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https://towardsdatascience.com/from-transformers-to-performers-approximating-attention-69c88af0b11f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929D591C-C853-A432-F9BB-1F7E352DB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2" t="4325" r="19823" b="3305"/>
          <a:stretch/>
        </p:blipFill>
        <p:spPr bwMode="auto">
          <a:xfrm>
            <a:off x="5983439" y="1683798"/>
            <a:ext cx="5855915" cy="3924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7682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AE829-8B44-43EC-A44A-B1B65169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C23E5-1080-1DCF-7C35-2883D35FA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vs. Human Performance: What Benchmarks Tell 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E8AE7-8BE7-5971-CC1E-152BD43E3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A13B2FB-478F-0938-E5B0-AFEDB6C97FBB}"/>
              </a:ext>
            </a:extLst>
          </p:cNvPr>
          <p:cNvGrpSpPr/>
          <p:nvPr/>
        </p:nvGrpSpPr>
        <p:grpSpPr>
          <a:xfrm>
            <a:off x="640080" y="4458494"/>
            <a:ext cx="10881360" cy="609600"/>
            <a:chOff x="640080" y="4343400"/>
            <a:chExt cx="10881360" cy="609600"/>
          </a:xfrm>
        </p:grpSpPr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4BF57D06-0CBB-AC8C-D036-CF9184D2CAC2}"/>
                </a:ext>
              </a:extLst>
            </p:cNvPr>
            <p:cNvSpPr/>
            <p:nvPr/>
          </p:nvSpPr>
          <p:spPr>
            <a:xfrm>
              <a:off x="640080" y="4343400"/>
              <a:ext cx="10881360" cy="609600"/>
            </a:xfrm>
            <a:prstGeom prst="roundRect">
              <a:avLst>
                <a:gd name="adj" fmla="val 8421"/>
              </a:avLst>
            </a:prstGeom>
            <a:solidFill>
              <a:srgbClr val="FBE9EC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8B7CB37E-34DE-F871-6736-3D8F64636BAA}"/>
                </a:ext>
              </a:extLst>
            </p:cNvPr>
            <p:cNvSpPr txBox="1"/>
            <p:nvPr/>
          </p:nvSpPr>
          <p:spPr>
            <a:xfrm>
              <a:off x="914400" y="4389120"/>
              <a:ext cx="10332720" cy="518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Where NLP stands: </a:t>
              </a: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frontier models now beat the human baseline on every test here, and most are at or near saturation. Labs now report harder tests such as Humanity’s Last Exam and SWE-bench.</a:t>
              </a:r>
              <a:endParaRPr lang="en-US" dirty="0"/>
            </a:p>
          </p:txBody>
        </p:sp>
      </p:grp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8805AB0C-9FC4-8CEB-A162-2D789D71B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826954"/>
              </p:ext>
            </p:extLst>
          </p:nvPr>
        </p:nvGraphicFramePr>
        <p:xfrm>
          <a:off x="640080" y="1295399"/>
          <a:ext cx="10881360" cy="2875218"/>
        </p:xfrm>
        <a:graphic>
          <a:graphicData uri="http://schemas.openxmlformats.org/drawingml/2006/table">
            <a:tbl>
              <a:tblPr/>
              <a:tblGrid>
                <a:gridCol w="19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2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baseline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AI today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language understanding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humans, 2019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2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1.1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comprehension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 (F1)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humans, 2018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2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MMLU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knowledge, 57 subjects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 (experts)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 (several models)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2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GPQA Diamond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Graduate-level science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69.7% (PhD experts)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 (GPT-6 Astra)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2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AIME 2025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 mathematics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~41% (qualifier average, 6 of 15)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(several models)</a:t>
                      </a:r>
                      <a:r>
                        <a:rPr lang="en-US" sz="1600" baseline="30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Footnotes"/>
          <p:cNvSpPr txBox="1"/>
          <p:nvPr/>
        </p:nvSpPr>
        <p:spPr>
          <a:xfrm>
            <a:off x="640080" y="5271293"/>
            <a:ext cx="1088136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95959"/>
                </a:solidFill>
              </a:rPr>
              <a:t>Human baselines from each benchmark’s original paper unless noted. Model scores checked October 17, 2026; results depend on evaluation setup.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aseline="30000" dirty="0">
                <a:solidFill>
                  <a:srgbClr val="595959"/>
                </a:solidFill>
              </a:rPr>
              <a:t>1</a:t>
            </a:r>
            <a:r>
              <a:rPr lang="en-US" sz="1000" dirty="0">
                <a:solidFill>
                  <a:srgbClr val="595959"/>
                </a:solidFill>
              </a:rPr>
              <a:t> Nangia &amp; Bowman (2019) human baseline 87.1; XLNet passed it at 88.4 in July 2019 (Wang et al., SuperGLUE, 2019).  </a:t>
            </a:r>
            <a:r>
              <a:rPr lang="en-US" sz="1000" baseline="30000" dirty="0">
                <a:solidFill>
                  <a:srgbClr val="595959"/>
                </a:solidFill>
              </a:rPr>
              <a:t>2</a:t>
            </a:r>
            <a:r>
              <a:rPr lang="en-US" sz="1000" dirty="0">
                <a:solidFill>
                  <a:srgbClr val="595959"/>
                </a:solidFill>
              </a:rPr>
              <a:t> Rajpurkar et al. (2016), human F1 91.2; models passed it in Sept 2018 (AI Index 2021).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aseline="30000" dirty="0">
                <a:solidFill>
                  <a:srgbClr val="595959"/>
                </a:solidFill>
              </a:rPr>
              <a:t>3</a:t>
            </a:r>
            <a:r>
              <a:rPr lang="en-US" sz="1000" dirty="0">
                <a:solidFill>
                  <a:srgbClr val="595959"/>
                </a:solidFill>
              </a:rPr>
              <a:t> Hendrycks et al. (2021), expert estimate 89.8%. Model: GLM-4.5 report (arXiv 2508.06471).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aseline="30000" dirty="0">
                <a:solidFill>
                  <a:srgbClr val="595959"/>
                </a:solidFill>
              </a:rPr>
              <a:t>4</a:t>
            </a:r>
            <a:r>
              <a:rPr lang="en-US" sz="1000" dirty="0">
                <a:solidFill>
                  <a:srgbClr val="595959"/>
                </a:solidFill>
              </a:rPr>
              <a:t> Experts on Diamond: OpenAI o1 report (Sept 2024). Model: Artificial Analysis, 198 questions, no tools, Oct 2026.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aseline="30000" dirty="0">
                <a:solidFill>
                  <a:srgbClr val="595959"/>
                </a:solidFill>
              </a:rPr>
              <a:t>5</a:t>
            </a:r>
            <a:r>
              <a:rPr lang="en-US" sz="1000" dirty="0">
                <a:solidFill>
                  <a:srgbClr val="595959"/>
                </a:solidFill>
              </a:rPr>
              <a:t> AIME I+II 2025, 30 problems. Qualifier mean 6.16 (I) and 6.24 (II) of 15, 3 hours, no calculators (MAA via AoPS). Models: Mercor pass@1, Oct 2026.</a:t>
            </a:r>
          </a:p>
        </p:txBody>
      </p:sp>
    </p:spTree>
    <p:extLst>
      <p:ext uri="{BB962C8B-B14F-4D97-AF65-F5344CB8AC3E}">
        <p14:creationId xmlns:p14="http://schemas.microsoft.com/office/powerpoint/2010/main" val="738150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BREAK: Transformers – Video (2:06)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65C2D-E04D-4406-B454-A23533BE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A97DC1-C023-9A84-417D-446EFCA391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5883" y="6631093"/>
            <a:ext cx="2918810" cy="30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https://www.youtube.com/watch?v=ydMbcVLDeLE</a:t>
            </a:r>
          </a:p>
        </p:txBody>
      </p:sp>
      <p:pic>
        <p:nvPicPr>
          <p:cNvPr id="3" name="Online Media 2" title="What is a TRANSFORMER in AI and Machine Learning?">
            <a:hlinkClick r:id="" action="ppaction://media"/>
            <a:extLst>
              <a:ext uri="{FF2B5EF4-FFF2-40B4-BE49-F238E27FC236}">
                <a16:creationId xmlns:a16="http://schemas.microsoft.com/office/drawing/2014/main" id="{2F623B12-F67D-6B14-66A1-94BEC50747A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05883" y="1230898"/>
            <a:ext cx="9175855" cy="518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0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328A-D1DF-D2D5-8AD4-ECCD54C31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F6C6A7-9E08-2CB9-09C9-534ACF6D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NLP in the Real World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C9B856-3F2F-ACCF-2453-67D435382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From research breakthroughs to everyday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54754-F356-976E-2A7C-6917BDD2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49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AD61-C556-26E0-AA15-C8C990CB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CE89-A3E9-953B-D218-54E6E53C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Chatbots &amp; How LLMs Generate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42076-2EFC-3873-5AAD-5788978E0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>
            <a:noAutofit/>
          </a:bodyPr>
          <a:lstStyle/>
          <a:p>
            <a:r>
              <a:rPr lang="en-US" dirty="0"/>
              <a:t>A paradigm shift: from scripted responses to genuine language understanding at scale.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4F4D9-C6E1-B847-C917-4E42145D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B532469-06D2-CE24-C592-82FBC9D34399}"/>
              </a:ext>
            </a:extLst>
          </p:cNvPr>
          <p:cNvGrpSpPr/>
          <p:nvPr/>
        </p:nvGrpSpPr>
        <p:grpSpPr>
          <a:xfrm>
            <a:off x="537338" y="2366645"/>
            <a:ext cx="11349862" cy="2926080"/>
            <a:chOff x="640080" y="1645920"/>
            <a:chExt cx="10908792" cy="2926080"/>
          </a:xfrm>
        </p:grpSpPr>
        <p:sp>
          <p:nvSpPr>
            <p:cNvPr id="44" name="Shape 1">
              <a:extLst>
                <a:ext uri="{FF2B5EF4-FFF2-40B4-BE49-F238E27FC236}">
                  <a16:creationId xmlns:a16="http://schemas.microsoft.com/office/drawing/2014/main" id="{62FE5286-4DC3-675D-FD36-0025815E1A74}"/>
                </a:ext>
              </a:extLst>
            </p:cNvPr>
            <p:cNvSpPr/>
            <p:nvPr/>
          </p:nvSpPr>
          <p:spPr>
            <a:xfrm>
              <a:off x="640080" y="1645920"/>
              <a:ext cx="5193792" cy="2926080"/>
            </a:xfrm>
            <a:prstGeom prst="roundRect">
              <a:avLst>
                <a:gd name="adj" fmla="val 312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5" name="Shape 2">
              <a:extLst>
                <a:ext uri="{FF2B5EF4-FFF2-40B4-BE49-F238E27FC236}">
                  <a16:creationId xmlns:a16="http://schemas.microsoft.com/office/drawing/2014/main" id="{718421C3-F0DE-DEC5-889D-5B52E438142A}"/>
                </a:ext>
              </a:extLst>
            </p:cNvPr>
            <p:cNvSpPr/>
            <p:nvPr/>
          </p:nvSpPr>
          <p:spPr>
            <a:xfrm>
              <a:off x="640080" y="164592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Text 3">
              <a:extLst>
                <a:ext uri="{FF2B5EF4-FFF2-40B4-BE49-F238E27FC236}">
                  <a16:creationId xmlns:a16="http://schemas.microsoft.com/office/drawing/2014/main" id="{B04E99CA-3DCC-ED0E-9192-8B3C7ECE1E3F}"/>
                </a:ext>
              </a:extLst>
            </p:cNvPr>
            <p:cNvSpPr txBox="1"/>
            <p:nvPr/>
          </p:nvSpPr>
          <p:spPr>
            <a:xfrm>
              <a:off x="822960" y="164592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modern chatbots do</a:t>
              </a:r>
              <a:endParaRPr lang="en-US" sz="2400" dirty="0"/>
            </a:p>
          </p:txBody>
        </p:sp>
        <p:sp>
          <p:nvSpPr>
            <p:cNvPr id="47" name="Text 4">
              <a:extLst>
                <a:ext uri="{FF2B5EF4-FFF2-40B4-BE49-F238E27FC236}">
                  <a16:creationId xmlns:a16="http://schemas.microsoft.com/office/drawing/2014/main" id="{37EE360F-A812-4F6A-1B4C-5874AB2BF271}"/>
                </a:ext>
              </a:extLst>
            </p:cNvPr>
            <p:cNvSpPr txBox="1"/>
            <p:nvPr/>
          </p:nvSpPr>
          <p:spPr>
            <a:xfrm>
              <a:off x="960120" y="2560320"/>
              <a:ext cx="4599432" cy="1874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Context retention across turns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Grasp intent from ambiguous phrasing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tools — search, databases, APIs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Fluent in 100+ languages</a:t>
              </a:r>
              <a:endParaRPr lang="en-US" sz="2000" dirty="0"/>
            </a:p>
          </p:txBody>
        </p:sp>
        <p:sp>
          <p:nvSpPr>
            <p:cNvPr id="48" name="Shape 5">
              <a:extLst>
                <a:ext uri="{FF2B5EF4-FFF2-40B4-BE49-F238E27FC236}">
                  <a16:creationId xmlns:a16="http://schemas.microsoft.com/office/drawing/2014/main" id="{1A25741D-C3FB-1F35-806C-F78D2020E1E2}"/>
                </a:ext>
              </a:extLst>
            </p:cNvPr>
            <p:cNvSpPr/>
            <p:nvPr/>
          </p:nvSpPr>
          <p:spPr>
            <a:xfrm>
              <a:off x="6355080" y="1645920"/>
              <a:ext cx="5193792" cy="2926080"/>
            </a:xfrm>
            <a:prstGeom prst="roundRect">
              <a:avLst>
                <a:gd name="adj" fmla="val 312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9" name="Shape 6">
              <a:extLst>
                <a:ext uri="{FF2B5EF4-FFF2-40B4-BE49-F238E27FC236}">
                  <a16:creationId xmlns:a16="http://schemas.microsoft.com/office/drawing/2014/main" id="{16AF9F5C-887B-198E-9539-255345C8C890}"/>
                </a:ext>
              </a:extLst>
            </p:cNvPr>
            <p:cNvSpPr/>
            <p:nvPr/>
          </p:nvSpPr>
          <p:spPr>
            <a:xfrm>
              <a:off x="6355080" y="164592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76D7D3C5-C38C-8710-2178-B47B0F918E55}"/>
                </a:ext>
              </a:extLst>
            </p:cNvPr>
            <p:cNvSpPr txBox="1"/>
            <p:nvPr/>
          </p:nvSpPr>
          <p:spPr>
            <a:xfrm>
              <a:off x="6537960" y="164592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they write</a:t>
              </a:r>
              <a:endParaRPr lang="en-US" sz="24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050C3DE4-5448-CB4F-5EB7-385C4F143CA8}"/>
                </a:ext>
              </a:extLst>
            </p:cNvPr>
            <p:cNvSpPr txBox="1"/>
            <p:nvPr/>
          </p:nvSpPr>
          <p:spPr>
            <a:xfrm>
              <a:off x="6675120" y="2560320"/>
              <a:ext cx="4599432" cy="1874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Auto-regressive: one token at a time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Each token predicted from all previous ones</a:t>
              </a:r>
              <a:endParaRPr lang="en-US" sz="2000" dirty="0"/>
            </a:p>
            <a:p>
              <a:pPr marL="203200" indent="-203200">
                <a:spcAft>
                  <a:spcPts val="8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“Just predicting the next word” — yet fluency &amp; knowledge emerge from scale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022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50026-63A9-75F2-5D0F-3FABD002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85C3-A0FE-D682-A3CB-86A3E93D8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Code Generation &amp; Retrieval-Augmented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09B2B-EE07-CD84-933E-286D8CEBA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RAG — Retrieval-Augmented Generation: combine an LLM with an external knowledge source for accurate, up-to-date, private answers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FF02B-242B-9CE6-A9C1-DE87F4792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0689AA-2E89-987B-3B8C-20D585A4C13C}"/>
              </a:ext>
            </a:extLst>
          </p:cNvPr>
          <p:cNvGrpSpPr/>
          <p:nvPr/>
        </p:nvGrpSpPr>
        <p:grpSpPr>
          <a:xfrm>
            <a:off x="5594622" y="2215338"/>
            <a:ext cx="6483024" cy="1069727"/>
            <a:chOff x="457200" y="4313706"/>
            <a:chExt cx="8229600" cy="790217"/>
          </a:xfrm>
          <a:solidFill>
            <a:schemeClr val="bg2"/>
          </a:solidFill>
        </p:grpSpPr>
        <p:sp>
          <p:nvSpPr>
            <p:cNvPr id="6" name="Shape 27">
              <a:extLst>
                <a:ext uri="{FF2B5EF4-FFF2-40B4-BE49-F238E27FC236}">
                  <a16:creationId xmlns:a16="http://schemas.microsoft.com/office/drawing/2014/main" id="{7A711D91-582E-BB12-A1A6-E6E3B7DA9B31}"/>
                </a:ext>
              </a:extLst>
            </p:cNvPr>
            <p:cNvSpPr/>
            <p:nvPr/>
          </p:nvSpPr>
          <p:spPr>
            <a:xfrm>
              <a:off x="457200" y="4313707"/>
              <a:ext cx="8229600" cy="775729"/>
            </a:xfrm>
            <a:prstGeom prst="rect">
              <a:avLst/>
            </a:prstGeom>
            <a:grpFill/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sz="1600"/>
            </a:p>
          </p:txBody>
        </p:sp>
        <p:pic>
          <p:nvPicPr>
            <p:cNvPr id="7" name="Image 1" descr="preencoded.png">
              <a:extLst>
                <a:ext uri="{FF2B5EF4-FFF2-40B4-BE49-F238E27FC236}">
                  <a16:creationId xmlns:a16="http://schemas.microsoft.com/office/drawing/2014/main" id="{FDCD54FC-8111-A6C3-CEF0-00D400960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0" y="4389125"/>
              <a:ext cx="228600" cy="269350"/>
            </a:xfrm>
            <a:prstGeom prst="rect">
              <a:avLst/>
            </a:prstGeom>
            <a:grpFill/>
          </p:spPr>
        </p:pic>
        <p:sp>
          <p:nvSpPr>
            <p:cNvPr id="8" name="Text 28">
              <a:extLst>
                <a:ext uri="{FF2B5EF4-FFF2-40B4-BE49-F238E27FC236}">
                  <a16:creationId xmlns:a16="http://schemas.microsoft.com/office/drawing/2014/main" id="{9F4DFDAF-3C7C-96AC-73BF-883538887255}"/>
                </a:ext>
              </a:extLst>
            </p:cNvPr>
            <p:cNvSpPr/>
            <p:nvPr/>
          </p:nvSpPr>
          <p:spPr>
            <a:xfrm>
              <a:off x="993160" y="4313706"/>
              <a:ext cx="7589520" cy="790217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D4A01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"Vibe Coding":  </a:t>
              </a:r>
              <a:r>
                <a:rPr lang="en-US" sz="1600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new paradigm where developers describe intent in natural language, focusing on what to build rather than how to write it.</a:t>
              </a:r>
              <a:endParaRPr lang="en-US" sz="1600" dirty="0"/>
            </a:p>
          </p:txBody>
        </p:sp>
      </p:grpSp>
      <p:pic>
        <p:nvPicPr>
          <p:cNvPr id="9" name="Picture 2" descr="The origin story of Vibe Coding: The signs were right in front of us | by  Vibe Coding | Medium">
            <a:extLst>
              <a:ext uri="{FF2B5EF4-FFF2-40B4-BE49-F238E27FC236}">
                <a16:creationId xmlns:a16="http://schemas.microsoft.com/office/drawing/2014/main" id="{7410AB6E-6F23-6923-B1BA-DEADAF4DD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4" y="1387266"/>
            <a:ext cx="4778344" cy="31847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524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16889-2325-1819-E2C0-5E38CDE9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24B9-3E15-7363-780E-72B5BB5A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Across Industries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EFAA3-2B06-273E-15C5-F7904FDE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4B50BC-F1CF-BCCB-565B-AC94ABD0F7A2}"/>
              </a:ext>
            </a:extLst>
          </p:cNvPr>
          <p:cNvGrpSpPr/>
          <p:nvPr/>
        </p:nvGrpSpPr>
        <p:grpSpPr>
          <a:xfrm>
            <a:off x="506516" y="1498486"/>
            <a:ext cx="10872216" cy="4096512"/>
            <a:chOff x="640080" y="1508760"/>
            <a:chExt cx="10872216" cy="4096512"/>
          </a:xfrm>
        </p:grpSpPr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209E2BCD-6985-2421-9DCA-F4D73FE8A559}"/>
                </a:ext>
              </a:extLst>
            </p:cNvPr>
            <p:cNvSpPr/>
            <p:nvPr/>
          </p:nvSpPr>
          <p:spPr>
            <a:xfrm>
              <a:off x="640080" y="15087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" name="Text 2">
              <a:extLst>
                <a:ext uri="{FF2B5EF4-FFF2-40B4-BE49-F238E27FC236}">
                  <a16:creationId xmlns:a16="http://schemas.microsoft.com/office/drawing/2014/main" id="{511F669A-49A7-C8EB-F2B3-B95E97D129FA}"/>
                </a:ext>
              </a:extLst>
            </p:cNvPr>
            <p:cNvSpPr txBox="1"/>
            <p:nvPr/>
          </p:nvSpPr>
          <p:spPr>
            <a:xfrm>
              <a:off x="868680" y="16459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Search &amp; QA</a:t>
              </a:r>
              <a:endParaRPr lang="en-US" sz="2000" dirty="0"/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C922547B-B398-9D96-ED38-A53EBF52FBF7}"/>
                </a:ext>
              </a:extLst>
            </p:cNvPr>
            <p:cNvSpPr txBox="1"/>
            <p:nvPr/>
          </p:nvSpPr>
          <p:spPr>
            <a:xfrm>
              <a:off x="868680" y="2148840"/>
              <a:ext cx="32461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Meaning-based search: answers, not just links.</a:t>
              </a:r>
              <a:endParaRPr lang="en-US" sz="2000" dirty="0"/>
            </a:p>
          </p:txBody>
        </p:sp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4F9D5370-5F1D-E995-8026-7567B0B56A7F}"/>
                </a:ext>
              </a:extLst>
            </p:cNvPr>
            <p:cNvSpPr/>
            <p:nvPr/>
          </p:nvSpPr>
          <p:spPr>
            <a:xfrm>
              <a:off x="4224528" y="15087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3FB14669-2C2A-3BDC-EBC9-B1C317F6D5FA}"/>
                </a:ext>
              </a:extLst>
            </p:cNvPr>
            <p:cNvSpPr txBox="1"/>
            <p:nvPr/>
          </p:nvSpPr>
          <p:spPr>
            <a:xfrm>
              <a:off x="4453128" y="16459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Healthcare</a:t>
              </a:r>
              <a:endParaRPr lang="en-US" sz="2000" dirty="0"/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6EDCA19D-2F0E-05E9-1406-B0799563500B}"/>
                </a:ext>
              </a:extLst>
            </p:cNvPr>
            <p:cNvSpPr txBox="1"/>
            <p:nvPr/>
          </p:nvSpPr>
          <p:spPr>
            <a:xfrm>
              <a:off x="4453128" y="2148840"/>
              <a:ext cx="32461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~80% of records are unstructured </a:t>
              </a:r>
              <a:r>
                <a:rPr lang="en-US" sz="2000" dirty="0"/>
                <a:t>(notes, reports, images)¹</a:t>
              </a:r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12ADF31D-7E3F-CB01-4AF0-8E9938DA4CF3}"/>
                </a:ext>
              </a:extLst>
            </p:cNvPr>
            <p:cNvSpPr/>
            <p:nvPr/>
          </p:nvSpPr>
          <p:spPr>
            <a:xfrm>
              <a:off x="7808976" y="1508760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34A21446-E8BF-11BD-10F3-5BB4AD01F627}"/>
                </a:ext>
              </a:extLst>
            </p:cNvPr>
            <p:cNvSpPr txBox="1"/>
            <p:nvPr/>
          </p:nvSpPr>
          <p:spPr>
            <a:xfrm>
              <a:off x="8037576" y="1645920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Finance</a:t>
              </a:r>
              <a:endParaRPr lang="en-US" sz="2000" dirty="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3814AE33-BE6D-79EB-A588-FE4956C1352D}"/>
                </a:ext>
              </a:extLst>
            </p:cNvPr>
            <p:cNvSpPr txBox="1"/>
            <p:nvPr/>
          </p:nvSpPr>
          <p:spPr>
            <a:xfrm>
              <a:off x="8037576" y="2148840"/>
              <a:ext cx="32461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Sentiment on news/earnings; fraud &amp; compliance scanning.</a:t>
              </a:r>
              <a:endParaRPr lang="en-US" sz="2000" dirty="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B933334E-4643-2605-607C-A8B95D542BF1}"/>
                </a:ext>
              </a:extLst>
            </p:cNvPr>
            <p:cNvSpPr/>
            <p:nvPr/>
          </p:nvSpPr>
          <p:spPr>
            <a:xfrm>
              <a:off x="640080" y="3639312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1187AB5C-B202-EEE0-BFDA-611507DC1AE3}"/>
                </a:ext>
              </a:extLst>
            </p:cNvPr>
            <p:cNvSpPr txBox="1"/>
            <p:nvPr/>
          </p:nvSpPr>
          <p:spPr>
            <a:xfrm>
              <a:off x="868680" y="3776472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86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Voice assistants</a:t>
              </a:r>
              <a:endParaRPr lang="en-US" sz="2000" dirty="0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602C46E3-D059-F5D8-288F-DAB9D2FE9277}"/>
                </a:ext>
              </a:extLst>
            </p:cNvPr>
            <p:cNvSpPr txBox="1"/>
            <p:nvPr/>
          </p:nvSpPr>
          <p:spPr>
            <a:xfrm>
              <a:off x="868680" y="4279392"/>
              <a:ext cx="32461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Speech → understand → respond; NLP is the brain.</a:t>
              </a:r>
              <a:endParaRPr lang="en-US" sz="2000" dirty="0"/>
            </a:p>
          </p:txBody>
        </p:sp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6994BD72-455C-CF99-CC1C-36109F9E7555}"/>
                </a:ext>
              </a:extLst>
            </p:cNvPr>
            <p:cNvSpPr/>
            <p:nvPr/>
          </p:nvSpPr>
          <p:spPr>
            <a:xfrm>
              <a:off x="4224528" y="3639312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F89A74BD-3714-40AF-1A9C-D0BFE5A821B3}"/>
                </a:ext>
              </a:extLst>
            </p:cNvPr>
            <p:cNvSpPr txBox="1"/>
            <p:nvPr/>
          </p:nvSpPr>
          <p:spPr>
            <a:xfrm>
              <a:off x="4453128" y="3776472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6D2E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Summarization</a:t>
              </a:r>
              <a:endParaRPr lang="en-US" sz="2000" dirty="0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238CAC88-40E4-0C63-84D4-966A332D639C}"/>
                </a:ext>
              </a:extLst>
            </p:cNvPr>
            <p:cNvSpPr txBox="1"/>
            <p:nvPr/>
          </p:nvSpPr>
          <p:spPr>
            <a:xfrm>
              <a:off x="4453128" y="4279392"/>
              <a:ext cx="32461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Compress long documents to the key points.</a:t>
              </a:r>
              <a:endParaRPr lang="en-US" sz="2000" dirty="0"/>
            </a:p>
          </p:txBody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073975B9-E66D-D6F0-E271-DA4794DB829D}"/>
                </a:ext>
              </a:extLst>
            </p:cNvPr>
            <p:cNvSpPr/>
            <p:nvPr/>
          </p:nvSpPr>
          <p:spPr>
            <a:xfrm>
              <a:off x="7808976" y="3639312"/>
              <a:ext cx="3703320" cy="1965960"/>
            </a:xfrm>
            <a:prstGeom prst="roundRect">
              <a:avLst>
                <a:gd name="adj" fmla="val 418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FE160C32-B883-E175-8C48-00E382E37770}"/>
                </a:ext>
              </a:extLst>
            </p:cNvPr>
            <p:cNvSpPr txBox="1"/>
            <p:nvPr/>
          </p:nvSpPr>
          <p:spPr>
            <a:xfrm>
              <a:off x="8037576" y="3776472"/>
              <a:ext cx="3246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Sentiment analysis</a:t>
              </a:r>
              <a:endParaRPr lang="en-US" sz="2000" dirty="0"/>
            </a:p>
          </p:txBody>
        </p:sp>
        <p:sp>
          <p:nvSpPr>
            <p:cNvPr id="28" name="Text 18">
              <a:extLst>
                <a:ext uri="{FF2B5EF4-FFF2-40B4-BE49-F238E27FC236}">
                  <a16:creationId xmlns:a16="http://schemas.microsoft.com/office/drawing/2014/main" id="{372AE509-B8C8-7499-AD18-90C30A3EAC1E}"/>
                </a:ext>
              </a:extLst>
            </p:cNvPr>
            <p:cNvSpPr txBox="1"/>
            <p:nvPr/>
          </p:nvSpPr>
          <p:spPr>
            <a:xfrm>
              <a:off x="8037576" y="4279392"/>
              <a:ext cx="32461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Turn opinions into data — though sarcasm stays hard.</a:t>
              </a:r>
              <a:endParaRPr lang="en-US" sz="20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20476B1-7424-619D-F0A4-2E7785339E5E}"/>
              </a:ext>
            </a:extLst>
          </p:cNvPr>
          <p:cNvSpPr txBox="1"/>
          <p:nvPr/>
        </p:nvSpPr>
        <p:spPr>
          <a:xfrm>
            <a:off x="457199" y="6396713"/>
            <a:ext cx="11355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1"/>
                </a:solidFill>
                <a:effectLst/>
                <a:latin typeface="+mn-lt"/>
              </a:rPr>
              <a:t>¹ 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Kong HJ. Managing Unstructured Big Data in Healthcare System.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Healthc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Inform Res. 2019 Jan;25(1):1-2.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: 10.4258/hir.2019.25.1.1.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Epub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2019 Jan 31. PMID: 30788175; PMCID: PMC6372467.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938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BD437-5E2D-EE4B-9821-BD2C124E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D5C2D1-9FFB-968F-4D3F-7D022145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11DE51-A5F4-0406-2432-6B2D6910C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A91D7-DF40-3493-895B-B6C50719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344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71AE-7C0B-2C35-4E9E-BAE13213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3AA1-E121-0F4E-6CA8-55299B47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D7CB5-E566-66DA-1DF8-92A4FAC7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6F1DA7-C3B2-FB4E-5A94-472D30C87023}"/>
              </a:ext>
            </a:extLst>
          </p:cNvPr>
          <p:cNvGrpSpPr/>
          <p:nvPr/>
        </p:nvGrpSpPr>
        <p:grpSpPr>
          <a:xfrm>
            <a:off x="540421" y="1466534"/>
            <a:ext cx="10515600" cy="4572000"/>
            <a:chOff x="822960" y="1554480"/>
            <a:chExt cx="10515600" cy="4572000"/>
          </a:xfrm>
        </p:grpSpPr>
        <p:sp>
          <p:nvSpPr>
            <p:cNvPr id="12" name="Shape 1">
              <a:extLst>
                <a:ext uri="{FF2B5EF4-FFF2-40B4-BE49-F238E27FC236}">
                  <a16:creationId xmlns:a16="http://schemas.microsoft.com/office/drawing/2014/main" id="{C0D681A9-0B00-8415-E86F-47B8F64D7C14}"/>
                </a:ext>
              </a:extLst>
            </p:cNvPr>
            <p:cNvSpPr/>
            <p:nvPr/>
          </p:nvSpPr>
          <p:spPr>
            <a:xfrm>
              <a:off x="822960" y="1554480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3" name="Text 2">
              <a:extLst>
                <a:ext uri="{FF2B5EF4-FFF2-40B4-BE49-F238E27FC236}">
                  <a16:creationId xmlns:a16="http://schemas.microsoft.com/office/drawing/2014/main" id="{C815FB95-0140-DEC2-4A89-CCF1EF6AD7C1}"/>
                </a:ext>
              </a:extLst>
            </p:cNvPr>
            <p:cNvSpPr txBox="1"/>
            <p:nvPr/>
          </p:nvSpPr>
          <p:spPr>
            <a:xfrm>
              <a:off x="1097280" y="1609344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NLP bridges human–computer communication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Natural language interaction, not code.</a:t>
              </a:r>
              <a:endParaRPr lang="en-US" sz="2000" dirty="0"/>
            </a:p>
          </p:txBody>
        </p:sp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2F51CD95-6ACC-981B-C0A0-BD319B1265C8}"/>
                </a:ext>
              </a:extLst>
            </p:cNvPr>
            <p:cNvSpPr/>
            <p:nvPr/>
          </p:nvSpPr>
          <p:spPr>
            <a:xfrm>
              <a:off x="822960" y="2487168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0C462EE0-6C48-E4A4-CB01-44AA95B4FCF6}"/>
                </a:ext>
              </a:extLst>
            </p:cNvPr>
            <p:cNvSpPr txBox="1"/>
            <p:nvPr/>
          </p:nvSpPr>
          <p:spPr>
            <a:xfrm>
              <a:off x="1097280" y="2542032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Words become vectors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Embeddings capture meaning — enabling math on language.</a:t>
              </a:r>
              <a:endParaRPr lang="en-US" sz="2000" dirty="0"/>
            </a:p>
          </p:txBody>
        </p:sp>
        <p:sp>
          <p:nvSpPr>
            <p:cNvPr id="16" name="Shape 5">
              <a:extLst>
                <a:ext uri="{FF2B5EF4-FFF2-40B4-BE49-F238E27FC236}">
                  <a16:creationId xmlns:a16="http://schemas.microsoft.com/office/drawing/2014/main" id="{61F07882-CCBE-5BD1-2C7D-ABAD3821C90F}"/>
                </a:ext>
              </a:extLst>
            </p:cNvPr>
            <p:cNvSpPr/>
            <p:nvPr/>
          </p:nvSpPr>
          <p:spPr>
            <a:xfrm>
              <a:off x="822960" y="3419856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D12DE6C2-BB62-34EA-5BEF-C466E04D48EB}"/>
                </a:ext>
              </a:extLst>
            </p:cNvPr>
            <p:cNvSpPr txBox="1"/>
            <p:nvPr/>
          </p:nvSpPr>
          <p:spPr>
            <a:xfrm>
              <a:off x="1097280" y="3474720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Sequence → attention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RNN/LSTM added memory; transformers added parallel attention.</a:t>
              </a:r>
              <a:endParaRPr lang="en-US" sz="2000" dirty="0"/>
            </a:p>
          </p:txBody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950A04D3-AA93-EC20-B6E0-7DF456651F17}"/>
                </a:ext>
              </a:extLst>
            </p:cNvPr>
            <p:cNvSpPr/>
            <p:nvPr/>
          </p:nvSpPr>
          <p:spPr>
            <a:xfrm>
              <a:off x="822960" y="4352544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A758E8AF-4772-8BC8-24E0-C9CEC5D97286}"/>
                </a:ext>
              </a:extLst>
            </p:cNvPr>
            <p:cNvSpPr txBox="1"/>
            <p:nvPr/>
          </p:nvSpPr>
          <p:spPr>
            <a:xfrm>
              <a:off x="1097280" y="4407408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Transformers changed everything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Self-attention + scale power today’s LLMs.</a:t>
              </a:r>
              <a:endParaRPr lang="en-US" sz="2000" dirty="0"/>
            </a:p>
          </p:txBody>
        </p:sp>
        <p:sp>
          <p:nvSpPr>
            <p:cNvPr id="20" name="Shape 9">
              <a:extLst>
                <a:ext uri="{FF2B5EF4-FFF2-40B4-BE49-F238E27FC236}">
                  <a16:creationId xmlns:a16="http://schemas.microsoft.com/office/drawing/2014/main" id="{A236D4F7-F509-E16E-D04D-EA4CDAAF9515}"/>
                </a:ext>
              </a:extLst>
            </p:cNvPr>
            <p:cNvSpPr/>
            <p:nvPr/>
          </p:nvSpPr>
          <p:spPr>
            <a:xfrm>
              <a:off x="822960" y="5285232"/>
              <a:ext cx="10515600" cy="841248"/>
            </a:xfrm>
            <a:prstGeom prst="roundRect">
              <a:avLst>
                <a:gd name="adj" fmla="val 869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B8D31F3F-4DA2-FA96-11B1-21B9C2A4AA28}"/>
                </a:ext>
              </a:extLst>
            </p:cNvPr>
            <p:cNvSpPr txBox="1"/>
            <p:nvPr/>
          </p:nvSpPr>
          <p:spPr>
            <a:xfrm>
              <a:off x="1097280" y="5340096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Wide-ranging impact   </a:t>
              </a:r>
              <a:r>
                <a:rPr lang="en-US" sz="20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Search, healthcare, finance, code, voice — NLP is everywhere.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03165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EBD65-161B-0CA1-9CAF-8CC79A00D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B2D8-E2EA-80E3-2BAD-29E93B26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Discuss (5–10 min)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5DA7E-74F8-D979-BA80-C6FC3F762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200" dirty="0"/>
              <a:t>Word embeddings learn analogies like “king − man + woman ≈ queen” straight from text. If the training text carries human biases, what do the vectors learn — and where could that cause harm?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endParaRPr lang="en-US" sz="2200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200" dirty="0"/>
              <a:t>LLMs “just predict the next word,” yet write essays and code. Does that count as understanding language — or convincing imitation? Does the difference matter for how we use them?</a:t>
            </a:r>
          </a:p>
          <a:p>
            <a:pPr>
              <a:lnSpc>
                <a:spcPct val="110000"/>
              </a:lnSpc>
            </a:pP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sz="2200" i="1" dirty="0"/>
              <a:t>Alternate: “The hottest new programming language is English. (</a:t>
            </a:r>
            <a:r>
              <a:rPr lang="en-US" sz="2200" i="1" dirty="0" err="1"/>
              <a:t>Karpathy</a:t>
            </a:r>
            <a:r>
              <a:rPr lang="en-US" sz="2200" i="1" dirty="0"/>
              <a:t>)” If describing intent replaces writing code, what skills become more — or less — valuable?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CB8E0C-FED9-6927-4653-C89D7120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010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83FE5A-6E76-41E6-8E63-B032CDCA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Advanced Subjects/Demos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B626523-85AC-15C6-8018-59B3F4217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F1919-F933-41C5-8E70-8A3C271D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03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5991-8F83-B5EB-D2D5-BE208AA3E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1E01B-B6E7-8586-9D6B-59085030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Word Vectors/Embeddings - Demo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DA37E-D882-DA67-FB4F-852D54717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1900" dirty="0"/>
              <a:t>Word vectors numerically represent word semantics, including literal and implied meanings. </a:t>
            </a:r>
          </a:p>
          <a:p>
            <a:pPr>
              <a:lnSpc>
                <a:spcPct val="110000"/>
              </a:lnSpc>
            </a:pPr>
            <a:endParaRPr lang="en-US" sz="1900" dirty="0"/>
          </a:p>
          <a:p>
            <a:pPr>
              <a:lnSpc>
                <a:spcPct val="110000"/>
              </a:lnSpc>
            </a:pPr>
            <a:r>
              <a:rPr lang="en-US" sz="1900" dirty="0"/>
              <a:t>These vectors let us measure similarity and analogy. Which pair reflects more semantic similarity: “fish vs. shark” or “fish vs. fist”?</a:t>
            </a:r>
          </a:p>
          <a:p>
            <a:pPr>
              <a:lnSpc>
                <a:spcPct val="110000"/>
              </a:lnSpc>
            </a:pPr>
            <a:endParaRPr lang="en-US" sz="1900" dirty="0"/>
          </a:p>
          <a:p>
            <a:pPr>
              <a:lnSpc>
                <a:spcPct val="110000"/>
              </a:lnSpc>
            </a:pPr>
            <a:r>
              <a:rPr lang="en-US" sz="1900" dirty="0"/>
              <a:t>See the link to the demo  </a:t>
            </a:r>
            <a:r>
              <a:rPr lang="en-US" sz="1900" dirty="0">
                <a:hlinkClick r:id="rId3"/>
              </a:rPr>
              <a:t>Claude session </a:t>
            </a:r>
            <a:r>
              <a:rPr lang="en-US" sz="1900" dirty="0"/>
              <a:t>exploring the semantic similarity of these and other subjects.</a:t>
            </a:r>
          </a:p>
          <a:p>
            <a:pPr>
              <a:lnSpc>
                <a:spcPct val="110000"/>
              </a:lnSpc>
            </a:pPr>
            <a:endParaRPr lang="en-US" sz="1900" dirty="0"/>
          </a:p>
          <a:p>
            <a:pPr lvl="1">
              <a:lnSpc>
                <a:spcPct val="110000"/>
              </a:lnSpc>
            </a:pPr>
            <a:r>
              <a:rPr lang="en-US" sz="1900" dirty="0"/>
              <a:t>Yourself: check the semantic similarity of:</a:t>
            </a:r>
          </a:p>
          <a:p>
            <a:pPr lvl="2">
              <a:lnSpc>
                <a:spcPct val="110000"/>
              </a:lnSpc>
            </a:pPr>
            <a:r>
              <a:rPr lang="en-US" sz="1900" dirty="0"/>
              <a:t>“feeling blue” vs. “feeling sad”</a:t>
            </a:r>
          </a:p>
          <a:p>
            <a:pPr lvl="2">
              <a:lnSpc>
                <a:spcPct val="110000"/>
              </a:lnSpc>
            </a:pPr>
            <a:r>
              <a:rPr lang="en-US" sz="1900" dirty="0"/>
              <a:t>“feeling blue” vs. “blue lagoon”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F6D26B-C220-5A1B-115D-8726401B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580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C7BCF-3E53-DC82-53C1-51F2523B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567C8E-D983-BB3A-0252-FB5D86C3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Slides/Video for Self-Learning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6BF2ACD-7BAD-DA66-DF99-723CFD2D4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351E1E-A00C-0ED6-C72F-4871380C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99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D5A8-FF4D-D9B6-C3DD-AC9EA51E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F9BA-C06C-287D-EBDB-8A3CAE41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Sequence-to-Sequence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A24F9-EDE2-59A8-97DE-79602536D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277600" cy="5292545"/>
          </a:xfrm>
        </p:spPr>
        <p:txBody>
          <a:bodyPr>
            <a:noAutofit/>
          </a:bodyPr>
          <a:lstStyle/>
          <a:p>
            <a:r>
              <a:rPr lang="en-US" dirty="0"/>
              <a:t>Seq2Seq models transform one sequence into another—essential for translation, summarization, and question answering. Unlike simple vectors, order matters in sequences.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Point: Seq2Seq enables variable-length input to variable-length output—"How are you?" (3 words) can become "Wie </a:t>
            </a:r>
            <a:r>
              <a:rPr lang="en-US" dirty="0" err="1"/>
              <a:t>geht</a:t>
            </a:r>
            <a:r>
              <a:rPr lang="en-US" dirty="0"/>
              <a:t> es </a:t>
            </a:r>
            <a:r>
              <a:rPr lang="en-US" dirty="0" err="1"/>
              <a:t>dir</a:t>
            </a:r>
            <a:r>
              <a:rPr lang="en-US" dirty="0"/>
              <a:t>?" (4 words) in German.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F6441-92D6-E2CE-24EF-4105EAE9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41</a:t>
            </a:fld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84E416E-500E-3226-D7E8-B0DB7CDF8A27}"/>
              </a:ext>
            </a:extLst>
          </p:cNvPr>
          <p:cNvCxnSpPr>
            <a:cxnSpLocks/>
          </p:cNvCxnSpPr>
          <p:nvPr/>
        </p:nvCxnSpPr>
        <p:spPr>
          <a:xfrm>
            <a:off x="1896937" y="5886451"/>
            <a:ext cx="0" cy="6248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8C05900-0525-93AE-3369-DE9368536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90158"/>
            <a:ext cx="8830973" cy="347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01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57E4-F315-EB41-4D13-5DBCA299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A62A-5C55-17A3-3B80-777545C6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Networks (RNN)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09D4E-57A8-DB97-3C21-C09B6150E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5457"/>
            <a:ext cx="11937076" cy="5292545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Takeaway:  RNNs process sequences by maintaining a hidden state that accumulates context word by word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D7D56-A321-4DED-B11A-0DE2494D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pPr/>
              <a:t>42</a:t>
            </a:fld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BB6CEC-7D04-5AD8-321A-D935B15255CD}"/>
              </a:ext>
            </a:extLst>
          </p:cNvPr>
          <p:cNvCxnSpPr>
            <a:cxnSpLocks/>
          </p:cNvCxnSpPr>
          <p:nvPr/>
        </p:nvCxnSpPr>
        <p:spPr>
          <a:xfrm>
            <a:off x="457200" y="5974720"/>
            <a:ext cx="0" cy="7905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024B4047-3A70-3BDB-B272-76C65959DEB1}"/>
              </a:ext>
            </a:extLst>
          </p:cNvPr>
          <p:cNvGrpSpPr/>
          <p:nvPr/>
        </p:nvGrpSpPr>
        <p:grpSpPr>
          <a:xfrm>
            <a:off x="631381" y="1708208"/>
            <a:ext cx="8470900" cy="3469640"/>
            <a:chOff x="457200" y="1051560"/>
            <a:chExt cx="8229600" cy="3200400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4CEC272D-FA90-D57C-9285-225F53A2B435}"/>
                </a:ext>
              </a:extLst>
            </p:cNvPr>
            <p:cNvSpPr/>
            <p:nvPr/>
          </p:nvSpPr>
          <p:spPr>
            <a:xfrm>
              <a:off x="457200" y="1051560"/>
              <a:ext cx="3931920" cy="13716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068BF6D2-2D04-07D6-6A24-3307F56FEB30}"/>
                </a:ext>
              </a:extLst>
            </p:cNvPr>
            <p:cNvSpPr/>
            <p:nvPr/>
          </p:nvSpPr>
          <p:spPr>
            <a:xfrm>
              <a:off x="457200" y="1051560"/>
              <a:ext cx="54864" cy="1371600"/>
            </a:xfrm>
            <a:prstGeom prst="rect">
              <a:avLst/>
            </a:prstGeom>
            <a:solidFill>
              <a:srgbClr val="D0D5D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8547CB2A-A8A7-95F0-47D8-BC8C51FF997E}"/>
                </a:ext>
              </a:extLst>
            </p:cNvPr>
            <p:cNvSpPr/>
            <p:nvPr/>
          </p:nvSpPr>
          <p:spPr>
            <a:xfrm>
              <a:off x="731520" y="109728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555555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Feedforward Network</a:t>
              </a:r>
              <a:endParaRPr lang="en-US" sz="2000" dirty="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22816E10-F997-32C6-04FF-F1ADF1A253EE}"/>
                </a:ext>
              </a:extLst>
            </p:cNvPr>
            <p:cNvSpPr/>
            <p:nvPr/>
          </p:nvSpPr>
          <p:spPr>
            <a:xfrm>
              <a:off x="731520" y="1463040"/>
              <a:ext cx="34747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55555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Sees everything at once.</a:t>
              </a:r>
              <a:endParaRPr lang="en-US" dirty="0"/>
            </a:p>
            <a:p>
              <a:r>
                <a:rPr lang="en-US" dirty="0">
                  <a:solidFill>
                    <a:srgbClr val="55555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Like looking at a photo.</a:t>
              </a:r>
              <a:endParaRPr lang="en-US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FDF71AD5-FAC3-84E8-3BD3-C21FF48CF0B1}"/>
                </a:ext>
              </a:extLst>
            </p:cNvPr>
            <p:cNvSpPr/>
            <p:nvPr/>
          </p:nvSpPr>
          <p:spPr>
            <a:xfrm>
              <a:off x="731520" y="210312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D0D5D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loops • No memory</a:t>
              </a:r>
              <a:endParaRPr lang="en-US" dirty="0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7021DD8F-CEA0-7EE2-07F8-2F2664D40192}"/>
                </a:ext>
              </a:extLst>
            </p:cNvPr>
            <p:cNvSpPr/>
            <p:nvPr/>
          </p:nvSpPr>
          <p:spPr>
            <a:xfrm>
              <a:off x="4754880" y="1051560"/>
              <a:ext cx="3931920" cy="13716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7238B11D-B74A-2407-A04A-274C4946E462}"/>
                </a:ext>
              </a:extLst>
            </p:cNvPr>
            <p:cNvSpPr/>
            <p:nvPr/>
          </p:nvSpPr>
          <p:spPr>
            <a:xfrm>
              <a:off x="4754880" y="1051560"/>
              <a:ext cx="54864" cy="1371600"/>
            </a:xfrm>
            <a:prstGeom prst="rect">
              <a:avLst/>
            </a:prstGeom>
            <a:solidFill>
              <a:srgbClr val="2E75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6DBA20B3-7D1C-0149-1E51-7C6F82A135DA}"/>
                </a:ext>
              </a:extLst>
            </p:cNvPr>
            <p:cNvSpPr/>
            <p:nvPr/>
          </p:nvSpPr>
          <p:spPr>
            <a:xfrm>
              <a:off x="5029200" y="109728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2E75B6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Recurrent Network (RNN)</a:t>
              </a:r>
              <a:endParaRPr lang="en-US" sz="2000" dirty="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DF6C8EC2-1F8F-8A40-3CD7-D9DAC8716100}"/>
                </a:ext>
              </a:extLst>
            </p:cNvPr>
            <p:cNvSpPr/>
            <p:nvPr/>
          </p:nvSpPr>
          <p:spPr>
            <a:xfrm>
              <a:off x="5029200" y="1463040"/>
              <a:ext cx="34747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Reads word by word, keeping</a:t>
              </a:r>
              <a:endParaRPr lang="en-US" dirty="0"/>
            </a:p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running summary.</a:t>
              </a:r>
              <a:endParaRPr lang="en-US" dirty="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ACCFCB6C-C753-F793-677A-822EBDF45107}"/>
                </a:ext>
              </a:extLst>
            </p:cNvPr>
            <p:cNvSpPr/>
            <p:nvPr/>
          </p:nvSpPr>
          <p:spPr>
            <a:xfrm>
              <a:off x="5029200" y="210312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E75B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Loops back • Has memory</a:t>
              </a:r>
              <a:endParaRPr lang="en-US" dirty="0"/>
            </a:p>
          </p:txBody>
        </p:sp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49ACDF65-7F7C-4547-397D-3A934E663944}"/>
                </a:ext>
              </a:extLst>
            </p:cNvPr>
            <p:cNvSpPr/>
            <p:nvPr/>
          </p:nvSpPr>
          <p:spPr>
            <a:xfrm>
              <a:off x="457200" y="2651760"/>
              <a:ext cx="8229600" cy="914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14C081C5-5051-AC3C-1BB1-91ECBBE0289B}"/>
                </a:ext>
              </a:extLst>
            </p:cNvPr>
            <p:cNvSpPr/>
            <p:nvPr/>
          </p:nvSpPr>
          <p:spPr>
            <a:xfrm>
              <a:off x="731520" y="2788920"/>
              <a:ext cx="914400" cy="411480"/>
            </a:xfrm>
            <a:prstGeom prst="rect">
              <a:avLst/>
            </a:prstGeom>
            <a:solidFill>
              <a:srgbClr val="E3F2F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F7E8CDD9-08BA-423D-7561-6A71D0759635}"/>
                </a:ext>
              </a:extLst>
            </p:cNvPr>
            <p:cNvSpPr/>
            <p:nvPr/>
          </p:nvSpPr>
          <p:spPr>
            <a:xfrm>
              <a:off x="731520" y="2788920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</a:t>
              </a:r>
              <a:endParaRPr lang="en-US" dirty="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F2B98F8A-5708-D67F-F3A5-74A16729E558}"/>
                </a:ext>
              </a:extLst>
            </p:cNvPr>
            <p:cNvSpPr/>
            <p:nvPr/>
          </p:nvSpPr>
          <p:spPr>
            <a:xfrm>
              <a:off x="1645920" y="2788920"/>
              <a:ext cx="365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dirty="0">
                  <a:solidFill>
                    <a:srgbClr val="2E75B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→</a:t>
              </a:r>
              <a:endParaRPr lang="en-US" sz="2000" dirty="0"/>
            </a:p>
          </p:txBody>
        </p:sp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C4BE55C6-8A30-7258-0A30-3BAF8F684B71}"/>
                </a:ext>
              </a:extLst>
            </p:cNvPr>
            <p:cNvSpPr/>
            <p:nvPr/>
          </p:nvSpPr>
          <p:spPr>
            <a:xfrm>
              <a:off x="2011680" y="2788920"/>
              <a:ext cx="914400" cy="411480"/>
            </a:xfrm>
            <a:prstGeom prst="rect">
              <a:avLst/>
            </a:prstGeom>
            <a:solidFill>
              <a:srgbClr val="E3F2F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FA39F1CD-8925-5220-D278-6ABAECDEB0BB}"/>
                </a:ext>
              </a:extLst>
            </p:cNvPr>
            <p:cNvSpPr/>
            <p:nvPr/>
          </p:nvSpPr>
          <p:spPr>
            <a:xfrm>
              <a:off x="2011680" y="2788920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cat</a:t>
              </a:r>
              <a:endParaRPr lang="en-US" dirty="0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C174B004-8483-5D63-777B-15FA48A03D66}"/>
                </a:ext>
              </a:extLst>
            </p:cNvPr>
            <p:cNvSpPr/>
            <p:nvPr/>
          </p:nvSpPr>
          <p:spPr>
            <a:xfrm>
              <a:off x="2926080" y="2788920"/>
              <a:ext cx="365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dirty="0">
                  <a:solidFill>
                    <a:srgbClr val="2E75B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→</a:t>
              </a:r>
              <a:endParaRPr lang="en-US" sz="2000" dirty="0"/>
            </a:p>
          </p:txBody>
        </p:sp>
        <p:sp>
          <p:nvSpPr>
            <p:cNvPr id="25" name="Shape 20">
              <a:extLst>
                <a:ext uri="{FF2B5EF4-FFF2-40B4-BE49-F238E27FC236}">
                  <a16:creationId xmlns:a16="http://schemas.microsoft.com/office/drawing/2014/main" id="{0CE40819-6048-DFF6-E9A8-2AF1D2323468}"/>
                </a:ext>
              </a:extLst>
            </p:cNvPr>
            <p:cNvSpPr/>
            <p:nvPr/>
          </p:nvSpPr>
          <p:spPr>
            <a:xfrm>
              <a:off x="3291840" y="2788920"/>
              <a:ext cx="914400" cy="411480"/>
            </a:xfrm>
            <a:prstGeom prst="rect">
              <a:avLst/>
            </a:prstGeom>
            <a:solidFill>
              <a:srgbClr val="E3F2F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2A1E45F2-20D9-2D4C-2C91-7596C7699D7D}"/>
                </a:ext>
              </a:extLst>
            </p:cNvPr>
            <p:cNvSpPr/>
            <p:nvPr/>
          </p:nvSpPr>
          <p:spPr>
            <a:xfrm>
              <a:off x="3291840" y="2788920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sat</a:t>
              </a:r>
              <a:endParaRPr lang="en-US" dirty="0"/>
            </a:p>
          </p:txBody>
        </p:sp>
        <p:sp>
          <p:nvSpPr>
            <p:cNvPr id="27" name="Text 22">
              <a:extLst>
                <a:ext uri="{FF2B5EF4-FFF2-40B4-BE49-F238E27FC236}">
                  <a16:creationId xmlns:a16="http://schemas.microsoft.com/office/drawing/2014/main" id="{954DD85F-F8CF-9F6C-FEBD-BC8BC16B4AD4}"/>
                </a:ext>
              </a:extLst>
            </p:cNvPr>
            <p:cNvSpPr/>
            <p:nvPr/>
          </p:nvSpPr>
          <p:spPr>
            <a:xfrm>
              <a:off x="4206240" y="2788920"/>
              <a:ext cx="365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dirty="0">
                  <a:solidFill>
                    <a:srgbClr val="2E75B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→</a:t>
              </a:r>
              <a:endParaRPr lang="en-US" sz="2000" dirty="0"/>
            </a:p>
          </p:txBody>
        </p:sp>
        <p:sp>
          <p:nvSpPr>
            <p:cNvPr id="28" name="Shape 23">
              <a:extLst>
                <a:ext uri="{FF2B5EF4-FFF2-40B4-BE49-F238E27FC236}">
                  <a16:creationId xmlns:a16="http://schemas.microsoft.com/office/drawing/2014/main" id="{E65E8FFD-7A83-3F0D-9372-EB858F65C24D}"/>
                </a:ext>
              </a:extLst>
            </p:cNvPr>
            <p:cNvSpPr/>
            <p:nvPr/>
          </p:nvSpPr>
          <p:spPr>
            <a:xfrm>
              <a:off x="4572000" y="2788920"/>
              <a:ext cx="914400" cy="411480"/>
            </a:xfrm>
            <a:prstGeom prst="rect">
              <a:avLst/>
            </a:prstGeom>
            <a:solidFill>
              <a:srgbClr val="E3F2F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4">
              <a:extLst>
                <a:ext uri="{FF2B5EF4-FFF2-40B4-BE49-F238E27FC236}">
                  <a16:creationId xmlns:a16="http://schemas.microsoft.com/office/drawing/2014/main" id="{5FEA3DFC-AA27-A268-0FD4-0035EFAEB14D}"/>
                </a:ext>
              </a:extLst>
            </p:cNvPr>
            <p:cNvSpPr/>
            <p:nvPr/>
          </p:nvSpPr>
          <p:spPr>
            <a:xfrm>
              <a:off x="4572000" y="2788920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on</a:t>
              </a:r>
              <a:endParaRPr lang="en-US" dirty="0"/>
            </a:p>
          </p:txBody>
        </p:sp>
        <p:sp>
          <p:nvSpPr>
            <p:cNvPr id="30" name="Text 25">
              <a:extLst>
                <a:ext uri="{FF2B5EF4-FFF2-40B4-BE49-F238E27FC236}">
                  <a16:creationId xmlns:a16="http://schemas.microsoft.com/office/drawing/2014/main" id="{755F604F-63EF-E65F-298B-2DA55B1E002C}"/>
                </a:ext>
              </a:extLst>
            </p:cNvPr>
            <p:cNvSpPr/>
            <p:nvPr/>
          </p:nvSpPr>
          <p:spPr>
            <a:xfrm>
              <a:off x="5486400" y="2788920"/>
              <a:ext cx="365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dirty="0">
                  <a:solidFill>
                    <a:srgbClr val="2E75B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→</a:t>
              </a:r>
              <a:endParaRPr lang="en-US" sz="2000" dirty="0"/>
            </a:p>
          </p:txBody>
        </p:sp>
        <p:sp>
          <p:nvSpPr>
            <p:cNvPr id="31" name="Shape 26">
              <a:extLst>
                <a:ext uri="{FF2B5EF4-FFF2-40B4-BE49-F238E27FC236}">
                  <a16:creationId xmlns:a16="http://schemas.microsoft.com/office/drawing/2014/main" id="{BA87B85F-B4DE-ACD8-2B25-4904932AC5A5}"/>
                </a:ext>
              </a:extLst>
            </p:cNvPr>
            <p:cNvSpPr/>
            <p:nvPr/>
          </p:nvSpPr>
          <p:spPr>
            <a:xfrm>
              <a:off x="5852160" y="2788920"/>
              <a:ext cx="914400" cy="411480"/>
            </a:xfrm>
            <a:prstGeom prst="rect">
              <a:avLst/>
            </a:prstGeom>
            <a:solidFill>
              <a:srgbClr val="BBDEF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27">
              <a:extLst>
                <a:ext uri="{FF2B5EF4-FFF2-40B4-BE49-F238E27FC236}">
                  <a16:creationId xmlns:a16="http://schemas.microsoft.com/office/drawing/2014/main" id="{12C37454-5FA2-494C-B59A-9151CB4D4ED5}"/>
                </a:ext>
              </a:extLst>
            </p:cNvPr>
            <p:cNvSpPr/>
            <p:nvPr/>
          </p:nvSpPr>
          <p:spPr>
            <a:xfrm>
              <a:off x="5852160" y="2788920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</a:t>
              </a:r>
              <a:endParaRPr lang="en-US" dirty="0"/>
            </a:p>
          </p:txBody>
        </p:sp>
        <p:sp>
          <p:nvSpPr>
            <p:cNvPr id="33" name="Text 28">
              <a:extLst>
                <a:ext uri="{FF2B5EF4-FFF2-40B4-BE49-F238E27FC236}">
                  <a16:creationId xmlns:a16="http://schemas.microsoft.com/office/drawing/2014/main" id="{885692CF-8F7E-236B-228D-F39ABF69CD93}"/>
                </a:ext>
              </a:extLst>
            </p:cNvPr>
            <p:cNvSpPr/>
            <p:nvPr/>
          </p:nvSpPr>
          <p:spPr>
            <a:xfrm>
              <a:off x="6766560" y="2788920"/>
              <a:ext cx="365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000" dirty="0">
                  <a:solidFill>
                    <a:srgbClr val="2E75B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→</a:t>
              </a:r>
              <a:endParaRPr lang="en-US" sz="2000" dirty="0"/>
            </a:p>
          </p:txBody>
        </p:sp>
        <p:sp>
          <p:nvSpPr>
            <p:cNvPr id="34" name="Shape 29">
              <a:extLst>
                <a:ext uri="{FF2B5EF4-FFF2-40B4-BE49-F238E27FC236}">
                  <a16:creationId xmlns:a16="http://schemas.microsoft.com/office/drawing/2014/main" id="{549D8CA3-D7C9-E008-4755-F5BC2AEEF3FB}"/>
                </a:ext>
              </a:extLst>
            </p:cNvPr>
            <p:cNvSpPr/>
            <p:nvPr/>
          </p:nvSpPr>
          <p:spPr>
            <a:xfrm>
              <a:off x="7132320" y="2788920"/>
              <a:ext cx="914400" cy="411480"/>
            </a:xfrm>
            <a:prstGeom prst="rect">
              <a:avLst/>
            </a:prstGeom>
            <a:solidFill>
              <a:srgbClr val="BBDEF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0">
              <a:extLst>
                <a:ext uri="{FF2B5EF4-FFF2-40B4-BE49-F238E27FC236}">
                  <a16:creationId xmlns:a16="http://schemas.microsoft.com/office/drawing/2014/main" id="{5F94D36D-8557-A914-AD29-00E493972B21}"/>
                </a:ext>
              </a:extLst>
            </p:cNvPr>
            <p:cNvSpPr/>
            <p:nvPr/>
          </p:nvSpPr>
          <p:spPr>
            <a:xfrm>
              <a:off x="7132320" y="2788920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mat</a:t>
              </a:r>
              <a:endParaRPr lang="en-US" dirty="0"/>
            </a:p>
          </p:txBody>
        </p:sp>
        <p:sp>
          <p:nvSpPr>
            <p:cNvPr id="36" name="Text 31">
              <a:extLst>
                <a:ext uri="{FF2B5EF4-FFF2-40B4-BE49-F238E27FC236}">
                  <a16:creationId xmlns:a16="http://schemas.microsoft.com/office/drawing/2014/main" id="{01283561-0FC6-EF15-FABC-370457520D00}"/>
                </a:ext>
              </a:extLst>
            </p:cNvPr>
            <p:cNvSpPr/>
            <p:nvPr/>
          </p:nvSpPr>
          <p:spPr>
            <a:xfrm>
              <a:off x="731519" y="3246120"/>
              <a:ext cx="782572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i="1" dirty="0">
                  <a:solidFill>
                    <a:srgbClr val="55555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Each word updates the hidden state — a running summary of everything read so far</a:t>
              </a:r>
              <a:endParaRPr lang="en-US" sz="1600" dirty="0"/>
            </a:p>
          </p:txBody>
        </p:sp>
        <p:sp>
          <p:nvSpPr>
            <p:cNvPr id="37" name="Shape 32">
              <a:extLst>
                <a:ext uri="{FF2B5EF4-FFF2-40B4-BE49-F238E27FC236}">
                  <a16:creationId xmlns:a16="http://schemas.microsoft.com/office/drawing/2014/main" id="{F4C3B47F-F748-BABA-1D05-DB9291FB924C}"/>
                </a:ext>
              </a:extLst>
            </p:cNvPr>
            <p:cNvSpPr/>
            <p:nvPr/>
          </p:nvSpPr>
          <p:spPr>
            <a:xfrm>
              <a:off x="457200" y="3749040"/>
              <a:ext cx="8229600" cy="502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38" name="Image 0" descr="preencoded.png">
              <a:extLst>
                <a:ext uri="{FF2B5EF4-FFF2-40B4-BE49-F238E27FC236}">
                  <a16:creationId xmlns:a16="http://schemas.microsoft.com/office/drawing/2014/main" id="{BD4BE4A6-C7A6-67F4-CD28-5487697FF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3813048"/>
              <a:ext cx="256032" cy="256032"/>
            </a:xfrm>
            <a:prstGeom prst="rect">
              <a:avLst/>
            </a:prstGeom>
          </p:spPr>
        </p:pic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CBD05444-17D5-B042-96F7-F5C47CA81A95}"/>
                </a:ext>
              </a:extLst>
            </p:cNvPr>
            <p:cNvSpPr/>
            <p:nvPr/>
          </p:nvSpPr>
          <p:spPr>
            <a:xfrm>
              <a:off x="1005840" y="3767328"/>
              <a:ext cx="7498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B8860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Analogy:  </a:t>
              </a:r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Reading a mystery novel page by page—each page updates your mental summary of the story.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980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17E3F-4930-9611-824E-FB6F52FB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26F3-50D0-74B6-510E-3C50590E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Long Short-Term Memory (LSTM)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32136-8929-0FD9-F342-87AE72421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7"/>
            <a:ext cx="11596255" cy="5292545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Takeaway:  LSTM’s gates selectively remember and forget, enabling it to handle long-range dependencies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612E6-1767-5E65-54D7-9EB711DD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43</a:t>
            </a:fld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BEDB428-DE1C-21A5-7596-9A1B5A64606C}"/>
              </a:ext>
            </a:extLst>
          </p:cNvPr>
          <p:cNvCxnSpPr>
            <a:cxnSpLocks/>
          </p:cNvCxnSpPr>
          <p:nvPr/>
        </p:nvCxnSpPr>
        <p:spPr>
          <a:xfrm>
            <a:off x="457200" y="6198011"/>
            <a:ext cx="0" cy="6599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AB3B25-7788-0366-3B7A-DB77A8E0B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430" y="4547591"/>
            <a:ext cx="1667866" cy="1650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992F1C7-C2D3-A196-EAC1-14C5786D8350}"/>
              </a:ext>
            </a:extLst>
          </p:cNvPr>
          <p:cNvGrpSpPr/>
          <p:nvPr/>
        </p:nvGrpSpPr>
        <p:grpSpPr>
          <a:xfrm>
            <a:off x="642851" y="1565457"/>
            <a:ext cx="11194473" cy="3108960"/>
            <a:chOff x="457200" y="1051560"/>
            <a:chExt cx="8229600" cy="3108960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2895CFED-D833-5396-0D03-59AC4F744F69}"/>
                </a:ext>
              </a:extLst>
            </p:cNvPr>
            <p:cNvSpPr/>
            <p:nvPr/>
          </p:nvSpPr>
          <p:spPr>
            <a:xfrm>
              <a:off x="457200" y="1051560"/>
              <a:ext cx="8229600" cy="6400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854CCA3F-D637-63BD-F337-7C0272DF4880}"/>
                </a:ext>
              </a:extLst>
            </p:cNvPr>
            <p:cNvSpPr/>
            <p:nvPr/>
          </p:nvSpPr>
          <p:spPr>
            <a:xfrm>
              <a:off x="457200" y="1051560"/>
              <a:ext cx="54864" cy="640080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39CDE367-C884-54ED-DDE8-CBA495CB317C}"/>
                </a:ext>
              </a:extLst>
            </p:cNvPr>
            <p:cNvSpPr/>
            <p:nvPr/>
          </p:nvSpPr>
          <p:spPr>
            <a:xfrm>
              <a:off x="594360" y="1097280"/>
              <a:ext cx="80924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 dirty="0">
                  <a:solidFill>
                    <a:srgbClr val="C0392B"/>
                  </a:solidFill>
                  <a:latin typeface="Helvetica Neue" pitchFamily="34" charset="0"/>
                  <a:ea typeface="Calibri" panose="020F0502020204030204" pitchFamily="34" charset="0"/>
                  <a:cs typeface="Helvetica Neue" pitchFamily="34" charset="-120"/>
                </a:rPr>
                <a:t>The Problem:  </a:t>
              </a:r>
              <a:r>
                <a:rPr lang="en-US" sz="2000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Basic RNNs forget early information in long sentences. LSTMs fix this with a structured memory system.</a:t>
              </a:r>
              <a:endParaRPr lang="en-US" sz="2000" dirty="0">
                <a:ea typeface="Calibri" panose="020F0502020204030204" pitchFamily="34" charset="0"/>
              </a:endParaRPr>
            </a:p>
          </p:txBody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ABEC9CDD-5B3E-73F9-35DB-D570747A25B5}"/>
                </a:ext>
              </a:extLst>
            </p:cNvPr>
            <p:cNvSpPr/>
            <p:nvPr/>
          </p:nvSpPr>
          <p:spPr>
            <a:xfrm>
              <a:off x="457200" y="1920240"/>
              <a:ext cx="256032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68AE6F4E-2ECD-CEBC-ACEB-4F0CB3664B86}"/>
                </a:ext>
              </a:extLst>
            </p:cNvPr>
            <p:cNvSpPr/>
            <p:nvPr/>
          </p:nvSpPr>
          <p:spPr>
            <a:xfrm>
              <a:off x="457200" y="1920240"/>
              <a:ext cx="2560320" cy="54864"/>
            </a:xfrm>
            <a:prstGeom prst="rect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ADB322C7-B07E-C133-C2B2-6BA3EFBEEC05}"/>
                </a:ext>
              </a:extLst>
            </p:cNvPr>
            <p:cNvSpPr/>
            <p:nvPr/>
          </p:nvSpPr>
          <p:spPr>
            <a:xfrm>
              <a:off x="594360" y="20574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 dirty="0">
                  <a:solidFill>
                    <a:srgbClr val="C0392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Forget Gate</a:t>
              </a:r>
              <a:endParaRPr lang="en-US" sz="2000" dirty="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F264E0D4-0F9B-5203-BF08-97130F804237}"/>
                </a:ext>
              </a:extLst>
            </p:cNvPr>
            <p:cNvSpPr/>
            <p:nvPr/>
          </p:nvSpPr>
          <p:spPr>
            <a:xfrm>
              <a:off x="594360" y="2468880"/>
              <a:ext cx="22860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What old info</a:t>
              </a:r>
              <a:endParaRPr lang="en-US" dirty="0"/>
            </a:p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 erase</a:t>
              </a:r>
              <a:endParaRPr lang="en-US" dirty="0"/>
            </a:p>
          </p:txBody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B49941DD-F1C7-B4D5-E800-11194A1BB6AE}"/>
                </a:ext>
              </a:extLst>
            </p:cNvPr>
            <p:cNvSpPr/>
            <p:nvPr/>
          </p:nvSpPr>
          <p:spPr>
            <a:xfrm>
              <a:off x="3291840" y="1920240"/>
              <a:ext cx="256032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ADC764F4-2324-8062-787F-79A250D0524D}"/>
                </a:ext>
              </a:extLst>
            </p:cNvPr>
            <p:cNvSpPr/>
            <p:nvPr/>
          </p:nvSpPr>
          <p:spPr>
            <a:xfrm>
              <a:off x="3291840" y="1920240"/>
              <a:ext cx="2560320" cy="54864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1CDA98F6-C1FC-6325-F8AC-F20978422D71}"/>
                </a:ext>
              </a:extLst>
            </p:cNvPr>
            <p:cNvSpPr/>
            <p:nvPr/>
          </p:nvSpPr>
          <p:spPr>
            <a:xfrm>
              <a:off x="3429000" y="20574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 dirty="0">
                  <a:solidFill>
                    <a:srgbClr val="2E7D32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Input Gate</a:t>
              </a:r>
              <a:endParaRPr lang="en-US" sz="2000" dirty="0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A837B3B2-96D2-B55B-1767-E04545653951}"/>
                </a:ext>
              </a:extLst>
            </p:cNvPr>
            <p:cNvSpPr/>
            <p:nvPr/>
          </p:nvSpPr>
          <p:spPr>
            <a:xfrm>
              <a:off x="3429000" y="2468880"/>
              <a:ext cx="22860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What new info</a:t>
              </a:r>
              <a:endParaRPr lang="en-US" dirty="0"/>
            </a:p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 store</a:t>
              </a:r>
              <a:endParaRPr lang="en-US" dirty="0"/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20E5B8E7-59F9-FC12-AB7D-336C66D2081B}"/>
                </a:ext>
              </a:extLst>
            </p:cNvPr>
            <p:cNvSpPr/>
            <p:nvPr/>
          </p:nvSpPr>
          <p:spPr>
            <a:xfrm>
              <a:off x="6126480" y="1920240"/>
              <a:ext cx="256032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99A9D4C6-4B27-9890-F4A1-1A7A30EED74C}"/>
                </a:ext>
              </a:extLst>
            </p:cNvPr>
            <p:cNvSpPr/>
            <p:nvPr/>
          </p:nvSpPr>
          <p:spPr>
            <a:xfrm>
              <a:off x="6126480" y="1920240"/>
              <a:ext cx="2560320" cy="54864"/>
            </a:xfrm>
            <a:prstGeom prst="rect">
              <a:avLst/>
            </a:prstGeom>
            <a:solidFill>
              <a:srgbClr val="2E75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8D087778-9B67-4758-F30D-08157291A43E}"/>
                </a:ext>
              </a:extLst>
            </p:cNvPr>
            <p:cNvSpPr/>
            <p:nvPr/>
          </p:nvSpPr>
          <p:spPr>
            <a:xfrm>
              <a:off x="6263640" y="20574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 dirty="0">
                  <a:solidFill>
                    <a:srgbClr val="2E75B6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Output Gate</a:t>
              </a:r>
              <a:endParaRPr lang="en-US" sz="2000" dirty="0"/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C27FAC73-880A-FAE6-C238-48282384FD05}"/>
                </a:ext>
              </a:extLst>
            </p:cNvPr>
            <p:cNvSpPr/>
            <p:nvPr/>
          </p:nvSpPr>
          <p:spPr>
            <a:xfrm>
              <a:off x="6263640" y="2468880"/>
              <a:ext cx="22860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What info</a:t>
              </a:r>
              <a:endParaRPr lang="en-US" dirty="0"/>
            </a:p>
            <a:p>
              <a:pPr algn="ctr"/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 share</a:t>
              </a:r>
              <a:endParaRPr lang="en-US" dirty="0"/>
            </a:p>
          </p:txBody>
        </p:sp>
        <p:sp>
          <p:nvSpPr>
            <p:cNvPr id="23" name="Shape 18">
              <a:extLst>
                <a:ext uri="{FF2B5EF4-FFF2-40B4-BE49-F238E27FC236}">
                  <a16:creationId xmlns:a16="http://schemas.microsoft.com/office/drawing/2014/main" id="{C97DDAC6-77B9-C881-DD28-00F6065C5B9E}"/>
                </a:ext>
              </a:extLst>
            </p:cNvPr>
            <p:cNvSpPr/>
            <p:nvPr/>
          </p:nvSpPr>
          <p:spPr>
            <a:xfrm>
              <a:off x="457200" y="3383280"/>
              <a:ext cx="8229600" cy="777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0365BFE4-73C1-DC9A-8FB7-36178E5AE01B}"/>
                </a:ext>
              </a:extLst>
            </p:cNvPr>
            <p:cNvSpPr/>
            <p:nvPr/>
          </p:nvSpPr>
          <p:spPr>
            <a:xfrm>
              <a:off x="457200" y="3383280"/>
              <a:ext cx="54864" cy="777240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0">
              <a:extLst>
                <a:ext uri="{FF2B5EF4-FFF2-40B4-BE49-F238E27FC236}">
                  <a16:creationId xmlns:a16="http://schemas.microsoft.com/office/drawing/2014/main" id="{DE27ED03-8D34-72C2-50E2-FCABEC866C27}"/>
                </a:ext>
              </a:extLst>
            </p:cNvPr>
            <p:cNvSpPr/>
            <p:nvPr/>
          </p:nvSpPr>
          <p:spPr>
            <a:xfrm>
              <a:off x="731520" y="3401568"/>
              <a:ext cx="7772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2E7D32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Example:  </a:t>
              </a:r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"The athletes, who all won their local qualifiers and advanced to the finals in Tokyo, now </a:t>
              </a:r>
              <a:r>
                <a:rPr lang="en-US" b="1" dirty="0">
                  <a:solidFill>
                    <a:srgbClr val="2E75B6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compete</a:t>
              </a:r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." — LSTM remembers "athletes" is plural across 14 words to predict "compete“, not "competes."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78591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C1FAA-5A8A-8E55-16B9-B0316D38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C7A49-520C-1C47-7C48-3053C1EB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</p:spPr>
        <p:txBody>
          <a:bodyPr/>
          <a:lstStyle/>
          <a:p>
            <a:r>
              <a:rPr lang="en-US" dirty="0"/>
              <a:t>LSTM vs. RNN: Architecture &amp;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E0EE2-A5DE-D4C4-F9D0-526DB7573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65457"/>
            <a:ext cx="11579627" cy="5292545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Takeaway:  Transformers have largely replaced LSTMs for NLP, but LSTMs remain key for real-time sequential processing.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5AE16-937F-07D3-7DDB-4C942B027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44</a:t>
            </a:fld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480B27-A690-6FE1-B8DA-E873EDAB7F03}"/>
              </a:ext>
            </a:extLst>
          </p:cNvPr>
          <p:cNvCxnSpPr>
            <a:cxnSpLocks/>
          </p:cNvCxnSpPr>
          <p:nvPr/>
        </p:nvCxnSpPr>
        <p:spPr>
          <a:xfrm>
            <a:off x="457200" y="5967365"/>
            <a:ext cx="0" cy="8036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C22E8E94-8D7C-FDC7-B397-BA3FF08EBEDA}"/>
              </a:ext>
            </a:extLst>
          </p:cNvPr>
          <p:cNvGrpSpPr/>
          <p:nvPr/>
        </p:nvGrpSpPr>
        <p:grpSpPr>
          <a:xfrm>
            <a:off x="642850" y="1584747"/>
            <a:ext cx="8515347" cy="4803609"/>
            <a:chOff x="457200" y="1051560"/>
            <a:chExt cx="8302752" cy="4069080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A773419D-07C0-A0EF-5831-925F4E074E47}"/>
                </a:ext>
              </a:extLst>
            </p:cNvPr>
            <p:cNvSpPr/>
            <p:nvPr/>
          </p:nvSpPr>
          <p:spPr>
            <a:xfrm>
              <a:off x="457200" y="1051560"/>
              <a:ext cx="3931920" cy="13716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D6E8D323-2502-0CFA-96BF-EABEC5ADA389}"/>
                </a:ext>
              </a:extLst>
            </p:cNvPr>
            <p:cNvSpPr/>
            <p:nvPr/>
          </p:nvSpPr>
          <p:spPr>
            <a:xfrm>
              <a:off x="457200" y="1051560"/>
              <a:ext cx="54864" cy="1371600"/>
            </a:xfrm>
            <a:prstGeom prst="rect">
              <a:avLst/>
            </a:prstGeom>
            <a:solidFill>
              <a:srgbClr val="D0D5D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186235A5-8B62-AB65-4EDB-92672633997C}"/>
                </a:ext>
              </a:extLst>
            </p:cNvPr>
            <p:cNvSpPr/>
            <p:nvPr/>
          </p:nvSpPr>
          <p:spPr>
            <a:xfrm>
              <a:off x="731520" y="109728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555555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Basic RNN</a:t>
              </a:r>
              <a:endParaRPr lang="en-US" sz="2000" dirty="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B8E9E087-6B27-4A17-28CE-E93C5B694273}"/>
                </a:ext>
              </a:extLst>
            </p:cNvPr>
            <p:cNvSpPr/>
            <p:nvPr/>
          </p:nvSpPr>
          <p:spPr>
            <a:xfrm>
              <a:off x="731520" y="1463040"/>
              <a:ext cx="34747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55555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Simple fading memory.</a:t>
              </a:r>
              <a:endParaRPr lang="en-US" dirty="0"/>
            </a:p>
            <a:p>
              <a:r>
                <a:rPr lang="en-US" dirty="0">
                  <a:solidFill>
                    <a:srgbClr val="55555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Like repeating a phone number in your head—it fades.</a:t>
              </a:r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D4E269D7-DDAE-1390-F2CF-70E9D9BDBD86}"/>
                </a:ext>
              </a:extLst>
            </p:cNvPr>
            <p:cNvSpPr/>
            <p:nvPr/>
          </p:nvSpPr>
          <p:spPr>
            <a:xfrm>
              <a:off x="4754880" y="1051560"/>
              <a:ext cx="3931920" cy="13716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CAFFBB7E-B3BD-861C-8F08-4721D6599FB1}"/>
                </a:ext>
              </a:extLst>
            </p:cNvPr>
            <p:cNvSpPr/>
            <p:nvPr/>
          </p:nvSpPr>
          <p:spPr>
            <a:xfrm>
              <a:off x="4754880" y="1051560"/>
              <a:ext cx="54864" cy="1371600"/>
            </a:xfrm>
            <a:prstGeom prst="rect">
              <a:avLst/>
            </a:prstGeom>
            <a:solidFill>
              <a:srgbClr val="2E75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C87C83F8-22DA-8654-B18A-9D94B20AD07C}"/>
                </a:ext>
              </a:extLst>
            </p:cNvPr>
            <p:cNvSpPr/>
            <p:nvPr/>
          </p:nvSpPr>
          <p:spPr>
            <a:xfrm>
              <a:off x="5029200" y="109728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2E75B6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LSTM</a:t>
              </a:r>
              <a:endParaRPr lang="en-US" sz="2000" dirty="0"/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83C3FB85-0C3F-9FB8-8B8F-4EC02771524C}"/>
                </a:ext>
              </a:extLst>
            </p:cNvPr>
            <p:cNvSpPr/>
            <p:nvPr/>
          </p:nvSpPr>
          <p:spPr>
            <a:xfrm>
              <a:off x="5029200" y="1463040"/>
              <a:ext cx="34747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Structured memory with gates.</a:t>
              </a:r>
              <a:endParaRPr lang="en-US" dirty="0"/>
            </a:p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Like writing the number down—</a:t>
              </a:r>
              <a:endParaRPr lang="en-US" dirty="0"/>
            </a:p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it persists.</a:t>
              </a:r>
              <a:endParaRPr lang="en-US" dirty="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EA89D7B0-E18C-2D8B-04AE-F3BDF75C8F75}"/>
                </a:ext>
              </a:extLst>
            </p:cNvPr>
            <p:cNvSpPr/>
            <p:nvPr/>
          </p:nvSpPr>
          <p:spPr>
            <a:xfrm>
              <a:off x="457200" y="2606040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8B1A1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LSTM Applications</a:t>
              </a:r>
              <a:endParaRPr lang="en-US" sz="20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3483E20D-96B9-FA6E-A2F2-B063A8A193C3}"/>
                </a:ext>
              </a:extLst>
            </p:cNvPr>
            <p:cNvSpPr/>
            <p:nvPr/>
          </p:nvSpPr>
          <p:spPr>
            <a:xfrm>
              <a:off x="457200" y="2971800"/>
              <a:ext cx="1938528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6EC3C27C-E9BB-7E8C-9FE6-D6F2DBB20728}"/>
                </a:ext>
              </a:extLst>
            </p:cNvPr>
            <p:cNvSpPr/>
            <p:nvPr/>
          </p:nvSpPr>
          <p:spPr>
            <a:xfrm>
              <a:off x="457200" y="2971800"/>
              <a:ext cx="1938528" cy="54864"/>
            </a:xfrm>
            <a:prstGeom prst="rect">
              <a:avLst/>
            </a:prstGeom>
            <a:solidFill>
              <a:srgbClr val="2E75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A1D5D16E-EA76-CC89-1C7A-C586AF708806}"/>
                </a:ext>
              </a:extLst>
            </p:cNvPr>
            <p:cNvSpPr/>
            <p:nvPr/>
          </p:nvSpPr>
          <p:spPr>
            <a:xfrm>
              <a:off x="548640" y="309067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2E75B6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Language</a:t>
              </a:r>
              <a:endParaRPr lang="en-US" dirty="0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08A9A51A-7192-584B-0FD5-EB66F16C4FF1}"/>
                </a:ext>
              </a:extLst>
            </p:cNvPr>
            <p:cNvSpPr/>
            <p:nvPr/>
          </p:nvSpPr>
          <p:spPr>
            <a:xfrm>
              <a:off x="548639" y="3383280"/>
              <a:ext cx="212141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Speech recognition</a:t>
              </a:r>
              <a:endParaRPr lang="en-US" dirty="0"/>
            </a:p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Translation</a:t>
              </a:r>
              <a:endParaRPr lang="en-US" dirty="0"/>
            </a:p>
          </p:txBody>
        </p:sp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4C23C46F-B75E-DB23-729A-B1CBE5EA80A7}"/>
                </a:ext>
              </a:extLst>
            </p:cNvPr>
            <p:cNvSpPr/>
            <p:nvPr/>
          </p:nvSpPr>
          <p:spPr>
            <a:xfrm>
              <a:off x="2578608" y="2971800"/>
              <a:ext cx="1938528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E68AC21C-399A-81DF-8DBC-607112D3A89D}"/>
                </a:ext>
              </a:extLst>
            </p:cNvPr>
            <p:cNvSpPr/>
            <p:nvPr/>
          </p:nvSpPr>
          <p:spPr>
            <a:xfrm>
              <a:off x="2578608" y="2971800"/>
              <a:ext cx="1938528" cy="54864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6D1C3384-7089-7E0D-D676-9F5F39404502}"/>
                </a:ext>
              </a:extLst>
            </p:cNvPr>
            <p:cNvSpPr/>
            <p:nvPr/>
          </p:nvSpPr>
          <p:spPr>
            <a:xfrm>
              <a:off x="2670048" y="309067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2E7D32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Sequences</a:t>
              </a:r>
              <a:endParaRPr lang="en-US" dirty="0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913A9534-AE0A-08EA-12B6-D1A3A0C2F6D1}"/>
                </a:ext>
              </a:extLst>
            </p:cNvPr>
            <p:cNvSpPr/>
            <p:nvPr/>
          </p:nvSpPr>
          <p:spPr>
            <a:xfrm>
              <a:off x="2670048" y="3383280"/>
              <a:ext cx="175564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Stock prediction</a:t>
              </a:r>
              <a:endParaRPr lang="en-US" dirty="0"/>
            </a:p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Weather forecast</a:t>
              </a:r>
              <a:endParaRPr lang="en-US" dirty="0"/>
            </a:p>
          </p:txBody>
        </p:sp>
        <p:sp>
          <p:nvSpPr>
            <p:cNvPr id="25" name="Shape 20">
              <a:extLst>
                <a:ext uri="{FF2B5EF4-FFF2-40B4-BE49-F238E27FC236}">
                  <a16:creationId xmlns:a16="http://schemas.microsoft.com/office/drawing/2014/main" id="{6091C163-B389-DC3A-6017-802EA7D73C7C}"/>
                </a:ext>
              </a:extLst>
            </p:cNvPr>
            <p:cNvSpPr/>
            <p:nvPr/>
          </p:nvSpPr>
          <p:spPr>
            <a:xfrm>
              <a:off x="4700016" y="2971800"/>
              <a:ext cx="1938528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1">
              <a:extLst>
                <a:ext uri="{FF2B5EF4-FFF2-40B4-BE49-F238E27FC236}">
                  <a16:creationId xmlns:a16="http://schemas.microsoft.com/office/drawing/2014/main" id="{650DEEAE-0568-8A66-4EAE-DC622A76C9BC}"/>
                </a:ext>
              </a:extLst>
            </p:cNvPr>
            <p:cNvSpPr/>
            <p:nvPr/>
          </p:nvSpPr>
          <p:spPr>
            <a:xfrm>
              <a:off x="4700016" y="2971800"/>
              <a:ext cx="1938528" cy="54864"/>
            </a:xfrm>
            <a:prstGeom prst="rect">
              <a:avLst/>
            </a:prstGeom>
            <a:solidFill>
              <a:srgbClr val="7B1FA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2">
              <a:extLst>
                <a:ext uri="{FF2B5EF4-FFF2-40B4-BE49-F238E27FC236}">
                  <a16:creationId xmlns:a16="http://schemas.microsoft.com/office/drawing/2014/main" id="{0C8AEC7D-ADFA-2537-E7CA-0FCAEFA1E117}"/>
                </a:ext>
              </a:extLst>
            </p:cNvPr>
            <p:cNvSpPr/>
            <p:nvPr/>
          </p:nvSpPr>
          <p:spPr>
            <a:xfrm>
              <a:off x="4791456" y="309067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7B1FA2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Creative</a:t>
              </a:r>
              <a:endParaRPr lang="en-US" dirty="0"/>
            </a:p>
          </p:txBody>
        </p:sp>
        <p:sp>
          <p:nvSpPr>
            <p:cNvPr id="28" name="Text 23">
              <a:extLst>
                <a:ext uri="{FF2B5EF4-FFF2-40B4-BE49-F238E27FC236}">
                  <a16:creationId xmlns:a16="http://schemas.microsoft.com/office/drawing/2014/main" id="{B135AA22-493A-19BE-BDED-9A6E5843854B}"/>
                </a:ext>
              </a:extLst>
            </p:cNvPr>
            <p:cNvSpPr/>
            <p:nvPr/>
          </p:nvSpPr>
          <p:spPr>
            <a:xfrm>
              <a:off x="4754881" y="3383280"/>
              <a:ext cx="1986351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Music composition</a:t>
              </a:r>
              <a:endParaRPr lang="en-US" dirty="0"/>
            </a:p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Image captioning</a:t>
              </a:r>
              <a:endParaRPr lang="en-US" dirty="0"/>
            </a:p>
          </p:txBody>
        </p:sp>
        <p:sp>
          <p:nvSpPr>
            <p:cNvPr id="29" name="Shape 24">
              <a:extLst>
                <a:ext uri="{FF2B5EF4-FFF2-40B4-BE49-F238E27FC236}">
                  <a16:creationId xmlns:a16="http://schemas.microsoft.com/office/drawing/2014/main" id="{CD2C3300-22FC-E059-06EB-E977384F0369}"/>
                </a:ext>
              </a:extLst>
            </p:cNvPr>
            <p:cNvSpPr/>
            <p:nvPr/>
          </p:nvSpPr>
          <p:spPr>
            <a:xfrm>
              <a:off x="6821424" y="2971800"/>
              <a:ext cx="1938528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5">
              <a:extLst>
                <a:ext uri="{FF2B5EF4-FFF2-40B4-BE49-F238E27FC236}">
                  <a16:creationId xmlns:a16="http://schemas.microsoft.com/office/drawing/2014/main" id="{61A8CAFA-8DA7-1C75-B9C1-9D2A24FE89FB}"/>
                </a:ext>
              </a:extLst>
            </p:cNvPr>
            <p:cNvSpPr/>
            <p:nvPr/>
          </p:nvSpPr>
          <p:spPr>
            <a:xfrm>
              <a:off x="6821424" y="2971800"/>
              <a:ext cx="1938528" cy="54864"/>
            </a:xfrm>
            <a:prstGeom prst="rect">
              <a:avLst/>
            </a:prstGeom>
            <a:solidFill>
              <a:srgbClr val="FF8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B10A6AE6-A07D-24E0-254C-0AEEFE4A4669}"/>
                </a:ext>
              </a:extLst>
            </p:cNvPr>
            <p:cNvSpPr/>
            <p:nvPr/>
          </p:nvSpPr>
          <p:spPr>
            <a:xfrm>
              <a:off x="6912864" y="309067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FF8F00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Control</a:t>
              </a:r>
              <a:endParaRPr lang="en-US" dirty="0"/>
            </a:p>
          </p:txBody>
        </p:sp>
        <p:sp>
          <p:nvSpPr>
            <p:cNvPr id="32" name="Text 27">
              <a:extLst>
                <a:ext uri="{FF2B5EF4-FFF2-40B4-BE49-F238E27FC236}">
                  <a16:creationId xmlns:a16="http://schemas.microsoft.com/office/drawing/2014/main" id="{563D4C07-7DA8-CFEE-DFAC-E62BCF77A81F}"/>
                </a:ext>
              </a:extLst>
            </p:cNvPr>
            <p:cNvSpPr/>
            <p:nvPr/>
          </p:nvSpPr>
          <p:spPr>
            <a:xfrm>
              <a:off x="6912864" y="3383280"/>
              <a:ext cx="175564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Robot control</a:t>
              </a:r>
              <a:endParaRPr lang="en-US" dirty="0"/>
            </a:p>
            <a:p>
              <a:r>
                <a:rPr lang="en-US" dirty="0">
                  <a:solidFill>
                    <a:srgbClr val="2D2D2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Game AI</a:t>
              </a:r>
              <a:endParaRPr lang="en-US" dirty="0"/>
            </a:p>
          </p:txBody>
        </p:sp>
        <p:sp>
          <p:nvSpPr>
            <p:cNvPr id="33" name="Text 29">
              <a:extLst>
                <a:ext uri="{FF2B5EF4-FFF2-40B4-BE49-F238E27FC236}">
                  <a16:creationId xmlns:a16="http://schemas.microsoft.com/office/drawing/2014/main" id="{81495765-1CA2-2A8A-E45E-015BCBDD63FC}"/>
                </a:ext>
              </a:extLst>
            </p:cNvPr>
            <p:cNvSpPr/>
            <p:nvPr/>
          </p:nvSpPr>
          <p:spPr>
            <a:xfrm>
              <a:off x="548640" y="4407408"/>
              <a:ext cx="804672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656311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C1425-93A2-F29C-B351-B663063B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0D25-BB7C-FAF5-522A-E510F9B6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5"/>
            <a:ext cx="11531009" cy="646113"/>
          </a:xfrm>
        </p:spPr>
        <p:txBody>
          <a:bodyPr>
            <a:noAutofit/>
          </a:bodyPr>
          <a:lstStyle/>
          <a:p>
            <a:r>
              <a:rPr lang="en-US" sz="3200" dirty="0"/>
              <a:t>GPT models (“next token”) - Interview with </a:t>
            </a:r>
            <a:r>
              <a:rPr lang="en-US" sz="3200" dirty="0">
                <a:hlinkClick r:id="rId4"/>
              </a:rPr>
              <a:t>Ilya </a:t>
            </a:r>
            <a:r>
              <a:rPr lang="en-US" sz="3200" dirty="0" err="1">
                <a:hlinkClick r:id="rId4"/>
              </a:rPr>
              <a:t>Sutskever</a:t>
            </a:r>
            <a:r>
              <a:rPr lang="en-US" sz="3200" dirty="0"/>
              <a:t> (6:35-8:50)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EA1D-E0ED-DCF6-9D5E-C087E4C1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/>
          <a:p>
            <a:fld id="{21EF4C0E-91FA-4D94-8941-E22F3A83D5F1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86359-77CD-85E8-F863-6AA2B830E45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03790" y="6282163"/>
            <a:ext cx="11784417" cy="39508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Sutskever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 co-founded and was chief scientist at 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hlinkClick r:id="rId5" tooltip="Open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 (left in 2024). Co-invented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AlexNet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 (a groundbreaking CNN)</a:t>
            </a:r>
            <a:endParaRPr lang="en-US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DB6D4-9E01-6FCA-2D02-58CC2350CBAA}"/>
              </a:ext>
            </a:extLst>
          </p:cNvPr>
          <p:cNvSpPr txBox="1"/>
          <p:nvPr/>
        </p:nvSpPr>
        <p:spPr>
          <a:xfrm>
            <a:off x="6896101" y="6611780"/>
            <a:ext cx="3928017" cy="2457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https://www.youtube.</a:t>
            </a:r>
            <a:r>
              <a:rPr lang="en-US" sz="900" dirty="0"/>
              <a:t>com</a:t>
            </a:r>
            <a:r>
              <a:rPr lang="en-US" dirty="0"/>
              <a:t>/embed/Yf1o0TQzry8?start=395&amp;end=530</a:t>
            </a:r>
          </a:p>
        </p:txBody>
      </p:sp>
      <p:pic>
        <p:nvPicPr>
          <p:cNvPr id="12" name="Online Media 11" title="Ilya Sutskever (OpenAI Chief Scientist) — Why next-token prediction could surpass human intelligence">
            <a:hlinkClick r:id="" action="ppaction://media"/>
            <a:extLst>
              <a:ext uri="{FF2B5EF4-FFF2-40B4-BE49-F238E27FC236}">
                <a16:creationId xmlns:a16="http://schemas.microsoft.com/office/drawing/2014/main" id="{03D9DAE2-11EE-26C3-5DB7-7050FA8EFED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558581" y="1176585"/>
            <a:ext cx="8750224" cy="494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3793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B5D3-6DD3-486B-9006-AC115FF7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- Course Tracker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371D1F-E6DB-4EA9-BBD3-D2E4B56F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46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4FF0C74-6A86-C1E0-CC2E-7AB7BA257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37096"/>
              </p:ext>
            </p:extLst>
          </p:nvPr>
        </p:nvGraphicFramePr>
        <p:xfrm>
          <a:off x="598517" y="1213659"/>
          <a:ext cx="6722955" cy="5407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049">
                  <a:extLst>
                    <a:ext uri="{9D8B030D-6E8A-4147-A177-3AD203B41FA5}">
                      <a16:colId xmlns:a16="http://schemas.microsoft.com/office/drawing/2014/main" val="2193953078"/>
                    </a:ext>
                  </a:extLst>
                </a:gridCol>
                <a:gridCol w="5841906">
                  <a:extLst>
                    <a:ext uri="{9D8B030D-6E8A-4147-A177-3AD203B41FA5}">
                      <a16:colId xmlns:a16="http://schemas.microsoft.com/office/drawing/2014/main" val="3794878605"/>
                    </a:ext>
                  </a:extLst>
                </a:gridCol>
              </a:tblGrid>
              <a:tr h="338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/>
                        <a:t>Week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/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625796"/>
                  </a:ext>
                </a:extLst>
              </a:tr>
              <a:tr h="309997">
                <a:tc>
                  <a:txBody>
                    <a:bodyPr/>
                    <a:lstStyle/>
                    <a:p>
                      <a:pPr marL="57150" indent="0">
                        <a:lnSpc>
                          <a:spcPct val="100000"/>
                        </a:lnSpc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0"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Overview of AI, history, definitions, and key concepts</a:t>
                      </a:r>
                      <a:endParaRPr lang="en-US" sz="1600" b="0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4489828"/>
                  </a:ext>
                </a:extLst>
              </a:tr>
              <a:tr h="33898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Knowledge Representation and Reasoning</a:t>
                      </a:r>
                      <a:endParaRPr lang="en-US" sz="1600" b="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90770028"/>
                  </a:ext>
                </a:extLst>
              </a:tr>
              <a:tr h="338983">
                <a:tc>
                  <a:txBody>
                    <a:bodyPr/>
                    <a:lstStyle/>
                    <a:p>
                      <a:pPr marL="5715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Introduction to Machine Learning</a:t>
                      </a:r>
                      <a:endParaRPr lang="en-US" sz="1600" b="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0284554"/>
                  </a:ext>
                </a:extLst>
              </a:tr>
              <a:tr h="33898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Neural Networks &amp; Deep Learning</a:t>
                      </a:r>
                      <a:endParaRPr lang="en-US" sz="1600" b="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2288196"/>
                  </a:ext>
                </a:extLst>
              </a:tr>
              <a:tr h="33898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Distributed AI &amp; AI Platforms</a:t>
                      </a:r>
                      <a:endParaRPr lang="en-US" sz="1600" b="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0638714"/>
                  </a:ext>
                </a:extLst>
              </a:tr>
              <a:tr h="369800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1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Natural Language Processing (NLP)</a:t>
                      </a:r>
                      <a:endParaRPr lang="en-US" sz="1800" b="1" kern="1200" spc="-1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907016"/>
                  </a:ext>
                </a:extLst>
              </a:tr>
              <a:tr h="33898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Computer Vision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02732039"/>
                  </a:ext>
                </a:extLst>
              </a:tr>
              <a:tr h="33898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Robotics &amp; Embodied AI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48862954"/>
                  </a:ext>
                </a:extLst>
              </a:tr>
              <a:tr h="33898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AI &amp; Creativity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4575660"/>
                  </a:ext>
                </a:extLst>
              </a:tr>
              <a:tr h="493066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Applications of AI – Healthcare, Finance, Education, Retail, Marketing, Entertainment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5314268"/>
                  </a:ext>
                </a:extLst>
              </a:tr>
              <a:tr h="493066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Applications of AI – Biomedical, Agriculture, Transportation, Mining, Manufacturing, Energy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80531306"/>
                  </a:ext>
                </a:extLst>
              </a:tr>
              <a:tr h="33898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AI and Society, Bias &amp; Fairness in AI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48600602"/>
                  </a:ext>
                </a:extLst>
              </a:tr>
              <a:tr h="338983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The Future of AI</a:t>
                      </a:r>
                      <a:endParaRPr lang="en-US" sz="1600" kern="1200" spc="-1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98882357"/>
                  </a:ext>
                </a:extLst>
              </a:tr>
              <a:tr h="351594">
                <a:tc>
                  <a:txBody>
                    <a:bodyPr/>
                    <a:lstStyle/>
                    <a:p>
                      <a:pPr marL="6731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spc="-1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3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rebuchet MS" panose="020B0603020202020204" pitchFamily="34" charset="0"/>
                          <a:cs typeface="Trebuchet MS" panose="020B0603020202020204" pitchFamily="34" charset="0"/>
                        </a:rPr>
                        <a:t>No Lecture - Final Project Report &amp; Presentation are Due</a:t>
                      </a:r>
                      <a:endParaRPr lang="en-US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6665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1544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2013 - 2022 Theme [1788630384749]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C53385-576F-446C-9EB5-07FC8D7F108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a5e807f2-504f-45a7-bbfa-a88c469c02fa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1766</TotalTime>
  <Words>3368</Words>
  <Application>Microsoft Office PowerPoint</Application>
  <PresentationFormat>Widescreen</PresentationFormat>
  <Paragraphs>668</Paragraphs>
  <Slides>46</Slides>
  <Notes>33</Notes>
  <HiddenSlides>0</HiddenSlides>
  <MMClips>6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Helvetica Neue</vt:lpstr>
      <vt:lpstr>Baskerville SemiBold</vt:lpstr>
      <vt:lpstr>Arial</vt:lpstr>
      <vt:lpstr>Consolas</vt:lpstr>
      <vt:lpstr>Helvetica Neue Light</vt:lpstr>
      <vt:lpstr>Calibri</vt:lpstr>
      <vt:lpstr>Cambria</vt:lpstr>
      <vt:lpstr>Courier New</vt:lpstr>
      <vt:lpstr>Trebuchet MS</vt:lpstr>
      <vt:lpstr>1_Office 2013 - 2022 Theme [1788630384749]</vt:lpstr>
      <vt:lpstr>think-cell Slide</vt:lpstr>
      <vt:lpstr>    ALY3510 - Fall 2026  Lecture 6:    Natural Language Processing (NLP)  </vt:lpstr>
      <vt:lpstr>Pre-Lecture Video (2:54) - Introduction to Natural Language Processing</vt:lpstr>
      <vt:lpstr>Agenda</vt:lpstr>
      <vt:lpstr>What is NLP &amp; Why It Matters</vt:lpstr>
      <vt:lpstr>Modern NLP Applications &amp; Tasks</vt:lpstr>
      <vt:lpstr>The NLP Pipeline: From Text to Understanding</vt:lpstr>
      <vt:lpstr>Preprocessing &amp; Tokenization</vt:lpstr>
      <vt:lpstr>Preprocessing &amp; Tokenization - Example</vt:lpstr>
      <vt:lpstr>Word Embeddings &amp; Text Representation</vt:lpstr>
      <vt:lpstr>Bag of Words: A Simple Start</vt:lpstr>
      <vt:lpstr>Words as Vectors</vt:lpstr>
      <vt:lpstr>Word Vectors/Embeddings – Video (2:08)</vt:lpstr>
      <vt:lpstr>Word2vec &amp; Vector Math</vt:lpstr>
      <vt:lpstr>Visualizing Embeddings</vt:lpstr>
      <vt:lpstr>Visualization of Word Vectors (Example)</vt:lpstr>
      <vt:lpstr>Cosine Similarity: Measuring Closeness</vt:lpstr>
      <vt:lpstr>Sentence &amp; Document Embeddings</vt:lpstr>
      <vt:lpstr>Embeddings – How-to Video (2:36)</vt:lpstr>
      <vt:lpstr>What does Word “Mean” in the Context? (3:54)</vt:lpstr>
      <vt:lpstr>Sequence Models</vt:lpstr>
      <vt:lpstr>Why Sequence Matters</vt:lpstr>
      <vt:lpstr>RNN &amp; LSTM: Reading in Order</vt:lpstr>
      <vt:lpstr>Machine Translation</vt:lpstr>
      <vt:lpstr>Encoder-Decoder &amp; the Interlingua</vt:lpstr>
      <vt:lpstr>Translation – Vector Clustering by Language</vt:lpstr>
      <vt:lpstr>Transformers</vt:lpstr>
      <vt:lpstr>Self-Attention: The Key Idea</vt:lpstr>
      <vt:lpstr>Transformer Architecture &amp; Why It Won</vt:lpstr>
      <vt:lpstr>AI vs. Human Performance: What Benchmarks Tell Us</vt:lpstr>
      <vt:lpstr>BREAK: Transformers – Video (2:06)</vt:lpstr>
      <vt:lpstr>NLP in the Real World</vt:lpstr>
      <vt:lpstr>Chatbots &amp; How LLMs Generate Text</vt:lpstr>
      <vt:lpstr>Code Generation &amp; Retrieval-Augmented Generation</vt:lpstr>
      <vt:lpstr>NLP Across Industries</vt:lpstr>
      <vt:lpstr>Summary</vt:lpstr>
      <vt:lpstr>Key Takeaways</vt:lpstr>
      <vt:lpstr>Let’s Discuss (5–10 min)</vt:lpstr>
      <vt:lpstr>Advanced Subjects/Demos</vt:lpstr>
      <vt:lpstr>Word Vectors/Embeddings - Demo</vt:lpstr>
      <vt:lpstr>Optional Slides/Video for Self-Learning</vt:lpstr>
      <vt:lpstr>Sequence-to-Sequence Architecture</vt:lpstr>
      <vt:lpstr>Recurrent Neural Networks (RNN)</vt:lpstr>
      <vt:lpstr>Long Short-Term Memory (LSTM)</vt:lpstr>
      <vt:lpstr>LSTM vs. RNN: Architecture &amp; Applications</vt:lpstr>
      <vt:lpstr>GPT models (“next token”) - Interview with Ilya Sutskever (6:35-8:50)</vt:lpstr>
      <vt:lpstr>Topics Covered - Course Tracker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– Level I</dc:title>
  <dc:subject/>
  <dc:creator>v.shapiro@northeastern.edu</dc:creator>
  <cp:keywords/>
  <dc:description/>
  <cp:lastModifiedBy>Shapiro, Vladimir</cp:lastModifiedBy>
  <cp:revision>2</cp:revision>
  <cp:lastPrinted>2016-05-10T18:03:23Z</cp:lastPrinted>
  <dcterms:created xsi:type="dcterms:W3CDTF">2015-10-08T16:21:21Z</dcterms:created>
  <dcterms:modified xsi:type="dcterms:W3CDTF">2026-10-17T19:15:30Z</dcterms:modified>
  <cp:category/>
</cp:coreProperties>
</file>